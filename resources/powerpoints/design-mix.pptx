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The design mix" id="{1680862b-ad10-20c2-9abb-1ca2541e3a37}">
          <p14:sldIdLst>
            <p14:sldId id="259"/>
            <p14:sldId id="260"/>
            <p14:sldId id="261"/>
            <p14:sldId id="262"/>
            <p14:sldId id="263"/>
            <p14:sldId id="264"/>
            <p14:sldId id="265"/>
            <p14:sldId id="266"/>
            <p14:sldId id="267"/>
          </p14:sldIdLst>
        </p14:section>
        <p14:section name="B · Social trends" id="{cc26ac84-c5de-1061-2b6b-fcb704384198}">
          <p14:sldIdLst>
            <p14:sldId id="268"/>
            <p14:sldId id="269"/>
            <p14:sldId id="270"/>
            <p14:sldId id="271"/>
          </p14:sldIdLst>
        </p14:section>
        <p14:section name="C · Businesses &amp; exam skills" id="{d04e2c9d-97f9-f15c-6e41-4857aafc8ae3}">
          <p14:sldIdLst>
            <p14:sldId id="272"/>
            <p14:sldId id="273"/>
            <p14:sldId id="274"/>
            <p14:sldId id="275"/>
            <p14:sldId id="276"/>
          </p14:sldIdLst>
        </p14:section>
        <p14:section name="Default-1" id="{97b9e992-7483-af1c-9567-daedc0c328ae}">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the design mix (spec 1.3.3 point 2), pitched for students aiming at A grades. Same format as the 1.3 part-1 deck: each element gets a definition, advantages, disadvantages and a real business example, plus where it sits in the spec and exam practice (IKEA 6, 8 and 20 mark). IKEA figures come from the exam case study (c.2016-17) - treat as case data, not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mix is the 'Product' element studied in depth. Remind students it balances three competing demands - and that the best answers (especially the 20-marker) argue the balance DEPENDS on the market and customer, rather than naming one element as always most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answer the student's question of 'where does this fall in the scheme'. It is point 2 of five within topic 1.3.3. It is not an island: the strongest answers connect design decisions to pricing, branding and the PLC.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triangle live if you can. The corners are the three elements; a product sits closer to whichever it emphasises; the centre is a balanced product. Stress the trade-off idea now - it is the backbone of every evaluation answer in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(from your deck): give students a market - headphones, phones, cars, cameras, footwear, cosmetics - and have them place three products at the corners and one in the centre, justifying each. The justification is where the analysis marks live. Placements are judgements; accept any well-argued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key to A-grade evaluation. The judgement in a 20-marker is almost never 'X is always most important' - it is 'it depends, because the three must complement each other and the priority shifts with the market/customer'. Centre of the triangle = a product that balances all three (e.g. VW Golf, much of IKEA's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benefits/drawbacks are from your own deck. The 'requires compromises' and 'no guarantee of success' points are the best evaluation lines - they feed straight into the 20-marker's balanced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1.3.3 (2)(b): concern over resource depletion (waste minimisation, re-use, recycling) and ethical sourcing. The first three are a ladder - reduce, reuse, recycle. Ethical sourcing is about WHERE and HOW inputs are obtained. Each reshapes function (durability), aesthetics (recycled-material look)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habit: sustainable design is not automatically good business - it must still sell. The best answers weigh the brand/sales/cost-saving upside against higher costs and greenwashing risk, and judge it 'depends on' the customer base and how genuine the change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strong, well-known examples students can deploy in any design-mix question. Push them to avoid one-word labels: IKEA is 'cost-led but balanced', not just 'cheap'. That nuance separates Level 4 from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PECAN paragraph: Point - Explain/because - Chain (2+ steps) - Apply (IKEA extract) - Now judge. The highest answers do not crown one element; they argue the priority shifts and the three must complement each other, then still commit to a supported judgement for IKEA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applied PECAN paragraphs, each using a different extract. Note the connectives (this means, as a result, however) and the contextualised chains. The durability-vs-repeat-sales point is a sophisticated, high-level observation - exactly what pushes an answer towards Level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models the exam's top discriminator: a committed judgement that is still conditional. 'It depends on the market and target customer' lets the student commit for IKEA while showing they understand a premium brand would answer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tutoring session here. A-grade students should leave able to define the design mix and each element, place real businesses in the triangle, explain how social trends reshape design, and structure 6/8/20-mark answers with applied chains and a conditional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987552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1.3.3 (2) Product / service design — the design mix</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32588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83080"/>
            <a:ext cx="105156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The Design Mix</a:t>
            </a:r>
            <a:endParaRPr lang="en-US" sz="5000" dirty="0"/>
          </a:p>
        </p:txBody>
      </p:sp>
      <p:sp>
        <p:nvSpPr>
          <p:cNvPr id="4" name="Text 2"/>
          <p:cNvSpPr txBox="1"/>
          <p:nvPr/>
        </p:nvSpPr>
        <p:spPr>
          <a:xfrm>
            <a:off x="822960" y="2788920"/>
            <a:ext cx="10424160" cy="457200"/>
          </a:xfrm>
          <a:prstGeom prst="rect">
            <a:avLst/>
          </a:prstGeom>
          <a:noFill/>
          <a:ln/>
        </p:spPr>
        <p:txBody>
          <a:bodyPr wrap="square" lIns="0" tIns="0" rIns="0" bIns="0" rtlCol="0" anchor="ctr"/>
          <a:lstStyle/>
          <a:p>
            <a:pPr indent="0" marL="0">
              <a:buNone/>
            </a:pPr>
            <a:r>
              <a:rPr lang="en-US" sz="1600" i="1" dirty="0">
                <a:solidFill>
                  <a:srgbClr val="D7E6E8"/>
                </a:solidFill>
                <a:latin typeface="Calibri" pitchFamily="34" charset="0"/>
                <a:ea typeface="Calibri" pitchFamily="34" charset="-122"/>
                <a:cs typeface="Calibri" pitchFamily="34" charset="-120"/>
              </a:rPr>
              <a:t>Spec 1.3.3 (2) Product / service design  —  a tutoring guide: what each element is, real businesses, and A-grade exam practice</a:t>
            </a:r>
            <a:endParaRPr lang="en-US" sz="1600" dirty="0"/>
          </a:p>
        </p:txBody>
      </p:sp>
      <p:sp>
        <p:nvSpPr>
          <p:cNvPr id="5" name="Shape 3"/>
          <p:cNvSpPr/>
          <p:nvPr/>
        </p:nvSpPr>
        <p:spPr>
          <a:xfrm>
            <a:off x="822960" y="3886200"/>
            <a:ext cx="1075334"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886200"/>
            <a:ext cx="1075334"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Function</a:t>
            </a:r>
            <a:endParaRPr lang="en-US" sz="1250" dirty="0"/>
          </a:p>
        </p:txBody>
      </p:sp>
      <p:sp>
        <p:nvSpPr>
          <p:cNvPr id="7" name="Shape 5"/>
          <p:cNvSpPr/>
          <p:nvPr/>
        </p:nvSpPr>
        <p:spPr>
          <a:xfrm>
            <a:off x="2081174" y="3886200"/>
            <a:ext cx="1280160"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2081174" y="3886200"/>
            <a:ext cx="1280160"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Aesthetics</a:t>
            </a:r>
            <a:endParaRPr lang="en-US" sz="1250" dirty="0"/>
          </a:p>
        </p:txBody>
      </p:sp>
      <p:sp>
        <p:nvSpPr>
          <p:cNvPr id="9" name="Shape 7"/>
          <p:cNvSpPr/>
          <p:nvPr/>
        </p:nvSpPr>
        <p:spPr>
          <a:xfrm>
            <a:off x="3544214" y="3886200"/>
            <a:ext cx="3021178"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3544214" y="3886200"/>
            <a:ext cx="302117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Cost / economic manufacture</a:t>
            </a:r>
            <a:endParaRPr lang="en-US" sz="1250" dirty="0"/>
          </a:p>
        </p:txBody>
      </p:sp>
      <p:sp>
        <p:nvSpPr>
          <p:cNvPr id="11" name="Shape 9"/>
          <p:cNvSpPr/>
          <p:nvPr/>
        </p:nvSpPr>
        <p:spPr>
          <a:xfrm>
            <a:off x="6748272" y="3886200"/>
            <a:ext cx="1587398"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6748272" y="3886200"/>
            <a:ext cx="158739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Social trends</a:t>
            </a:r>
            <a:endParaRPr lang="en-US" sz="1250" dirty="0"/>
          </a:p>
        </p:txBody>
      </p:sp>
      <p:sp>
        <p:nvSpPr>
          <p:cNvPr id="13" name="Shape 11"/>
          <p:cNvSpPr/>
          <p:nvPr/>
        </p:nvSpPr>
        <p:spPr>
          <a:xfrm>
            <a:off x="8518550" y="3886200"/>
            <a:ext cx="2304288" cy="420624"/>
          </a:xfrm>
          <a:prstGeom prst="roundRect">
            <a:avLst>
              <a:gd name="adj" fmla="val 50000"/>
            </a:avLst>
          </a:prstGeom>
          <a:solidFill>
            <a:srgbClr val="0B2E35"/>
          </a:solidFill>
          <a:ln w="12700">
            <a:solidFill>
              <a:srgbClr val="0E7C86"/>
            </a:solidFill>
            <a:prstDash val="solid"/>
          </a:ln>
        </p:spPr>
      </p:sp>
      <p:sp>
        <p:nvSpPr>
          <p:cNvPr id="14" name="Text 12"/>
          <p:cNvSpPr txBox="1"/>
          <p:nvPr/>
        </p:nvSpPr>
        <p:spPr>
          <a:xfrm>
            <a:off x="8518550" y="3886200"/>
            <a:ext cx="230428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IKEA · Dyson · Apple</a:t>
            </a:r>
            <a:endParaRPr lang="en-US" sz="1250" dirty="0"/>
          </a:p>
        </p:txBody>
      </p:sp>
      <p:sp>
        <p:nvSpPr>
          <p:cNvPr id="15" name="Text 13"/>
          <p:cNvSpPr txBox="1"/>
          <p:nvPr/>
        </p:nvSpPr>
        <p:spPr>
          <a:xfrm>
            <a:off x="822960" y="6035040"/>
            <a:ext cx="1051560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this lesson covers</a:t>
            </a:r>
            <a:endParaRPr lang="en-US" sz="2800" dirty="0"/>
          </a:p>
        </p:txBody>
      </p:sp>
      <p:sp>
        <p:nvSpPr>
          <p:cNvPr id="4" name="Shape 2"/>
          <p:cNvSpPr/>
          <p:nvPr/>
        </p:nvSpPr>
        <p:spPr>
          <a:xfrm>
            <a:off x="548640" y="1417320"/>
            <a:ext cx="11091672" cy="731520"/>
          </a:xfrm>
          <a:prstGeom prst="roundRect">
            <a:avLst>
              <a:gd name="adj" fmla="val 10000"/>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13232" y="1545336"/>
            <a:ext cx="475488" cy="475488"/>
          </a:xfrm>
          <a:prstGeom prst="roundRect">
            <a:avLst>
              <a:gd name="adj" fmla="val 19231"/>
            </a:avLst>
          </a:prstGeom>
          <a:solidFill>
            <a:srgbClr val="0E7C86"/>
          </a:solidFill>
          <a:ln/>
        </p:spPr>
      </p:sp>
      <p:sp>
        <p:nvSpPr>
          <p:cNvPr id="6" name="Text 4"/>
          <p:cNvSpPr txBox="1"/>
          <p:nvPr/>
        </p:nvSpPr>
        <p:spPr>
          <a:xfrm>
            <a:off x="713232" y="154533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371600" y="1490472"/>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The design mix &amp; the triangle</a:t>
            </a:r>
            <a:endParaRPr lang="en-US" sz="1450" dirty="0"/>
          </a:p>
        </p:txBody>
      </p:sp>
      <p:sp>
        <p:nvSpPr>
          <p:cNvPr id="8" name="Text 6"/>
          <p:cNvSpPr txBox="1"/>
          <p:nvPr/>
        </p:nvSpPr>
        <p:spPr>
          <a:xfrm>
            <a:off x="6035040" y="1490472"/>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What it is, the three elements, and how to read a product's position</a:t>
            </a:r>
            <a:endParaRPr lang="en-US" sz="1250" dirty="0"/>
          </a:p>
        </p:txBody>
      </p:sp>
      <p:sp>
        <p:nvSpPr>
          <p:cNvPr id="9" name="Shape 7"/>
          <p:cNvSpPr/>
          <p:nvPr/>
        </p:nvSpPr>
        <p:spPr>
          <a:xfrm>
            <a:off x="548640" y="2221992"/>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13232" y="2350008"/>
            <a:ext cx="475488" cy="475488"/>
          </a:xfrm>
          <a:prstGeom prst="roundRect">
            <a:avLst>
              <a:gd name="adj" fmla="val 19231"/>
            </a:avLst>
          </a:prstGeom>
          <a:solidFill>
            <a:srgbClr val="0E7C86"/>
          </a:solidFill>
          <a:ln/>
        </p:spPr>
      </p:sp>
      <p:sp>
        <p:nvSpPr>
          <p:cNvPr id="11" name="Text 9"/>
          <p:cNvSpPr txBox="1"/>
          <p:nvPr/>
        </p:nvSpPr>
        <p:spPr>
          <a:xfrm>
            <a:off x="713232" y="2350008"/>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371600" y="2295144"/>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Function</a:t>
            </a:r>
            <a:endParaRPr lang="en-US" sz="1450" dirty="0"/>
          </a:p>
        </p:txBody>
      </p:sp>
      <p:sp>
        <p:nvSpPr>
          <p:cNvPr id="13" name="Text 11"/>
          <p:cNvSpPr txBox="1"/>
          <p:nvPr/>
        </p:nvSpPr>
        <p:spPr>
          <a:xfrm>
            <a:off x="6035040" y="2295144"/>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How well the product works — fit for purpose, with pros, cons and an example</a:t>
            </a:r>
            <a:endParaRPr lang="en-US" sz="1250" dirty="0"/>
          </a:p>
        </p:txBody>
      </p:sp>
      <p:sp>
        <p:nvSpPr>
          <p:cNvPr id="14" name="Shape 12"/>
          <p:cNvSpPr/>
          <p:nvPr/>
        </p:nvSpPr>
        <p:spPr>
          <a:xfrm>
            <a:off x="548640" y="3026664"/>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13232" y="3154680"/>
            <a:ext cx="475488" cy="475488"/>
          </a:xfrm>
          <a:prstGeom prst="roundRect">
            <a:avLst>
              <a:gd name="adj" fmla="val 19231"/>
            </a:avLst>
          </a:prstGeom>
          <a:solidFill>
            <a:srgbClr val="0E7C86"/>
          </a:solidFill>
          <a:ln/>
        </p:spPr>
      </p:sp>
      <p:sp>
        <p:nvSpPr>
          <p:cNvPr id="16" name="Text 14"/>
          <p:cNvSpPr txBox="1"/>
          <p:nvPr/>
        </p:nvSpPr>
        <p:spPr>
          <a:xfrm>
            <a:off x="713232" y="3154680"/>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1371600" y="3099816"/>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Aesthetics</a:t>
            </a:r>
            <a:endParaRPr lang="en-US" sz="1450" dirty="0"/>
          </a:p>
        </p:txBody>
      </p:sp>
      <p:sp>
        <p:nvSpPr>
          <p:cNvPr id="18" name="Text 16"/>
          <p:cNvSpPr txBox="1"/>
          <p:nvPr/>
        </p:nvSpPr>
        <p:spPr>
          <a:xfrm>
            <a:off x="6035040" y="3099816"/>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How the product looks and feels — appeal, image and emotional pull</a:t>
            </a:r>
            <a:endParaRPr lang="en-US" sz="1250" dirty="0"/>
          </a:p>
        </p:txBody>
      </p:sp>
      <p:sp>
        <p:nvSpPr>
          <p:cNvPr id="19" name="Shape 17"/>
          <p:cNvSpPr/>
          <p:nvPr/>
        </p:nvSpPr>
        <p:spPr>
          <a:xfrm>
            <a:off x="548640" y="3831336"/>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713232" y="3959352"/>
            <a:ext cx="475488" cy="475488"/>
          </a:xfrm>
          <a:prstGeom prst="roundRect">
            <a:avLst>
              <a:gd name="adj" fmla="val 19231"/>
            </a:avLst>
          </a:prstGeom>
          <a:solidFill>
            <a:srgbClr val="0E7C86"/>
          </a:solidFill>
          <a:ln/>
        </p:spPr>
      </p:sp>
      <p:sp>
        <p:nvSpPr>
          <p:cNvPr id="21" name="Text 19"/>
          <p:cNvSpPr txBox="1"/>
          <p:nvPr/>
        </p:nvSpPr>
        <p:spPr>
          <a:xfrm>
            <a:off x="713232" y="3959352"/>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txBox="1"/>
          <p:nvPr/>
        </p:nvSpPr>
        <p:spPr>
          <a:xfrm>
            <a:off x="1371600" y="3904488"/>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Cost / economic manufacture</a:t>
            </a:r>
            <a:endParaRPr lang="en-US" sz="1450" dirty="0"/>
          </a:p>
        </p:txBody>
      </p:sp>
      <p:sp>
        <p:nvSpPr>
          <p:cNvPr id="23" name="Text 21"/>
          <p:cNvSpPr txBox="1"/>
          <p:nvPr/>
        </p:nvSpPr>
        <p:spPr>
          <a:xfrm>
            <a:off x="6035040" y="3904488"/>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Designing to be made efficiently and profitably</a:t>
            </a:r>
            <a:endParaRPr lang="en-US" sz="1250" dirty="0"/>
          </a:p>
        </p:txBody>
      </p:sp>
      <p:sp>
        <p:nvSpPr>
          <p:cNvPr id="24" name="Shape 22"/>
          <p:cNvSpPr/>
          <p:nvPr/>
        </p:nvSpPr>
        <p:spPr>
          <a:xfrm>
            <a:off x="548640" y="4636008"/>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5" name="Shape 23"/>
          <p:cNvSpPr/>
          <p:nvPr/>
        </p:nvSpPr>
        <p:spPr>
          <a:xfrm>
            <a:off x="713232" y="4764024"/>
            <a:ext cx="475488" cy="475488"/>
          </a:xfrm>
          <a:prstGeom prst="roundRect">
            <a:avLst>
              <a:gd name="adj" fmla="val 19231"/>
            </a:avLst>
          </a:prstGeom>
          <a:solidFill>
            <a:srgbClr val="0E7C86"/>
          </a:solidFill>
          <a:ln/>
        </p:spPr>
      </p:sp>
      <p:sp>
        <p:nvSpPr>
          <p:cNvPr id="26" name="Text 24"/>
          <p:cNvSpPr txBox="1"/>
          <p:nvPr/>
        </p:nvSpPr>
        <p:spPr>
          <a:xfrm>
            <a:off x="713232" y="47640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txBox="1"/>
          <p:nvPr/>
        </p:nvSpPr>
        <p:spPr>
          <a:xfrm>
            <a:off x="1371600" y="4709160"/>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Changes for social trends</a:t>
            </a:r>
            <a:endParaRPr lang="en-US" sz="1450" dirty="0"/>
          </a:p>
        </p:txBody>
      </p:sp>
      <p:sp>
        <p:nvSpPr>
          <p:cNvPr id="28" name="Text 26"/>
          <p:cNvSpPr txBox="1"/>
          <p:nvPr/>
        </p:nvSpPr>
        <p:spPr>
          <a:xfrm>
            <a:off x="6035040" y="4709160"/>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Waste minimisation, re-use, recycling and ethical sourcing</a:t>
            </a:r>
            <a:endParaRPr lang="en-US" sz="1250" dirty="0"/>
          </a:p>
        </p:txBody>
      </p:sp>
      <p:sp>
        <p:nvSpPr>
          <p:cNvPr id="29" name="Shape 27"/>
          <p:cNvSpPr/>
          <p:nvPr/>
        </p:nvSpPr>
        <p:spPr>
          <a:xfrm>
            <a:off x="548640" y="5440680"/>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0" name="Shape 28"/>
          <p:cNvSpPr/>
          <p:nvPr/>
        </p:nvSpPr>
        <p:spPr>
          <a:xfrm>
            <a:off x="713232" y="5568696"/>
            <a:ext cx="475488" cy="475488"/>
          </a:xfrm>
          <a:prstGeom prst="roundRect">
            <a:avLst>
              <a:gd name="adj" fmla="val 19231"/>
            </a:avLst>
          </a:prstGeom>
          <a:solidFill>
            <a:srgbClr val="0E7C86"/>
          </a:solidFill>
          <a:ln/>
        </p:spPr>
      </p:sp>
      <p:sp>
        <p:nvSpPr>
          <p:cNvPr id="31" name="Text 29"/>
          <p:cNvSpPr txBox="1"/>
          <p:nvPr/>
        </p:nvSpPr>
        <p:spPr>
          <a:xfrm>
            <a:off x="713232" y="55686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32" name="Text 30"/>
          <p:cNvSpPr txBox="1"/>
          <p:nvPr/>
        </p:nvSpPr>
        <p:spPr>
          <a:xfrm>
            <a:off x="1371600" y="5513832"/>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Businesses &amp; A-grade exam skills</a:t>
            </a:r>
            <a:endParaRPr lang="en-US" sz="1450" dirty="0"/>
          </a:p>
        </p:txBody>
      </p:sp>
      <p:sp>
        <p:nvSpPr>
          <p:cNvPr id="33" name="Text 31"/>
          <p:cNvSpPr txBox="1"/>
          <p:nvPr/>
        </p:nvSpPr>
        <p:spPr>
          <a:xfrm>
            <a:off x="6035040" y="5513832"/>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Real firms by the design mix, plus the IKEA 6, 8 and 20-mark questions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Where the design mix sits in the specification</a:t>
            </a:r>
            <a:endParaRPr lang="en-US" sz="28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Topic 1.3.3  Marketing mix and strategy</a:t>
            </a:r>
            <a:endParaRPr lang="en-US" sz="1350" dirty="0"/>
          </a:p>
        </p:txBody>
      </p:sp>
      <p:sp>
        <p:nvSpPr>
          <p:cNvPr id="6" name="Shape 4"/>
          <p:cNvSpPr/>
          <p:nvPr/>
        </p:nvSpPr>
        <p:spPr>
          <a:xfrm>
            <a:off x="749808" y="1901952"/>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084832"/>
            <a:ext cx="457200" cy="457200"/>
          </a:xfrm>
          <a:prstGeom prst="roundRect">
            <a:avLst>
              <a:gd name="adj" fmla="val 20000"/>
            </a:avLst>
          </a:prstGeom>
          <a:solidFill>
            <a:srgbClr val="0E7C86"/>
          </a:solidFill>
          <a:ln/>
        </p:spPr>
      </p:sp>
      <p:sp>
        <p:nvSpPr>
          <p:cNvPr id="8" name="Text 6"/>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11680"/>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Marketing objectives &amp; strategy</a:t>
            </a:r>
            <a:endParaRPr lang="en-US" sz="1300" dirty="0"/>
          </a:p>
        </p:txBody>
      </p:sp>
      <p:sp>
        <p:nvSpPr>
          <p:cNvPr id="10" name="Text 8"/>
          <p:cNvSpPr txBox="1"/>
          <p:nvPr/>
        </p:nvSpPr>
        <p:spPr>
          <a:xfrm>
            <a:off x="1508760" y="2304288"/>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the a–f topics (market share, PLC, Boston Matrix, marketing mix, market types, loyalty)</a:t>
            </a:r>
            <a:endParaRPr lang="en-US" sz="1050" dirty="0"/>
          </a:p>
        </p:txBody>
      </p:sp>
      <p:sp>
        <p:nvSpPr>
          <p:cNvPr id="11" name="Shape 9"/>
          <p:cNvSpPr/>
          <p:nvPr/>
        </p:nvSpPr>
        <p:spPr>
          <a:xfrm>
            <a:off x="749808" y="2761488"/>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12" name="Shape 10"/>
          <p:cNvSpPr/>
          <p:nvPr/>
        </p:nvSpPr>
        <p:spPr>
          <a:xfrm>
            <a:off x="749808" y="2761488"/>
            <a:ext cx="91440" cy="841248"/>
          </a:xfrm>
          <a:prstGeom prst="roundRect">
            <a:avLst/>
          </a:prstGeom>
          <a:solidFill>
            <a:srgbClr val="E0940F"/>
          </a:solidFill>
          <a:ln/>
        </p:spPr>
      </p:sp>
      <p:sp>
        <p:nvSpPr>
          <p:cNvPr id="13" name="Shape 11"/>
          <p:cNvSpPr/>
          <p:nvPr/>
        </p:nvSpPr>
        <p:spPr>
          <a:xfrm>
            <a:off x="914400" y="2944368"/>
            <a:ext cx="457200" cy="457200"/>
          </a:xfrm>
          <a:prstGeom prst="roundRect">
            <a:avLst>
              <a:gd name="adj" fmla="val 20000"/>
            </a:avLst>
          </a:prstGeom>
          <a:solidFill>
            <a:srgbClr val="E0940F"/>
          </a:solidFill>
          <a:ln/>
        </p:spPr>
      </p:sp>
      <p:sp>
        <p:nvSpPr>
          <p:cNvPr id="14" name="Text 12"/>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5" name="Text 13"/>
          <p:cNvSpPr txBox="1"/>
          <p:nvPr/>
        </p:nvSpPr>
        <p:spPr>
          <a:xfrm>
            <a:off x="1508760" y="2871216"/>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Product / service design   ← this lesson</a:t>
            </a:r>
            <a:endParaRPr lang="en-US" sz="1300" dirty="0"/>
          </a:p>
        </p:txBody>
      </p:sp>
      <p:sp>
        <p:nvSpPr>
          <p:cNvPr id="16" name="Text 14"/>
          <p:cNvSpPr txBox="1"/>
          <p:nvPr/>
        </p:nvSpPr>
        <p:spPr>
          <a:xfrm>
            <a:off x="1508760" y="3163824"/>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the design mix: function, aesthetics, cost  ·  + changes for social trends</a:t>
            </a:r>
            <a:endParaRPr lang="en-US" sz="1050" dirty="0"/>
          </a:p>
        </p:txBody>
      </p:sp>
      <p:sp>
        <p:nvSpPr>
          <p:cNvPr id="17" name="Shape 15"/>
          <p:cNvSpPr/>
          <p:nvPr/>
        </p:nvSpPr>
        <p:spPr>
          <a:xfrm>
            <a:off x="749808" y="3621024"/>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8" name="Shape 16"/>
          <p:cNvSpPr/>
          <p:nvPr/>
        </p:nvSpPr>
        <p:spPr>
          <a:xfrm>
            <a:off x="914400" y="3803904"/>
            <a:ext cx="457200" cy="457200"/>
          </a:xfrm>
          <a:prstGeom prst="roundRect">
            <a:avLst>
              <a:gd name="adj" fmla="val 20000"/>
            </a:avLst>
          </a:prstGeom>
          <a:solidFill>
            <a:srgbClr val="0E7C86"/>
          </a:solidFill>
          <a:ln/>
        </p:spPr>
      </p:sp>
      <p:sp>
        <p:nvSpPr>
          <p:cNvPr id="19" name="Text 17"/>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1508760" y="3730752"/>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Promotion &amp; branding</a:t>
            </a:r>
            <a:endParaRPr lang="en-US" sz="1300" dirty="0"/>
          </a:p>
        </p:txBody>
      </p:sp>
      <p:sp>
        <p:nvSpPr>
          <p:cNvPr id="21" name="Text 19"/>
          <p:cNvSpPr txBox="1"/>
          <p:nvPr/>
        </p:nvSpPr>
        <p:spPr>
          <a:xfrm>
            <a:off x="1508760" y="4023360"/>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types of promotion and branding; building a brand</a:t>
            </a:r>
            <a:endParaRPr lang="en-US" sz="1050" dirty="0"/>
          </a:p>
        </p:txBody>
      </p:sp>
      <p:sp>
        <p:nvSpPr>
          <p:cNvPr id="22" name="Shape 20"/>
          <p:cNvSpPr/>
          <p:nvPr/>
        </p:nvSpPr>
        <p:spPr>
          <a:xfrm>
            <a:off x="749808" y="4480560"/>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3" name="Shape 21"/>
          <p:cNvSpPr/>
          <p:nvPr/>
        </p:nvSpPr>
        <p:spPr>
          <a:xfrm>
            <a:off x="914400" y="4663440"/>
            <a:ext cx="457200" cy="457200"/>
          </a:xfrm>
          <a:prstGeom prst="roundRect">
            <a:avLst>
              <a:gd name="adj" fmla="val 20000"/>
            </a:avLst>
          </a:prstGeom>
          <a:solidFill>
            <a:srgbClr val="0E7C86"/>
          </a:solidFill>
          <a:ln/>
        </p:spPr>
      </p:sp>
      <p:sp>
        <p:nvSpPr>
          <p:cNvPr id="24" name="Text 22"/>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4590288"/>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Pricing strategies</a:t>
            </a:r>
            <a:endParaRPr lang="en-US" sz="1300" dirty="0"/>
          </a:p>
        </p:txBody>
      </p:sp>
      <p:sp>
        <p:nvSpPr>
          <p:cNvPr id="26" name="Text 24"/>
          <p:cNvSpPr txBox="1"/>
          <p:nvPr/>
        </p:nvSpPr>
        <p:spPr>
          <a:xfrm>
            <a:off x="1508760" y="4882896"/>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cost-plus, skimming, penetration, competitive…</a:t>
            </a:r>
            <a:endParaRPr lang="en-US" sz="1050" dirty="0"/>
          </a:p>
        </p:txBody>
      </p:sp>
      <p:sp>
        <p:nvSpPr>
          <p:cNvPr id="27" name="Shape 25"/>
          <p:cNvSpPr/>
          <p:nvPr/>
        </p:nvSpPr>
        <p:spPr>
          <a:xfrm>
            <a:off x="749808" y="5340096"/>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8" name="Shape 26"/>
          <p:cNvSpPr/>
          <p:nvPr/>
        </p:nvSpPr>
        <p:spPr>
          <a:xfrm>
            <a:off x="914400" y="5522976"/>
            <a:ext cx="457200" cy="457200"/>
          </a:xfrm>
          <a:prstGeom prst="roundRect">
            <a:avLst>
              <a:gd name="adj" fmla="val 20000"/>
            </a:avLst>
          </a:prstGeom>
          <a:solidFill>
            <a:srgbClr val="0E7C86"/>
          </a:solidFill>
          <a:ln/>
        </p:spPr>
      </p:sp>
      <p:sp>
        <p:nvSpPr>
          <p:cNvPr id="29" name="Text 27"/>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0" name="Text 28"/>
          <p:cNvSpPr txBox="1"/>
          <p:nvPr/>
        </p:nvSpPr>
        <p:spPr>
          <a:xfrm>
            <a:off x="1508760" y="5449824"/>
            <a:ext cx="5394960" cy="310896"/>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Distribution</a:t>
            </a:r>
            <a:endParaRPr lang="en-US" sz="1300" dirty="0"/>
          </a:p>
        </p:txBody>
      </p:sp>
      <p:sp>
        <p:nvSpPr>
          <p:cNvPr id="31" name="Text 29"/>
          <p:cNvSpPr txBox="1"/>
          <p:nvPr/>
        </p:nvSpPr>
        <p:spPr>
          <a:xfrm>
            <a:off x="1508760" y="5742432"/>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channels from producer to consumer</a:t>
            </a:r>
            <a:endParaRPr lang="en-US" sz="1050" dirty="0"/>
          </a:p>
        </p:txBody>
      </p:sp>
      <p:sp>
        <p:nvSpPr>
          <p:cNvPr id="32" name="Shape 30"/>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3" name="Text 3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34" name="Text 32"/>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design mix shapes the ‘Product’ in the marketing mix (1.3.3 point 1d)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Function &amp; aesthetics drive differentiation and branding (point 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Cost of manufacture feeds pricing decisions (point 4)</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Design changes as a product moves through the life cycle (point 1b)</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Social-trend design links to ethics &amp; sustainability later in the course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595360" cy="11430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design mix &amp; the triangle</a:t>
            </a:r>
            <a:endParaRPr lang="en-US" sz="34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what the design mix is  ·  the three elements and the triangle  ·  reading a product's position with real examples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THE DESIGN MIX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is the design mix?</a:t>
            </a:r>
            <a:endParaRPr lang="en-US" sz="2800" dirty="0"/>
          </a:p>
        </p:txBody>
      </p:sp>
      <p:sp>
        <p:nvSpPr>
          <p:cNvPr id="4" name="Shape 2"/>
          <p:cNvSpPr/>
          <p:nvPr/>
        </p:nvSpPr>
        <p:spPr>
          <a:xfrm>
            <a:off x="548640" y="1371600"/>
            <a:ext cx="11091672" cy="822960"/>
          </a:xfrm>
          <a:prstGeom prst="roundRect">
            <a:avLst>
              <a:gd name="adj" fmla="val 8889"/>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19072"/>
            <a:ext cx="10698480" cy="420624"/>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 model — shown as a triangle — of the three features every product must balance at the research and design stage: function, aesthetics and cost (economic manufacture). A product can lean towards one or two; its place in the triangle shows the emphasis.</a:t>
            </a:r>
            <a:endParaRPr lang="en-US" sz="1300" dirty="0"/>
          </a:p>
        </p:txBody>
      </p:sp>
      <p:sp>
        <p:nvSpPr>
          <p:cNvPr id="7" name="Shape 5"/>
          <p:cNvSpPr/>
          <p:nvPr/>
        </p:nvSpPr>
        <p:spPr>
          <a:xfrm>
            <a:off x="1554480" y="2651760"/>
            <a:ext cx="5120640" cy="3108960"/>
          </a:xfrm>
          <a:prstGeom prst="triangle">
            <a:avLst/>
          </a:prstGeom>
          <a:solidFill>
            <a:srgbClr val="EAF3F4"/>
          </a:solidFill>
          <a:ln w="31750">
            <a:solidFill>
              <a:srgbClr val="0E7C86"/>
            </a:solidFill>
            <a:prstDash val="solid"/>
          </a:ln>
        </p:spPr>
      </p:sp>
      <p:sp>
        <p:nvSpPr>
          <p:cNvPr id="8" name="Text 6"/>
          <p:cNvSpPr txBox="1"/>
          <p:nvPr/>
        </p:nvSpPr>
        <p:spPr>
          <a:xfrm>
            <a:off x="2834640" y="2231136"/>
            <a:ext cx="2560320" cy="310896"/>
          </a:xfrm>
          <a:prstGeom prst="rect">
            <a:avLst/>
          </a:prstGeom>
          <a:noFill/>
          <a:ln/>
        </p:spPr>
        <p:txBody>
          <a:bodyPr wrap="square" lIns="0" tIns="0" rIns="0" bIns="0" rtlCol="0" anchor="ctr"/>
          <a:lstStyle/>
          <a:p>
            <a:pPr algn="ctr" indent="0" marL="0">
              <a:buNone/>
            </a:pPr>
            <a:r>
              <a:rPr lang="en-US" sz="1400" b="1" spc="100" kern="0" dirty="0">
                <a:solidFill>
                  <a:srgbClr val="0E7C86"/>
                </a:solidFill>
                <a:latin typeface="Calibri" pitchFamily="34" charset="0"/>
                <a:ea typeface="Calibri" pitchFamily="34" charset="-122"/>
                <a:cs typeface="Calibri" pitchFamily="34" charset="-120"/>
              </a:rPr>
              <a:t>FUNCTION</a:t>
            </a:r>
            <a:endParaRPr lang="en-US" sz="1400" dirty="0"/>
          </a:p>
        </p:txBody>
      </p:sp>
      <p:sp>
        <p:nvSpPr>
          <p:cNvPr id="9" name="Text 7"/>
          <p:cNvSpPr txBox="1"/>
          <p:nvPr/>
        </p:nvSpPr>
        <p:spPr>
          <a:xfrm>
            <a:off x="640080" y="5852160"/>
            <a:ext cx="2560320" cy="310896"/>
          </a:xfrm>
          <a:prstGeom prst="rect">
            <a:avLst/>
          </a:prstGeom>
          <a:noFill/>
          <a:ln/>
        </p:spPr>
        <p:txBody>
          <a:bodyPr wrap="square" lIns="0" tIns="0" rIns="0" bIns="0" rtlCol="0" anchor="ctr"/>
          <a:lstStyle/>
          <a:p>
            <a:pPr algn="ctr" indent="0" marL="0">
              <a:buNone/>
            </a:pPr>
            <a:r>
              <a:rPr lang="en-US" sz="1400" b="1" spc="100" kern="0" dirty="0">
                <a:solidFill>
                  <a:srgbClr val="E0940F"/>
                </a:solidFill>
                <a:latin typeface="Calibri" pitchFamily="34" charset="0"/>
                <a:ea typeface="Calibri" pitchFamily="34" charset="-122"/>
                <a:cs typeface="Calibri" pitchFamily="34" charset="-120"/>
              </a:rPr>
              <a:t>AESTHETICS</a:t>
            </a:r>
            <a:endParaRPr lang="en-US" sz="1400" dirty="0"/>
          </a:p>
        </p:txBody>
      </p:sp>
      <p:sp>
        <p:nvSpPr>
          <p:cNvPr id="10" name="Text 8"/>
          <p:cNvSpPr txBox="1"/>
          <p:nvPr/>
        </p:nvSpPr>
        <p:spPr>
          <a:xfrm>
            <a:off x="5029200" y="5852160"/>
            <a:ext cx="2560320" cy="310896"/>
          </a:xfrm>
          <a:prstGeom prst="rect">
            <a:avLst/>
          </a:prstGeom>
          <a:noFill/>
          <a:ln/>
        </p:spPr>
        <p:txBody>
          <a:bodyPr wrap="square" lIns="0" tIns="0" rIns="0" bIns="0" rtlCol="0" anchor="ctr"/>
          <a:lstStyle/>
          <a:p>
            <a:pPr algn="ctr" indent="0" marL="0">
              <a:buNone/>
            </a:pPr>
            <a:r>
              <a:rPr lang="en-US" sz="1400" b="1" spc="100" kern="0" dirty="0">
                <a:solidFill>
                  <a:srgbClr val="2F8A5B"/>
                </a:solidFill>
                <a:latin typeface="Calibri" pitchFamily="34" charset="0"/>
                <a:ea typeface="Calibri" pitchFamily="34" charset="-122"/>
                <a:cs typeface="Calibri" pitchFamily="34" charset="-120"/>
              </a:rPr>
              <a:t>COST</a:t>
            </a:r>
            <a:endParaRPr lang="en-US" sz="1400" dirty="0"/>
          </a:p>
        </p:txBody>
      </p:sp>
      <p:sp>
        <p:nvSpPr>
          <p:cNvPr id="11" name="Text 9"/>
          <p:cNvSpPr txBox="1"/>
          <p:nvPr/>
        </p:nvSpPr>
        <p:spPr>
          <a:xfrm>
            <a:off x="5029200" y="6144768"/>
            <a:ext cx="2560320" cy="274320"/>
          </a:xfrm>
          <a:prstGeom prst="rect">
            <a:avLst/>
          </a:prstGeom>
          <a:noFill/>
          <a:ln/>
        </p:spPr>
        <p:txBody>
          <a:bodyPr wrap="square" lIns="0" tIns="0" rIns="0" bIns="0" rtlCol="0" anchor="ctr"/>
          <a:lstStyle/>
          <a:p>
            <a:pPr algn="ctr" indent="0" marL="0">
              <a:buNone/>
            </a:pPr>
            <a:r>
              <a:rPr lang="en-US" sz="1000" i="1" dirty="0">
                <a:solidFill>
                  <a:srgbClr val="5B6B73"/>
                </a:solidFill>
                <a:latin typeface="Calibri" pitchFamily="34" charset="0"/>
                <a:ea typeface="Calibri" pitchFamily="34" charset="-122"/>
                <a:cs typeface="Calibri" pitchFamily="34" charset="-120"/>
              </a:rPr>
              <a:t>(economic manufacture)</a:t>
            </a:r>
            <a:endParaRPr lang="en-US" sz="1000" dirty="0"/>
          </a:p>
        </p:txBody>
      </p:sp>
      <p:sp>
        <p:nvSpPr>
          <p:cNvPr id="12" name="Shape 10"/>
          <p:cNvSpPr/>
          <p:nvPr/>
        </p:nvSpPr>
        <p:spPr>
          <a:xfrm>
            <a:off x="7315200" y="2423160"/>
            <a:ext cx="4325112" cy="3611880"/>
          </a:xfrm>
          <a:prstGeom prst="roundRect">
            <a:avLst>
              <a:gd name="adj" fmla="val 202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Text 11"/>
          <p:cNvSpPr txBox="1"/>
          <p:nvPr/>
        </p:nvSpPr>
        <p:spPr>
          <a:xfrm>
            <a:off x="7543800" y="2542032"/>
            <a:ext cx="393192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The three elements</a:t>
            </a:r>
            <a:endParaRPr lang="en-US" sz="1400" dirty="0"/>
          </a:p>
        </p:txBody>
      </p:sp>
      <p:sp>
        <p:nvSpPr>
          <p:cNvPr id="14" name="Text 12"/>
          <p:cNvSpPr txBox="1"/>
          <p:nvPr/>
        </p:nvSpPr>
        <p:spPr>
          <a:xfrm>
            <a:off x="7543800" y="2926080"/>
            <a:ext cx="3886200" cy="1554480"/>
          </a:xfrm>
          <a:prstGeom prst="rect">
            <a:avLst/>
          </a:prstGeom>
          <a:noFill/>
          <a:ln/>
        </p:spPr>
        <p:txBody>
          <a:bodyPr wrap="square" lIns="0" tIns="0" rIns="0" bIns="0" rtlCol="0" anchor="t"/>
          <a:lstStyle/>
          <a:p>
            <a:pPr indent="0" marL="0">
              <a:spcAft>
                <a:spcPts val="600"/>
              </a:spcAft>
              <a:buNone/>
            </a:pPr>
            <a:r>
              <a:rPr lang="en-US" sz="1250" b="1" dirty="0">
                <a:solidFill>
                  <a:srgbClr val="0E7C86"/>
                </a:solidFill>
                <a:latin typeface="Calibri" pitchFamily="34" charset="0"/>
                <a:ea typeface="Calibri" pitchFamily="34" charset="-122"/>
                <a:cs typeface="Calibri" pitchFamily="34" charset="-120"/>
              </a:rPr>
              <a:t>Function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 how well it works (fit for purpose).
</a:t>
            </a:r>
            <a:pPr indent="0" marL="0">
              <a:spcAft>
                <a:spcPts val="600"/>
              </a:spcAft>
              <a:buNone/>
            </a:pPr>
            <a:r>
              <a:rPr lang="en-US" sz="1250" b="1" dirty="0">
                <a:solidFill>
                  <a:srgbClr val="E0940F"/>
                </a:solidFill>
                <a:latin typeface="Calibri" pitchFamily="34" charset="0"/>
                <a:ea typeface="Calibri" pitchFamily="34" charset="-122"/>
                <a:cs typeface="Calibri" pitchFamily="34" charset="-120"/>
              </a:rPr>
              <a:t>Aesthetics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 how it looks, feels and appeals.
</a:t>
            </a:r>
            <a:pPr indent="0" marL="0">
              <a:spcAft>
                <a:spcPts val="600"/>
              </a:spcAft>
              <a:buNone/>
            </a:pPr>
            <a:r>
              <a:rPr lang="en-US" sz="1250" b="1" dirty="0">
                <a:solidFill>
                  <a:srgbClr val="2F8A5B"/>
                </a:solidFill>
                <a:latin typeface="Calibri" pitchFamily="34" charset="0"/>
                <a:ea typeface="Calibri" pitchFamily="34" charset="-122"/>
                <a:cs typeface="Calibri" pitchFamily="34" charset="-120"/>
              </a:rPr>
              <a:t>Cost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 whether it can be made efficiently and profitably.</a:t>
            </a:r>
            <a:endParaRPr lang="en-US" sz="1250" dirty="0"/>
          </a:p>
        </p:txBody>
      </p:sp>
      <p:sp>
        <p:nvSpPr>
          <p:cNvPr id="15" name="Text 13"/>
          <p:cNvSpPr txBox="1"/>
          <p:nvPr/>
        </p:nvSpPr>
        <p:spPr>
          <a:xfrm>
            <a:off x="7543800" y="4572000"/>
            <a:ext cx="3886200" cy="1371600"/>
          </a:xfrm>
          <a:prstGeom prst="rect">
            <a:avLst/>
          </a:prstGeom>
          <a:noFill/>
          <a:ln/>
        </p:spPr>
        <p:txBody>
          <a:bodyPr wrap="square" lIns="0" tIns="0" rIns="0" bIns="0" rtlCol="0" anchor="t"/>
          <a:lstStyle/>
          <a:p>
            <a:pPr indent="0" marL="0">
              <a:buNone/>
            </a:pPr>
            <a:r>
              <a:rPr lang="en-US" sz="1250" b="1" dirty="0">
                <a:solidFill>
                  <a:srgbClr val="0B5E66"/>
                </a:solidFill>
                <a:latin typeface="Calibri" pitchFamily="34" charset="0"/>
                <a:ea typeface="Calibri" pitchFamily="34" charset="-122"/>
                <a:cs typeface="Calibri" pitchFamily="34" charset="-120"/>
              </a:rPr>
              <a:t>Key idea:  </a:t>
            </a:r>
            <a:pPr indent="0" marL="0">
              <a:buNone/>
            </a:pPr>
            <a:r>
              <a:rPr lang="en-US" sz="1250" dirty="0">
                <a:solidFill>
                  <a:srgbClr val="1F2A33"/>
                </a:solidFill>
                <a:latin typeface="Calibri" pitchFamily="34" charset="0"/>
                <a:ea typeface="Calibri" pitchFamily="34" charset="-122"/>
                <a:cs typeface="Calibri" pitchFamily="34" charset="-120"/>
              </a:rPr>
              <a:t>the three pull against each other — improving one often raises cost or compromises another. Good design finds the right balance for the market.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THE DESIGN MIX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Reading the triangle: real products by emphasis</a:t>
            </a:r>
            <a:endParaRPr lang="en-US" sz="2800" dirty="0"/>
          </a:p>
        </p:txBody>
      </p:sp>
      <p:sp>
        <p:nvSpPr>
          <p:cNvPr id="4" name="Shape 2"/>
          <p:cNvSpPr/>
          <p:nvPr/>
        </p:nvSpPr>
        <p:spPr>
          <a:xfrm>
            <a:off x="2103120" y="2103120"/>
            <a:ext cx="6583680" cy="3566160"/>
          </a:xfrm>
          <a:prstGeom prst="triangle">
            <a:avLst/>
          </a:prstGeom>
          <a:solidFill>
            <a:srgbClr val="EAF3F4"/>
          </a:solidFill>
          <a:ln w="31750">
            <a:solidFill>
              <a:srgbClr val="0E7C86"/>
            </a:solidFill>
            <a:prstDash val="solid"/>
          </a:ln>
        </p:spPr>
      </p:sp>
      <p:sp>
        <p:nvSpPr>
          <p:cNvPr id="5" name="Text 3"/>
          <p:cNvSpPr txBox="1"/>
          <p:nvPr/>
        </p:nvSpPr>
        <p:spPr>
          <a:xfrm>
            <a:off x="4114800" y="1682496"/>
            <a:ext cx="2560320" cy="310896"/>
          </a:xfrm>
          <a:prstGeom prst="rect">
            <a:avLst/>
          </a:prstGeom>
          <a:noFill/>
          <a:ln/>
        </p:spPr>
        <p:txBody>
          <a:bodyPr wrap="square" lIns="0" tIns="0" rIns="0" bIns="0" rtlCol="0" anchor="ctr"/>
          <a:lstStyle/>
          <a:p>
            <a:pPr algn="ctr" indent="0" marL="0">
              <a:buNone/>
            </a:pPr>
            <a:r>
              <a:rPr lang="en-US" sz="1400" b="1" spc="100" kern="0" dirty="0">
                <a:solidFill>
                  <a:srgbClr val="0E7C86"/>
                </a:solidFill>
                <a:latin typeface="Calibri" pitchFamily="34" charset="0"/>
                <a:ea typeface="Calibri" pitchFamily="34" charset="-122"/>
                <a:cs typeface="Calibri" pitchFamily="34" charset="-120"/>
              </a:rPr>
              <a:t>FUNCTION</a:t>
            </a:r>
            <a:endParaRPr lang="en-US" sz="1400" dirty="0"/>
          </a:p>
        </p:txBody>
      </p:sp>
      <p:sp>
        <p:nvSpPr>
          <p:cNvPr id="6" name="Text 4"/>
          <p:cNvSpPr txBox="1"/>
          <p:nvPr/>
        </p:nvSpPr>
        <p:spPr>
          <a:xfrm>
            <a:off x="1188720" y="5760720"/>
            <a:ext cx="2560320" cy="310896"/>
          </a:xfrm>
          <a:prstGeom prst="rect">
            <a:avLst/>
          </a:prstGeom>
          <a:noFill/>
          <a:ln/>
        </p:spPr>
        <p:txBody>
          <a:bodyPr wrap="square" lIns="0" tIns="0" rIns="0" bIns="0" rtlCol="0" anchor="ctr"/>
          <a:lstStyle/>
          <a:p>
            <a:pPr algn="ctr" indent="0" marL="0">
              <a:buNone/>
            </a:pPr>
            <a:r>
              <a:rPr lang="en-US" sz="1400" b="1" spc="100" kern="0" dirty="0">
                <a:solidFill>
                  <a:srgbClr val="E0940F"/>
                </a:solidFill>
                <a:latin typeface="Calibri" pitchFamily="34" charset="0"/>
                <a:ea typeface="Calibri" pitchFamily="34" charset="-122"/>
                <a:cs typeface="Calibri" pitchFamily="34" charset="-120"/>
              </a:rPr>
              <a:t>AESTHETICS</a:t>
            </a:r>
            <a:endParaRPr lang="en-US" sz="1400" dirty="0"/>
          </a:p>
        </p:txBody>
      </p:sp>
      <p:sp>
        <p:nvSpPr>
          <p:cNvPr id="7" name="Text 5"/>
          <p:cNvSpPr txBox="1"/>
          <p:nvPr/>
        </p:nvSpPr>
        <p:spPr>
          <a:xfrm>
            <a:off x="7040880" y="5760720"/>
            <a:ext cx="2560320" cy="310896"/>
          </a:xfrm>
          <a:prstGeom prst="rect">
            <a:avLst/>
          </a:prstGeom>
          <a:noFill/>
          <a:ln/>
        </p:spPr>
        <p:txBody>
          <a:bodyPr wrap="square" lIns="0" tIns="0" rIns="0" bIns="0" rtlCol="0" anchor="ctr"/>
          <a:lstStyle/>
          <a:p>
            <a:pPr algn="ctr" indent="0" marL="0">
              <a:buNone/>
            </a:pPr>
            <a:r>
              <a:rPr lang="en-US" sz="1400" b="1" spc="100" kern="0" dirty="0">
                <a:solidFill>
                  <a:srgbClr val="2F8A5B"/>
                </a:solidFill>
                <a:latin typeface="Calibri" pitchFamily="34" charset="0"/>
                <a:ea typeface="Calibri" pitchFamily="34" charset="-122"/>
                <a:cs typeface="Calibri" pitchFamily="34" charset="-120"/>
              </a:rPr>
              <a:t>COST</a:t>
            </a:r>
            <a:endParaRPr lang="en-US" sz="1400" dirty="0"/>
          </a:p>
        </p:txBody>
      </p:sp>
      <p:sp>
        <p:nvSpPr>
          <p:cNvPr id="8" name="Text 6"/>
          <p:cNvSpPr txBox="1"/>
          <p:nvPr/>
        </p:nvSpPr>
        <p:spPr>
          <a:xfrm>
            <a:off x="7040880" y="6053328"/>
            <a:ext cx="2560320" cy="274320"/>
          </a:xfrm>
          <a:prstGeom prst="rect">
            <a:avLst/>
          </a:prstGeom>
          <a:noFill/>
          <a:ln/>
        </p:spPr>
        <p:txBody>
          <a:bodyPr wrap="square" lIns="0" tIns="0" rIns="0" bIns="0" rtlCol="0" anchor="ctr"/>
          <a:lstStyle/>
          <a:p>
            <a:pPr algn="ctr" indent="0" marL="0">
              <a:buNone/>
            </a:pPr>
            <a:r>
              <a:rPr lang="en-US" sz="1000" i="1" dirty="0">
                <a:solidFill>
                  <a:srgbClr val="5B6B73"/>
                </a:solidFill>
                <a:latin typeface="Calibri" pitchFamily="34" charset="0"/>
                <a:ea typeface="Calibri" pitchFamily="34" charset="-122"/>
                <a:cs typeface="Calibri" pitchFamily="34" charset="-120"/>
              </a:rPr>
              <a:t>(economic manufacture)</a:t>
            </a:r>
            <a:endParaRPr lang="en-US" sz="1000" dirty="0"/>
          </a:p>
        </p:txBody>
      </p:sp>
      <p:sp>
        <p:nvSpPr>
          <p:cNvPr id="9" name="Shape 7"/>
          <p:cNvSpPr/>
          <p:nvPr/>
        </p:nvSpPr>
        <p:spPr>
          <a:xfrm>
            <a:off x="4797857" y="2606040"/>
            <a:ext cx="1194206" cy="301752"/>
          </a:xfrm>
          <a:prstGeom prst="roundRect">
            <a:avLst>
              <a:gd name="adj" fmla="val 48485"/>
            </a:avLst>
          </a:prstGeom>
          <a:solidFill>
            <a:srgbClr val="FFFFFF"/>
          </a:solidFill>
          <a:ln w="12700">
            <a:solidFill>
              <a:srgbClr val="0E7C86"/>
            </a:solidFill>
            <a:prstDash val="solid"/>
          </a:ln>
        </p:spPr>
      </p:sp>
      <p:sp>
        <p:nvSpPr>
          <p:cNvPr id="10" name="Text 8"/>
          <p:cNvSpPr txBox="1"/>
          <p:nvPr/>
        </p:nvSpPr>
        <p:spPr>
          <a:xfrm>
            <a:off x="4797857" y="2606040"/>
            <a:ext cx="1194206" cy="301752"/>
          </a:xfrm>
          <a:prstGeom prst="rect">
            <a:avLst/>
          </a:prstGeom>
          <a:noFill/>
          <a:ln/>
        </p:spPr>
        <p:txBody>
          <a:bodyPr wrap="square" lIns="0" tIns="0" rIns="0" bIns="0" rtlCol="0" anchor="ctr"/>
          <a:lstStyle/>
          <a:p>
            <a:pPr algn="ctr" indent="0" marL="0">
              <a:buNone/>
            </a:pPr>
            <a:r>
              <a:rPr lang="en-US" sz="1050" dirty="0">
                <a:solidFill>
                  <a:srgbClr val="1F2A33"/>
                </a:solidFill>
                <a:latin typeface="Calibri" pitchFamily="34" charset="0"/>
                <a:ea typeface="Calibri" pitchFamily="34" charset="-122"/>
                <a:cs typeface="Calibri" pitchFamily="34" charset="-120"/>
              </a:rPr>
              <a:t>Dyson vacuum</a:t>
            </a:r>
            <a:endParaRPr lang="en-US" sz="1050" dirty="0"/>
          </a:p>
        </p:txBody>
      </p:sp>
      <p:sp>
        <p:nvSpPr>
          <p:cNvPr id="11" name="Shape 9"/>
          <p:cNvSpPr/>
          <p:nvPr/>
        </p:nvSpPr>
        <p:spPr>
          <a:xfrm>
            <a:off x="4878324" y="2971800"/>
            <a:ext cx="1033272" cy="301752"/>
          </a:xfrm>
          <a:prstGeom prst="roundRect">
            <a:avLst>
              <a:gd name="adj" fmla="val 48485"/>
            </a:avLst>
          </a:prstGeom>
          <a:solidFill>
            <a:srgbClr val="FFFFFF"/>
          </a:solidFill>
          <a:ln w="12700">
            <a:solidFill>
              <a:srgbClr val="0E7C86"/>
            </a:solidFill>
            <a:prstDash val="solid"/>
          </a:ln>
        </p:spPr>
      </p:sp>
      <p:sp>
        <p:nvSpPr>
          <p:cNvPr id="12" name="Text 10"/>
          <p:cNvSpPr txBox="1"/>
          <p:nvPr/>
        </p:nvSpPr>
        <p:spPr>
          <a:xfrm>
            <a:off x="4878324" y="2971800"/>
            <a:ext cx="1033272" cy="301752"/>
          </a:xfrm>
          <a:prstGeom prst="rect">
            <a:avLst/>
          </a:prstGeom>
          <a:noFill/>
          <a:ln/>
        </p:spPr>
        <p:txBody>
          <a:bodyPr wrap="square" lIns="0" tIns="0" rIns="0" bIns="0" rtlCol="0" anchor="ctr"/>
          <a:lstStyle/>
          <a:p>
            <a:pPr algn="ctr" indent="0" marL="0">
              <a:buNone/>
            </a:pPr>
            <a:r>
              <a:rPr lang="en-US" sz="1050" dirty="0">
                <a:solidFill>
                  <a:srgbClr val="1F2A33"/>
                </a:solidFill>
                <a:latin typeface="Calibri" pitchFamily="34" charset="0"/>
                <a:ea typeface="Calibri" pitchFamily="34" charset="-122"/>
                <a:cs typeface="Calibri" pitchFamily="34" charset="-120"/>
              </a:rPr>
              <a:t>Mazda MX-5</a:t>
            </a:r>
            <a:endParaRPr lang="en-US" sz="1050" dirty="0"/>
          </a:p>
        </p:txBody>
      </p:sp>
      <p:sp>
        <p:nvSpPr>
          <p:cNvPr id="13" name="Shape 11"/>
          <p:cNvSpPr/>
          <p:nvPr/>
        </p:nvSpPr>
        <p:spPr>
          <a:xfrm>
            <a:off x="2423160" y="4800600"/>
            <a:ext cx="1113739" cy="301752"/>
          </a:xfrm>
          <a:prstGeom prst="roundRect">
            <a:avLst>
              <a:gd name="adj" fmla="val 48485"/>
            </a:avLst>
          </a:prstGeom>
          <a:solidFill>
            <a:srgbClr val="FFFFFF"/>
          </a:solidFill>
          <a:ln w="12700">
            <a:solidFill>
              <a:srgbClr val="E0940F"/>
            </a:solidFill>
            <a:prstDash val="solid"/>
          </a:ln>
        </p:spPr>
      </p:sp>
      <p:sp>
        <p:nvSpPr>
          <p:cNvPr id="14" name="Text 12"/>
          <p:cNvSpPr txBox="1"/>
          <p:nvPr/>
        </p:nvSpPr>
        <p:spPr>
          <a:xfrm>
            <a:off x="2423160" y="4800600"/>
            <a:ext cx="1113739" cy="301752"/>
          </a:xfrm>
          <a:prstGeom prst="rect">
            <a:avLst/>
          </a:prstGeom>
          <a:noFill/>
          <a:ln/>
        </p:spPr>
        <p:txBody>
          <a:bodyPr wrap="square" lIns="0" tIns="0" rIns="0" bIns="0" rtlCol="0" anchor="ctr"/>
          <a:lstStyle/>
          <a:p>
            <a:pPr algn="ctr" indent="0" marL="0">
              <a:buNone/>
            </a:pPr>
            <a:r>
              <a:rPr lang="en-US" sz="1050" dirty="0">
                <a:solidFill>
                  <a:srgbClr val="1F2A33"/>
                </a:solidFill>
                <a:latin typeface="Calibri" pitchFamily="34" charset="0"/>
                <a:ea typeface="Calibri" pitchFamily="34" charset="-122"/>
                <a:cs typeface="Calibri" pitchFamily="34" charset="-120"/>
              </a:rPr>
              <a:t>Range Rover</a:t>
            </a:r>
            <a:endParaRPr lang="en-US" sz="1050" dirty="0"/>
          </a:p>
        </p:txBody>
      </p:sp>
      <p:sp>
        <p:nvSpPr>
          <p:cNvPr id="15" name="Shape 13"/>
          <p:cNvSpPr/>
          <p:nvPr/>
        </p:nvSpPr>
        <p:spPr>
          <a:xfrm>
            <a:off x="2423160" y="5166360"/>
            <a:ext cx="1194206" cy="301752"/>
          </a:xfrm>
          <a:prstGeom prst="roundRect">
            <a:avLst>
              <a:gd name="adj" fmla="val 48485"/>
            </a:avLst>
          </a:prstGeom>
          <a:solidFill>
            <a:srgbClr val="FFFFFF"/>
          </a:solidFill>
          <a:ln w="12700">
            <a:solidFill>
              <a:srgbClr val="E0940F"/>
            </a:solidFill>
            <a:prstDash val="solid"/>
          </a:ln>
        </p:spPr>
      </p:sp>
      <p:sp>
        <p:nvSpPr>
          <p:cNvPr id="16" name="Text 14"/>
          <p:cNvSpPr txBox="1"/>
          <p:nvPr/>
        </p:nvSpPr>
        <p:spPr>
          <a:xfrm>
            <a:off x="2423160" y="5166360"/>
            <a:ext cx="1194206" cy="301752"/>
          </a:xfrm>
          <a:prstGeom prst="rect">
            <a:avLst/>
          </a:prstGeom>
          <a:noFill/>
          <a:ln/>
        </p:spPr>
        <p:txBody>
          <a:bodyPr wrap="square" lIns="0" tIns="0" rIns="0" bIns="0" rtlCol="0" anchor="ctr"/>
          <a:lstStyle/>
          <a:p>
            <a:pPr algn="ctr" indent="0" marL="0">
              <a:buNone/>
            </a:pPr>
            <a:r>
              <a:rPr lang="en-US" sz="1050" dirty="0">
                <a:solidFill>
                  <a:srgbClr val="1F2A33"/>
                </a:solidFill>
                <a:latin typeface="Calibri" pitchFamily="34" charset="0"/>
                <a:ea typeface="Calibri" pitchFamily="34" charset="-122"/>
                <a:cs typeface="Calibri" pitchFamily="34" charset="-120"/>
              </a:rPr>
              <a:t>Apple iPhone</a:t>
            </a:r>
            <a:endParaRPr lang="en-US" sz="1050" dirty="0"/>
          </a:p>
        </p:txBody>
      </p:sp>
      <p:sp>
        <p:nvSpPr>
          <p:cNvPr id="17" name="Shape 15"/>
          <p:cNvSpPr/>
          <p:nvPr/>
        </p:nvSpPr>
        <p:spPr>
          <a:xfrm>
            <a:off x="7092086" y="4800600"/>
            <a:ext cx="1274674" cy="301752"/>
          </a:xfrm>
          <a:prstGeom prst="roundRect">
            <a:avLst>
              <a:gd name="adj" fmla="val 48485"/>
            </a:avLst>
          </a:prstGeom>
          <a:solidFill>
            <a:srgbClr val="FFFFFF"/>
          </a:solidFill>
          <a:ln w="12700">
            <a:solidFill>
              <a:srgbClr val="2F8A5B"/>
            </a:solidFill>
            <a:prstDash val="solid"/>
          </a:ln>
        </p:spPr>
      </p:sp>
      <p:sp>
        <p:nvSpPr>
          <p:cNvPr id="18" name="Text 16"/>
          <p:cNvSpPr txBox="1"/>
          <p:nvPr/>
        </p:nvSpPr>
        <p:spPr>
          <a:xfrm>
            <a:off x="7092086" y="4800600"/>
            <a:ext cx="1274674" cy="301752"/>
          </a:xfrm>
          <a:prstGeom prst="rect">
            <a:avLst/>
          </a:prstGeom>
          <a:noFill/>
          <a:ln/>
        </p:spPr>
        <p:txBody>
          <a:bodyPr wrap="square" lIns="0" tIns="0" rIns="0" bIns="0" rtlCol="0" anchor="ctr"/>
          <a:lstStyle/>
          <a:p>
            <a:pPr algn="ctr" indent="0" marL="0">
              <a:buNone/>
            </a:pPr>
            <a:r>
              <a:rPr lang="en-US" sz="1050" dirty="0">
                <a:solidFill>
                  <a:srgbClr val="1F2A33"/>
                </a:solidFill>
                <a:latin typeface="Calibri" pitchFamily="34" charset="0"/>
                <a:ea typeface="Calibri" pitchFamily="34" charset="-122"/>
                <a:cs typeface="Calibri" pitchFamily="34" charset="-120"/>
              </a:rPr>
              <a:t>Dacia Sandero</a:t>
            </a:r>
            <a:endParaRPr lang="en-US" sz="1050" dirty="0"/>
          </a:p>
        </p:txBody>
      </p:sp>
      <p:sp>
        <p:nvSpPr>
          <p:cNvPr id="19" name="Shape 17"/>
          <p:cNvSpPr/>
          <p:nvPr/>
        </p:nvSpPr>
        <p:spPr>
          <a:xfrm>
            <a:off x="7011619" y="5166360"/>
            <a:ext cx="1355141" cy="301752"/>
          </a:xfrm>
          <a:prstGeom prst="roundRect">
            <a:avLst>
              <a:gd name="adj" fmla="val 48485"/>
            </a:avLst>
          </a:prstGeom>
          <a:solidFill>
            <a:srgbClr val="FFFFFF"/>
          </a:solidFill>
          <a:ln w="12700">
            <a:solidFill>
              <a:srgbClr val="2F8A5B"/>
            </a:solidFill>
            <a:prstDash val="solid"/>
          </a:ln>
        </p:spPr>
      </p:sp>
      <p:sp>
        <p:nvSpPr>
          <p:cNvPr id="20" name="Text 18"/>
          <p:cNvSpPr txBox="1"/>
          <p:nvPr/>
        </p:nvSpPr>
        <p:spPr>
          <a:xfrm>
            <a:off x="7011619" y="5166360"/>
            <a:ext cx="1355141" cy="301752"/>
          </a:xfrm>
          <a:prstGeom prst="rect">
            <a:avLst/>
          </a:prstGeom>
          <a:noFill/>
          <a:ln/>
        </p:spPr>
        <p:txBody>
          <a:bodyPr wrap="square" lIns="0" tIns="0" rIns="0" bIns="0" rtlCol="0" anchor="ctr"/>
          <a:lstStyle/>
          <a:p>
            <a:pPr algn="ctr" indent="0" marL="0">
              <a:buNone/>
            </a:pPr>
            <a:r>
              <a:rPr lang="en-US" sz="1050" dirty="0">
                <a:solidFill>
                  <a:srgbClr val="1F2A33"/>
                </a:solidFill>
                <a:latin typeface="Calibri" pitchFamily="34" charset="0"/>
                <a:ea typeface="Calibri" pitchFamily="34" charset="-122"/>
                <a:cs typeface="Calibri" pitchFamily="34" charset="-120"/>
              </a:rPr>
              <a:t>IKEA flat-pack</a:t>
            </a:r>
            <a:endParaRPr lang="en-US" sz="1050" dirty="0"/>
          </a:p>
        </p:txBody>
      </p:sp>
      <p:sp>
        <p:nvSpPr>
          <p:cNvPr id="21" name="Shape 19"/>
          <p:cNvSpPr/>
          <p:nvPr/>
        </p:nvSpPr>
        <p:spPr>
          <a:xfrm>
            <a:off x="4999025" y="4064508"/>
            <a:ext cx="791870" cy="301752"/>
          </a:xfrm>
          <a:prstGeom prst="roundRect">
            <a:avLst>
              <a:gd name="adj" fmla="val 48485"/>
            </a:avLst>
          </a:prstGeom>
          <a:solidFill>
            <a:srgbClr val="FFFFFF"/>
          </a:solidFill>
          <a:ln w="12700">
            <a:solidFill>
              <a:srgbClr val="5B6B73"/>
            </a:solidFill>
            <a:prstDash val="solid"/>
          </a:ln>
        </p:spPr>
      </p:sp>
      <p:sp>
        <p:nvSpPr>
          <p:cNvPr id="22" name="Text 20"/>
          <p:cNvSpPr txBox="1"/>
          <p:nvPr/>
        </p:nvSpPr>
        <p:spPr>
          <a:xfrm>
            <a:off x="4999025" y="4064508"/>
            <a:ext cx="791870" cy="301752"/>
          </a:xfrm>
          <a:prstGeom prst="rect">
            <a:avLst/>
          </a:prstGeom>
          <a:noFill/>
          <a:ln/>
        </p:spPr>
        <p:txBody>
          <a:bodyPr wrap="square" lIns="0" tIns="0" rIns="0" bIns="0" rtlCol="0" anchor="ctr"/>
          <a:lstStyle/>
          <a:p>
            <a:pPr algn="ctr" indent="0" marL="0">
              <a:buNone/>
            </a:pPr>
            <a:r>
              <a:rPr lang="en-US" sz="1050" dirty="0">
                <a:solidFill>
                  <a:srgbClr val="1F2A33"/>
                </a:solidFill>
                <a:latin typeface="Calibri" pitchFamily="34" charset="0"/>
                <a:ea typeface="Calibri" pitchFamily="34" charset="-122"/>
                <a:cs typeface="Calibri" pitchFamily="34" charset="-120"/>
              </a:rPr>
              <a:t>VW Golf</a:t>
            </a:r>
            <a:endParaRPr lang="en-US" sz="1050" dirty="0"/>
          </a:p>
        </p:txBody>
      </p:sp>
      <p:sp>
        <p:nvSpPr>
          <p:cNvPr id="23" name="Shape 21"/>
          <p:cNvSpPr/>
          <p:nvPr/>
        </p:nvSpPr>
        <p:spPr>
          <a:xfrm>
            <a:off x="9235440" y="2011680"/>
            <a:ext cx="2404872" cy="3840480"/>
          </a:xfrm>
          <a:prstGeom prst="roundRect">
            <a:avLst>
              <a:gd name="adj" fmla="val 3042"/>
            </a:avLst>
          </a:prstGeom>
          <a:solidFill>
            <a:srgbClr val="EAF3F4"/>
          </a:solidFill>
          <a:ln/>
          <a:effectLst>
            <a:outerShdw sx="100000" sy="100000" kx="0" ky="0" algn="bl" rotWithShape="0" blurRad="76200" dist="25400" dir="5400000">
              <a:srgbClr val="9AAAB0">
                <a:alpha val="28000"/>
              </a:srgbClr>
            </a:outerShdw>
          </a:effectLst>
        </p:spPr>
      </p:sp>
      <p:sp>
        <p:nvSpPr>
          <p:cNvPr id="24" name="Text 22"/>
          <p:cNvSpPr txBox="1"/>
          <p:nvPr/>
        </p:nvSpPr>
        <p:spPr>
          <a:xfrm>
            <a:off x="9418320" y="2130552"/>
            <a:ext cx="2103120" cy="457200"/>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How to place a product</a:t>
            </a:r>
            <a:endParaRPr lang="en-US" sz="1300" dirty="0"/>
          </a:p>
        </p:txBody>
      </p:sp>
      <p:sp>
        <p:nvSpPr>
          <p:cNvPr id="25" name="Text 23"/>
          <p:cNvSpPr txBox="1"/>
          <p:nvPr/>
        </p:nvSpPr>
        <p:spPr>
          <a:xfrm>
            <a:off x="9418320" y="2606040"/>
            <a:ext cx="2103120" cy="310896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Ask what the firm competes on</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Dyson/MX-5 → function</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Range Rover/Apple → looks &amp; image</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Dacia/IKEA → low cost</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Centre = a balanced all-rounder</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ELEMENT 1</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Function</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Function = how well a product does its job — whether it is fit for purpose. It covers performance, reliability, safety, ergonomics and ease of use.</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Products that work well build reputation and repeat custom</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Reliability and safety cut returns, complaints and legal risk</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Strong engineering can be a USP that justifies a premium price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Meeting real needs builds customer loyalty</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High performance raises R&amp;D and manufacturing costs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Customers may not pay for function they don't value (over-engineering)</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 purely functional product can look dull and lose on aesthetics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Very durable products can reduce repeat sales</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Dyson</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Dyson's bagless cyclone vacuum was designed to clean without losing suction as the bag filled — function is the core of the product and its USP. Strong engineering lets Dyson charge premium prices and stand apart from cheaper rivals.</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ELEMENT 2</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Aesthetics</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Aesthetics = how a product appeals to the senses — its look, feel, style and the emotional response and image it creates.</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Attractive products stand out and can command premium prices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Builds brand image, desirability and emotional attachment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Supports differentiation and customer loyalty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Strong visuals drive online sales, where products are seen before bought</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Tastes change fast, so designs can date quickly (fashion risk)</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Investing in looks raises cost and may compromise function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Appeal is subjective — hard to please everyone; needs research</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Looks alone won't sustain sales if function or price are weak</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Apple</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Apple's clean, iconic design and premium materials make its products instantly recognisable and desirable. Aesthetics reinforce the brand and justify premium pricing — though Apple pairs this with strong function, showing the elements working together.</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ELEMENT 3</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Cost (economic manufacture)</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Economic manufacture = designing a product so it can be made efficiently and profitably — keeping manufacturing cost down while retaining acceptable quality.</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Lower unit cost → lower prices or higher margins → competitive advantage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Efficient design (fewer materials, simpler assembly) cuts waste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Enables low-price positioning and mass-market reach</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Flat-pack / simple design cuts storage and transport costs</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Cutting cost too far can harm quality, function or appearance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Cheaper materials can raise returns, complaints and reputation risk</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 cost focus can make products look or feel 'budget'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Competing only on price squeezes margins</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IKEA</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IKEA designs for economic manufacture — flat-pack, efficient use of materials and tight cost control. Per the case study it cut prices by ~2–3% a decade and reached 49 countries. Dacia's Sandero is a whole car engineered around low cost.</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THE DESIGN MIX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Balancing the three: you can't maximise everything</a:t>
            </a:r>
            <a:endParaRPr lang="en-US" sz="2800" dirty="0"/>
          </a:p>
        </p:txBody>
      </p:sp>
      <p:sp>
        <p:nvSpPr>
          <p:cNvPr id="4" name="Shape 2"/>
          <p:cNvSpPr/>
          <p:nvPr/>
        </p:nvSpPr>
        <p:spPr>
          <a:xfrm>
            <a:off x="548640" y="1371600"/>
            <a:ext cx="11091672" cy="914400"/>
          </a:xfrm>
          <a:prstGeom prst="roundRect">
            <a:avLst>
              <a:gd name="adj" fmla="val 8000"/>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98480" cy="713232"/>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The trade-off:  </a:t>
            </a:r>
            <a:pPr indent="0" marL="0">
              <a:buNone/>
            </a:pPr>
            <a:r>
              <a:rPr lang="en-US" sz="1300" dirty="0">
                <a:solidFill>
                  <a:srgbClr val="1F2A33"/>
                </a:solidFill>
                <a:latin typeface="Calibri" pitchFamily="34" charset="0"/>
                <a:ea typeface="Calibri" pitchFamily="34" charset="-122"/>
                <a:cs typeface="Calibri" pitchFamily="34" charset="-120"/>
              </a:rPr>
              <a:t>the three elements compete for the same budget. Spend more on looks or performance and the cost of manufacture rises; cut cost too hard and function or aesthetics suffer. The 'right' balance depends on the market, the target customer and the price point.</a:t>
            </a:r>
            <a:endParaRPr lang="en-US" sz="1300" dirty="0"/>
          </a:p>
        </p:txBody>
      </p:sp>
      <p:sp>
        <p:nvSpPr>
          <p:cNvPr id="6" name="Shape 4"/>
          <p:cNvSpPr/>
          <p:nvPr/>
        </p:nvSpPr>
        <p:spPr>
          <a:xfrm>
            <a:off x="548640" y="2468880"/>
            <a:ext cx="3575304" cy="3200400"/>
          </a:xfrm>
          <a:prstGeom prst="roundRect">
            <a:avLst>
              <a:gd name="adj" fmla="val 228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468880"/>
            <a:ext cx="3575304" cy="91440"/>
          </a:xfrm>
          <a:prstGeom prst="roundRect">
            <a:avLst/>
          </a:prstGeom>
          <a:solidFill>
            <a:srgbClr val="0E7C86"/>
          </a:solidFill>
          <a:ln/>
        </p:spPr>
      </p:sp>
      <p:sp>
        <p:nvSpPr>
          <p:cNvPr id="8" name="Text 6"/>
          <p:cNvSpPr txBox="1"/>
          <p:nvPr/>
        </p:nvSpPr>
        <p:spPr>
          <a:xfrm>
            <a:off x="749808" y="2697480"/>
            <a:ext cx="3172968" cy="45720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Lead on FUNCTION</a:t>
            </a:r>
            <a:endParaRPr lang="en-US" sz="1500" dirty="0"/>
          </a:p>
        </p:txBody>
      </p:sp>
      <p:sp>
        <p:nvSpPr>
          <p:cNvPr id="9" name="Text 7"/>
          <p:cNvSpPr txBox="1"/>
          <p:nvPr/>
        </p:nvSpPr>
        <p:spPr>
          <a:xfrm>
            <a:off x="749808" y="3200400"/>
            <a:ext cx="3172968" cy="68580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When reliability/performance is the USP</a:t>
            </a:r>
            <a:endParaRPr lang="en-US" sz="1250" dirty="0"/>
          </a:p>
        </p:txBody>
      </p:sp>
      <p:sp>
        <p:nvSpPr>
          <p:cNvPr id="10" name="Text 8"/>
          <p:cNvSpPr txBox="1"/>
          <p:nvPr/>
        </p:nvSpPr>
        <p:spPr>
          <a:xfrm>
            <a:off x="749808" y="3977640"/>
            <a:ext cx="3172968" cy="822960"/>
          </a:xfrm>
          <a:prstGeom prst="rect">
            <a:avLst/>
          </a:prstGeom>
          <a:noFill/>
          <a:ln/>
        </p:spPr>
        <p:txBody>
          <a:bodyPr wrap="square" lIns="0" tIns="0" rIns="0" bIns="0" rtlCol="0" anchor="t"/>
          <a:lstStyle/>
          <a:p>
            <a:pPr indent="0" marL="0">
              <a:buNone/>
            </a:pPr>
            <a:r>
              <a:rPr lang="en-US" sz="1200" b="1" dirty="0">
                <a:solidFill>
                  <a:srgbClr val="5B6B73"/>
                </a:solidFill>
                <a:latin typeface="Calibri" pitchFamily="34" charset="0"/>
                <a:ea typeface="Calibri" pitchFamily="34" charset="-122"/>
                <a:cs typeface="Calibri" pitchFamily="34" charset="-120"/>
              </a:rPr>
              <a:t>Examples:  </a:t>
            </a:r>
            <a:pPr indent="0" marL="0">
              <a:buNone/>
            </a:pPr>
            <a:r>
              <a:rPr lang="en-US" sz="1200" dirty="0">
                <a:solidFill>
                  <a:srgbClr val="1F2A33"/>
                </a:solidFill>
                <a:latin typeface="Calibri" pitchFamily="34" charset="0"/>
                <a:ea typeface="Calibri" pitchFamily="34" charset="-122"/>
                <a:cs typeface="Calibri" pitchFamily="34" charset="-120"/>
              </a:rPr>
              <a:t>Dyson, medical devices, Mazda MX-5</a:t>
            </a:r>
            <a:endParaRPr lang="en-US" sz="1200" dirty="0"/>
          </a:p>
        </p:txBody>
      </p:sp>
      <p:sp>
        <p:nvSpPr>
          <p:cNvPr id="11" name="Text 9"/>
          <p:cNvSpPr txBox="1"/>
          <p:nvPr/>
        </p:nvSpPr>
        <p:spPr>
          <a:xfrm>
            <a:off x="749808" y="5029200"/>
            <a:ext cx="3172968" cy="548640"/>
          </a:xfrm>
          <a:prstGeom prst="rect">
            <a:avLst/>
          </a:prstGeom>
          <a:noFill/>
          <a:ln/>
        </p:spPr>
        <p:txBody>
          <a:bodyPr wrap="square" lIns="0" tIns="0" rIns="0" bIns="0" rtlCol="0" anchor="t"/>
          <a:lstStyle/>
          <a:p>
            <a:pPr indent="0" marL="0">
              <a:buNone/>
            </a:pPr>
            <a:r>
              <a:rPr lang="en-US" sz="1150" i="1" dirty="0">
                <a:solidFill>
                  <a:srgbClr val="C14B37"/>
                </a:solidFill>
                <a:latin typeface="Calibri" pitchFamily="34" charset="0"/>
                <a:ea typeface="Calibri" pitchFamily="34" charset="-122"/>
                <a:cs typeface="Calibri" pitchFamily="34" charset="-120"/>
              </a:rPr>
              <a:t>Risk: high cost; may look plain</a:t>
            </a:r>
            <a:endParaRPr lang="en-US" sz="1150" dirty="0"/>
          </a:p>
        </p:txBody>
      </p:sp>
      <p:sp>
        <p:nvSpPr>
          <p:cNvPr id="12" name="Shape 10"/>
          <p:cNvSpPr/>
          <p:nvPr/>
        </p:nvSpPr>
        <p:spPr>
          <a:xfrm>
            <a:off x="4306824" y="2468880"/>
            <a:ext cx="3575304" cy="3200400"/>
          </a:xfrm>
          <a:prstGeom prst="roundRect">
            <a:avLst>
              <a:gd name="adj" fmla="val 228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4306824" y="2468880"/>
            <a:ext cx="3575304" cy="91440"/>
          </a:xfrm>
          <a:prstGeom prst="roundRect">
            <a:avLst/>
          </a:prstGeom>
          <a:solidFill>
            <a:srgbClr val="E0940F"/>
          </a:solidFill>
          <a:ln/>
        </p:spPr>
      </p:sp>
      <p:sp>
        <p:nvSpPr>
          <p:cNvPr id="14" name="Text 12"/>
          <p:cNvSpPr txBox="1"/>
          <p:nvPr/>
        </p:nvSpPr>
        <p:spPr>
          <a:xfrm>
            <a:off x="4507992" y="2697480"/>
            <a:ext cx="3172968" cy="457200"/>
          </a:xfrm>
          <a:prstGeom prst="rect">
            <a:avLst/>
          </a:prstGeom>
          <a:noFill/>
          <a:ln/>
        </p:spPr>
        <p:txBody>
          <a:bodyPr wrap="square" lIns="0" tIns="0" rIns="0" bIns="0" rtlCol="0" anchor="ctr"/>
          <a:lstStyle/>
          <a:p>
            <a:pPr indent="0" marL="0">
              <a:buNone/>
            </a:pPr>
            <a:r>
              <a:rPr lang="en-US" sz="1500" b="1" dirty="0">
                <a:solidFill>
                  <a:srgbClr val="E0940F"/>
                </a:solidFill>
                <a:latin typeface="Calibri" pitchFamily="34" charset="0"/>
                <a:ea typeface="Calibri" pitchFamily="34" charset="-122"/>
                <a:cs typeface="Calibri" pitchFamily="34" charset="-120"/>
              </a:rPr>
              <a:t>Lead on AESTHETICS</a:t>
            </a:r>
            <a:endParaRPr lang="en-US" sz="1500" dirty="0"/>
          </a:p>
        </p:txBody>
      </p:sp>
      <p:sp>
        <p:nvSpPr>
          <p:cNvPr id="15" name="Text 13"/>
          <p:cNvSpPr txBox="1"/>
          <p:nvPr/>
        </p:nvSpPr>
        <p:spPr>
          <a:xfrm>
            <a:off x="4507992" y="3200400"/>
            <a:ext cx="3172968" cy="68580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When image and desirability sell the product</a:t>
            </a:r>
            <a:endParaRPr lang="en-US" sz="1250" dirty="0"/>
          </a:p>
        </p:txBody>
      </p:sp>
      <p:sp>
        <p:nvSpPr>
          <p:cNvPr id="16" name="Text 14"/>
          <p:cNvSpPr txBox="1"/>
          <p:nvPr/>
        </p:nvSpPr>
        <p:spPr>
          <a:xfrm>
            <a:off x="4507992" y="3977640"/>
            <a:ext cx="3172968" cy="822960"/>
          </a:xfrm>
          <a:prstGeom prst="rect">
            <a:avLst/>
          </a:prstGeom>
          <a:noFill/>
          <a:ln/>
        </p:spPr>
        <p:txBody>
          <a:bodyPr wrap="square" lIns="0" tIns="0" rIns="0" bIns="0" rtlCol="0" anchor="t"/>
          <a:lstStyle/>
          <a:p>
            <a:pPr indent="0" marL="0">
              <a:buNone/>
            </a:pPr>
            <a:r>
              <a:rPr lang="en-US" sz="1200" b="1" dirty="0">
                <a:solidFill>
                  <a:srgbClr val="5B6B73"/>
                </a:solidFill>
                <a:latin typeface="Calibri" pitchFamily="34" charset="0"/>
                <a:ea typeface="Calibri" pitchFamily="34" charset="-122"/>
                <a:cs typeface="Calibri" pitchFamily="34" charset="-120"/>
              </a:rPr>
              <a:t>Examples:  </a:t>
            </a:r>
            <a:pPr indent="0" marL="0">
              <a:buNone/>
            </a:pPr>
            <a:r>
              <a:rPr lang="en-US" sz="1200" dirty="0">
                <a:solidFill>
                  <a:srgbClr val="1F2A33"/>
                </a:solidFill>
                <a:latin typeface="Calibri" pitchFamily="34" charset="0"/>
                <a:ea typeface="Calibri" pitchFamily="34" charset="-122"/>
                <a:cs typeface="Calibri" pitchFamily="34" charset="-120"/>
              </a:rPr>
              <a:t>Apple, Range Rover, fashion brands</a:t>
            </a:r>
            <a:endParaRPr lang="en-US" sz="1200" dirty="0"/>
          </a:p>
        </p:txBody>
      </p:sp>
      <p:sp>
        <p:nvSpPr>
          <p:cNvPr id="17" name="Text 15"/>
          <p:cNvSpPr txBox="1"/>
          <p:nvPr/>
        </p:nvSpPr>
        <p:spPr>
          <a:xfrm>
            <a:off x="4507992" y="5029200"/>
            <a:ext cx="3172968" cy="548640"/>
          </a:xfrm>
          <a:prstGeom prst="rect">
            <a:avLst/>
          </a:prstGeom>
          <a:noFill/>
          <a:ln/>
        </p:spPr>
        <p:txBody>
          <a:bodyPr wrap="square" lIns="0" tIns="0" rIns="0" bIns="0" rtlCol="0" anchor="t"/>
          <a:lstStyle/>
          <a:p>
            <a:pPr indent="0" marL="0">
              <a:buNone/>
            </a:pPr>
            <a:r>
              <a:rPr lang="en-US" sz="1150" i="1" dirty="0">
                <a:solidFill>
                  <a:srgbClr val="C14B37"/>
                </a:solidFill>
                <a:latin typeface="Calibri" pitchFamily="34" charset="0"/>
                <a:ea typeface="Calibri" pitchFamily="34" charset="-122"/>
                <a:cs typeface="Calibri" pitchFamily="34" charset="-120"/>
              </a:rPr>
              <a:t>Risk: dates fast; costly; form over function</a:t>
            </a:r>
            <a:endParaRPr lang="en-US" sz="1150" dirty="0"/>
          </a:p>
        </p:txBody>
      </p:sp>
      <p:sp>
        <p:nvSpPr>
          <p:cNvPr id="18" name="Shape 16"/>
          <p:cNvSpPr/>
          <p:nvPr/>
        </p:nvSpPr>
        <p:spPr>
          <a:xfrm>
            <a:off x="8065008" y="2468880"/>
            <a:ext cx="3575304" cy="3200400"/>
          </a:xfrm>
          <a:prstGeom prst="roundRect">
            <a:avLst>
              <a:gd name="adj" fmla="val 228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8065008" y="2468880"/>
            <a:ext cx="3575304" cy="91440"/>
          </a:xfrm>
          <a:prstGeom prst="roundRect">
            <a:avLst/>
          </a:prstGeom>
          <a:solidFill>
            <a:srgbClr val="2F8A5B"/>
          </a:solidFill>
          <a:ln/>
        </p:spPr>
      </p:sp>
      <p:sp>
        <p:nvSpPr>
          <p:cNvPr id="20" name="Text 18"/>
          <p:cNvSpPr txBox="1"/>
          <p:nvPr/>
        </p:nvSpPr>
        <p:spPr>
          <a:xfrm>
            <a:off x="8266176" y="2697480"/>
            <a:ext cx="3172968" cy="457200"/>
          </a:xfrm>
          <a:prstGeom prst="rect">
            <a:avLst/>
          </a:prstGeom>
          <a:noFill/>
          <a:ln/>
        </p:spPr>
        <p:txBody>
          <a:bodyPr wrap="square" lIns="0" tIns="0" rIns="0" bIns="0" rtlCol="0" anchor="ctr"/>
          <a:lstStyle/>
          <a:p>
            <a:pPr indent="0" marL="0">
              <a:buNone/>
            </a:pPr>
            <a:r>
              <a:rPr lang="en-US" sz="1500" b="1" dirty="0">
                <a:solidFill>
                  <a:srgbClr val="2F8A5B"/>
                </a:solidFill>
                <a:latin typeface="Calibri" pitchFamily="34" charset="0"/>
                <a:ea typeface="Calibri" pitchFamily="34" charset="-122"/>
                <a:cs typeface="Calibri" pitchFamily="34" charset="-120"/>
              </a:rPr>
              <a:t>Lead on COST</a:t>
            </a:r>
            <a:endParaRPr lang="en-US" sz="1500" dirty="0"/>
          </a:p>
        </p:txBody>
      </p:sp>
      <p:sp>
        <p:nvSpPr>
          <p:cNvPr id="21" name="Text 19"/>
          <p:cNvSpPr txBox="1"/>
          <p:nvPr/>
        </p:nvSpPr>
        <p:spPr>
          <a:xfrm>
            <a:off x="8266176" y="3200400"/>
            <a:ext cx="3172968" cy="68580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When price is what customers choose on</a:t>
            </a:r>
            <a:endParaRPr lang="en-US" sz="1250" dirty="0"/>
          </a:p>
        </p:txBody>
      </p:sp>
      <p:sp>
        <p:nvSpPr>
          <p:cNvPr id="22" name="Text 20"/>
          <p:cNvSpPr txBox="1"/>
          <p:nvPr/>
        </p:nvSpPr>
        <p:spPr>
          <a:xfrm>
            <a:off x="8266176" y="3977640"/>
            <a:ext cx="3172968" cy="822960"/>
          </a:xfrm>
          <a:prstGeom prst="rect">
            <a:avLst/>
          </a:prstGeom>
          <a:noFill/>
          <a:ln/>
        </p:spPr>
        <p:txBody>
          <a:bodyPr wrap="square" lIns="0" tIns="0" rIns="0" bIns="0" rtlCol="0" anchor="t"/>
          <a:lstStyle/>
          <a:p>
            <a:pPr indent="0" marL="0">
              <a:buNone/>
            </a:pPr>
            <a:r>
              <a:rPr lang="en-US" sz="1200" b="1" dirty="0">
                <a:solidFill>
                  <a:srgbClr val="5B6B73"/>
                </a:solidFill>
                <a:latin typeface="Calibri" pitchFamily="34" charset="0"/>
                <a:ea typeface="Calibri" pitchFamily="34" charset="-122"/>
                <a:cs typeface="Calibri" pitchFamily="34" charset="-120"/>
              </a:rPr>
              <a:t>Examples:  </a:t>
            </a:r>
            <a:pPr indent="0" marL="0">
              <a:buNone/>
            </a:pPr>
            <a:r>
              <a:rPr lang="en-US" sz="1200" dirty="0">
                <a:solidFill>
                  <a:srgbClr val="1F2A33"/>
                </a:solidFill>
                <a:latin typeface="Calibri" pitchFamily="34" charset="0"/>
                <a:ea typeface="Calibri" pitchFamily="34" charset="-122"/>
                <a:cs typeface="Calibri" pitchFamily="34" charset="-120"/>
              </a:rPr>
              <a:t>IKEA, Dacia, supermarket own-brands</a:t>
            </a:r>
            <a:endParaRPr lang="en-US" sz="1200" dirty="0"/>
          </a:p>
        </p:txBody>
      </p:sp>
      <p:sp>
        <p:nvSpPr>
          <p:cNvPr id="23" name="Text 21"/>
          <p:cNvSpPr txBox="1"/>
          <p:nvPr/>
        </p:nvSpPr>
        <p:spPr>
          <a:xfrm>
            <a:off x="8266176" y="5029200"/>
            <a:ext cx="3172968" cy="548640"/>
          </a:xfrm>
          <a:prstGeom prst="rect">
            <a:avLst/>
          </a:prstGeom>
          <a:noFill/>
          <a:ln/>
        </p:spPr>
        <p:txBody>
          <a:bodyPr wrap="square" lIns="0" tIns="0" rIns="0" bIns="0" rtlCol="0" anchor="t"/>
          <a:lstStyle/>
          <a:p>
            <a:pPr indent="0" marL="0">
              <a:buNone/>
            </a:pPr>
            <a:r>
              <a:rPr lang="en-US" sz="1150" i="1" dirty="0">
                <a:solidFill>
                  <a:srgbClr val="C14B37"/>
                </a:solidFill>
                <a:latin typeface="Calibri" pitchFamily="34" charset="0"/>
                <a:ea typeface="Calibri" pitchFamily="34" charset="-122"/>
                <a:cs typeface="Calibri" pitchFamily="34" charset="-120"/>
              </a:rPr>
              <a:t>Risk: 'budget' feel; quality worries</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THE DESIGN MIX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Is the design mix a useful tool?</a:t>
            </a:r>
            <a:endParaRPr lang="en-US" sz="2800" dirty="0"/>
          </a:p>
        </p:txBody>
      </p:sp>
      <p:sp>
        <p:nvSpPr>
          <p:cNvPr id="4" name="Shape 2"/>
          <p:cNvSpPr/>
          <p:nvPr/>
        </p:nvSpPr>
        <p:spPr>
          <a:xfrm>
            <a:off x="548640" y="1463040"/>
            <a:ext cx="5440680" cy="3977640"/>
          </a:xfrm>
          <a:prstGeom prst="roundRect">
            <a:avLst>
              <a:gd name="adj" fmla="val 1839"/>
            </a:avLst>
          </a:prstGeom>
          <a:solidFill>
            <a:srgbClr val="E8F3EC"/>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2286000" cy="310896"/>
          </a:xfrm>
          <a:prstGeom prst="roundRect">
            <a:avLst>
              <a:gd name="adj" fmla="val 50000"/>
            </a:avLst>
          </a:prstGeom>
          <a:solidFill>
            <a:srgbClr val="2F8A5B"/>
          </a:solidFill>
          <a:ln/>
        </p:spPr>
      </p:sp>
      <p:sp>
        <p:nvSpPr>
          <p:cNvPr id="6" name="Text 4"/>
          <p:cNvSpPr txBox="1"/>
          <p:nvPr/>
        </p:nvSpPr>
        <p:spPr>
          <a:xfrm>
            <a:off x="777240" y="1627632"/>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BENEFITS</a:t>
            </a:r>
            <a:endParaRPr lang="en-US" sz="1050" dirty="0"/>
          </a:p>
        </p:txBody>
      </p:sp>
      <p:sp>
        <p:nvSpPr>
          <p:cNvPr id="7" name="Text 5"/>
          <p:cNvSpPr txBox="1"/>
          <p:nvPr/>
        </p:nvSpPr>
        <p:spPr>
          <a:xfrm>
            <a:off x="777240" y="2084832"/>
            <a:ext cx="4983480" cy="32004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Meets customer needs: balancing function and appearance makes products more appealing, lifting sales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Controls costs: designing to use fewer materials or simpler methods improves margins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Helps products stand out: distinctive looks or features win customers from rivals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Supports better decisions: balances customer expectations against an affordable cost</a:t>
            </a:r>
            <a:endParaRPr lang="en-US" sz="1250" dirty="0"/>
          </a:p>
        </p:txBody>
      </p:sp>
      <p:sp>
        <p:nvSpPr>
          <p:cNvPr id="8" name="Shape 6"/>
          <p:cNvSpPr/>
          <p:nvPr/>
        </p:nvSpPr>
        <p:spPr>
          <a:xfrm>
            <a:off x="6199632" y="1463040"/>
            <a:ext cx="5440680" cy="3977640"/>
          </a:xfrm>
          <a:prstGeom prst="roundRect">
            <a:avLst>
              <a:gd name="adj" fmla="val 1839"/>
            </a:avLst>
          </a:prstGeom>
          <a:solidFill>
            <a:srgbClr val="F9EAE6"/>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627632"/>
            <a:ext cx="2651760" cy="310896"/>
          </a:xfrm>
          <a:prstGeom prst="roundRect">
            <a:avLst>
              <a:gd name="adj" fmla="val 50000"/>
            </a:avLst>
          </a:prstGeom>
          <a:solidFill>
            <a:srgbClr val="C14B37"/>
          </a:solidFill>
          <a:ln/>
        </p:spPr>
      </p:sp>
      <p:sp>
        <p:nvSpPr>
          <p:cNvPr id="10" name="Text 8"/>
          <p:cNvSpPr txBox="1"/>
          <p:nvPr/>
        </p:nvSpPr>
        <p:spPr>
          <a:xfrm>
            <a:off x="6428232" y="1627632"/>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DRAWBACKS</a:t>
            </a:r>
            <a:endParaRPr lang="en-US" sz="1050" dirty="0"/>
          </a:p>
        </p:txBody>
      </p:sp>
      <p:sp>
        <p:nvSpPr>
          <p:cNvPr id="11" name="Text 9"/>
          <p:cNvSpPr txBox="1"/>
          <p:nvPr/>
        </p:nvSpPr>
        <p:spPr>
          <a:xfrm>
            <a:off x="6428232" y="2084832"/>
            <a:ext cx="4983480" cy="32004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Requires compromises: improving appearance or function usually raises manufacturing cost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Takes time and money: researching, designing and testing can be costly and delay launch</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May get priorities wrong: without good research, firms back features customers don't value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guarantee of success: price, promotion and competition also decide whether people buy</a:t>
            </a:r>
            <a:endParaRPr lang="en-US" sz="1250" dirty="0"/>
          </a:p>
        </p:txBody>
      </p:sp>
      <p:sp>
        <p:nvSpPr>
          <p:cNvPr id="12" name="Shape 10"/>
          <p:cNvSpPr/>
          <p:nvPr/>
        </p:nvSpPr>
        <p:spPr>
          <a:xfrm>
            <a:off x="548640" y="553212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13" name="Text 11"/>
          <p:cNvSpPr txBox="1"/>
          <p:nvPr/>
        </p:nvSpPr>
        <p:spPr>
          <a:xfrm>
            <a:off x="777240" y="5614416"/>
            <a:ext cx="10698480" cy="493776"/>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Link — differentiation:  </a:t>
            </a:r>
            <a:pPr indent="0" marL="0">
              <a:buNone/>
            </a:pPr>
            <a:r>
              <a:rPr lang="en-US" sz="1250" dirty="0">
                <a:solidFill>
                  <a:srgbClr val="1F2A33"/>
                </a:solidFill>
                <a:latin typeface="Calibri" pitchFamily="34" charset="0"/>
                <a:ea typeface="Calibri" pitchFamily="34" charset="-122"/>
                <a:cs typeface="Calibri" pitchFamily="34" charset="-120"/>
              </a:rPr>
              <a:t>design makes a product instantly recognisable and hard to copy, building loyalty and helping it become a market leader.</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the design mix (6 marks)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Define the term ‘design mix’.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[2]</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Explain two benefits of using the design mix to a company like IKEA in coming out with new products.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[6]</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meaning (1) + name an element or the triangle as an example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 marks — marked like an Analyse: Knowledge max 2, Application 2, Analysis 2.</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Two separate benefits, each applied to IKEA, each with a developed consequence. No judgement needed.</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it (twice)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POINT (K): name a benefit of using the design mix.</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(A): link it to IKEA — e.g. cost control that cut prices ~2–3% a decade; or function that makes flat-pack furniture easy to assemble (12,000-product range).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CHAIN (An): “This means… therefore…” — reach a consequence for IKEA (lower prices → wider reach → 49 countries).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Repeat for a second, different benefit (e.g. standing out through aesthetics).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595360" cy="11430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Changing the design mix for social trends</a:t>
            </a:r>
            <a:endParaRPr lang="en-US" sz="34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designing for waste minimisation, re-use and recycling  ·  ethical sourcing  ·  real businesses  ·  pros, cons and exam practice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SOCIAL TRENDS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Four ways social trends change the design mix</a:t>
            </a:r>
            <a:endParaRPr lang="en-US" sz="28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Why it matters:  </a:t>
            </a:r>
            <a:pPr indent="0" marL="0">
              <a:buNone/>
            </a:pPr>
            <a:r>
              <a:rPr lang="en-US" sz="1300" dirty="0">
                <a:solidFill>
                  <a:srgbClr val="1F2A33"/>
                </a:solidFill>
                <a:latin typeface="Calibri" pitchFamily="34" charset="0"/>
                <a:ea typeface="Calibri" pitchFamily="34" charset="-122"/>
                <a:cs typeface="Calibri" pitchFamily="34" charset="-120"/>
              </a:rPr>
              <a:t>as customers, governments and pressure grow around the environment, firms redesign products to cut resource use and source responsibly. This reshapes all three elements of the mix.</a:t>
            </a:r>
            <a:endParaRPr lang="en-US" sz="1300" dirty="0"/>
          </a:p>
        </p:txBody>
      </p:sp>
      <p:sp>
        <p:nvSpPr>
          <p:cNvPr id="6" name="Shape 4"/>
          <p:cNvSpPr/>
          <p:nvPr/>
        </p:nvSpPr>
        <p:spPr>
          <a:xfrm>
            <a:off x="548640" y="2286000"/>
            <a:ext cx="5440680"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749808" y="2468880"/>
            <a:ext cx="384048" cy="384048"/>
          </a:xfrm>
          <a:prstGeom prst="roundRect">
            <a:avLst>
              <a:gd name="adj" fmla="val 23810"/>
            </a:avLst>
          </a:prstGeom>
          <a:solidFill>
            <a:srgbClr val="2F8A5B"/>
          </a:solidFill>
          <a:ln/>
        </p:spPr>
      </p:sp>
      <p:sp>
        <p:nvSpPr>
          <p:cNvPr id="8" name="Text 6"/>
          <p:cNvSpPr txBox="1"/>
          <p:nvPr/>
        </p:nvSpPr>
        <p:spPr>
          <a:xfrm>
            <a:off x="749808" y="24688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261872" y="2450592"/>
            <a:ext cx="4526280" cy="420624"/>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Waste minimisation</a:t>
            </a:r>
            <a:endParaRPr lang="en-US" sz="1500" dirty="0"/>
          </a:p>
        </p:txBody>
      </p:sp>
      <p:sp>
        <p:nvSpPr>
          <p:cNvPr id="10" name="Text 8"/>
          <p:cNvSpPr txBox="1"/>
          <p:nvPr/>
        </p:nvSpPr>
        <p:spPr>
          <a:xfrm>
            <a:off x="749808" y="2944368"/>
            <a:ext cx="5038344" cy="512064"/>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Design products to last longer, use fewer materials and be repairable.</a:t>
            </a:r>
            <a:endParaRPr lang="en-US" sz="1250" dirty="0"/>
          </a:p>
        </p:txBody>
      </p:sp>
      <p:sp>
        <p:nvSpPr>
          <p:cNvPr id="11" name="Text 9"/>
          <p:cNvSpPr txBox="1"/>
          <p:nvPr/>
        </p:nvSpPr>
        <p:spPr>
          <a:xfrm>
            <a:off x="749808" y="3474720"/>
            <a:ext cx="5038344" cy="512064"/>
          </a:xfrm>
          <a:prstGeom prst="rect">
            <a:avLst/>
          </a:prstGeom>
          <a:noFill/>
          <a:ln/>
        </p:spPr>
        <p:txBody>
          <a:bodyPr wrap="square" lIns="0" tIns="0" rIns="0" bIns="0" rtlCol="0" anchor="t"/>
          <a:lstStyle/>
          <a:p>
            <a:pPr indent="0" marL="0">
              <a:buNone/>
            </a:pPr>
            <a:r>
              <a:rPr lang="en-US" sz="1150" b="1" dirty="0">
                <a:solidFill>
                  <a:srgbClr val="8A5A06"/>
                </a:solidFill>
                <a:latin typeface="Calibri" pitchFamily="34" charset="0"/>
                <a:ea typeface="Calibri" pitchFamily="34" charset="-122"/>
                <a:cs typeface="Calibri" pitchFamily="34" charset="-120"/>
              </a:rPr>
              <a:t>Example:  </a:t>
            </a:r>
            <a:pPr indent="0" marL="0">
              <a:buNone/>
            </a:pPr>
            <a:r>
              <a:rPr lang="en-US" sz="1150" dirty="0">
                <a:solidFill>
                  <a:srgbClr val="5B6B73"/>
                </a:solidFill>
                <a:latin typeface="Calibri" pitchFamily="34" charset="0"/>
                <a:ea typeface="Calibri" pitchFamily="34" charset="-122"/>
                <a:cs typeface="Calibri" pitchFamily="34" charset="-120"/>
              </a:rPr>
              <a:t>Fairphone — a modular phone built to be repaired, not replaced</a:t>
            </a:r>
            <a:endParaRPr lang="en-US" sz="1150" dirty="0"/>
          </a:p>
        </p:txBody>
      </p:sp>
      <p:sp>
        <p:nvSpPr>
          <p:cNvPr id="12" name="Shape 10"/>
          <p:cNvSpPr/>
          <p:nvPr/>
        </p:nvSpPr>
        <p:spPr>
          <a:xfrm>
            <a:off x="6199632" y="2286000"/>
            <a:ext cx="5440680"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6400800" y="2468880"/>
            <a:ext cx="384048" cy="384048"/>
          </a:xfrm>
          <a:prstGeom prst="roundRect">
            <a:avLst>
              <a:gd name="adj" fmla="val 23810"/>
            </a:avLst>
          </a:prstGeom>
          <a:solidFill>
            <a:srgbClr val="2F8A5B"/>
          </a:solidFill>
          <a:ln/>
        </p:spPr>
      </p:sp>
      <p:sp>
        <p:nvSpPr>
          <p:cNvPr id="14" name="Text 12"/>
          <p:cNvSpPr txBox="1"/>
          <p:nvPr/>
        </p:nvSpPr>
        <p:spPr>
          <a:xfrm>
            <a:off x="6400800" y="24688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6912864" y="2450592"/>
            <a:ext cx="4526280" cy="420624"/>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Design for re-use</a:t>
            </a:r>
            <a:endParaRPr lang="en-US" sz="1500" dirty="0"/>
          </a:p>
        </p:txBody>
      </p:sp>
      <p:sp>
        <p:nvSpPr>
          <p:cNvPr id="16" name="Text 14"/>
          <p:cNvSpPr txBox="1"/>
          <p:nvPr/>
        </p:nvSpPr>
        <p:spPr>
          <a:xfrm>
            <a:off x="6400800" y="2944368"/>
            <a:ext cx="5038344" cy="512064"/>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Design products and packaging so they can be used again.</a:t>
            </a:r>
            <a:endParaRPr lang="en-US" sz="1250" dirty="0"/>
          </a:p>
        </p:txBody>
      </p:sp>
      <p:sp>
        <p:nvSpPr>
          <p:cNvPr id="17" name="Text 15"/>
          <p:cNvSpPr txBox="1"/>
          <p:nvPr/>
        </p:nvSpPr>
        <p:spPr>
          <a:xfrm>
            <a:off x="6400800" y="3474720"/>
            <a:ext cx="5038344" cy="512064"/>
          </a:xfrm>
          <a:prstGeom prst="rect">
            <a:avLst/>
          </a:prstGeom>
          <a:noFill/>
          <a:ln/>
        </p:spPr>
        <p:txBody>
          <a:bodyPr wrap="square" lIns="0" tIns="0" rIns="0" bIns="0" rtlCol="0" anchor="t"/>
          <a:lstStyle/>
          <a:p>
            <a:pPr indent="0" marL="0">
              <a:buNone/>
            </a:pPr>
            <a:r>
              <a:rPr lang="en-US" sz="1150" b="1" dirty="0">
                <a:solidFill>
                  <a:srgbClr val="8A5A06"/>
                </a:solidFill>
                <a:latin typeface="Calibri" pitchFamily="34" charset="0"/>
                <a:ea typeface="Calibri" pitchFamily="34" charset="-122"/>
                <a:cs typeface="Calibri" pitchFamily="34" charset="-120"/>
              </a:rPr>
              <a:t>Example:  </a:t>
            </a:r>
            <a:pPr indent="0" marL="0">
              <a:buNone/>
            </a:pPr>
            <a:r>
              <a:rPr lang="en-US" sz="1150" dirty="0">
                <a:solidFill>
                  <a:srgbClr val="5B6B73"/>
                </a:solidFill>
                <a:latin typeface="Calibri" pitchFamily="34" charset="0"/>
                <a:ea typeface="Calibri" pitchFamily="34" charset="-122"/>
                <a:cs typeface="Calibri" pitchFamily="34" charset="-120"/>
              </a:rPr>
              <a:t>Refillable bottles; returnable/reusable packaging; IKEA buy-back &amp; resell</a:t>
            </a:r>
            <a:endParaRPr lang="en-US" sz="1150" dirty="0"/>
          </a:p>
        </p:txBody>
      </p:sp>
      <p:sp>
        <p:nvSpPr>
          <p:cNvPr id="18" name="Shape 16"/>
          <p:cNvSpPr/>
          <p:nvPr/>
        </p:nvSpPr>
        <p:spPr>
          <a:xfrm>
            <a:off x="548640" y="4233672"/>
            <a:ext cx="5440680"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749808" y="4416552"/>
            <a:ext cx="384048" cy="384048"/>
          </a:xfrm>
          <a:prstGeom prst="roundRect">
            <a:avLst>
              <a:gd name="adj" fmla="val 23810"/>
            </a:avLst>
          </a:prstGeom>
          <a:solidFill>
            <a:srgbClr val="2F8A5B"/>
          </a:solidFill>
          <a:ln/>
        </p:spPr>
      </p:sp>
      <p:sp>
        <p:nvSpPr>
          <p:cNvPr id="20" name="Text 18"/>
          <p:cNvSpPr txBox="1"/>
          <p:nvPr/>
        </p:nvSpPr>
        <p:spPr>
          <a:xfrm>
            <a:off x="749808" y="44165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1261872" y="4398264"/>
            <a:ext cx="4526280" cy="420624"/>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Design for recycling</a:t>
            </a:r>
            <a:endParaRPr lang="en-US" sz="1500" dirty="0"/>
          </a:p>
        </p:txBody>
      </p:sp>
      <p:sp>
        <p:nvSpPr>
          <p:cNvPr id="22" name="Text 20"/>
          <p:cNvSpPr txBox="1"/>
          <p:nvPr/>
        </p:nvSpPr>
        <p:spPr>
          <a:xfrm>
            <a:off x="749808" y="4892040"/>
            <a:ext cx="5038344" cy="512064"/>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Use recycled materials and design so products are easy to recycle.</a:t>
            </a:r>
            <a:endParaRPr lang="en-US" sz="1250" dirty="0"/>
          </a:p>
        </p:txBody>
      </p:sp>
      <p:sp>
        <p:nvSpPr>
          <p:cNvPr id="23" name="Text 21"/>
          <p:cNvSpPr txBox="1"/>
          <p:nvPr/>
        </p:nvSpPr>
        <p:spPr>
          <a:xfrm>
            <a:off x="749808" y="5422392"/>
            <a:ext cx="5038344" cy="512064"/>
          </a:xfrm>
          <a:prstGeom prst="rect">
            <a:avLst/>
          </a:prstGeom>
          <a:noFill/>
          <a:ln/>
        </p:spPr>
        <p:txBody>
          <a:bodyPr wrap="square" lIns="0" tIns="0" rIns="0" bIns="0" rtlCol="0" anchor="t"/>
          <a:lstStyle/>
          <a:p>
            <a:pPr indent="0" marL="0">
              <a:buNone/>
            </a:pPr>
            <a:r>
              <a:rPr lang="en-US" sz="1150" b="1" dirty="0">
                <a:solidFill>
                  <a:srgbClr val="8A5A06"/>
                </a:solidFill>
                <a:latin typeface="Calibri" pitchFamily="34" charset="0"/>
                <a:ea typeface="Calibri" pitchFamily="34" charset="-122"/>
                <a:cs typeface="Calibri" pitchFamily="34" charset="-120"/>
              </a:rPr>
              <a:t>Example:  </a:t>
            </a:r>
            <a:pPr indent="0" marL="0">
              <a:buNone/>
            </a:pPr>
            <a:r>
              <a:rPr lang="en-US" sz="1150" dirty="0">
                <a:solidFill>
                  <a:srgbClr val="5B6B73"/>
                </a:solidFill>
                <a:latin typeface="Calibri" pitchFamily="34" charset="0"/>
                <a:ea typeface="Calibri" pitchFamily="34" charset="-122"/>
                <a:cs typeface="Calibri" pitchFamily="34" charset="-120"/>
              </a:rPr>
              <a:t>Apple uses recycled aluminium and rare-earth elements in its products</a:t>
            </a:r>
            <a:endParaRPr lang="en-US" sz="1150" dirty="0"/>
          </a:p>
        </p:txBody>
      </p:sp>
      <p:sp>
        <p:nvSpPr>
          <p:cNvPr id="24" name="Shape 22"/>
          <p:cNvSpPr/>
          <p:nvPr/>
        </p:nvSpPr>
        <p:spPr>
          <a:xfrm>
            <a:off x="6199632" y="4233672"/>
            <a:ext cx="5440680"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5" name="Shape 23"/>
          <p:cNvSpPr/>
          <p:nvPr/>
        </p:nvSpPr>
        <p:spPr>
          <a:xfrm>
            <a:off x="6400800" y="4416552"/>
            <a:ext cx="384048" cy="384048"/>
          </a:xfrm>
          <a:prstGeom prst="roundRect">
            <a:avLst>
              <a:gd name="adj" fmla="val 23810"/>
            </a:avLst>
          </a:prstGeom>
          <a:solidFill>
            <a:srgbClr val="2F8A5B"/>
          </a:solidFill>
          <a:ln/>
        </p:spPr>
      </p:sp>
      <p:sp>
        <p:nvSpPr>
          <p:cNvPr id="26" name="Text 24"/>
          <p:cNvSpPr txBox="1"/>
          <p:nvPr/>
        </p:nvSpPr>
        <p:spPr>
          <a:xfrm>
            <a:off x="6400800" y="44165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7" name="Text 25"/>
          <p:cNvSpPr txBox="1"/>
          <p:nvPr/>
        </p:nvSpPr>
        <p:spPr>
          <a:xfrm>
            <a:off x="6912864" y="4398264"/>
            <a:ext cx="4526280" cy="420624"/>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Ethical sourcing</a:t>
            </a:r>
            <a:endParaRPr lang="en-US" sz="1500" dirty="0"/>
          </a:p>
        </p:txBody>
      </p:sp>
      <p:sp>
        <p:nvSpPr>
          <p:cNvPr id="28" name="Text 26"/>
          <p:cNvSpPr txBox="1"/>
          <p:nvPr/>
        </p:nvSpPr>
        <p:spPr>
          <a:xfrm>
            <a:off x="6400800" y="4892040"/>
            <a:ext cx="5038344" cy="512064"/>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Use materials, components and services that respect people and the planet.</a:t>
            </a:r>
            <a:endParaRPr lang="en-US" sz="1250" dirty="0"/>
          </a:p>
        </p:txBody>
      </p:sp>
      <p:sp>
        <p:nvSpPr>
          <p:cNvPr id="29" name="Text 27"/>
          <p:cNvSpPr txBox="1"/>
          <p:nvPr/>
        </p:nvSpPr>
        <p:spPr>
          <a:xfrm>
            <a:off x="6400800" y="5422392"/>
            <a:ext cx="5038344" cy="512064"/>
          </a:xfrm>
          <a:prstGeom prst="rect">
            <a:avLst/>
          </a:prstGeom>
          <a:noFill/>
          <a:ln/>
        </p:spPr>
        <p:txBody>
          <a:bodyPr wrap="square" lIns="0" tIns="0" rIns="0" bIns="0" rtlCol="0" anchor="t"/>
          <a:lstStyle/>
          <a:p>
            <a:pPr indent="0" marL="0">
              <a:buNone/>
            </a:pPr>
            <a:r>
              <a:rPr lang="en-US" sz="1150" b="1" dirty="0">
                <a:solidFill>
                  <a:srgbClr val="8A5A06"/>
                </a:solidFill>
                <a:latin typeface="Calibri" pitchFamily="34" charset="0"/>
                <a:ea typeface="Calibri" pitchFamily="34" charset="-122"/>
                <a:cs typeface="Calibri" pitchFamily="34" charset="-120"/>
              </a:rPr>
              <a:t>Example:  </a:t>
            </a:r>
            <a:pPr indent="0" marL="0">
              <a:buNone/>
            </a:pPr>
            <a:r>
              <a:rPr lang="en-US" sz="1150" dirty="0">
                <a:solidFill>
                  <a:srgbClr val="5B6B73"/>
                </a:solidFill>
                <a:latin typeface="Calibri" pitchFamily="34" charset="0"/>
                <a:ea typeface="Calibri" pitchFamily="34" charset="-122"/>
                <a:cs typeface="Calibri" pitchFamily="34" charset="-120"/>
              </a:rPr>
              <a:t>IKEA &amp; B&amp;Q use FSC-certified wood; Patagonia's responsible supply chain</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SOCIAL TRENDS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Designing for social trends: worth it?</a:t>
            </a:r>
            <a:endParaRPr lang="en-US" sz="2800" dirty="0"/>
          </a:p>
        </p:txBody>
      </p:sp>
      <p:sp>
        <p:nvSpPr>
          <p:cNvPr id="4" name="Shape 2"/>
          <p:cNvSpPr/>
          <p:nvPr/>
        </p:nvSpPr>
        <p:spPr>
          <a:xfrm>
            <a:off x="548640" y="1417320"/>
            <a:ext cx="5440680" cy="2834640"/>
          </a:xfrm>
          <a:prstGeom prst="roundRect">
            <a:avLst>
              <a:gd name="adj" fmla="val 2581"/>
            </a:avLst>
          </a:prstGeom>
          <a:solidFill>
            <a:srgbClr val="E8F3EC"/>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581912"/>
            <a:ext cx="2286000" cy="310896"/>
          </a:xfrm>
          <a:prstGeom prst="roundRect">
            <a:avLst>
              <a:gd name="adj" fmla="val 50000"/>
            </a:avLst>
          </a:prstGeom>
          <a:solidFill>
            <a:srgbClr val="2F8A5B"/>
          </a:solidFill>
          <a:ln/>
        </p:spPr>
      </p:sp>
      <p:sp>
        <p:nvSpPr>
          <p:cNvPr id="6" name="Text 4"/>
          <p:cNvSpPr txBox="1"/>
          <p:nvPr/>
        </p:nvSpPr>
        <p:spPr>
          <a:xfrm>
            <a:off x="777240" y="1581912"/>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7" name="Text 5"/>
          <p:cNvSpPr txBox="1"/>
          <p:nvPr/>
        </p:nvSpPr>
        <p:spPr>
          <a:xfrm>
            <a:off x="777240" y="1993392"/>
            <a:ext cx="4983480" cy="21945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Meets changing values → more sales and loyalty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Using fewer materials can cut cost and waste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Strengthens brand image and CSR reputation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Anticipates regulation — future-proofs the product</a:t>
            </a:r>
            <a:endParaRPr lang="en-US" sz="1250" dirty="0"/>
          </a:p>
        </p:txBody>
      </p:sp>
      <p:sp>
        <p:nvSpPr>
          <p:cNvPr id="8" name="Shape 6"/>
          <p:cNvSpPr/>
          <p:nvPr/>
        </p:nvSpPr>
        <p:spPr>
          <a:xfrm>
            <a:off x="6199632" y="1417320"/>
            <a:ext cx="5440680" cy="2834640"/>
          </a:xfrm>
          <a:prstGeom prst="roundRect">
            <a:avLst>
              <a:gd name="adj" fmla="val 2581"/>
            </a:avLst>
          </a:prstGeom>
          <a:solidFill>
            <a:srgbClr val="F9EAE6"/>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581912"/>
            <a:ext cx="2926080" cy="310896"/>
          </a:xfrm>
          <a:prstGeom prst="roundRect">
            <a:avLst>
              <a:gd name="adj" fmla="val 50000"/>
            </a:avLst>
          </a:prstGeom>
          <a:solidFill>
            <a:srgbClr val="C14B37"/>
          </a:solidFill>
          <a:ln/>
        </p:spPr>
      </p:sp>
      <p:sp>
        <p:nvSpPr>
          <p:cNvPr id="10" name="Text 8"/>
          <p:cNvSpPr txBox="1"/>
          <p:nvPr/>
        </p:nvSpPr>
        <p:spPr>
          <a:xfrm>
            <a:off x="6428232" y="1581912"/>
            <a:ext cx="29260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1" name="Text 9"/>
          <p:cNvSpPr txBox="1"/>
          <p:nvPr/>
        </p:nvSpPr>
        <p:spPr>
          <a:xfrm>
            <a:off x="6428232" y="1993392"/>
            <a:ext cx="4983480" cy="21945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Sustainable materials/processes can cost more → higher prices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Redesign takes time and investment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Risk of 'greenwashing' claims if it's only surface-deep</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Can clash with function or aesthetics (trade-offs again)</a:t>
            </a:r>
            <a:endParaRPr lang="en-US" sz="1250" dirty="0"/>
          </a:p>
        </p:txBody>
      </p:sp>
      <p:sp>
        <p:nvSpPr>
          <p:cNvPr id="12" name="Shape 10"/>
          <p:cNvSpPr/>
          <p:nvPr/>
        </p:nvSpPr>
        <p:spPr>
          <a:xfrm>
            <a:off x="548640" y="4434840"/>
            <a:ext cx="11091672" cy="1737360"/>
          </a:xfrm>
          <a:prstGeom prst="roundRect">
            <a:avLst>
              <a:gd name="adj" fmla="val 421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Text 11"/>
          <p:cNvSpPr txBox="1"/>
          <p:nvPr/>
        </p:nvSpPr>
        <p:spPr>
          <a:xfrm>
            <a:off x="777240" y="4544568"/>
            <a:ext cx="1060704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Businesses leading on social-trend design</a:t>
            </a:r>
            <a:endParaRPr lang="en-US" sz="1400" dirty="0"/>
          </a:p>
        </p:txBody>
      </p:sp>
      <p:sp>
        <p:nvSpPr>
          <p:cNvPr id="14" name="Text 12"/>
          <p:cNvSpPr txBox="1"/>
          <p:nvPr/>
        </p:nvSpPr>
        <p:spPr>
          <a:xfrm>
            <a:off x="777240" y="4937760"/>
            <a:ext cx="2651760" cy="1097280"/>
          </a:xfrm>
          <a:prstGeom prst="rect">
            <a:avLst/>
          </a:prstGeom>
          <a:noFill/>
          <a:ln/>
        </p:spPr>
        <p:txBody>
          <a:bodyPr wrap="square" lIns="0" tIns="0" rIns="0" bIns="0" rtlCol="0" anchor="t"/>
          <a:lstStyle/>
          <a:p>
            <a:pPr indent="0" marL="0">
              <a:buNone/>
            </a:pPr>
            <a:r>
              <a:rPr lang="en-US" sz="1300" b="1" dirty="0">
                <a:solidFill>
                  <a:srgbClr val="2F8A5B"/>
                </a:solidFill>
                <a:latin typeface="Calibri" pitchFamily="34" charset="0"/>
                <a:ea typeface="Calibri" pitchFamily="34" charset="-122"/>
                <a:cs typeface="Calibri" pitchFamily="34" charset="-120"/>
              </a:rPr>
              <a:t>Patagonia
</a:t>
            </a:r>
            <a:pPr indent="0" marL="0">
              <a:buNone/>
            </a:pPr>
            <a:r>
              <a:rPr lang="en-US" sz="1150" dirty="0">
                <a:solidFill>
                  <a:srgbClr val="5B6B73"/>
                </a:solidFill>
                <a:latin typeface="Calibri" pitchFamily="34" charset="0"/>
                <a:ea typeface="Calibri" pitchFamily="34" charset="-122"/>
                <a:cs typeface="Calibri" pitchFamily="34" charset="-120"/>
              </a:rPr>
              <a:t>Ethical sourcing; repair-and-reuse (Worn Wear)</a:t>
            </a:r>
            <a:endParaRPr lang="en-US" sz="1300" dirty="0"/>
          </a:p>
        </p:txBody>
      </p:sp>
      <p:sp>
        <p:nvSpPr>
          <p:cNvPr id="15" name="Text 13"/>
          <p:cNvSpPr txBox="1"/>
          <p:nvPr/>
        </p:nvSpPr>
        <p:spPr>
          <a:xfrm>
            <a:off x="3520440" y="4937760"/>
            <a:ext cx="2651760" cy="1097280"/>
          </a:xfrm>
          <a:prstGeom prst="rect">
            <a:avLst/>
          </a:prstGeom>
          <a:noFill/>
          <a:ln/>
        </p:spPr>
        <p:txBody>
          <a:bodyPr wrap="square" lIns="0" tIns="0" rIns="0" bIns="0" rtlCol="0" anchor="t"/>
          <a:lstStyle/>
          <a:p>
            <a:pPr indent="0" marL="0">
              <a:buNone/>
            </a:pPr>
            <a:r>
              <a:rPr lang="en-US" sz="1300" b="1" dirty="0">
                <a:solidFill>
                  <a:srgbClr val="2F8A5B"/>
                </a:solidFill>
                <a:latin typeface="Calibri" pitchFamily="34" charset="0"/>
                <a:ea typeface="Calibri" pitchFamily="34" charset="-122"/>
                <a:cs typeface="Calibri" pitchFamily="34" charset="-120"/>
              </a:rPr>
              <a:t>Fairphone
</a:t>
            </a:r>
            <a:pPr indent="0" marL="0">
              <a:buNone/>
            </a:pPr>
            <a:r>
              <a:rPr lang="en-US" sz="1150" dirty="0">
                <a:solidFill>
                  <a:srgbClr val="5B6B73"/>
                </a:solidFill>
                <a:latin typeface="Calibri" pitchFamily="34" charset="0"/>
                <a:ea typeface="Calibri" pitchFamily="34" charset="-122"/>
                <a:cs typeface="Calibri" pitchFamily="34" charset="-120"/>
              </a:rPr>
              <a:t>Modular, repairable design to minimise waste</a:t>
            </a:r>
            <a:endParaRPr lang="en-US" sz="1300" dirty="0"/>
          </a:p>
        </p:txBody>
      </p:sp>
      <p:sp>
        <p:nvSpPr>
          <p:cNvPr id="16" name="Text 14"/>
          <p:cNvSpPr txBox="1"/>
          <p:nvPr/>
        </p:nvSpPr>
        <p:spPr>
          <a:xfrm>
            <a:off x="6263640" y="4937760"/>
            <a:ext cx="2651760" cy="1097280"/>
          </a:xfrm>
          <a:prstGeom prst="rect">
            <a:avLst/>
          </a:prstGeom>
          <a:noFill/>
          <a:ln/>
        </p:spPr>
        <p:txBody>
          <a:bodyPr wrap="square" lIns="0" tIns="0" rIns="0" bIns="0" rtlCol="0" anchor="t"/>
          <a:lstStyle/>
          <a:p>
            <a:pPr indent="0" marL="0">
              <a:buNone/>
            </a:pPr>
            <a:r>
              <a:rPr lang="en-US" sz="1300" b="1" dirty="0">
                <a:solidFill>
                  <a:srgbClr val="2F8A5B"/>
                </a:solidFill>
                <a:latin typeface="Calibri" pitchFamily="34" charset="0"/>
                <a:ea typeface="Calibri" pitchFamily="34" charset="-122"/>
                <a:cs typeface="Calibri" pitchFamily="34" charset="-120"/>
              </a:rPr>
              <a:t>IKEA
</a:t>
            </a:r>
            <a:pPr indent="0" marL="0">
              <a:buNone/>
            </a:pPr>
            <a:r>
              <a:rPr lang="en-US" sz="1150" dirty="0">
                <a:solidFill>
                  <a:srgbClr val="5B6B73"/>
                </a:solidFill>
                <a:latin typeface="Calibri" pitchFamily="34" charset="0"/>
                <a:ea typeface="Calibri" pitchFamily="34" charset="-122"/>
                <a:cs typeface="Calibri" pitchFamily="34" charset="-120"/>
              </a:rPr>
              <a:t>FSC wood; buy-back and circular-product goals</a:t>
            </a:r>
            <a:endParaRPr lang="en-US" sz="1300" dirty="0"/>
          </a:p>
        </p:txBody>
      </p:sp>
      <p:sp>
        <p:nvSpPr>
          <p:cNvPr id="17" name="Text 15"/>
          <p:cNvSpPr txBox="1"/>
          <p:nvPr/>
        </p:nvSpPr>
        <p:spPr>
          <a:xfrm>
            <a:off x="9006840" y="4937760"/>
            <a:ext cx="2651760" cy="1097280"/>
          </a:xfrm>
          <a:prstGeom prst="rect">
            <a:avLst/>
          </a:prstGeom>
          <a:noFill/>
          <a:ln/>
        </p:spPr>
        <p:txBody>
          <a:bodyPr wrap="square" lIns="0" tIns="0" rIns="0" bIns="0" rtlCol="0" anchor="t"/>
          <a:lstStyle/>
          <a:p>
            <a:pPr indent="0" marL="0">
              <a:buNone/>
            </a:pPr>
            <a:r>
              <a:rPr lang="en-US" sz="1300" b="1" dirty="0">
                <a:solidFill>
                  <a:srgbClr val="2F8A5B"/>
                </a:solidFill>
                <a:latin typeface="Calibri" pitchFamily="34" charset="0"/>
                <a:ea typeface="Calibri" pitchFamily="34" charset="-122"/>
                <a:cs typeface="Calibri" pitchFamily="34" charset="-120"/>
              </a:rPr>
              <a:t>Apple
</a:t>
            </a:r>
            <a:pPr indent="0" marL="0">
              <a:buNone/>
            </a:pPr>
            <a:r>
              <a:rPr lang="en-US" sz="1150" dirty="0">
                <a:solidFill>
                  <a:srgbClr val="5B6B73"/>
                </a:solidFill>
                <a:latin typeface="Calibri" pitchFamily="34" charset="0"/>
                <a:ea typeface="Calibri" pitchFamily="34" charset="-122"/>
                <a:cs typeface="Calibri" pitchFamily="34" charset="-120"/>
              </a:rPr>
              <a:t>Recycled aluminium; designing out rare materials</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the design mix (8 marks)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Discuss the importance to IKEA of prioritising cost of manufacture when designing a new bookshelf.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[8]</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Discuss (official Unit 1): one developed argument + one developed counter starting ‘However’.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Applied to IKEA throughout; a separate conclusion is NOT required.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Level 3 (6–8): logical, balanced chains, well-contextualised, aware of competing arguments.</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(one side, then However)</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 lower cost of manufacture → lower prices → affordable for customers on limited incomes → more sales/share. Apply: flat-pack cuts material, storage and transport costs.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HOWEVER: cheaper materials could weaken strength and appearance → a bookshelf that sags or looks cheap harms IKEA's reputation → lost repeat custom.</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So function and aesthetics still matter — cost cannot be prioritised at their expense.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Weave the case evidence (limited incomes, limited space) into both sides.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595360" cy="11430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Businesses &amp; A-grade exam skills</a:t>
            </a:r>
            <a:endParaRPr lang="en-US" sz="34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which firms lead on which element  ·  decoding the 20-mark  ·  a model answer and how to reach the top band</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REAL BUSINESSES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Businesses that use the design mix — and how</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377440"/>
                <a:gridCol w="2286000"/>
                <a:gridCol w="6428232"/>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Business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Leads on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How the design mix shows up</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82296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IKEA</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Cost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Flat-pack, efficient materials, tight cost control — but balanced with modern looks and easy assembly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2296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Dyson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Function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Engineering-led (bagless cyclone, motors); function is the USP that justifies premium prices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6868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Apple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Aesthetics + function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Iconic design and premium materials, paired with strong performance; high cost of manufacture accepted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7724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Dacia</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Cost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Cars engineered around the lowest viable cost — basic function, little spent on aesthetics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2296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Patagonia / Fairphone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Social-trend design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Ethical sourcing, recycled materials and repairable design built into the product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806440"/>
            <a:ext cx="11091672" cy="457200"/>
          </a:xfrm>
          <a:prstGeom prst="roundRect">
            <a:avLst>
              <a:gd name="adj" fmla="val 16000"/>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824728"/>
            <a:ext cx="10698480" cy="420624"/>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A-grade move:  </a:t>
            </a:r>
            <a:pPr indent="0" marL="0">
              <a:buNone/>
            </a:pPr>
            <a:r>
              <a:rPr lang="en-US" sz="1250" dirty="0">
                <a:solidFill>
                  <a:srgbClr val="1F2A33"/>
                </a:solidFill>
                <a:latin typeface="Calibri" pitchFamily="34" charset="0"/>
                <a:ea typeface="Calibri" pitchFamily="34" charset="-122"/>
                <a:cs typeface="Calibri" pitchFamily="34" charset="-120"/>
              </a:rPr>
              <a:t>name the element a firm leads on, then show how it still manages the other two — that balance is the mark of a sophisticated answer.</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20-mark: decode it, then plan with 5×5</a:t>
            </a:r>
            <a:endParaRPr lang="en-US" sz="2800" dirty="0"/>
          </a:p>
        </p:txBody>
      </p:sp>
      <p:sp>
        <p:nvSpPr>
          <p:cNvPr id="4" name="Shape 2"/>
          <p:cNvSpPr/>
          <p:nvPr/>
        </p:nvSpPr>
        <p:spPr>
          <a:xfrm>
            <a:off x="548640" y="1371600"/>
            <a:ext cx="11091672" cy="1234440"/>
          </a:xfrm>
          <a:prstGeom prst="roundRect">
            <a:avLst>
              <a:gd name="adj" fmla="val 5926"/>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55648"/>
            <a:ext cx="10607040" cy="7315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Function, aesthetics and cost of manufacture are elements of the design mix. Evaluate which of these is the most important element for IKEA designers in the development of their product range.  </a:t>
            </a:r>
            <a:pPr indent="0" marL="0">
              <a:buNone/>
            </a:pPr>
            <a:r>
              <a:rPr lang="en-US" sz="1350" b="1" dirty="0">
                <a:solidFill>
                  <a:srgbClr val="E0940F"/>
                </a:solidFill>
                <a:latin typeface="Calibri" pitchFamily="34" charset="0"/>
                <a:ea typeface="Calibri" pitchFamily="34" charset="-122"/>
                <a:cs typeface="Calibri" pitchFamily="34" charset="-120"/>
              </a:rPr>
              <a:t>[20]</a:t>
            </a:r>
            <a:endParaRPr lang="en-US" sz="1350" dirty="0"/>
          </a:p>
        </p:txBody>
      </p:sp>
      <p:sp>
        <p:nvSpPr>
          <p:cNvPr id="7" name="Shape 5"/>
          <p:cNvSpPr/>
          <p:nvPr/>
        </p:nvSpPr>
        <p:spPr>
          <a:xfrm>
            <a:off x="548640" y="2743200"/>
            <a:ext cx="5029200" cy="3456432"/>
          </a:xfrm>
          <a:prstGeom prst="roundRect">
            <a:avLst>
              <a:gd name="adj" fmla="val 2116"/>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8529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3218688"/>
            <a:ext cx="4617720" cy="28803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Evaluate = argue more than one element, then give a supported judgement on which matters most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Keep it about IKEA's product range throughout — use the three extracts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Level 4 (16–20): balanced, well-contextualised, competing arguments, a clear supported judgement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Timing: ~30 min — 5 plan, ~20 write, 3–5 conclude</a:t>
            </a:r>
            <a:endParaRPr lang="en-US" sz="1200" dirty="0"/>
          </a:p>
        </p:txBody>
      </p:sp>
      <p:sp>
        <p:nvSpPr>
          <p:cNvPr id="10" name="Shape 8"/>
          <p:cNvSpPr/>
          <p:nvPr/>
        </p:nvSpPr>
        <p:spPr>
          <a:xfrm>
            <a:off x="5788152" y="2743200"/>
            <a:ext cx="5852160" cy="3456432"/>
          </a:xfrm>
          <a:prstGeom prst="roundRect">
            <a:avLst>
              <a:gd name="adj" fmla="val 2116"/>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8529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5×5 PECAN, 5 paragraphs</a:t>
            </a:r>
            <a:endParaRPr lang="en-US" sz="1300" dirty="0"/>
          </a:p>
        </p:txBody>
      </p:sp>
      <p:sp>
        <p:nvSpPr>
          <p:cNvPr id="12" name="Text 10"/>
          <p:cNvSpPr txBox="1"/>
          <p:nvPr/>
        </p:nvSpPr>
        <p:spPr>
          <a:xfrm>
            <a:off x="5989320" y="3218688"/>
            <a:ext cx="5440680" cy="28803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¶1 Cost is most important (affordable prices → 49 countries)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¶2 However, aesthetics matters (2.1bn site visits — bought on looks online)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¶3 However, function matters (quality = loyalty, but fewer repeat sales)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¶4 The elements must complement each other — one weak element undermines the rest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¶5 Conclusion (4Ws): which, why, why it matters, what it depends on</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A model 20-mark answer (IKEA) — the body</a:t>
            </a:r>
            <a:endParaRPr lang="en-US" sz="28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Cost (for).  </a:t>
            </a:r>
            <a:pPr indent="0" marL="0">
              <a:buNone/>
            </a:pPr>
            <a:r>
              <a:rPr lang="en-US" sz="1180" dirty="0">
                <a:solidFill>
                  <a:srgbClr val="1F2A33"/>
                </a:solidFill>
                <a:latin typeface="Calibri" pitchFamily="34" charset="0"/>
                <a:ea typeface="Calibri" pitchFamily="34" charset="-122"/>
                <a:cs typeface="Calibri" pitchFamily="34" charset="-120"/>
              </a:rPr>
              <a:t>One reason cost of manufacture is most important for IKEA is that its whole identity is affordability. Designing flat-pack products that use fewer materials and are cheap to transport keeps manufacturing costs low. This means IKEA can set prices low enough for customers on limited incomes, which widened its appeal and helped it operate in 49 countries. As a result, economic manufacture directly drives the sales volume IKEA depends on.</a:t>
            </a:r>
            <a:endParaRPr lang="en-US" sz="1180" dirty="0"/>
          </a:p>
        </p:txBody>
      </p:sp>
      <p:sp>
        <p:nvSpPr>
          <p:cNvPr id="6" name="Shape 4"/>
          <p:cNvSpPr/>
          <p:nvPr/>
        </p:nvSpPr>
        <p:spPr>
          <a:xfrm>
            <a:off x="548640" y="3017520"/>
            <a:ext cx="11091672" cy="1554480"/>
          </a:xfrm>
          <a:prstGeom prst="roundRect">
            <a:avLst>
              <a:gd name="adj" fmla="val 4706"/>
            </a:avLst>
          </a:prstGeom>
          <a:solidFill>
            <a:srgbClr val="F9EAE6"/>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Aesthetics (however).  </a:t>
            </a:r>
            <a:pPr indent="0" marL="0">
              <a:buNone/>
            </a:pPr>
            <a:r>
              <a:rPr lang="en-US" sz="1180" dirty="0">
                <a:solidFill>
                  <a:srgbClr val="1F2A33"/>
                </a:solidFill>
                <a:latin typeface="Calibri" pitchFamily="34" charset="0"/>
                <a:ea typeface="Calibri" pitchFamily="34" charset="-122"/>
                <a:cs typeface="Calibri" pitchFamily="34" charset="-120"/>
              </a:rPr>
              <a:t>However, aesthetics may matter more because customers increasingly choose furniture on looks. IKEA had 2.1bn website visits, so most customers see products on screen before buying; if the furniture did not look modern and appealing, it would not convert those visits into sales. Its eco-friendly, modernist style is a key reason the brand stands out.</a:t>
            </a:r>
            <a:endParaRPr lang="en-US" sz="1180" dirty="0"/>
          </a:p>
        </p:txBody>
      </p:sp>
      <p:sp>
        <p:nvSpPr>
          <p:cNvPr id="8" name="Shape 6"/>
          <p:cNvSpPr/>
          <p:nvPr/>
        </p:nvSpPr>
        <p:spPr>
          <a:xfrm>
            <a:off x="548640" y="4645152"/>
            <a:ext cx="11091672" cy="1536192"/>
          </a:xfrm>
          <a:prstGeom prst="roundRect">
            <a:avLst>
              <a:gd name="adj" fmla="val 4762"/>
            </a:avLst>
          </a:prstGeom>
          <a:solidFill>
            <a:srgbClr val="EAF3F4"/>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54880"/>
            <a:ext cx="10607040" cy="1335024"/>
          </a:xfrm>
          <a:prstGeom prst="rect">
            <a:avLst/>
          </a:prstGeom>
          <a:noFill/>
          <a:ln/>
        </p:spPr>
        <p:txBody>
          <a:bodyPr wrap="square" lIns="0" tIns="0" rIns="0" bIns="0" rtlCol="0" anchor="t"/>
          <a:lstStyle/>
          <a:p>
            <a:pPr indent="0" marL="0">
              <a:buNone/>
            </a:pPr>
            <a:r>
              <a:rPr lang="en-US" sz="1180" b="1" dirty="0">
                <a:solidFill>
                  <a:srgbClr val="0B5E66"/>
                </a:solidFill>
                <a:latin typeface="Calibri" pitchFamily="34" charset="0"/>
                <a:ea typeface="Calibri" pitchFamily="34" charset="-122"/>
                <a:cs typeface="Calibri" pitchFamily="34" charset="-120"/>
              </a:rPr>
              <a:t>¶ Function (however).  </a:t>
            </a:r>
            <a:pPr indent="0" marL="0">
              <a:buNone/>
            </a:pPr>
            <a:r>
              <a:rPr lang="en-US" sz="1180" dirty="0">
                <a:solidFill>
                  <a:srgbClr val="1F2A33"/>
                </a:solidFill>
                <a:latin typeface="Calibri" pitchFamily="34" charset="0"/>
                <a:ea typeface="Calibri" pitchFamily="34" charset="-122"/>
                <a:cs typeface="Calibri" pitchFamily="34" charset="-120"/>
              </a:rPr>
              <a:t>However, function is also vital: IKEA's furniture must be easy to assemble and durable. Strong function builds loyalty — though, interestingly, very durable furniture can reduce repeat sales, so IKEA must balance quality against the need for customers to return.</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conclusion — and how to reach the top band</a:t>
            </a:r>
            <a:endParaRPr lang="en-US" sz="2800" dirty="0"/>
          </a:p>
        </p:txBody>
      </p:sp>
      <p:sp>
        <p:nvSpPr>
          <p:cNvPr id="4" name="Shape 2"/>
          <p:cNvSpPr/>
          <p:nvPr/>
        </p:nvSpPr>
        <p:spPr>
          <a:xfrm>
            <a:off x="548640" y="1371600"/>
            <a:ext cx="11091672" cy="2057400"/>
          </a:xfrm>
          <a:prstGeom prst="roundRect">
            <a:avLst>
              <a:gd name="adj" fmla="val 3556"/>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CONCLUSION (4Ws)</a:t>
            </a:r>
            <a:endParaRPr lang="en-US" sz="1050" dirty="0"/>
          </a:p>
        </p:txBody>
      </p:sp>
      <p:sp>
        <p:nvSpPr>
          <p:cNvPr id="6" name="Text 4"/>
          <p:cNvSpPr txBox="1"/>
          <p:nvPr/>
        </p:nvSpPr>
        <p:spPr>
          <a:xfrm>
            <a:off x="777240" y="1773936"/>
            <a:ext cx="10607040" cy="1572768"/>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Overall, cost of manufacture is the most important element for IKEA, because its competitive advantage and global growth are built on low prices that economic manufacture makes possible. This matters because without low cost IKEA would lose the mass-market position that defines it. However, this depends on the elements complementing each other: cost leadership only works while the furniture still functions well and looks appealing — so IKEA cannot pursue low cost at the expense of the other two. For a premium brand the judgement would differ, which shows the ‘most important’ element depends on the market and target customer.</a:t>
            </a:r>
            <a:endParaRPr lang="en-US" sz="1250" dirty="0"/>
          </a:p>
        </p:txBody>
      </p:sp>
      <p:sp>
        <p:nvSpPr>
          <p:cNvPr id="7" name="Shape 5"/>
          <p:cNvSpPr/>
          <p:nvPr/>
        </p:nvSpPr>
        <p:spPr>
          <a:xfrm>
            <a:off x="548640" y="3611880"/>
            <a:ext cx="5440680" cy="2560320"/>
          </a:xfrm>
          <a:prstGeom prst="roundRect">
            <a:avLst>
              <a:gd name="adj" fmla="val 2857"/>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3767328"/>
            <a:ext cx="3291840" cy="310896"/>
          </a:xfrm>
          <a:prstGeom prst="roundRect">
            <a:avLst>
              <a:gd name="adj" fmla="val 50000"/>
            </a:avLst>
          </a:prstGeom>
          <a:solidFill>
            <a:srgbClr val="2F8A5B"/>
          </a:solidFill>
          <a:ln/>
        </p:spPr>
      </p:sp>
      <p:sp>
        <p:nvSpPr>
          <p:cNvPr id="9" name="Text 7"/>
          <p:cNvSpPr txBox="1"/>
          <p:nvPr/>
        </p:nvSpPr>
        <p:spPr>
          <a:xfrm>
            <a:off x="777240" y="3767328"/>
            <a:ext cx="3291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TO REACH LEVEL 4</a:t>
            </a:r>
            <a:endParaRPr lang="en-US" sz="1050" dirty="0"/>
          </a:p>
        </p:txBody>
      </p:sp>
      <p:sp>
        <p:nvSpPr>
          <p:cNvPr id="10" name="Text 8"/>
          <p:cNvSpPr txBox="1"/>
          <p:nvPr/>
        </p:nvSpPr>
        <p:spPr>
          <a:xfrm>
            <a:off x="777240" y="4206240"/>
            <a:ext cx="4983480" cy="18288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Argue all three elements, not one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a different IKEA extract to each</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Build 2+ step chains with connectives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Commit to a judgement AND say what it depends 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Use the 'elements must complement' idea</a:t>
            </a:r>
            <a:endParaRPr lang="en-US" sz="1250" dirty="0"/>
          </a:p>
        </p:txBody>
      </p:sp>
      <p:sp>
        <p:nvSpPr>
          <p:cNvPr id="11" name="Shape 9"/>
          <p:cNvSpPr/>
          <p:nvPr/>
        </p:nvSpPr>
        <p:spPr>
          <a:xfrm>
            <a:off x="6199632" y="3611880"/>
            <a:ext cx="5440680" cy="2560320"/>
          </a:xfrm>
          <a:prstGeom prst="roundRect">
            <a:avLst>
              <a:gd name="adj" fmla="val 2857"/>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3767328"/>
            <a:ext cx="3840480" cy="310896"/>
          </a:xfrm>
          <a:prstGeom prst="roundRect">
            <a:avLst>
              <a:gd name="adj" fmla="val 50000"/>
            </a:avLst>
          </a:prstGeom>
          <a:solidFill>
            <a:srgbClr val="C14B37"/>
          </a:solidFill>
          <a:ln/>
        </p:spPr>
      </p:sp>
      <p:sp>
        <p:nvSpPr>
          <p:cNvPr id="13" name="Text 11"/>
          <p:cNvSpPr txBox="1"/>
          <p:nvPr/>
        </p:nvSpPr>
        <p:spPr>
          <a:xfrm>
            <a:off x="6428232" y="3767328"/>
            <a:ext cx="3840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WHAT DROPS TO LEVEL 2–3</a:t>
            </a:r>
            <a:endParaRPr lang="en-US" sz="1050" dirty="0"/>
          </a:p>
        </p:txBody>
      </p:sp>
      <p:sp>
        <p:nvSpPr>
          <p:cNvPr id="14" name="Text 12"/>
          <p:cNvSpPr txBox="1"/>
          <p:nvPr/>
        </p:nvSpPr>
        <p:spPr>
          <a:xfrm>
            <a:off x="6428232" y="4206240"/>
            <a:ext cx="4983480" cy="18288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Describing the three elements with no IKEA context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Picking one element and ignoring the others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Chains that stop at 'customers are happy'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judgement, or a judgement with no 'depends 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Generic points that fit any business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design-mix exam questions</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097280"/>
                <a:gridCol w="2103120"/>
                <a:gridCol w="734263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 for a design-mix answer</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56692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element or the triangle as an example.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40080">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two pieces of business evidence + one consequence.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benefits/points, each applied to the firm,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One argument + one 'However' counter, applied. No separate conclusion needed.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PECAN: argue all three elements, then a supported 'it depends'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6035040"/>
            <a:ext cx="10515600" cy="457200"/>
          </a:xfrm>
          <a:prstGeom prst="rect">
            <a:avLst/>
          </a:prstGeom>
          <a:noFill/>
          <a:ln/>
        </p:spPr>
        <p:txBody>
          <a:bodyPr wrap="square" lIns="0" tIns="0" rIns="0" bIns="0" rtlCol="0" anchor="ctr"/>
          <a:lstStyle/>
          <a:p>
            <a:pPr indent="0" marL="0">
              <a:buNone/>
            </a:pPr>
            <a:r>
              <a:rPr lang="en-US" sz="1300" i="1" dirty="0">
                <a:solidFill>
                  <a:srgbClr val="9FBCC0"/>
                </a:solidFill>
                <a:latin typeface="Calibri" pitchFamily="34" charset="0"/>
                <a:ea typeface="Calibri" pitchFamily="34" charset="-122"/>
                <a:cs typeface="Calibri" pitchFamily="34" charset="-120"/>
              </a:rPr>
              <a:t>For the design mix, the golden evaluation line is: the three elements must complement each other — the best balance depends on the market and target customer.</a:t>
            </a:r>
            <a:endParaRPr lang="en-US" sz="130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2026-10-20T02:15:11Z</dcterms:created>
  <dcterms:modified xsi:type="dcterms:W3CDTF">2026-10-20T02:15:11Z</dcterms:modified>
</cp:coreProperties>
</file>