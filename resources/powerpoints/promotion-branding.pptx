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 · Types of promotion" id="{8cb42e7d-5d42-a010-3db3-e54d73528aac}">
          <p14:sldIdLst>
            <p14:sldId id="259"/>
            <p14:sldId id="260"/>
            <p14:sldId id="261"/>
            <p14:sldId id="262"/>
            <p14:sldId id="263"/>
            <p14:sldId id="264"/>
            <p14:sldId id="265"/>
            <p14:sldId id="266"/>
          </p14:sldIdLst>
        </p14:section>
        <p14:section name="B · Branding" id="{429c8d0b-e198-9800-102b-0969bf210147}">
          <p14:sldIdLst>
            <p14:sldId id="267"/>
            <p14:sldId id="268"/>
            <p14:sldId id="269"/>
            <p14:sldId id="270"/>
          </p14:sldIdLst>
        </p14:section>
        <p14:section name="C · Building a brand" id="{db3daae8-00e3-1812-a170-3770384f4d3d}">
          <p14:sldIdLst>
            <p14:sldId id="271"/>
            <p14:sldId id="272"/>
            <p14:sldId id="273"/>
            <p14:sldId id="274"/>
            <p14:sldId id="275"/>
          </p14:sldIdLst>
        </p14:section>
        <p14:section name="D · A-grade exam skills" id="{dd4ab249-0387-aa4e-6af0-4e5ec01fcabd}">
          <p14:sldIdLst>
            <p14:sldId id="276"/>
            <p14:sldId id="277"/>
            <p14:sldId id="278"/>
            <p14:sldId id="279"/>
          </p14:sldIdLst>
        </p14:section>
        <p14:section name="Default-1" id="{e571a98e-cea6-fc25-5cf0-ee56e1ca30fa}">
          <p14:sldIdLst>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Tutoring deck on promotion &amp; branding (spec 1.3.3 point 3), pitched for A-grade students. Same format as the earlier decks: each element gets a definition, advantages, disadvantages and a real business example, plus where it sits in the spec and exam practice (Mercedes 6 &amp; 10 mark; LEGO 20 mark). Mercedes/Hamilton figures come from the exam case study - treat as case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Promotion = how a business communicates with customers; branding = the identity that makes those messages stick and command premium prices. The two work together, which is why the spec pairs them. The benefits-of-branding chain and the ATL/BTL split are the two things examiners reward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'where does this fall in the scheme'. It is point 3 of five in topic 1.3.3. The A-grade move is to connect promotion/branding to pricing (PED), loyalty and the PLC rather than treating it in isolation.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ATL/BTL split is one of the two most-rewarded ideas in this topic. 'Through the line' = integrated campaigns that blend both. Rule of thumb: mass market/awareness -&gt; ATL; niche/targeted/relationship -&gt; BTL. Watch the common error of calling all online ads ATL - paid display is ATL, but targeted social and direct are BTL.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 orients the next slides. Note sponsorship and digital sit under BTL here but are also covered as ways to BUILD A BRAND (Part C) - flag that overlap so students don't think they are separate. The next three slides take advertising, sales promotion, and PR/personal selling in the element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for personal selling: car showrooms and Range Rover 'tech packs' - features that need explaining and upselling, where the high margin justifies a salesperson. Example for PR: a restaurant inviting the press for a review, or Richard Branson's Virgin stunts. PR's credibility is its edge over advertising.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PLC link is a strong A-grade point: a product at launch needs informative, awareness-building promotion; at maturity it needs persuasive/reminder promotion to defend share. Big-ticket national campaigns justify ATL's cost; local or niche businesses get better value from targeted BTL.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spec says 'types of branding'; these five cover it. A nice evaluation link: own-label vs manufacturer branding is a real competitive battle in supermarkets. Rebranding connects back to extension strategies in the PLC (Jif-&gt;Cif appeared there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most-rewarded idea in 1.3.3(3). Drill the PED link: a strong brand makes demand MORE inelastic, so the firm can raise price with only a small fall in quantity -&gt; revenue and margin rise. The McVitie's Hob Nobs point from your deck: loyal buyers won't settle for an inferior brand even as price 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 1.3.3(3)(d). These overlap with promotion (advertising, social media) and with the benefits of branding - the point is that building a brand is deliberate and ongoing. Sponsorship gets its own slide next because there is a 10-mark question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 1.3.3(3)(e). Link back: these are modern ways to achieve the benefits of branding and to build a brand - not a separate topic. Evaluation angle: viral/social reach is cheap but unpredictable and can backfire; emotional branding builds the deepest loyalty but only if it feels genuine.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LEGO is a strong brand case: after its core brick patents expired, cheaper rivals could make compatible bricks, so LEGO's BRAND (quality, safety, licensing, loyalty) is what protects its premium. That patent point is a sophisticated, accurate argument that lifts an answer to Level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applied PECAN paragraphs. The patent-expiry point and the 'brand protects the premium against copycats' chain are the high-level moves. Each paragraph names LEGO and builds a multi-step chain with connectives. LEGO facts used are well-known and stable; add specific figures if the student has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conclusion commits (branding is very important to LEGO) while staying conditional ('depends on innovation and the market'). That combination - a clear judgement that is still nuanced - is the top-band discriminator. The 'commodity producer would differ' line shows the student understands WHY branding matters here specifically.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A-grade students should leave able to split promotion into ATL/BTL, explain each promotion and branding type with examples, build the benefits-of-branding chain, and structure 6/10/20-mark answers with applied chains and a conditional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3A43"/>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37376"/>
            <a:ext cx="9875520" cy="274320"/>
          </a:xfrm>
          <a:prstGeom prst="rect">
            <a:avLst/>
          </a:prstGeom>
          <a:noFill/>
          <a:ln/>
        </p:spPr>
        <p:txBody>
          <a:bodyPr wrap="square" lIns="0" tIns="0" rIns="0" bIns="0" rtlCol="0" anchor="ctr"/>
          <a:lstStyle/>
          <a:p>
            <a:pPr algn="l" indent="0" marL="0">
              <a:buNone/>
            </a:pPr>
            <a:r>
              <a:rPr lang="en-US" sz="900" dirty="0">
                <a:solidFill>
                  <a:srgbClr val="5B6B73"/>
                </a:solidFill>
                <a:latin typeface="Calibri" pitchFamily="34" charset="0"/>
                <a:ea typeface="Calibri" pitchFamily="34" charset="-122"/>
                <a:cs typeface="Calibri" pitchFamily="34" charset="-120"/>
              </a:rPr>
              <a:t>IAL Business  ·  Unit 1  ·  Spec 1.3.3 (3) Promotion and branding</a:t>
            </a:r>
            <a:endParaRPr lang="en-US" sz="9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325880"/>
            <a:ext cx="10515600" cy="365760"/>
          </a:xfrm>
          <a:prstGeom prst="rect">
            <a:avLst/>
          </a:prstGeom>
          <a:noFill/>
          <a:ln/>
        </p:spPr>
        <p:txBody>
          <a:bodyPr wrap="square" lIns="0" tIns="0" rIns="0" bIns="0" rtlCol="0" anchor="ctr"/>
          <a:lstStyle/>
          <a:p>
            <a:pPr indent="0" marL="0">
              <a:buNone/>
            </a:pPr>
            <a:r>
              <a:rPr lang="en-US" sz="1250" b="1" spc="150" kern="0" dirty="0">
                <a:solidFill>
                  <a:srgbClr val="7FC4CB"/>
                </a:solidFill>
                <a:latin typeface="Calibri" pitchFamily="34" charset="0"/>
                <a:ea typeface="Calibri" pitchFamily="34" charset="-122"/>
                <a:cs typeface="Calibri" pitchFamily="34" charset="-120"/>
              </a:rPr>
              <a:t>PEARSON EDEXCEL  ·  INTERNATIONAL A LEVEL BUSINESS  ·  UNIT 1 (WBS11)</a:t>
            </a:r>
            <a:endParaRPr lang="en-US" sz="1250" dirty="0"/>
          </a:p>
        </p:txBody>
      </p:sp>
      <p:sp>
        <p:nvSpPr>
          <p:cNvPr id="3" name="Text 1"/>
          <p:cNvSpPr txBox="1"/>
          <p:nvPr/>
        </p:nvSpPr>
        <p:spPr>
          <a:xfrm>
            <a:off x="822960" y="1783080"/>
            <a:ext cx="10515600" cy="91440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Promotion &amp; Branding</a:t>
            </a:r>
            <a:endParaRPr lang="en-US" sz="5000" dirty="0"/>
          </a:p>
        </p:txBody>
      </p:sp>
      <p:sp>
        <p:nvSpPr>
          <p:cNvPr id="4" name="Text 2"/>
          <p:cNvSpPr txBox="1"/>
          <p:nvPr/>
        </p:nvSpPr>
        <p:spPr>
          <a:xfrm>
            <a:off x="822960" y="2788920"/>
            <a:ext cx="10424160" cy="457200"/>
          </a:xfrm>
          <a:prstGeom prst="rect">
            <a:avLst/>
          </a:prstGeom>
          <a:noFill/>
          <a:ln/>
        </p:spPr>
        <p:txBody>
          <a:bodyPr wrap="square" lIns="0" tIns="0" rIns="0" bIns="0" rtlCol="0" anchor="ctr"/>
          <a:lstStyle/>
          <a:p>
            <a:pPr indent="0" marL="0">
              <a:buNone/>
            </a:pPr>
            <a:r>
              <a:rPr lang="en-US" sz="1600" i="1" dirty="0">
                <a:solidFill>
                  <a:srgbClr val="D7E6E8"/>
                </a:solidFill>
                <a:latin typeface="Calibri" pitchFamily="34" charset="0"/>
                <a:ea typeface="Calibri" pitchFamily="34" charset="-122"/>
                <a:cs typeface="Calibri" pitchFamily="34" charset="-120"/>
              </a:rPr>
              <a:t>Spec 1.3.3 (3)  —  a tutoring guide: what each idea means, real businesses, and A-grade exam practice</a:t>
            </a:r>
            <a:endParaRPr lang="en-US" sz="1600" dirty="0"/>
          </a:p>
        </p:txBody>
      </p:sp>
      <p:sp>
        <p:nvSpPr>
          <p:cNvPr id="5" name="Shape 3"/>
          <p:cNvSpPr/>
          <p:nvPr/>
        </p:nvSpPr>
        <p:spPr>
          <a:xfrm>
            <a:off x="822960" y="3886200"/>
            <a:ext cx="2406701" cy="420624"/>
          </a:xfrm>
          <a:prstGeom prst="roundRect">
            <a:avLst>
              <a:gd name="adj" fmla="val 50000"/>
            </a:avLst>
          </a:prstGeom>
          <a:solidFill>
            <a:srgbClr val="0B2E35"/>
          </a:solidFill>
          <a:ln w="12700">
            <a:solidFill>
              <a:srgbClr val="0E7C86"/>
            </a:solidFill>
            <a:prstDash val="solid"/>
          </a:ln>
        </p:spPr>
      </p:sp>
      <p:sp>
        <p:nvSpPr>
          <p:cNvPr id="6" name="Text 4"/>
          <p:cNvSpPr txBox="1"/>
          <p:nvPr/>
        </p:nvSpPr>
        <p:spPr>
          <a:xfrm>
            <a:off x="822960" y="3886200"/>
            <a:ext cx="2406701"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Promotion (ATL / BTL)</a:t>
            </a:r>
            <a:endParaRPr lang="en-US" sz="1250" dirty="0"/>
          </a:p>
        </p:txBody>
      </p:sp>
      <p:sp>
        <p:nvSpPr>
          <p:cNvPr id="7" name="Shape 5"/>
          <p:cNvSpPr/>
          <p:nvPr/>
        </p:nvSpPr>
        <p:spPr>
          <a:xfrm>
            <a:off x="3412541" y="3886200"/>
            <a:ext cx="1997050" cy="420624"/>
          </a:xfrm>
          <a:prstGeom prst="roundRect">
            <a:avLst>
              <a:gd name="adj" fmla="val 50000"/>
            </a:avLst>
          </a:prstGeom>
          <a:solidFill>
            <a:srgbClr val="0B2E35"/>
          </a:solidFill>
          <a:ln w="12700">
            <a:solidFill>
              <a:srgbClr val="0E7C86"/>
            </a:solidFill>
            <a:prstDash val="solid"/>
          </a:ln>
        </p:spPr>
      </p:sp>
      <p:sp>
        <p:nvSpPr>
          <p:cNvPr id="8" name="Text 6"/>
          <p:cNvSpPr txBox="1"/>
          <p:nvPr/>
        </p:nvSpPr>
        <p:spPr>
          <a:xfrm>
            <a:off x="3412541" y="3886200"/>
            <a:ext cx="1997050"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Types of branding</a:t>
            </a:r>
            <a:endParaRPr lang="en-US" sz="1250" dirty="0"/>
          </a:p>
        </p:txBody>
      </p:sp>
      <p:sp>
        <p:nvSpPr>
          <p:cNvPr id="9" name="Shape 7"/>
          <p:cNvSpPr/>
          <p:nvPr/>
        </p:nvSpPr>
        <p:spPr>
          <a:xfrm>
            <a:off x="5592470" y="3886200"/>
            <a:ext cx="2304288" cy="420624"/>
          </a:xfrm>
          <a:prstGeom prst="roundRect">
            <a:avLst>
              <a:gd name="adj" fmla="val 50000"/>
            </a:avLst>
          </a:prstGeom>
          <a:solidFill>
            <a:srgbClr val="0B2E35"/>
          </a:solidFill>
          <a:ln w="12700">
            <a:solidFill>
              <a:srgbClr val="0E7C86"/>
            </a:solidFill>
            <a:prstDash val="solid"/>
          </a:ln>
        </p:spPr>
      </p:sp>
      <p:sp>
        <p:nvSpPr>
          <p:cNvPr id="10" name="Text 8"/>
          <p:cNvSpPr txBox="1"/>
          <p:nvPr/>
        </p:nvSpPr>
        <p:spPr>
          <a:xfrm>
            <a:off x="5592470" y="3886200"/>
            <a:ext cx="2304288"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Benefits of branding</a:t>
            </a:r>
            <a:endParaRPr lang="en-US" sz="1250" dirty="0"/>
          </a:p>
        </p:txBody>
      </p:sp>
      <p:sp>
        <p:nvSpPr>
          <p:cNvPr id="11" name="Shape 9"/>
          <p:cNvSpPr/>
          <p:nvPr/>
        </p:nvSpPr>
        <p:spPr>
          <a:xfrm>
            <a:off x="8079638" y="3886200"/>
            <a:ext cx="1894637" cy="420624"/>
          </a:xfrm>
          <a:prstGeom prst="roundRect">
            <a:avLst>
              <a:gd name="adj" fmla="val 50000"/>
            </a:avLst>
          </a:prstGeom>
          <a:solidFill>
            <a:srgbClr val="0B2E35"/>
          </a:solidFill>
          <a:ln w="12700">
            <a:solidFill>
              <a:srgbClr val="0E7C86"/>
            </a:solidFill>
            <a:prstDash val="solid"/>
          </a:ln>
        </p:spPr>
      </p:sp>
      <p:sp>
        <p:nvSpPr>
          <p:cNvPr id="12" name="Text 10"/>
          <p:cNvSpPr txBox="1"/>
          <p:nvPr/>
        </p:nvSpPr>
        <p:spPr>
          <a:xfrm>
            <a:off x="8079638" y="3886200"/>
            <a:ext cx="1894637"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Building a brand</a:t>
            </a:r>
            <a:endParaRPr lang="en-US" sz="1250" dirty="0"/>
          </a:p>
        </p:txBody>
      </p:sp>
      <p:sp>
        <p:nvSpPr>
          <p:cNvPr id="13" name="Shape 11"/>
          <p:cNvSpPr/>
          <p:nvPr/>
        </p:nvSpPr>
        <p:spPr>
          <a:xfrm>
            <a:off x="822960" y="4453128"/>
            <a:ext cx="1587398" cy="420624"/>
          </a:xfrm>
          <a:prstGeom prst="roundRect">
            <a:avLst>
              <a:gd name="adj" fmla="val 50000"/>
            </a:avLst>
          </a:prstGeom>
          <a:solidFill>
            <a:srgbClr val="0B2E35"/>
          </a:solidFill>
          <a:ln w="12700">
            <a:solidFill>
              <a:srgbClr val="0E7C86"/>
            </a:solidFill>
            <a:prstDash val="solid"/>
          </a:ln>
        </p:spPr>
      </p:sp>
      <p:sp>
        <p:nvSpPr>
          <p:cNvPr id="14" name="Text 12"/>
          <p:cNvSpPr txBox="1"/>
          <p:nvPr/>
        </p:nvSpPr>
        <p:spPr>
          <a:xfrm>
            <a:off x="822960" y="4453128"/>
            <a:ext cx="1587398"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Social trends</a:t>
            </a:r>
            <a:endParaRPr lang="en-US" sz="1250" dirty="0"/>
          </a:p>
        </p:txBody>
      </p:sp>
      <p:sp>
        <p:nvSpPr>
          <p:cNvPr id="15" name="Text 13"/>
          <p:cNvSpPr txBox="1"/>
          <p:nvPr/>
        </p:nvSpPr>
        <p:spPr>
          <a:xfrm>
            <a:off x="822960" y="6035040"/>
            <a:ext cx="10607040" cy="365760"/>
          </a:xfrm>
          <a:prstGeom prst="rect">
            <a:avLst/>
          </a:prstGeom>
          <a:noFill/>
          <a:ln/>
        </p:spPr>
        <p:txBody>
          <a:bodyPr wrap="square" lIns="0" tIns="0" rIns="0" bIns="0" rtlCol="0" anchor="ctr"/>
          <a:lstStyle/>
          <a:p>
            <a:pPr indent="0" marL="0">
              <a:buNone/>
            </a:pPr>
            <a:r>
              <a:rPr lang="en-US" sz="1300" dirty="0">
                <a:solidFill>
                  <a:srgbClr val="9FBCC0"/>
                </a:solidFill>
                <a:latin typeface="Calibri" pitchFamily="34" charset="0"/>
                <a:ea typeface="Calibri" pitchFamily="34" charset="-122"/>
                <a:cs typeface="Calibri" pitchFamily="34" charset="-120"/>
              </a:rPr>
              <a:t>Mr. Akram  ·  GEMS Metropole School  ·  Cases: Mercedes &amp; Lewis Hamilton · LEGO · Apple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OVERVIEW</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What this lesson covers</a:t>
            </a:r>
            <a:endParaRPr lang="en-US" sz="2800" dirty="0"/>
          </a:p>
        </p:txBody>
      </p:sp>
      <p:sp>
        <p:nvSpPr>
          <p:cNvPr id="4" name="Shape 2"/>
          <p:cNvSpPr/>
          <p:nvPr/>
        </p:nvSpPr>
        <p:spPr>
          <a:xfrm>
            <a:off x="548640" y="1554480"/>
            <a:ext cx="11091672" cy="914400"/>
          </a:xfrm>
          <a:prstGeom prst="roundRect">
            <a:avLst>
              <a:gd name="adj" fmla="val 8000"/>
            </a:avLst>
          </a:prstGeom>
          <a:solidFill>
            <a:srgbClr val="EAF3F4"/>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Shape 3"/>
          <p:cNvSpPr/>
          <p:nvPr/>
        </p:nvSpPr>
        <p:spPr>
          <a:xfrm>
            <a:off x="731520" y="1773936"/>
            <a:ext cx="493776" cy="493776"/>
          </a:xfrm>
          <a:prstGeom prst="roundRect">
            <a:avLst>
              <a:gd name="adj" fmla="val 18519"/>
            </a:avLst>
          </a:prstGeom>
          <a:solidFill>
            <a:srgbClr val="0E7C86"/>
          </a:solidFill>
          <a:ln/>
        </p:spPr>
      </p:sp>
      <p:sp>
        <p:nvSpPr>
          <p:cNvPr id="6" name="Text 4"/>
          <p:cNvSpPr txBox="1"/>
          <p:nvPr/>
        </p:nvSpPr>
        <p:spPr>
          <a:xfrm>
            <a:off x="731520" y="1773936"/>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a:t>
            </a:r>
            <a:endParaRPr lang="en-US" sz="2200" dirty="0"/>
          </a:p>
        </p:txBody>
      </p:sp>
      <p:sp>
        <p:nvSpPr>
          <p:cNvPr id="7" name="Text 5"/>
          <p:cNvSpPr txBox="1"/>
          <p:nvPr/>
        </p:nvSpPr>
        <p:spPr>
          <a:xfrm>
            <a:off x="1417320" y="1700784"/>
            <a:ext cx="4572000" cy="640080"/>
          </a:xfrm>
          <a:prstGeom prst="rect">
            <a:avLst/>
          </a:prstGeom>
          <a:noFill/>
          <a:ln/>
        </p:spPr>
        <p:txBody>
          <a:bodyPr wrap="square" lIns="0" tIns="0" rIns="0" bIns="0" rtlCol="0" anchor="ctr"/>
          <a:lstStyle/>
          <a:p>
            <a:pPr indent="0" marL="0">
              <a:buNone/>
            </a:pPr>
            <a:r>
              <a:rPr lang="en-US" sz="1500" b="1" dirty="0">
                <a:solidFill>
                  <a:srgbClr val="0E3A43"/>
                </a:solidFill>
                <a:latin typeface="Calibri" pitchFamily="34" charset="0"/>
                <a:ea typeface="Calibri" pitchFamily="34" charset="-122"/>
                <a:cs typeface="Calibri" pitchFamily="34" charset="-120"/>
              </a:rPr>
              <a:t>Types of promotion</a:t>
            </a:r>
            <a:endParaRPr lang="en-US" sz="1500" dirty="0"/>
          </a:p>
        </p:txBody>
      </p:sp>
      <p:sp>
        <p:nvSpPr>
          <p:cNvPr id="8" name="Text 6"/>
          <p:cNvSpPr txBox="1"/>
          <p:nvPr/>
        </p:nvSpPr>
        <p:spPr>
          <a:xfrm>
            <a:off x="6080760" y="1700784"/>
            <a:ext cx="5440680" cy="64008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Above- vs below-the-line; advertising, sales promotion, PR, personal selling, digital</a:t>
            </a:r>
            <a:endParaRPr lang="en-US" sz="1250" dirty="0"/>
          </a:p>
        </p:txBody>
      </p:sp>
      <p:sp>
        <p:nvSpPr>
          <p:cNvPr id="9" name="Shape 7"/>
          <p:cNvSpPr/>
          <p:nvPr/>
        </p:nvSpPr>
        <p:spPr>
          <a:xfrm>
            <a:off x="548640" y="2578608"/>
            <a:ext cx="11091672" cy="914400"/>
          </a:xfrm>
          <a:prstGeom prst="roundRect">
            <a:avLst>
              <a:gd name="adj" fmla="val 80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0" name="Shape 8"/>
          <p:cNvSpPr/>
          <p:nvPr/>
        </p:nvSpPr>
        <p:spPr>
          <a:xfrm>
            <a:off x="731520" y="2798064"/>
            <a:ext cx="493776" cy="493776"/>
          </a:xfrm>
          <a:prstGeom prst="roundRect">
            <a:avLst>
              <a:gd name="adj" fmla="val 18519"/>
            </a:avLst>
          </a:prstGeom>
          <a:solidFill>
            <a:srgbClr val="0E7C86"/>
          </a:solidFill>
          <a:ln/>
        </p:spPr>
      </p:sp>
      <p:sp>
        <p:nvSpPr>
          <p:cNvPr id="11" name="Text 9"/>
          <p:cNvSpPr txBox="1"/>
          <p:nvPr/>
        </p:nvSpPr>
        <p:spPr>
          <a:xfrm>
            <a:off x="731520" y="2798064"/>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B</a:t>
            </a:r>
            <a:endParaRPr lang="en-US" sz="2200" dirty="0"/>
          </a:p>
        </p:txBody>
      </p:sp>
      <p:sp>
        <p:nvSpPr>
          <p:cNvPr id="12" name="Text 10"/>
          <p:cNvSpPr txBox="1"/>
          <p:nvPr/>
        </p:nvSpPr>
        <p:spPr>
          <a:xfrm>
            <a:off x="1417320" y="2724912"/>
            <a:ext cx="4572000" cy="640080"/>
          </a:xfrm>
          <a:prstGeom prst="rect">
            <a:avLst/>
          </a:prstGeom>
          <a:noFill/>
          <a:ln/>
        </p:spPr>
        <p:txBody>
          <a:bodyPr wrap="square" lIns="0" tIns="0" rIns="0" bIns="0" rtlCol="0" anchor="ctr"/>
          <a:lstStyle/>
          <a:p>
            <a:pPr indent="0" marL="0">
              <a:buNone/>
            </a:pPr>
            <a:r>
              <a:rPr lang="en-US" sz="1500" b="1" dirty="0">
                <a:solidFill>
                  <a:srgbClr val="0E3A43"/>
                </a:solidFill>
                <a:latin typeface="Calibri" pitchFamily="34" charset="0"/>
                <a:ea typeface="Calibri" pitchFamily="34" charset="-122"/>
                <a:cs typeface="Calibri" pitchFamily="34" charset="-120"/>
              </a:rPr>
              <a:t>Types &amp; benefits of branding</a:t>
            </a:r>
            <a:endParaRPr lang="en-US" sz="1500" dirty="0"/>
          </a:p>
        </p:txBody>
      </p:sp>
      <p:sp>
        <p:nvSpPr>
          <p:cNvPr id="13" name="Text 11"/>
          <p:cNvSpPr txBox="1"/>
          <p:nvPr/>
        </p:nvSpPr>
        <p:spPr>
          <a:xfrm>
            <a:off x="6080760" y="2724912"/>
            <a:ext cx="5440680" cy="64008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Manufacturer, product, own-label &amp; rebranding; added value, premium prices, reduced PED</a:t>
            </a:r>
            <a:endParaRPr lang="en-US" sz="1250" dirty="0"/>
          </a:p>
        </p:txBody>
      </p:sp>
      <p:sp>
        <p:nvSpPr>
          <p:cNvPr id="14" name="Shape 12"/>
          <p:cNvSpPr/>
          <p:nvPr/>
        </p:nvSpPr>
        <p:spPr>
          <a:xfrm>
            <a:off x="548640" y="3602736"/>
            <a:ext cx="11091672" cy="914400"/>
          </a:xfrm>
          <a:prstGeom prst="roundRect">
            <a:avLst>
              <a:gd name="adj" fmla="val 80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5" name="Shape 13"/>
          <p:cNvSpPr/>
          <p:nvPr/>
        </p:nvSpPr>
        <p:spPr>
          <a:xfrm>
            <a:off x="731520" y="3822192"/>
            <a:ext cx="493776" cy="493776"/>
          </a:xfrm>
          <a:prstGeom prst="roundRect">
            <a:avLst>
              <a:gd name="adj" fmla="val 18519"/>
            </a:avLst>
          </a:prstGeom>
          <a:solidFill>
            <a:srgbClr val="0E7C86"/>
          </a:solidFill>
          <a:ln/>
        </p:spPr>
      </p:sp>
      <p:sp>
        <p:nvSpPr>
          <p:cNvPr id="16" name="Text 14"/>
          <p:cNvSpPr txBox="1"/>
          <p:nvPr/>
        </p:nvSpPr>
        <p:spPr>
          <a:xfrm>
            <a:off x="731520" y="3822192"/>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C</a:t>
            </a:r>
            <a:endParaRPr lang="en-US" sz="2200" dirty="0"/>
          </a:p>
        </p:txBody>
      </p:sp>
      <p:sp>
        <p:nvSpPr>
          <p:cNvPr id="17" name="Text 15"/>
          <p:cNvSpPr txBox="1"/>
          <p:nvPr/>
        </p:nvSpPr>
        <p:spPr>
          <a:xfrm>
            <a:off x="1417320" y="3749040"/>
            <a:ext cx="4572000" cy="640080"/>
          </a:xfrm>
          <a:prstGeom prst="rect">
            <a:avLst/>
          </a:prstGeom>
          <a:noFill/>
          <a:ln/>
        </p:spPr>
        <p:txBody>
          <a:bodyPr wrap="square" lIns="0" tIns="0" rIns="0" bIns="0" rtlCol="0" anchor="ctr"/>
          <a:lstStyle/>
          <a:p>
            <a:pPr indent="0" marL="0">
              <a:buNone/>
            </a:pPr>
            <a:r>
              <a:rPr lang="en-US" sz="1500" b="1" dirty="0">
                <a:solidFill>
                  <a:srgbClr val="0E3A43"/>
                </a:solidFill>
                <a:latin typeface="Calibri" pitchFamily="34" charset="0"/>
                <a:ea typeface="Calibri" pitchFamily="34" charset="-122"/>
                <a:cs typeface="Calibri" pitchFamily="34" charset="-120"/>
              </a:rPr>
              <a:t>Building a brand &amp; social trends</a:t>
            </a:r>
            <a:endParaRPr lang="en-US" sz="1500" dirty="0"/>
          </a:p>
        </p:txBody>
      </p:sp>
      <p:sp>
        <p:nvSpPr>
          <p:cNvPr id="18" name="Text 16"/>
          <p:cNvSpPr txBox="1"/>
          <p:nvPr/>
        </p:nvSpPr>
        <p:spPr>
          <a:xfrm>
            <a:off x="6080760" y="3749040"/>
            <a:ext cx="5440680" cy="64008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USP, advertising, sponsorship, social media; viral, social media &amp; emotional branding</a:t>
            </a:r>
            <a:endParaRPr lang="en-US" sz="1250" dirty="0"/>
          </a:p>
        </p:txBody>
      </p:sp>
      <p:sp>
        <p:nvSpPr>
          <p:cNvPr id="19" name="Shape 17"/>
          <p:cNvSpPr/>
          <p:nvPr/>
        </p:nvSpPr>
        <p:spPr>
          <a:xfrm>
            <a:off x="548640" y="4626864"/>
            <a:ext cx="11091672" cy="914400"/>
          </a:xfrm>
          <a:prstGeom prst="roundRect">
            <a:avLst>
              <a:gd name="adj" fmla="val 80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0" name="Shape 18"/>
          <p:cNvSpPr/>
          <p:nvPr/>
        </p:nvSpPr>
        <p:spPr>
          <a:xfrm>
            <a:off x="731520" y="4846320"/>
            <a:ext cx="493776" cy="493776"/>
          </a:xfrm>
          <a:prstGeom prst="roundRect">
            <a:avLst>
              <a:gd name="adj" fmla="val 18519"/>
            </a:avLst>
          </a:prstGeom>
          <a:solidFill>
            <a:srgbClr val="0E7C86"/>
          </a:solidFill>
          <a:ln/>
        </p:spPr>
      </p:sp>
      <p:sp>
        <p:nvSpPr>
          <p:cNvPr id="21" name="Text 19"/>
          <p:cNvSpPr txBox="1"/>
          <p:nvPr/>
        </p:nvSpPr>
        <p:spPr>
          <a:xfrm>
            <a:off x="731520" y="484632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D</a:t>
            </a:r>
            <a:endParaRPr lang="en-US" sz="2200" dirty="0"/>
          </a:p>
        </p:txBody>
      </p:sp>
      <p:sp>
        <p:nvSpPr>
          <p:cNvPr id="22" name="Text 20"/>
          <p:cNvSpPr txBox="1"/>
          <p:nvPr/>
        </p:nvSpPr>
        <p:spPr>
          <a:xfrm>
            <a:off x="1417320" y="4773168"/>
            <a:ext cx="4572000" cy="640080"/>
          </a:xfrm>
          <a:prstGeom prst="rect">
            <a:avLst/>
          </a:prstGeom>
          <a:noFill/>
          <a:ln/>
        </p:spPr>
        <p:txBody>
          <a:bodyPr wrap="square" lIns="0" tIns="0" rIns="0" bIns="0" rtlCol="0" anchor="ctr"/>
          <a:lstStyle/>
          <a:p>
            <a:pPr indent="0" marL="0">
              <a:buNone/>
            </a:pPr>
            <a:r>
              <a:rPr lang="en-US" sz="1500" b="1" dirty="0">
                <a:solidFill>
                  <a:srgbClr val="0E3A43"/>
                </a:solidFill>
                <a:latin typeface="Calibri" pitchFamily="34" charset="0"/>
                <a:ea typeface="Calibri" pitchFamily="34" charset="-122"/>
                <a:cs typeface="Calibri" pitchFamily="34" charset="-120"/>
              </a:rPr>
              <a:t>A-grade exam skills</a:t>
            </a:r>
            <a:endParaRPr lang="en-US" sz="1500" dirty="0"/>
          </a:p>
        </p:txBody>
      </p:sp>
      <p:sp>
        <p:nvSpPr>
          <p:cNvPr id="23" name="Text 21"/>
          <p:cNvSpPr txBox="1"/>
          <p:nvPr/>
        </p:nvSpPr>
        <p:spPr>
          <a:xfrm>
            <a:off x="6080760" y="4773168"/>
            <a:ext cx="5440680" cy="64008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The Mercedes and LEGO questions, with structure for 6, 10 and 20-mark answers</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WHERE IT FITS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Where promotion &amp; branding sit in the specification</a:t>
            </a:r>
            <a:endParaRPr lang="en-US" sz="2800" dirty="0"/>
          </a:p>
        </p:txBody>
      </p:sp>
      <p:sp>
        <p:nvSpPr>
          <p:cNvPr id="4" name="Shape 2"/>
          <p:cNvSpPr/>
          <p:nvPr/>
        </p:nvSpPr>
        <p:spPr>
          <a:xfrm>
            <a:off x="548640" y="1371600"/>
            <a:ext cx="6675120" cy="4800600"/>
          </a:xfrm>
          <a:prstGeom prst="roundRect">
            <a:avLst>
              <a:gd name="adj" fmla="val 1524"/>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6217920" cy="329184"/>
          </a:xfrm>
          <a:prstGeom prst="rect">
            <a:avLst/>
          </a:prstGeom>
          <a:noFill/>
          <a:ln/>
        </p:spPr>
        <p:txBody>
          <a:bodyPr wrap="square" lIns="0" tIns="0" rIns="0" bIns="0" rtlCol="0" anchor="ctr"/>
          <a:lstStyle/>
          <a:p>
            <a:pPr indent="0" marL="0">
              <a:buNone/>
            </a:pPr>
            <a:r>
              <a:rPr lang="en-US" sz="1350" b="1" dirty="0">
                <a:solidFill>
                  <a:srgbClr val="0E3A43"/>
                </a:solidFill>
                <a:latin typeface="Calibri" pitchFamily="34" charset="0"/>
                <a:ea typeface="Calibri" pitchFamily="34" charset="-122"/>
                <a:cs typeface="Calibri" pitchFamily="34" charset="-120"/>
              </a:rPr>
              <a:t>Topic 1.3.3  Marketing mix and strategy</a:t>
            </a:r>
            <a:endParaRPr lang="en-US" sz="1350" dirty="0"/>
          </a:p>
        </p:txBody>
      </p:sp>
      <p:sp>
        <p:nvSpPr>
          <p:cNvPr id="6" name="Shape 4"/>
          <p:cNvSpPr/>
          <p:nvPr/>
        </p:nvSpPr>
        <p:spPr>
          <a:xfrm>
            <a:off x="749808" y="1901952"/>
            <a:ext cx="6272784"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7" name="Shape 5"/>
          <p:cNvSpPr/>
          <p:nvPr/>
        </p:nvSpPr>
        <p:spPr>
          <a:xfrm>
            <a:off x="914400" y="2084832"/>
            <a:ext cx="457200" cy="457200"/>
          </a:xfrm>
          <a:prstGeom prst="roundRect">
            <a:avLst>
              <a:gd name="adj" fmla="val 20000"/>
            </a:avLst>
          </a:prstGeom>
          <a:solidFill>
            <a:srgbClr val="0E7C86"/>
          </a:solidFill>
          <a:ln/>
        </p:spPr>
      </p:sp>
      <p:sp>
        <p:nvSpPr>
          <p:cNvPr id="8" name="Text 6"/>
          <p:cNvSpPr txBox="1"/>
          <p:nvPr/>
        </p:nvSpPr>
        <p:spPr>
          <a:xfrm>
            <a:off x="914400" y="2084832"/>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a:t>
            </a:r>
            <a:endParaRPr lang="en-US" sz="1900" dirty="0"/>
          </a:p>
        </p:txBody>
      </p:sp>
      <p:sp>
        <p:nvSpPr>
          <p:cNvPr id="9" name="Text 7"/>
          <p:cNvSpPr txBox="1"/>
          <p:nvPr/>
        </p:nvSpPr>
        <p:spPr>
          <a:xfrm>
            <a:off x="1508760" y="2011680"/>
            <a:ext cx="5394960" cy="310896"/>
          </a:xfrm>
          <a:prstGeom prst="rect">
            <a:avLst/>
          </a:prstGeom>
          <a:noFill/>
          <a:ln/>
        </p:spPr>
        <p:txBody>
          <a:bodyPr wrap="square" lIns="0" tIns="0" rIns="0" bIns="0" rtlCol="0" anchor="ctr"/>
          <a:lstStyle/>
          <a:p>
            <a:pPr indent="0" marL="0">
              <a:buNone/>
            </a:pPr>
            <a:r>
              <a:rPr lang="en-US" sz="1300" b="1" dirty="0">
                <a:solidFill>
                  <a:srgbClr val="0E3A43"/>
                </a:solidFill>
                <a:latin typeface="Calibri" pitchFamily="34" charset="0"/>
                <a:ea typeface="Calibri" pitchFamily="34" charset="-122"/>
                <a:cs typeface="Calibri" pitchFamily="34" charset="-120"/>
              </a:rPr>
              <a:t>Marketing objectives &amp; strategy</a:t>
            </a:r>
            <a:endParaRPr lang="en-US" sz="1300" dirty="0"/>
          </a:p>
        </p:txBody>
      </p:sp>
      <p:sp>
        <p:nvSpPr>
          <p:cNvPr id="10" name="Text 8"/>
          <p:cNvSpPr txBox="1"/>
          <p:nvPr/>
        </p:nvSpPr>
        <p:spPr>
          <a:xfrm>
            <a:off x="1508760" y="2304288"/>
            <a:ext cx="5440680" cy="384048"/>
          </a:xfrm>
          <a:prstGeom prst="rect">
            <a:avLst/>
          </a:prstGeom>
          <a:noFill/>
          <a:ln/>
        </p:spPr>
        <p:txBody>
          <a:bodyPr wrap="square" lIns="0" tIns="0" rIns="0" bIns="0" rtlCol="0" anchor="t"/>
          <a:lstStyle/>
          <a:p>
            <a:pPr indent="0" marL="0">
              <a:buNone/>
            </a:pPr>
            <a:r>
              <a:rPr lang="en-US" sz="1050" dirty="0">
                <a:solidFill>
                  <a:srgbClr val="5B6B73"/>
                </a:solidFill>
                <a:latin typeface="Calibri" pitchFamily="34" charset="0"/>
                <a:ea typeface="Calibri" pitchFamily="34" charset="-122"/>
                <a:cs typeface="Calibri" pitchFamily="34" charset="-120"/>
              </a:rPr>
              <a:t>market share, PLC, Boston Matrix, marketing mix, market types, loyalty</a:t>
            </a:r>
            <a:endParaRPr lang="en-US" sz="1050" dirty="0"/>
          </a:p>
        </p:txBody>
      </p:sp>
      <p:sp>
        <p:nvSpPr>
          <p:cNvPr id="11" name="Shape 9"/>
          <p:cNvSpPr/>
          <p:nvPr/>
        </p:nvSpPr>
        <p:spPr>
          <a:xfrm>
            <a:off x="749808" y="2761488"/>
            <a:ext cx="6272784"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12" name="Shape 10"/>
          <p:cNvSpPr/>
          <p:nvPr/>
        </p:nvSpPr>
        <p:spPr>
          <a:xfrm>
            <a:off x="914400" y="2944368"/>
            <a:ext cx="457200" cy="457200"/>
          </a:xfrm>
          <a:prstGeom prst="roundRect">
            <a:avLst>
              <a:gd name="adj" fmla="val 20000"/>
            </a:avLst>
          </a:prstGeom>
          <a:solidFill>
            <a:srgbClr val="0E7C86"/>
          </a:solidFill>
          <a:ln/>
        </p:spPr>
      </p:sp>
      <p:sp>
        <p:nvSpPr>
          <p:cNvPr id="13" name="Text 11"/>
          <p:cNvSpPr txBox="1"/>
          <p:nvPr/>
        </p:nvSpPr>
        <p:spPr>
          <a:xfrm>
            <a:off x="914400" y="2944368"/>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2</a:t>
            </a:r>
            <a:endParaRPr lang="en-US" sz="1900" dirty="0"/>
          </a:p>
        </p:txBody>
      </p:sp>
      <p:sp>
        <p:nvSpPr>
          <p:cNvPr id="14" name="Text 12"/>
          <p:cNvSpPr txBox="1"/>
          <p:nvPr/>
        </p:nvSpPr>
        <p:spPr>
          <a:xfrm>
            <a:off x="1508760" y="2871216"/>
            <a:ext cx="5394960" cy="310896"/>
          </a:xfrm>
          <a:prstGeom prst="rect">
            <a:avLst/>
          </a:prstGeom>
          <a:noFill/>
          <a:ln/>
        </p:spPr>
        <p:txBody>
          <a:bodyPr wrap="square" lIns="0" tIns="0" rIns="0" bIns="0" rtlCol="0" anchor="ctr"/>
          <a:lstStyle/>
          <a:p>
            <a:pPr indent="0" marL="0">
              <a:buNone/>
            </a:pPr>
            <a:r>
              <a:rPr lang="en-US" sz="1300" b="1" dirty="0">
                <a:solidFill>
                  <a:srgbClr val="0E3A43"/>
                </a:solidFill>
                <a:latin typeface="Calibri" pitchFamily="34" charset="0"/>
                <a:ea typeface="Calibri" pitchFamily="34" charset="-122"/>
                <a:cs typeface="Calibri" pitchFamily="34" charset="-120"/>
              </a:rPr>
              <a:t>Product / service design</a:t>
            </a:r>
            <a:endParaRPr lang="en-US" sz="1300" dirty="0"/>
          </a:p>
        </p:txBody>
      </p:sp>
      <p:sp>
        <p:nvSpPr>
          <p:cNvPr id="15" name="Text 13"/>
          <p:cNvSpPr txBox="1"/>
          <p:nvPr/>
        </p:nvSpPr>
        <p:spPr>
          <a:xfrm>
            <a:off x="1508760" y="3163824"/>
            <a:ext cx="5440680" cy="384048"/>
          </a:xfrm>
          <a:prstGeom prst="rect">
            <a:avLst/>
          </a:prstGeom>
          <a:noFill/>
          <a:ln/>
        </p:spPr>
        <p:txBody>
          <a:bodyPr wrap="square" lIns="0" tIns="0" rIns="0" bIns="0" rtlCol="0" anchor="t"/>
          <a:lstStyle/>
          <a:p>
            <a:pPr indent="0" marL="0">
              <a:buNone/>
            </a:pPr>
            <a:r>
              <a:rPr lang="en-US" sz="1050" dirty="0">
                <a:solidFill>
                  <a:srgbClr val="5B6B73"/>
                </a:solidFill>
                <a:latin typeface="Calibri" pitchFamily="34" charset="0"/>
                <a:ea typeface="Calibri" pitchFamily="34" charset="-122"/>
                <a:cs typeface="Calibri" pitchFamily="34" charset="-120"/>
              </a:rPr>
              <a:t>the design mix: function, aesthetics, cost; social trends</a:t>
            </a:r>
            <a:endParaRPr lang="en-US" sz="1050" dirty="0"/>
          </a:p>
        </p:txBody>
      </p:sp>
      <p:sp>
        <p:nvSpPr>
          <p:cNvPr id="16" name="Shape 14"/>
          <p:cNvSpPr/>
          <p:nvPr/>
        </p:nvSpPr>
        <p:spPr>
          <a:xfrm>
            <a:off x="749808" y="3621024"/>
            <a:ext cx="6272784" cy="841248"/>
          </a:xfrm>
          <a:prstGeom prst="roundRect">
            <a:avLst>
              <a:gd name="adj" fmla="val 8696"/>
            </a:avLst>
          </a:prstGeom>
          <a:solidFill>
            <a:srgbClr val="FBF0D8"/>
          </a:solidFill>
          <a:ln/>
          <a:effectLst>
            <a:outerShdw sx="100000" sy="100000" kx="0" ky="0" algn="bl" rotWithShape="0" blurRad="76200" dist="25400" dir="5400000">
              <a:srgbClr val="9AAAB0">
                <a:alpha val="28000"/>
              </a:srgbClr>
            </a:outerShdw>
          </a:effectLst>
        </p:spPr>
      </p:sp>
      <p:sp>
        <p:nvSpPr>
          <p:cNvPr id="17" name="Shape 15"/>
          <p:cNvSpPr/>
          <p:nvPr/>
        </p:nvSpPr>
        <p:spPr>
          <a:xfrm>
            <a:off x="749808" y="3621024"/>
            <a:ext cx="91440" cy="841248"/>
          </a:xfrm>
          <a:prstGeom prst="roundRect">
            <a:avLst/>
          </a:prstGeom>
          <a:solidFill>
            <a:srgbClr val="E0940F"/>
          </a:solidFill>
          <a:ln/>
        </p:spPr>
      </p:sp>
      <p:sp>
        <p:nvSpPr>
          <p:cNvPr id="18" name="Shape 16"/>
          <p:cNvSpPr/>
          <p:nvPr/>
        </p:nvSpPr>
        <p:spPr>
          <a:xfrm>
            <a:off x="914400" y="3803904"/>
            <a:ext cx="457200" cy="457200"/>
          </a:xfrm>
          <a:prstGeom prst="roundRect">
            <a:avLst>
              <a:gd name="adj" fmla="val 20000"/>
            </a:avLst>
          </a:prstGeom>
          <a:solidFill>
            <a:srgbClr val="E0940F"/>
          </a:solidFill>
          <a:ln/>
        </p:spPr>
      </p:sp>
      <p:sp>
        <p:nvSpPr>
          <p:cNvPr id="19" name="Text 17"/>
          <p:cNvSpPr txBox="1"/>
          <p:nvPr/>
        </p:nvSpPr>
        <p:spPr>
          <a:xfrm>
            <a:off x="914400" y="3803904"/>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3</a:t>
            </a:r>
            <a:endParaRPr lang="en-US" sz="1900" dirty="0"/>
          </a:p>
        </p:txBody>
      </p:sp>
      <p:sp>
        <p:nvSpPr>
          <p:cNvPr id="20" name="Text 18"/>
          <p:cNvSpPr txBox="1"/>
          <p:nvPr/>
        </p:nvSpPr>
        <p:spPr>
          <a:xfrm>
            <a:off x="1508760" y="3730752"/>
            <a:ext cx="5394960" cy="310896"/>
          </a:xfrm>
          <a:prstGeom prst="rect">
            <a:avLst/>
          </a:prstGeom>
          <a:noFill/>
          <a:ln/>
        </p:spPr>
        <p:txBody>
          <a:bodyPr wrap="square" lIns="0" tIns="0" rIns="0" bIns="0" rtlCol="0" anchor="ctr"/>
          <a:lstStyle/>
          <a:p>
            <a:pPr indent="0" marL="0">
              <a:buNone/>
            </a:pPr>
            <a:r>
              <a:rPr lang="en-US" sz="1300" b="1" dirty="0">
                <a:solidFill>
                  <a:srgbClr val="0E3A43"/>
                </a:solidFill>
                <a:latin typeface="Calibri" pitchFamily="34" charset="0"/>
                <a:ea typeface="Calibri" pitchFamily="34" charset="-122"/>
                <a:cs typeface="Calibri" pitchFamily="34" charset="-120"/>
              </a:rPr>
              <a:t>Promotion &amp; branding   ← this lesson</a:t>
            </a:r>
            <a:endParaRPr lang="en-US" sz="1300" dirty="0"/>
          </a:p>
        </p:txBody>
      </p:sp>
      <p:sp>
        <p:nvSpPr>
          <p:cNvPr id="21" name="Text 19"/>
          <p:cNvSpPr txBox="1"/>
          <p:nvPr/>
        </p:nvSpPr>
        <p:spPr>
          <a:xfrm>
            <a:off x="1508760" y="4023360"/>
            <a:ext cx="5440680" cy="384048"/>
          </a:xfrm>
          <a:prstGeom prst="rect">
            <a:avLst/>
          </a:prstGeom>
          <a:noFill/>
          <a:ln/>
        </p:spPr>
        <p:txBody>
          <a:bodyPr wrap="square" lIns="0" tIns="0" rIns="0" bIns="0" rtlCol="0" anchor="t"/>
          <a:lstStyle/>
          <a:p>
            <a:pPr indent="0" marL="0">
              <a:buNone/>
            </a:pPr>
            <a:r>
              <a:rPr lang="en-US" sz="1050" dirty="0">
                <a:solidFill>
                  <a:srgbClr val="5B6B73"/>
                </a:solidFill>
                <a:latin typeface="Calibri" pitchFamily="34" charset="0"/>
                <a:ea typeface="Calibri" pitchFamily="34" charset="-122"/>
                <a:cs typeface="Calibri" pitchFamily="34" charset="-120"/>
              </a:rPr>
              <a:t>types of promotion &amp; branding; benefits of branding; building a brand; social trends</a:t>
            </a:r>
            <a:endParaRPr lang="en-US" sz="1050" dirty="0"/>
          </a:p>
        </p:txBody>
      </p:sp>
      <p:sp>
        <p:nvSpPr>
          <p:cNvPr id="22" name="Shape 20"/>
          <p:cNvSpPr/>
          <p:nvPr/>
        </p:nvSpPr>
        <p:spPr>
          <a:xfrm>
            <a:off x="749808" y="4480560"/>
            <a:ext cx="6272784"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23" name="Shape 21"/>
          <p:cNvSpPr/>
          <p:nvPr/>
        </p:nvSpPr>
        <p:spPr>
          <a:xfrm>
            <a:off x="914400" y="4663440"/>
            <a:ext cx="457200" cy="457200"/>
          </a:xfrm>
          <a:prstGeom prst="roundRect">
            <a:avLst>
              <a:gd name="adj" fmla="val 20000"/>
            </a:avLst>
          </a:prstGeom>
          <a:solidFill>
            <a:srgbClr val="0E7C86"/>
          </a:solidFill>
          <a:ln/>
        </p:spPr>
      </p:sp>
      <p:sp>
        <p:nvSpPr>
          <p:cNvPr id="24" name="Text 22"/>
          <p:cNvSpPr txBox="1"/>
          <p:nvPr/>
        </p:nvSpPr>
        <p:spPr>
          <a:xfrm>
            <a:off x="914400" y="466344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4</a:t>
            </a:r>
            <a:endParaRPr lang="en-US" sz="1900" dirty="0"/>
          </a:p>
        </p:txBody>
      </p:sp>
      <p:sp>
        <p:nvSpPr>
          <p:cNvPr id="25" name="Text 23"/>
          <p:cNvSpPr txBox="1"/>
          <p:nvPr/>
        </p:nvSpPr>
        <p:spPr>
          <a:xfrm>
            <a:off x="1508760" y="4590288"/>
            <a:ext cx="5394960" cy="310896"/>
          </a:xfrm>
          <a:prstGeom prst="rect">
            <a:avLst/>
          </a:prstGeom>
          <a:noFill/>
          <a:ln/>
        </p:spPr>
        <p:txBody>
          <a:bodyPr wrap="square" lIns="0" tIns="0" rIns="0" bIns="0" rtlCol="0" anchor="ctr"/>
          <a:lstStyle/>
          <a:p>
            <a:pPr indent="0" marL="0">
              <a:buNone/>
            </a:pPr>
            <a:r>
              <a:rPr lang="en-US" sz="1300" b="1" dirty="0">
                <a:solidFill>
                  <a:srgbClr val="0E3A43"/>
                </a:solidFill>
                <a:latin typeface="Calibri" pitchFamily="34" charset="0"/>
                <a:ea typeface="Calibri" pitchFamily="34" charset="-122"/>
                <a:cs typeface="Calibri" pitchFamily="34" charset="-120"/>
              </a:rPr>
              <a:t>Pricing strategies</a:t>
            </a:r>
            <a:endParaRPr lang="en-US" sz="1300" dirty="0"/>
          </a:p>
        </p:txBody>
      </p:sp>
      <p:sp>
        <p:nvSpPr>
          <p:cNvPr id="26" name="Text 24"/>
          <p:cNvSpPr txBox="1"/>
          <p:nvPr/>
        </p:nvSpPr>
        <p:spPr>
          <a:xfrm>
            <a:off x="1508760" y="4882896"/>
            <a:ext cx="5440680" cy="384048"/>
          </a:xfrm>
          <a:prstGeom prst="rect">
            <a:avLst/>
          </a:prstGeom>
          <a:noFill/>
          <a:ln/>
        </p:spPr>
        <p:txBody>
          <a:bodyPr wrap="square" lIns="0" tIns="0" rIns="0" bIns="0" rtlCol="0" anchor="t"/>
          <a:lstStyle/>
          <a:p>
            <a:pPr indent="0" marL="0">
              <a:buNone/>
            </a:pPr>
            <a:r>
              <a:rPr lang="en-US" sz="1050" dirty="0">
                <a:solidFill>
                  <a:srgbClr val="5B6B73"/>
                </a:solidFill>
                <a:latin typeface="Calibri" pitchFamily="34" charset="0"/>
                <a:ea typeface="Calibri" pitchFamily="34" charset="-122"/>
                <a:cs typeface="Calibri" pitchFamily="34" charset="-120"/>
              </a:rPr>
              <a:t>cost-plus, skimming, penetration, competitive…</a:t>
            </a:r>
            <a:endParaRPr lang="en-US" sz="1050" dirty="0"/>
          </a:p>
        </p:txBody>
      </p:sp>
      <p:sp>
        <p:nvSpPr>
          <p:cNvPr id="27" name="Shape 25"/>
          <p:cNvSpPr/>
          <p:nvPr/>
        </p:nvSpPr>
        <p:spPr>
          <a:xfrm>
            <a:off x="749808" y="5340096"/>
            <a:ext cx="6272784"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28" name="Shape 26"/>
          <p:cNvSpPr/>
          <p:nvPr/>
        </p:nvSpPr>
        <p:spPr>
          <a:xfrm>
            <a:off x="914400" y="5522976"/>
            <a:ext cx="457200" cy="457200"/>
          </a:xfrm>
          <a:prstGeom prst="roundRect">
            <a:avLst>
              <a:gd name="adj" fmla="val 20000"/>
            </a:avLst>
          </a:prstGeom>
          <a:solidFill>
            <a:srgbClr val="0E7C86"/>
          </a:solidFill>
          <a:ln/>
        </p:spPr>
      </p:sp>
      <p:sp>
        <p:nvSpPr>
          <p:cNvPr id="29" name="Text 27"/>
          <p:cNvSpPr txBox="1"/>
          <p:nvPr/>
        </p:nvSpPr>
        <p:spPr>
          <a:xfrm>
            <a:off x="914400" y="552297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5</a:t>
            </a:r>
            <a:endParaRPr lang="en-US" sz="1900" dirty="0"/>
          </a:p>
        </p:txBody>
      </p:sp>
      <p:sp>
        <p:nvSpPr>
          <p:cNvPr id="30" name="Text 28"/>
          <p:cNvSpPr txBox="1"/>
          <p:nvPr/>
        </p:nvSpPr>
        <p:spPr>
          <a:xfrm>
            <a:off x="1508760" y="5449824"/>
            <a:ext cx="5394960" cy="310896"/>
          </a:xfrm>
          <a:prstGeom prst="rect">
            <a:avLst/>
          </a:prstGeom>
          <a:noFill/>
          <a:ln/>
        </p:spPr>
        <p:txBody>
          <a:bodyPr wrap="square" lIns="0" tIns="0" rIns="0" bIns="0" rtlCol="0" anchor="ctr"/>
          <a:lstStyle/>
          <a:p>
            <a:pPr indent="0" marL="0">
              <a:buNone/>
            </a:pPr>
            <a:r>
              <a:rPr lang="en-US" sz="1300" b="1" dirty="0">
                <a:solidFill>
                  <a:srgbClr val="0E3A43"/>
                </a:solidFill>
                <a:latin typeface="Calibri" pitchFamily="34" charset="0"/>
                <a:ea typeface="Calibri" pitchFamily="34" charset="-122"/>
                <a:cs typeface="Calibri" pitchFamily="34" charset="-120"/>
              </a:rPr>
              <a:t>Distribution</a:t>
            </a:r>
            <a:endParaRPr lang="en-US" sz="1300" dirty="0"/>
          </a:p>
        </p:txBody>
      </p:sp>
      <p:sp>
        <p:nvSpPr>
          <p:cNvPr id="31" name="Text 29"/>
          <p:cNvSpPr txBox="1"/>
          <p:nvPr/>
        </p:nvSpPr>
        <p:spPr>
          <a:xfrm>
            <a:off x="1508760" y="5742432"/>
            <a:ext cx="5440680" cy="384048"/>
          </a:xfrm>
          <a:prstGeom prst="rect">
            <a:avLst/>
          </a:prstGeom>
          <a:noFill/>
          <a:ln/>
        </p:spPr>
        <p:txBody>
          <a:bodyPr wrap="square" lIns="0" tIns="0" rIns="0" bIns="0" rtlCol="0" anchor="t"/>
          <a:lstStyle/>
          <a:p>
            <a:pPr indent="0" marL="0">
              <a:buNone/>
            </a:pPr>
            <a:r>
              <a:rPr lang="en-US" sz="1050" dirty="0">
                <a:solidFill>
                  <a:srgbClr val="5B6B73"/>
                </a:solidFill>
                <a:latin typeface="Calibri" pitchFamily="34" charset="0"/>
                <a:ea typeface="Calibri" pitchFamily="34" charset="-122"/>
                <a:cs typeface="Calibri" pitchFamily="34" charset="-120"/>
              </a:rPr>
              <a:t>channels from producer to consumer</a:t>
            </a:r>
            <a:endParaRPr lang="en-US" sz="1050" dirty="0"/>
          </a:p>
        </p:txBody>
      </p:sp>
      <p:sp>
        <p:nvSpPr>
          <p:cNvPr id="32" name="Shape 30"/>
          <p:cNvSpPr/>
          <p:nvPr/>
        </p:nvSpPr>
        <p:spPr>
          <a:xfrm>
            <a:off x="7360920" y="1371600"/>
            <a:ext cx="4279392" cy="4800600"/>
          </a:xfrm>
          <a:prstGeom prst="roundRect">
            <a:avLst>
              <a:gd name="adj" fmla="val 1709"/>
            </a:avLst>
          </a:prstGeom>
          <a:solidFill>
            <a:srgbClr val="EAF3F4"/>
          </a:solidFill>
          <a:ln/>
          <a:effectLst>
            <a:outerShdw sx="100000" sy="100000" kx="0" ky="0" algn="bl" rotWithShape="0" blurRad="76200" dist="25400" dir="5400000">
              <a:srgbClr val="9AAAB0">
                <a:alpha val="28000"/>
              </a:srgbClr>
            </a:outerShdw>
          </a:effectLst>
        </p:spPr>
      </p:sp>
      <p:sp>
        <p:nvSpPr>
          <p:cNvPr id="33" name="Text 31"/>
          <p:cNvSpPr txBox="1"/>
          <p:nvPr/>
        </p:nvSpPr>
        <p:spPr>
          <a:xfrm>
            <a:off x="7571232" y="1508760"/>
            <a:ext cx="3840480" cy="365760"/>
          </a:xfrm>
          <a:prstGeom prst="rect">
            <a:avLst/>
          </a:prstGeom>
          <a:noFill/>
          <a:ln/>
        </p:spPr>
        <p:txBody>
          <a:bodyPr wrap="square" lIns="0" tIns="0" rIns="0" bIns="0" rtlCol="0" anchor="ctr"/>
          <a:lstStyle/>
          <a:p>
            <a:pPr indent="0" marL="0">
              <a:buNone/>
            </a:pPr>
            <a:r>
              <a:rPr lang="en-US" sz="1400" b="1" dirty="0">
                <a:solidFill>
                  <a:srgbClr val="0B5E66"/>
                </a:solidFill>
                <a:latin typeface="Calibri" pitchFamily="34" charset="0"/>
                <a:ea typeface="Calibri" pitchFamily="34" charset="-122"/>
                <a:cs typeface="Calibri" pitchFamily="34" charset="-120"/>
              </a:rPr>
              <a:t>How it links across the course</a:t>
            </a:r>
            <a:endParaRPr lang="en-US" sz="1400" dirty="0"/>
          </a:p>
        </p:txBody>
      </p:sp>
      <p:sp>
        <p:nvSpPr>
          <p:cNvPr id="34" name="Text 32"/>
          <p:cNvSpPr txBox="1"/>
          <p:nvPr/>
        </p:nvSpPr>
        <p:spPr>
          <a:xfrm>
            <a:off x="7571232" y="1965960"/>
            <a:ext cx="3886200" cy="40233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Promotion is the ‘Promotion’ element of the marketing mix (point 1d)</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Branding builds on the design mix — USP &amp; differentiation (point 2)</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Strong branding reduces PED, linking to pricing strategy (point 4)</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Branding drives customer loyalty (point 1f)</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Promotion changes across the product life cycle (point 1b)</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A</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A</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300" b="1" dirty="0">
                <a:solidFill>
                  <a:srgbClr val="FFFFFF"/>
                </a:solidFill>
                <a:latin typeface="Cambria" pitchFamily="34" charset="0"/>
                <a:ea typeface="Cambria" pitchFamily="34" charset="-122"/>
                <a:cs typeface="Cambria" pitchFamily="34" charset="-120"/>
              </a:rPr>
              <a:t>Types of promotion</a:t>
            </a:r>
            <a:endParaRPr lang="en-US" sz="33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what promotion is  ·  above- vs below-the-line  ·  advertising, sales promotion, PR &amp; personal selling  ·  choosing the right method</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TYPES OF PROMOTION</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Promotion: above vs below the line</a:t>
            </a:r>
            <a:endParaRPr lang="en-US" sz="2800" dirty="0"/>
          </a:p>
        </p:txBody>
      </p:sp>
      <p:sp>
        <p:nvSpPr>
          <p:cNvPr id="4" name="Shape 2"/>
          <p:cNvSpPr/>
          <p:nvPr/>
        </p:nvSpPr>
        <p:spPr>
          <a:xfrm>
            <a:off x="548640" y="1371600"/>
            <a:ext cx="11091672" cy="749808"/>
          </a:xfrm>
          <a:prstGeom prst="roundRect">
            <a:avLst>
              <a:gd name="adj" fmla="val 9756"/>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10698480" cy="548640"/>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Promotion =  </a:t>
            </a:r>
            <a:pPr indent="0" marL="0">
              <a:buNone/>
            </a:pPr>
            <a:r>
              <a:rPr lang="en-US" sz="1300" dirty="0">
                <a:solidFill>
                  <a:srgbClr val="1F2A33"/>
                </a:solidFill>
                <a:latin typeface="Calibri" pitchFamily="34" charset="0"/>
                <a:ea typeface="Calibri" pitchFamily="34" charset="-122"/>
                <a:cs typeface="Calibri" pitchFamily="34" charset="-120"/>
              </a:rPr>
              <a:t>the use of marketing tools to bring a product to the attention of potential buyers. It splits into two families by how targeted and controlled it is.</a:t>
            </a:r>
            <a:endParaRPr lang="en-US" sz="1300" dirty="0"/>
          </a:p>
        </p:txBody>
      </p:sp>
      <p:sp>
        <p:nvSpPr>
          <p:cNvPr id="6" name="Shape 4"/>
          <p:cNvSpPr/>
          <p:nvPr/>
        </p:nvSpPr>
        <p:spPr>
          <a:xfrm>
            <a:off x="548640" y="2286000"/>
            <a:ext cx="5440680" cy="3886200"/>
          </a:xfrm>
          <a:prstGeom prst="roundRect">
            <a:avLst>
              <a:gd name="adj" fmla="val 1882"/>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7" name="Shape 5"/>
          <p:cNvSpPr/>
          <p:nvPr/>
        </p:nvSpPr>
        <p:spPr>
          <a:xfrm>
            <a:off x="777240" y="2450592"/>
            <a:ext cx="3108960" cy="310896"/>
          </a:xfrm>
          <a:prstGeom prst="roundRect">
            <a:avLst>
              <a:gd name="adj" fmla="val 50000"/>
            </a:avLst>
          </a:prstGeom>
          <a:solidFill>
            <a:srgbClr val="0E7C86"/>
          </a:solidFill>
          <a:ln/>
        </p:spPr>
      </p:sp>
      <p:sp>
        <p:nvSpPr>
          <p:cNvPr id="8" name="Text 6"/>
          <p:cNvSpPr txBox="1"/>
          <p:nvPr/>
        </p:nvSpPr>
        <p:spPr>
          <a:xfrm>
            <a:off x="777240" y="2450592"/>
            <a:ext cx="31089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ABOVE THE LINE (ATL)</a:t>
            </a:r>
            <a:endParaRPr lang="en-US" sz="1050" dirty="0"/>
          </a:p>
        </p:txBody>
      </p:sp>
      <p:sp>
        <p:nvSpPr>
          <p:cNvPr id="9" name="Text 7"/>
          <p:cNvSpPr txBox="1"/>
          <p:nvPr/>
        </p:nvSpPr>
        <p:spPr>
          <a:xfrm>
            <a:off x="777240" y="2880360"/>
            <a:ext cx="4983480" cy="54864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Paid ads in independent mass media — TV, press, radio, cinema, billboards, online display.</a:t>
            </a:r>
            <a:endParaRPr lang="en-US" sz="1250" dirty="0"/>
          </a:p>
        </p:txBody>
      </p:sp>
      <p:sp>
        <p:nvSpPr>
          <p:cNvPr id="10" name="Text 8"/>
          <p:cNvSpPr txBox="1"/>
          <p:nvPr/>
        </p:nvSpPr>
        <p:spPr>
          <a:xfrm>
            <a:off x="777240" y="3429000"/>
            <a:ext cx="4983480" cy="1463040"/>
          </a:xfrm>
          <a:prstGeom prst="rect">
            <a:avLst/>
          </a:prstGeom>
          <a:noFill/>
          <a:ln/>
        </p:spPr>
        <p:txBody>
          <a:bodyPr wrap="square" lIns="0" tIns="0" rIns="0" bIns="0" rtlCol="0" anchor="t"/>
          <a:lstStyle/>
          <a:p>
            <a:pPr indent="0" marL="0">
              <a:spcAft>
                <a:spcPts val="600"/>
              </a:spcAft>
              <a:buNone/>
            </a:pPr>
            <a:r>
              <a:rPr lang="en-US" sz="1250" b="1" dirty="0">
                <a:solidFill>
                  <a:srgbClr val="2F8A5B"/>
                </a:solidFill>
                <a:latin typeface="Calibri" pitchFamily="34" charset="0"/>
                <a:ea typeface="Calibri" pitchFamily="34" charset="-122"/>
                <a:cs typeface="Calibri" pitchFamily="34" charset="-120"/>
              </a:rPr>
              <a:t>Good for:  </a:t>
            </a:r>
            <a:pPr indent="0" marL="0">
              <a:spcAft>
                <a:spcPts val="600"/>
              </a:spcAft>
              <a:buNone/>
            </a:pPr>
            <a:r>
              <a:rPr lang="en-US" sz="1250" dirty="0">
                <a:solidFill>
                  <a:srgbClr val="1F2A33"/>
                </a:solidFill>
                <a:latin typeface="Calibri" pitchFamily="34" charset="0"/>
                <a:ea typeface="Calibri" pitchFamily="34" charset="-122"/>
                <a:cs typeface="Calibri" pitchFamily="34" charset="-120"/>
              </a:rPr>
              <a:t>mass reach, awareness, brand positioning.
</a:t>
            </a:r>
            <a:pPr indent="0" marL="0">
              <a:spcAft>
                <a:spcPts val="600"/>
              </a:spcAft>
              <a:buNone/>
            </a:pPr>
            <a:r>
              <a:rPr lang="en-US" sz="1250" b="1" dirty="0">
                <a:solidFill>
                  <a:srgbClr val="C14B37"/>
                </a:solidFill>
                <a:latin typeface="Calibri" pitchFamily="34" charset="0"/>
                <a:ea typeface="Calibri" pitchFamily="34" charset="-122"/>
                <a:cs typeface="Calibri" pitchFamily="34" charset="-120"/>
              </a:rPr>
              <a:t>Watch out:  </a:t>
            </a:r>
            <a:pPr indent="0" marL="0">
              <a:spcAft>
                <a:spcPts val="600"/>
              </a:spcAft>
              <a:buNone/>
            </a:pPr>
            <a:r>
              <a:rPr lang="en-US" sz="1250" dirty="0">
                <a:solidFill>
                  <a:srgbClr val="1F2A33"/>
                </a:solidFill>
                <a:latin typeface="Calibri" pitchFamily="34" charset="0"/>
                <a:ea typeface="Calibri" pitchFamily="34" charset="-122"/>
                <a:cs typeface="Calibri" pitchFamily="34" charset="-120"/>
              </a:rPr>
              <a:t>expensive, less targeted, hard to measure, seen by non-customers.</a:t>
            </a:r>
            <a:endParaRPr lang="en-US" sz="1250" dirty="0"/>
          </a:p>
        </p:txBody>
      </p:sp>
      <p:sp>
        <p:nvSpPr>
          <p:cNvPr id="11" name="Text 9"/>
          <p:cNvSpPr txBox="1"/>
          <p:nvPr/>
        </p:nvSpPr>
        <p:spPr>
          <a:xfrm>
            <a:off x="777240" y="5029200"/>
            <a:ext cx="4983480" cy="1005840"/>
          </a:xfrm>
          <a:prstGeom prst="rect">
            <a:avLst/>
          </a:prstGeom>
          <a:noFill/>
          <a:ln/>
        </p:spPr>
        <p:txBody>
          <a:bodyPr wrap="square" lIns="0" tIns="0" rIns="0" bIns="0" rtlCol="0" anchor="t"/>
          <a:lstStyle/>
          <a:p>
            <a:pPr indent="0" marL="0">
              <a:buNone/>
            </a:pPr>
            <a:r>
              <a:rPr lang="en-US" sz="1150" b="1" dirty="0">
                <a:solidFill>
                  <a:srgbClr val="5B6B73"/>
                </a:solidFill>
                <a:latin typeface="Calibri" pitchFamily="34" charset="0"/>
                <a:ea typeface="Calibri" pitchFamily="34" charset="-122"/>
                <a:cs typeface="Calibri" pitchFamily="34" charset="-120"/>
              </a:rPr>
              <a:t>e.g.  </a:t>
            </a:r>
            <a:pPr indent="0" marL="0">
              <a:buNone/>
            </a:pPr>
            <a:r>
              <a:rPr lang="en-US" sz="1150" i="1" dirty="0">
                <a:solidFill>
                  <a:srgbClr val="5B6B73"/>
                </a:solidFill>
                <a:latin typeface="Calibri" pitchFamily="34" charset="0"/>
                <a:ea typeface="Calibri" pitchFamily="34" charset="-122"/>
                <a:cs typeface="Calibri" pitchFamily="34" charset="-120"/>
              </a:rPr>
              <a:t>a national TV ad campaign; a prime-time slot can cost ~£17,000 each time it airs.</a:t>
            </a:r>
            <a:endParaRPr lang="en-US" sz="1150" dirty="0"/>
          </a:p>
        </p:txBody>
      </p:sp>
      <p:sp>
        <p:nvSpPr>
          <p:cNvPr id="12" name="Shape 10"/>
          <p:cNvSpPr/>
          <p:nvPr/>
        </p:nvSpPr>
        <p:spPr>
          <a:xfrm>
            <a:off x="6199632" y="2286000"/>
            <a:ext cx="5440680" cy="3886200"/>
          </a:xfrm>
          <a:prstGeom prst="roundRect">
            <a:avLst>
              <a:gd name="adj" fmla="val 1882"/>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3" name="Shape 11"/>
          <p:cNvSpPr/>
          <p:nvPr/>
        </p:nvSpPr>
        <p:spPr>
          <a:xfrm>
            <a:off x="6428232" y="2450592"/>
            <a:ext cx="3108960" cy="310896"/>
          </a:xfrm>
          <a:prstGeom prst="roundRect">
            <a:avLst>
              <a:gd name="adj" fmla="val 50000"/>
            </a:avLst>
          </a:prstGeom>
          <a:solidFill>
            <a:srgbClr val="E0940F"/>
          </a:solidFill>
          <a:ln/>
        </p:spPr>
      </p:sp>
      <p:sp>
        <p:nvSpPr>
          <p:cNvPr id="14" name="Text 12"/>
          <p:cNvSpPr txBox="1"/>
          <p:nvPr/>
        </p:nvSpPr>
        <p:spPr>
          <a:xfrm>
            <a:off x="6428232" y="2450592"/>
            <a:ext cx="31089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BELOW THE LINE (BTL)</a:t>
            </a:r>
            <a:endParaRPr lang="en-US" sz="1050" dirty="0"/>
          </a:p>
        </p:txBody>
      </p:sp>
      <p:sp>
        <p:nvSpPr>
          <p:cNvPr id="15" name="Text 13"/>
          <p:cNvSpPr txBox="1"/>
          <p:nvPr/>
        </p:nvSpPr>
        <p:spPr>
          <a:xfrm>
            <a:off x="6428232" y="2880360"/>
            <a:ext cx="4983480" cy="54864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Targeted promotion the business controls directly — sales promotion, PR, personal selling, direct &amp; digital, sponsorship.</a:t>
            </a:r>
            <a:endParaRPr lang="en-US" sz="1250" dirty="0"/>
          </a:p>
        </p:txBody>
      </p:sp>
      <p:sp>
        <p:nvSpPr>
          <p:cNvPr id="16" name="Text 14"/>
          <p:cNvSpPr txBox="1"/>
          <p:nvPr/>
        </p:nvSpPr>
        <p:spPr>
          <a:xfrm>
            <a:off x="6428232" y="3429000"/>
            <a:ext cx="4983480" cy="1463040"/>
          </a:xfrm>
          <a:prstGeom prst="rect">
            <a:avLst/>
          </a:prstGeom>
          <a:noFill/>
          <a:ln/>
        </p:spPr>
        <p:txBody>
          <a:bodyPr wrap="square" lIns="0" tIns="0" rIns="0" bIns="0" rtlCol="0" anchor="t"/>
          <a:lstStyle/>
          <a:p>
            <a:pPr indent="0" marL="0">
              <a:spcAft>
                <a:spcPts val="600"/>
              </a:spcAft>
              <a:buNone/>
            </a:pPr>
            <a:r>
              <a:rPr lang="en-US" sz="1250" b="1" dirty="0">
                <a:solidFill>
                  <a:srgbClr val="2F8A5B"/>
                </a:solidFill>
                <a:latin typeface="Calibri" pitchFamily="34" charset="0"/>
                <a:ea typeface="Calibri" pitchFamily="34" charset="-122"/>
                <a:cs typeface="Calibri" pitchFamily="34" charset="-120"/>
              </a:rPr>
              <a:t>Good for:  </a:t>
            </a:r>
            <a:pPr indent="0" marL="0">
              <a:spcAft>
                <a:spcPts val="600"/>
              </a:spcAft>
              <a:buNone/>
            </a:pPr>
            <a:r>
              <a:rPr lang="en-US" sz="1250" dirty="0">
                <a:solidFill>
                  <a:srgbClr val="1F2A33"/>
                </a:solidFill>
                <a:latin typeface="Calibri" pitchFamily="34" charset="0"/>
                <a:ea typeface="Calibri" pitchFamily="34" charset="-122"/>
                <a:cs typeface="Calibri" pitchFamily="34" charset="-120"/>
              </a:rPr>
              <a:t>targeting, lower cost, control, measurability.
</a:t>
            </a:r>
            <a:pPr indent="0" marL="0">
              <a:spcAft>
                <a:spcPts val="600"/>
              </a:spcAft>
              <a:buNone/>
            </a:pPr>
            <a:r>
              <a:rPr lang="en-US" sz="1250" b="1" dirty="0">
                <a:solidFill>
                  <a:srgbClr val="C14B37"/>
                </a:solidFill>
                <a:latin typeface="Calibri" pitchFamily="34" charset="0"/>
                <a:ea typeface="Calibri" pitchFamily="34" charset="-122"/>
                <a:cs typeface="Calibri" pitchFamily="34" charset="-120"/>
              </a:rPr>
              <a:t>Watch out:  </a:t>
            </a:r>
            <a:pPr indent="0" marL="0">
              <a:spcAft>
                <a:spcPts val="600"/>
              </a:spcAft>
              <a:buNone/>
            </a:pPr>
            <a:r>
              <a:rPr lang="en-US" sz="1250" dirty="0">
                <a:solidFill>
                  <a:srgbClr val="1F2A33"/>
                </a:solidFill>
                <a:latin typeface="Calibri" pitchFamily="34" charset="0"/>
                <a:ea typeface="Calibri" pitchFamily="34" charset="-122"/>
                <a:cs typeface="Calibri" pitchFamily="34" charset="-120"/>
              </a:rPr>
              <a:t>smaller reach; personal selling is costly per head; discounts can erode margins/brand.</a:t>
            </a:r>
            <a:endParaRPr lang="en-US" sz="1250" dirty="0"/>
          </a:p>
        </p:txBody>
      </p:sp>
      <p:sp>
        <p:nvSpPr>
          <p:cNvPr id="17" name="Text 15"/>
          <p:cNvSpPr txBox="1"/>
          <p:nvPr/>
        </p:nvSpPr>
        <p:spPr>
          <a:xfrm>
            <a:off x="6428232" y="5029200"/>
            <a:ext cx="4983480" cy="1005840"/>
          </a:xfrm>
          <a:prstGeom prst="rect">
            <a:avLst/>
          </a:prstGeom>
          <a:noFill/>
          <a:ln/>
        </p:spPr>
        <p:txBody>
          <a:bodyPr wrap="square" lIns="0" tIns="0" rIns="0" bIns="0" rtlCol="0" anchor="t"/>
          <a:lstStyle/>
          <a:p>
            <a:pPr indent="0" marL="0">
              <a:buNone/>
            </a:pPr>
            <a:r>
              <a:rPr lang="en-US" sz="1150" b="1" dirty="0">
                <a:solidFill>
                  <a:srgbClr val="5B6B73"/>
                </a:solidFill>
                <a:latin typeface="Calibri" pitchFamily="34" charset="0"/>
                <a:ea typeface="Calibri" pitchFamily="34" charset="-122"/>
                <a:cs typeface="Calibri" pitchFamily="34" charset="-120"/>
              </a:rPr>
              <a:t>e.g.  </a:t>
            </a:r>
            <a:pPr indent="0" marL="0">
              <a:buNone/>
            </a:pPr>
            <a:r>
              <a:rPr lang="en-US" sz="1150" i="1" dirty="0">
                <a:solidFill>
                  <a:srgbClr val="5B6B73"/>
                </a:solidFill>
                <a:latin typeface="Calibri" pitchFamily="34" charset="0"/>
                <a:ea typeface="Calibri" pitchFamily="34" charset="-122"/>
                <a:cs typeface="Calibri" pitchFamily="34" charset="-120"/>
              </a:rPr>
              <a:t>a BOGOF offer, a press review, or a targeted social-media campaign.</a:t>
            </a:r>
            <a:endParaRPr lang="en-US" sz="11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TYPES OF PROMOTION</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The promotion toolkit at a glance</a:t>
            </a:r>
            <a:endParaRPr lang="en-US" sz="2800" dirty="0"/>
          </a:p>
        </p:txBody>
      </p:sp>
      <p:sp>
        <p:nvSpPr>
          <p:cNvPr id="4" name="Shape 2"/>
          <p:cNvSpPr/>
          <p:nvPr/>
        </p:nvSpPr>
        <p:spPr>
          <a:xfrm>
            <a:off x="548640" y="1371600"/>
            <a:ext cx="5486400" cy="4800600"/>
          </a:xfrm>
          <a:prstGeom prst="roundRect">
            <a:avLst>
              <a:gd name="adj" fmla="val 1524"/>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508760"/>
            <a:ext cx="5029200" cy="310896"/>
          </a:xfrm>
          <a:prstGeom prst="rect">
            <a:avLst/>
          </a:prstGeom>
          <a:noFill/>
          <a:ln/>
        </p:spPr>
        <p:txBody>
          <a:bodyPr wrap="square" lIns="0" tIns="0" rIns="0" bIns="0" rtlCol="0" anchor="ctr"/>
          <a:lstStyle/>
          <a:p>
            <a:pPr indent="0" marL="0">
              <a:buNone/>
            </a:pPr>
            <a:r>
              <a:rPr lang="en-US" sz="1200" b="1" spc="150" kern="0" dirty="0">
                <a:solidFill>
                  <a:srgbClr val="0B5E66"/>
                </a:solidFill>
                <a:latin typeface="Calibri" pitchFamily="34" charset="0"/>
                <a:ea typeface="Calibri" pitchFamily="34" charset="-122"/>
                <a:cs typeface="Calibri" pitchFamily="34" charset="-120"/>
              </a:rPr>
              <a:t>ABOVE THE LINE</a:t>
            </a:r>
            <a:endParaRPr lang="en-US" sz="1200" dirty="0"/>
          </a:p>
        </p:txBody>
      </p:sp>
      <p:sp>
        <p:nvSpPr>
          <p:cNvPr id="6" name="Text 4"/>
          <p:cNvSpPr txBox="1"/>
          <p:nvPr/>
        </p:nvSpPr>
        <p:spPr>
          <a:xfrm>
            <a:off x="777240" y="1874520"/>
            <a:ext cx="5029200" cy="137160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Advertising — TV, press, radio, cinema, billboards, online display</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Informative (facts), persuasive (emotion/differentiation), reassuring (existing buyers)</a:t>
            </a:r>
            <a:endParaRPr lang="en-US" sz="1300" dirty="0"/>
          </a:p>
        </p:txBody>
      </p:sp>
      <p:sp>
        <p:nvSpPr>
          <p:cNvPr id="7" name="Text 5"/>
          <p:cNvSpPr txBox="1"/>
          <p:nvPr/>
        </p:nvSpPr>
        <p:spPr>
          <a:xfrm>
            <a:off x="777240" y="3200400"/>
            <a:ext cx="5029200" cy="548640"/>
          </a:xfrm>
          <a:prstGeom prst="rect">
            <a:avLst/>
          </a:prstGeom>
          <a:noFill/>
          <a:ln/>
        </p:spPr>
        <p:txBody>
          <a:bodyPr wrap="square" lIns="0" tIns="0" rIns="0" bIns="0" rtlCol="0" anchor="ctr"/>
          <a:lstStyle/>
          <a:p>
            <a:pPr indent="0" marL="0">
              <a:buNone/>
            </a:pPr>
            <a:r>
              <a:rPr lang="en-US" sz="1200" i="1" dirty="0">
                <a:solidFill>
                  <a:srgbClr val="5B6B73"/>
                </a:solidFill>
                <a:latin typeface="Calibri" pitchFamily="34" charset="0"/>
                <a:ea typeface="Calibri" pitchFamily="34" charset="-122"/>
                <a:cs typeface="Calibri" pitchFamily="34" charset="-120"/>
              </a:rPr>
              <a:t>Aim: reach a mass audience and build awareness &amp; brand image.</a:t>
            </a:r>
            <a:endParaRPr lang="en-US" sz="1200" dirty="0"/>
          </a:p>
        </p:txBody>
      </p:sp>
      <p:sp>
        <p:nvSpPr>
          <p:cNvPr id="8" name="Shape 6"/>
          <p:cNvSpPr/>
          <p:nvPr/>
        </p:nvSpPr>
        <p:spPr>
          <a:xfrm>
            <a:off x="6153912" y="1371600"/>
            <a:ext cx="5486400" cy="4800600"/>
          </a:xfrm>
          <a:prstGeom prst="roundRect">
            <a:avLst>
              <a:gd name="adj" fmla="val 1524"/>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9" name="Text 7"/>
          <p:cNvSpPr txBox="1"/>
          <p:nvPr/>
        </p:nvSpPr>
        <p:spPr>
          <a:xfrm>
            <a:off x="6382512" y="1508760"/>
            <a:ext cx="5029200" cy="310896"/>
          </a:xfrm>
          <a:prstGeom prst="rect">
            <a:avLst/>
          </a:prstGeom>
          <a:noFill/>
          <a:ln/>
        </p:spPr>
        <p:txBody>
          <a:bodyPr wrap="square" lIns="0" tIns="0" rIns="0" bIns="0" rtlCol="0" anchor="ctr"/>
          <a:lstStyle/>
          <a:p>
            <a:pPr indent="0" marL="0">
              <a:buNone/>
            </a:pPr>
            <a:r>
              <a:rPr lang="en-US" sz="1200" b="1" spc="150" kern="0" dirty="0">
                <a:solidFill>
                  <a:srgbClr val="8A5A06"/>
                </a:solidFill>
                <a:latin typeface="Calibri" pitchFamily="34" charset="0"/>
                <a:ea typeface="Calibri" pitchFamily="34" charset="-122"/>
                <a:cs typeface="Calibri" pitchFamily="34" charset="-120"/>
              </a:rPr>
              <a:t>BELOW THE LINE</a:t>
            </a:r>
            <a:endParaRPr lang="en-US" sz="1200" dirty="0"/>
          </a:p>
        </p:txBody>
      </p:sp>
      <p:sp>
        <p:nvSpPr>
          <p:cNvPr id="10" name="Text 8"/>
          <p:cNvSpPr txBox="1"/>
          <p:nvPr/>
        </p:nvSpPr>
        <p:spPr>
          <a:xfrm>
            <a:off x="6382512" y="1874520"/>
            <a:ext cx="5029200" cy="411480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Sales promotion — BOGOF, discounts, coupons, samples, point of sale, competitions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Personal selling — trained staff selling direct (cars, high-value goods)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Public relations (PR) — building a favourable image, often unpaid</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Direct &amp; digital — social media, email, apps, online adverts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Sponsorship — brand association with an event, person or team</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ELEMENT 1</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Advertising (above the line)</a:t>
            </a:r>
            <a:endParaRPr lang="en-US" sz="2800" dirty="0"/>
          </a:p>
        </p:txBody>
      </p:sp>
      <p:sp>
        <p:nvSpPr>
          <p:cNvPr id="4" name="Shape 2"/>
          <p:cNvSpPr/>
          <p:nvPr/>
        </p:nvSpPr>
        <p:spPr>
          <a:xfrm>
            <a:off x="548640" y="1371600"/>
            <a:ext cx="11091672"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828800" cy="274320"/>
          </a:xfrm>
          <a:prstGeom prst="rect">
            <a:avLst/>
          </a:prstGeom>
          <a:noFill/>
          <a:ln/>
        </p:spPr>
        <p:txBody>
          <a:bodyPr wrap="square" lIns="0" tIns="0" rIns="0" bIns="0" rtlCol="0" anchor="ctr"/>
          <a:lstStyle/>
          <a:p>
            <a:pPr indent="0" marL="0">
              <a:buNone/>
            </a:pPr>
            <a:r>
              <a:rPr lang="en-US" sz="1100" b="1" spc="100" kern="0" dirty="0">
                <a:solidFill>
                  <a:srgbClr val="0B5E66"/>
                </a:solidFill>
                <a:latin typeface="Calibri" pitchFamily="34" charset="0"/>
                <a:ea typeface="Calibri" pitchFamily="34" charset="-122"/>
                <a:cs typeface="Calibri" pitchFamily="34" charset="-120"/>
              </a:rPr>
              <a:t>DEFINITION</a:t>
            </a:r>
            <a:endParaRPr lang="en-US" sz="1100" dirty="0"/>
          </a:p>
        </p:txBody>
      </p:sp>
      <p:sp>
        <p:nvSpPr>
          <p:cNvPr id="6" name="Text 4"/>
          <p:cNvSpPr txBox="1"/>
          <p:nvPr/>
        </p:nvSpPr>
        <p:spPr>
          <a:xfrm>
            <a:off x="777240" y="1737360"/>
            <a:ext cx="10607040" cy="420624"/>
          </a:xfrm>
          <a:prstGeom prst="rect">
            <a:avLst/>
          </a:prstGeom>
          <a:noFill/>
          <a:ln/>
        </p:spPr>
        <p:txBody>
          <a:bodyPr wrap="square" lIns="0" tIns="0" rIns="0" bIns="0" rtlCol="0" anchor="t"/>
          <a:lstStyle/>
          <a:p>
            <a:pPr indent="0" marL="0">
              <a:buNone/>
            </a:pPr>
            <a:r>
              <a:rPr lang="en-US" sz="1350" dirty="0">
                <a:solidFill>
                  <a:srgbClr val="1F2A33"/>
                </a:solidFill>
                <a:latin typeface="Calibri" pitchFamily="34" charset="0"/>
                <a:ea typeface="Calibri" pitchFamily="34" charset="-122"/>
                <a:cs typeface="Calibri" pitchFamily="34" charset="-120"/>
              </a:rPr>
              <a:t>Advertising = paid, non-personal communication through media to inform, persuade or reassure. Informative = facts; persuasive = emotion/differentiation; reassuring = comforts existing buyers.</a:t>
            </a:r>
            <a:endParaRPr lang="en-US" sz="1350" dirty="0"/>
          </a:p>
        </p:txBody>
      </p:sp>
      <p:sp>
        <p:nvSpPr>
          <p:cNvPr id="7" name="Shape 5"/>
          <p:cNvSpPr/>
          <p:nvPr/>
        </p:nvSpPr>
        <p:spPr>
          <a:xfrm>
            <a:off x="548640" y="2395728"/>
            <a:ext cx="5440680" cy="2240280"/>
          </a:xfrm>
          <a:prstGeom prst="roundRect">
            <a:avLst>
              <a:gd name="adj" fmla="val 3265"/>
            </a:avLst>
          </a:prstGeom>
          <a:solidFill>
            <a:srgbClr val="E8F3EC"/>
          </a:solidFill>
          <a:ln/>
          <a:effectLst>
            <a:outerShdw sx="100000" sy="100000" kx="0" ky="0" algn="bl" rotWithShape="0" blurRad="76200" dist="25400" dir="5400000">
              <a:srgbClr val="9AAAB0">
                <a:alpha val="28000"/>
              </a:srgbClr>
            </a:outerShdw>
          </a:effectLst>
        </p:spPr>
      </p:sp>
      <p:sp>
        <p:nvSpPr>
          <p:cNvPr id="8" name="Shape 6"/>
          <p:cNvSpPr/>
          <p:nvPr/>
        </p:nvSpPr>
        <p:spPr>
          <a:xfrm>
            <a:off x="777240" y="2560320"/>
            <a:ext cx="2286000" cy="310896"/>
          </a:xfrm>
          <a:prstGeom prst="roundRect">
            <a:avLst>
              <a:gd name="adj" fmla="val 50000"/>
            </a:avLst>
          </a:prstGeom>
          <a:solidFill>
            <a:srgbClr val="2F8A5B"/>
          </a:solidFill>
          <a:ln/>
        </p:spPr>
      </p:sp>
      <p:sp>
        <p:nvSpPr>
          <p:cNvPr id="9" name="Text 7"/>
          <p:cNvSpPr txBox="1"/>
          <p:nvPr/>
        </p:nvSpPr>
        <p:spPr>
          <a:xfrm>
            <a:off x="777240" y="2560320"/>
            <a:ext cx="22860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ADVANTAGES</a:t>
            </a:r>
            <a:endParaRPr lang="en-US" sz="1050" dirty="0"/>
          </a:p>
        </p:txBody>
      </p:sp>
      <p:sp>
        <p:nvSpPr>
          <p:cNvPr id="10" name="Text 8"/>
          <p:cNvSpPr txBox="1"/>
          <p:nvPr/>
        </p:nvSpPr>
        <p:spPr>
          <a:xfrm>
            <a:off x="777240"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Reaches a large, mass audience quickly</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Builds awareness, brand image and positioning</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Persuasive ads can drive demand and sales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The business controls the message and timing</a:t>
            </a:r>
            <a:endParaRPr lang="en-US" sz="1300" dirty="0"/>
          </a:p>
        </p:txBody>
      </p:sp>
      <p:sp>
        <p:nvSpPr>
          <p:cNvPr id="11" name="Shape 9"/>
          <p:cNvSpPr/>
          <p:nvPr/>
        </p:nvSpPr>
        <p:spPr>
          <a:xfrm>
            <a:off x="6199632" y="2395728"/>
            <a:ext cx="5440680" cy="2240280"/>
          </a:xfrm>
          <a:prstGeom prst="roundRect">
            <a:avLst>
              <a:gd name="adj" fmla="val 3265"/>
            </a:avLst>
          </a:prstGeom>
          <a:solidFill>
            <a:srgbClr val="F9EAE6"/>
          </a:solidFill>
          <a:ln/>
          <a:effectLst>
            <a:outerShdw sx="100000" sy="100000" kx="0" ky="0" algn="bl" rotWithShape="0" blurRad="76200" dist="25400" dir="5400000">
              <a:srgbClr val="9AAAB0">
                <a:alpha val="28000"/>
              </a:srgbClr>
            </a:outerShdw>
          </a:effectLst>
        </p:spPr>
      </p:sp>
      <p:sp>
        <p:nvSpPr>
          <p:cNvPr id="12" name="Shape 10"/>
          <p:cNvSpPr/>
          <p:nvPr/>
        </p:nvSpPr>
        <p:spPr>
          <a:xfrm>
            <a:off x="6428232" y="2560320"/>
            <a:ext cx="2651760" cy="310896"/>
          </a:xfrm>
          <a:prstGeom prst="roundRect">
            <a:avLst>
              <a:gd name="adj" fmla="val 50000"/>
            </a:avLst>
          </a:prstGeom>
          <a:solidFill>
            <a:srgbClr val="C14B37"/>
          </a:solidFill>
          <a:ln/>
        </p:spPr>
      </p:sp>
      <p:sp>
        <p:nvSpPr>
          <p:cNvPr id="13" name="Text 11"/>
          <p:cNvSpPr txBox="1"/>
          <p:nvPr/>
        </p:nvSpPr>
        <p:spPr>
          <a:xfrm>
            <a:off x="6428232" y="2560320"/>
            <a:ext cx="26517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DISADVANTAGES</a:t>
            </a:r>
            <a:endParaRPr lang="en-US" sz="1050" dirty="0"/>
          </a:p>
        </p:txBody>
      </p:sp>
      <p:sp>
        <p:nvSpPr>
          <p:cNvPr id="14" name="Text 12"/>
          <p:cNvSpPr txBox="1"/>
          <p:nvPr/>
        </p:nvSpPr>
        <p:spPr>
          <a:xfrm>
            <a:off x="6428232"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Expensive to produce and air (prime TV slots cost thousands)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Hard to measure the return on spending</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Audiences increasingly skip or ignore ads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Reaches many people outside the target market</a:t>
            </a:r>
            <a:endParaRPr lang="en-US" sz="1300" dirty="0"/>
          </a:p>
        </p:txBody>
      </p:sp>
      <p:sp>
        <p:nvSpPr>
          <p:cNvPr id="15" name="Shape 13"/>
          <p:cNvSpPr/>
          <p:nvPr/>
        </p:nvSpPr>
        <p:spPr>
          <a:xfrm>
            <a:off x="548640" y="4818888"/>
            <a:ext cx="11091672" cy="1371600"/>
          </a:xfrm>
          <a:prstGeom prst="roundRect">
            <a:avLst>
              <a:gd name="adj" fmla="val 5333"/>
            </a:avLst>
          </a:prstGeom>
          <a:solidFill>
            <a:srgbClr val="FBF0D8"/>
          </a:solidFill>
          <a:ln/>
          <a:effectLst>
            <a:outerShdw sx="100000" sy="100000" kx="0" ky="0" algn="bl" rotWithShape="0" blurRad="76200" dist="25400" dir="5400000">
              <a:srgbClr val="9AAAB0">
                <a:alpha val="28000"/>
              </a:srgbClr>
            </a:outerShdw>
          </a:effectLst>
        </p:spPr>
      </p:sp>
      <p:sp>
        <p:nvSpPr>
          <p:cNvPr id="16" name="Shape 14"/>
          <p:cNvSpPr/>
          <p:nvPr/>
        </p:nvSpPr>
        <p:spPr>
          <a:xfrm>
            <a:off x="548640" y="4818888"/>
            <a:ext cx="109728" cy="1371600"/>
          </a:xfrm>
          <a:prstGeom prst="roundRect">
            <a:avLst/>
          </a:prstGeom>
          <a:solidFill>
            <a:srgbClr val="E0940F"/>
          </a:solidFill>
          <a:ln/>
        </p:spPr>
      </p:sp>
      <p:sp>
        <p:nvSpPr>
          <p:cNvPr id="17" name="Text 15"/>
          <p:cNvSpPr txBox="1"/>
          <p:nvPr/>
        </p:nvSpPr>
        <p:spPr>
          <a:xfrm>
            <a:off x="777240" y="4937760"/>
            <a:ext cx="10607040" cy="292608"/>
          </a:xfrm>
          <a:prstGeom prst="rect">
            <a:avLst/>
          </a:prstGeom>
          <a:noFill/>
          <a:ln/>
        </p:spPr>
        <p:txBody>
          <a:bodyPr wrap="square" lIns="0" tIns="0" rIns="0" bIns="0" rtlCol="0" anchor="ctr"/>
          <a:lstStyle/>
          <a:p>
            <a:pPr indent="0" marL="0">
              <a:buNone/>
            </a:pPr>
            <a:r>
              <a:rPr lang="en-US" sz="1150" b="1" spc="100" kern="0" dirty="0">
                <a:solidFill>
                  <a:srgbClr val="8A5A06"/>
                </a:solidFill>
                <a:latin typeface="Calibri" pitchFamily="34" charset="0"/>
                <a:ea typeface="Calibri" pitchFamily="34" charset="-122"/>
                <a:cs typeface="Calibri" pitchFamily="34" charset="-120"/>
              </a:rPr>
              <a:t>REAL EXAMPLE  ·  Coca-Cola / Apple</a:t>
            </a:r>
            <a:endParaRPr lang="en-US" sz="1150" dirty="0"/>
          </a:p>
        </p:txBody>
      </p:sp>
      <p:sp>
        <p:nvSpPr>
          <p:cNvPr id="18" name="Text 16"/>
          <p:cNvSpPr txBox="1"/>
          <p:nvPr/>
        </p:nvSpPr>
        <p:spPr>
          <a:xfrm>
            <a:off x="777240" y="5230368"/>
            <a:ext cx="10698480" cy="86868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Coca-Cola's global TV and outdoor campaigns build mass awareness and emotional brand image; Apple's ‘Shot on iPhone’ billboards show product quality. Both use ATL to reach millions and reinforce a premium brand — at high cost.</a:t>
            </a:r>
            <a:endParaRPr lang="en-US" sz="13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ELEMENT 2</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Sales promotion (below the line)</a:t>
            </a:r>
            <a:endParaRPr lang="en-US" sz="2800" dirty="0"/>
          </a:p>
        </p:txBody>
      </p:sp>
      <p:sp>
        <p:nvSpPr>
          <p:cNvPr id="4" name="Shape 2"/>
          <p:cNvSpPr/>
          <p:nvPr/>
        </p:nvSpPr>
        <p:spPr>
          <a:xfrm>
            <a:off x="548640" y="1371600"/>
            <a:ext cx="11091672"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828800" cy="274320"/>
          </a:xfrm>
          <a:prstGeom prst="rect">
            <a:avLst/>
          </a:prstGeom>
          <a:noFill/>
          <a:ln/>
        </p:spPr>
        <p:txBody>
          <a:bodyPr wrap="square" lIns="0" tIns="0" rIns="0" bIns="0" rtlCol="0" anchor="ctr"/>
          <a:lstStyle/>
          <a:p>
            <a:pPr indent="0" marL="0">
              <a:buNone/>
            </a:pPr>
            <a:r>
              <a:rPr lang="en-US" sz="1100" b="1" spc="100" kern="0" dirty="0">
                <a:solidFill>
                  <a:srgbClr val="0B5E66"/>
                </a:solidFill>
                <a:latin typeface="Calibri" pitchFamily="34" charset="0"/>
                <a:ea typeface="Calibri" pitchFamily="34" charset="-122"/>
                <a:cs typeface="Calibri" pitchFamily="34" charset="-120"/>
              </a:rPr>
              <a:t>DEFINITION</a:t>
            </a:r>
            <a:endParaRPr lang="en-US" sz="1100" dirty="0"/>
          </a:p>
        </p:txBody>
      </p:sp>
      <p:sp>
        <p:nvSpPr>
          <p:cNvPr id="6" name="Text 4"/>
          <p:cNvSpPr txBox="1"/>
          <p:nvPr/>
        </p:nvSpPr>
        <p:spPr>
          <a:xfrm>
            <a:off x="777240" y="1737360"/>
            <a:ext cx="10607040" cy="420624"/>
          </a:xfrm>
          <a:prstGeom prst="rect">
            <a:avLst/>
          </a:prstGeom>
          <a:noFill/>
          <a:ln/>
        </p:spPr>
        <p:txBody>
          <a:bodyPr wrap="square" lIns="0" tIns="0" rIns="0" bIns="0" rtlCol="0" anchor="t"/>
          <a:lstStyle/>
          <a:p>
            <a:pPr indent="0" marL="0">
              <a:buNone/>
            </a:pPr>
            <a:r>
              <a:rPr lang="en-US" sz="1350" dirty="0">
                <a:solidFill>
                  <a:srgbClr val="1F2A33"/>
                </a:solidFill>
                <a:latin typeface="Calibri" pitchFamily="34" charset="0"/>
                <a:ea typeface="Calibri" pitchFamily="34" charset="-122"/>
                <a:cs typeface="Calibri" pitchFamily="34" charset="-120"/>
              </a:rPr>
              <a:t>Sales promotion = short-term incentives to boost sales or trial — BOGOF, price discounts, money-off coupons, free samples, special events and point-of-sale displays.</a:t>
            </a:r>
            <a:endParaRPr lang="en-US" sz="1350" dirty="0"/>
          </a:p>
        </p:txBody>
      </p:sp>
      <p:sp>
        <p:nvSpPr>
          <p:cNvPr id="7" name="Shape 5"/>
          <p:cNvSpPr/>
          <p:nvPr/>
        </p:nvSpPr>
        <p:spPr>
          <a:xfrm>
            <a:off x="548640" y="2395728"/>
            <a:ext cx="5440680" cy="2240280"/>
          </a:xfrm>
          <a:prstGeom prst="roundRect">
            <a:avLst>
              <a:gd name="adj" fmla="val 3265"/>
            </a:avLst>
          </a:prstGeom>
          <a:solidFill>
            <a:srgbClr val="E8F3EC"/>
          </a:solidFill>
          <a:ln/>
          <a:effectLst>
            <a:outerShdw sx="100000" sy="100000" kx="0" ky="0" algn="bl" rotWithShape="0" blurRad="76200" dist="25400" dir="5400000">
              <a:srgbClr val="9AAAB0">
                <a:alpha val="28000"/>
              </a:srgbClr>
            </a:outerShdw>
          </a:effectLst>
        </p:spPr>
      </p:sp>
      <p:sp>
        <p:nvSpPr>
          <p:cNvPr id="8" name="Shape 6"/>
          <p:cNvSpPr/>
          <p:nvPr/>
        </p:nvSpPr>
        <p:spPr>
          <a:xfrm>
            <a:off x="777240" y="2560320"/>
            <a:ext cx="2286000" cy="310896"/>
          </a:xfrm>
          <a:prstGeom prst="roundRect">
            <a:avLst>
              <a:gd name="adj" fmla="val 50000"/>
            </a:avLst>
          </a:prstGeom>
          <a:solidFill>
            <a:srgbClr val="2F8A5B"/>
          </a:solidFill>
          <a:ln/>
        </p:spPr>
      </p:sp>
      <p:sp>
        <p:nvSpPr>
          <p:cNvPr id="9" name="Text 7"/>
          <p:cNvSpPr txBox="1"/>
          <p:nvPr/>
        </p:nvSpPr>
        <p:spPr>
          <a:xfrm>
            <a:off x="777240" y="2560320"/>
            <a:ext cx="22860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ADVANTAGES</a:t>
            </a:r>
            <a:endParaRPr lang="en-US" sz="1050" dirty="0"/>
          </a:p>
        </p:txBody>
      </p:sp>
      <p:sp>
        <p:nvSpPr>
          <p:cNvPr id="10" name="Text 8"/>
          <p:cNvSpPr txBox="1"/>
          <p:nvPr/>
        </p:nvSpPr>
        <p:spPr>
          <a:xfrm>
            <a:off x="777240"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Gives a quick, measurable boost to sales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Encourages trial and brand switching</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Clears old or seasonal stock</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Rewards loyal customers and drives footfall</a:t>
            </a:r>
            <a:endParaRPr lang="en-US" sz="1300" dirty="0"/>
          </a:p>
        </p:txBody>
      </p:sp>
      <p:sp>
        <p:nvSpPr>
          <p:cNvPr id="11" name="Shape 9"/>
          <p:cNvSpPr/>
          <p:nvPr/>
        </p:nvSpPr>
        <p:spPr>
          <a:xfrm>
            <a:off x="6199632" y="2395728"/>
            <a:ext cx="5440680" cy="2240280"/>
          </a:xfrm>
          <a:prstGeom prst="roundRect">
            <a:avLst>
              <a:gd name="adj" fmla="val 3265"/>
            </a:avLst>
          </a:prstGeom>
          <a:solidFill>
            <a:srgbClr val="F9EAE6"/>
          </a:solidFill>
          <a:ln/>
          <a:effectLst>
            <a:outerShdw sx="100000" sy="100000" kx="0" ky="0" algn="bl" rotWithShape="0" blurRad="76200" dist="25400" dir="5400000">
              <a:srgbClr val="9AAAB0">
                <a:alpha val="28000"/>
              </a:srgbClr>
            </a:outerShdw>
          </a:effectLst>
        </p:spPr>
      </p:sp>
      <p:sp>
        <p:nvSpPr>
          <p:cNvPr id="12" name="Shape 10"/>
          <p:cNvSpPr/>
          <p:nvPr/>
        </p:nvSpPr>
        <p:spPr>
          <a:xfrm>
            <a:off x="6428232" y="2560320"/>
            <a:ext cx="2651760" cy="310896"/>
          </a:xfrm>
          <a:prstGeom prst="roundRect">
            <a:avLst>
              <a:gd name="adj" fmla="val 50000"/>
            </a:avLst>
          </a:prstGeom>
          <a:solidFill>
            <a:srgbClr val="C14B37"/>
          </a:solidFill>
          <a:ln/>
        </p:spPr>
      </p:sp>
      <p:sp>
        <p:nvSpPr>
          <p:cNvPr id="13" name="Text 11"/>
          <p:cNvSpPr txBox="1"/>
          <p:nvPr/>
        </p:nvSpPr>
        <p:spPr>
          <a:xfrm>
            <a:off x="6428232" y="2560320"/>
            <a:ext cx="26517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DISADVANTAGES</a:t>
            </a:r>
            <a:endParaRPr lang="en-US" sz="1050" dirty="0"/>
          </a:p>
        </p:txBody>
      </p:sp>
      <p:sp>
        <p:nvSpPr>
          <p:cNvPr id="14" name="Text 12"/>
          <p:cNvSpPr txBox="1"/>
          <p:nvPr/>
        </p:nvSpPr>
        <p:spPr>
          <a:xfrm>
            <a:off x="6428232"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Cuts profit margins (the cost isn't always covered by extra sales)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Usually works only in the short term</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Frequent discounts devalue the brand (the ‘always-on’ sale)</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Customers may delay buying until the next offer</a:t>
            </a:r>
            <a:endParaRPr lang="en-US" sz="1300" dirty="0"/>
          </a:p>
        </p:txBody>
      </p:sp>
      <p:sp>
        <p:nvSpPr>
          <p:cNvPr id="15" name="Shape 13"/>
          <p:cNvSpPr/>
          <p:nvPr/>
        </p:nvSpPr>
        <p:spPr>
          <a:xfrm>
            <a:off x="548640" y="4818888"/>
            <a:ext cx="11091672" cy="1371600"/>
          </a:xfrm>
          <a:prstGeom prst="roundRect">
            <a:avLst>
              <a:gd name="adj" fmla="val 5333"/>
            </a:avLst>
          </a:prstGeom>
          <a:solidFill>
            <a:srgbClr val="FBF0D8"/>
          </a:solidFill>
          <a:ln/>
          <a:effectLst>
            <a:outerShdw sx="100000" sy="100000" kx="0" ky="0" algn="bl" rotWithShape="0" blurRad="76200" dist="25400" dir="5400000">
              <a:srgbClr val="9AAAB0">
                <a:alpha val="28000"/>
              </a:srgbClr>
            </a:outerShdw>
          </a:effectLst>
        </p:spPr>
      </p:sp>
      <p:sp>
        <p:nvSpPr>
          <p:cNvPr id="16" name="Shape 14"/>
          <p:cNvSpPr/>
          <p:nvPr/>
        </p:nvSpPr>
        <p:spPr>
          <a:xfrm>
            <a:off x="548640" y="4818888"/>
            <a:ext cx="109728" cy="1371600"/>
          </a:xfrm>
          <a:prstGeom prst="roundRect">
            <a:avLst/>
          </a:prstGeom>
          <a:solidFill>
            <a:srgbClr val="E0940F"/>
          </a:solidFill>
          <a:ln/>
        </p:spPr>
      </p:sp>
      <p:sp>
        <p:nvSpPr>
          <p:cNvPr id="17" name="Text 15"/>
          <p:cNvSpPr txBox="1"/>
          <p:nvPr/>
        </p:nvSpPr>
        <p:spPr>
          <a:xfrm>
            <a:off x="777240" y="4937760"/>
            <a:ext cx="10607040" cy="292608"/>
          </a:xfrm>
          <a:prstGeom prst="rect">
            <a:avLst/>
          </a:prstGeom>
          <a:noFill/>
          <a:ln/>
        </p:spPr>
        <p:txBody>
          <a:bodyPr wrap="square" lIns="0" tIns="0" rIns="0" bIns="0" rtlCol="0" anchor="ctr"/>
          <a:lstStyle/>
          <a:p>
            <a:pPr indent="0" marL="0">
              <a:buNone/>
            </a:pPr>
            <a:r>
              <a:rPr lang="en-US" sz="1150" b="1" spc="100" kern="0" dirty="0">
                <a:solidFill>
                  <a:srgbClr val="8A5A06"/>
                </a:solidFill>
                <a:latin typeface="Calibri" pitchFamily="34" charset="0"/>
                <a:ea typeface="Calibri" pitchFamily="34" charset="-122"/>
                <a:cs typeface="Calibri" pitchFamily="34" charset="-120"/>
              </a:rPr>
              <a:t>REAL EXAMPLE  ·  McDonald's Monopoly</a:t>
            </a:r>
            <a:endParaRPr lang="en-US" sz="1150" dirty="0"/>
          </a:p>
        </p:txBody>
      </p:sp>
      <p:sp>
        <p:nvSpPr>
          <p:cNvPr id="18" name="Text 16"/>
          <p:cNvSpPr txBox="1"/>
          <p:nvPr/>
        </p:nvSpPr>
        <p:spPr>
          <a:xfrm>
            <a:off x="777240" y="5230368"/>
            <a:ext cx="10698480" cy="86868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McDonald's Monopoly drives repeat visits and trial through a game-and-prize promotion; supermarket BOGOFs lift short-term volume; a crème-egg point-of-sale stand at Easter triggers impulse buys. Each boosts sales but squeezes margin.</a:t>
            </a:r>
            <a:endParaRPr lang="en-US" sz="13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ELEMENTS 3 &amp; 4</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Public relations &amp; personal selling (below the line)</a:t>
            </a:r>
            <a:endParaRPr lang="en-US" sz="2800" dirty="0"/>
          </a:p>
        </p:txBody>
      </p:sp>
      <p:sp>
        <p:nvSpPr>
          <p:cNvPr id="4" name="Shape 2"/>
          <p:cNvSpPr/>
          <p:nvPr/>
        </p:nvSpPr>
        <p:spPr>
          <a:xfrm>
            <a:off x="548640" y="1417320"/>
            <a:ext cx="5440680" cy="4754880"/>
          </a:xfrm>
          <a:prstGeom prst="roundRect">
            <a:avLst>
              <a:gd name="adj" fmla="val 1538"/>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Shape 3"/>
          <p:cNvSpPr/>
          <p:nvPr/>
        </p:nvSpPr>
        <p:spPr>
          <a:xfrm>
            <a:off x="777240" y="1581912"/>
            <a:ext cx="2834640" cy="310896"/>
          </a:xfrm>
          <a:prstGeom prst="roundRect">
            <a:avLst>
              <a:gd name="adj" fmla="val 50000"/>
            </a:avLst>
          </a:prstGeom>
          <a:solidFill>
            <a:srgbClr val="0E7C86"/>
          </a:solidFill>
          <a:ln/>
        </p:spPr>
      </p:sp>
      <p:sp>
        <p:nvSpPr>
          <p:cNvPr id="6" name="Text 4"/>
          <p:cNvSpPr txBox="1"/>
          <p:nvPr/>
        </p:nvSpPr>
        <p:spPr>
          <a:xfrm>
            <a:off x="777240" y="1581912"/>
            <a:ext cx="28346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PUBLIC RELATIONS (PR)</a:t>
            </a:r>
            <a:endParaRPr lang="en-US" sz="1050" dirty="0"/>
          </a:p>
        </p:txBody>
      </p:sp>
      <p:sp>
        <p:nvSpPr>
          <p:cNvPr id="7" name="Text 5"/>
          <p:cNvSpPr txBox="1"/>
          <p:nvPr/>
        </p:nvSpPr>
        <p:spPr>
          <a:xfrm>
            <a:off x="777240" y="2011680"/>
            <a:ext cx="4983480" cy="68580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Managing the business's image to earn a favourable public reputation — often unpaid coverage (press reviews, events, stunts).</a:t>
            </a:r>
            <a:endParaRPr lang="en-US" sz="1250" dirty="0"/>
          </a:p>
        </p:txBody>
      </p:sp>
      <p:sp>
        <p:nvSpPr>
          <p:cNvPr id="8" name="Text 6"/>
          <p:cNvSpPr txBox="1"/>
          <p:nvPr/>
        </p:nvSpPr>
        <p:spPr>
          <a:xfrm>
            <a:off x="777240" y="2743200"/>
            <a:ext cx="4983480" cy="274320"/>
          </a:xfrm>
          <a:prstGeom prst="rect">
            <a:avLst/>
          </a:prstGeom>
          <a:noFill/>
          <a:ln/>
        </p:spPr>
        <p:txBody>
          <a:bodyPr wrap="square" lIns="0" tIns="0" rIns="0" bIns="0" rtlCol="0" anchor="ctr"/>
          <a:lstStyle/>
          <a:p>
            <a:pPr indent="0" marL="0">
              <a:buNone/>
            </a:pPr>
            <a:r>
              <a:rPr lang="en-US" sz="1250" b="1" dirty="0">
                <a:solidFill>
                  <a:srgbClr val="2F8A5B"/>
                </a:solidFill>
                <a:latin typeface="Calibri" pitchFamily="34" charset="0"/>
                <a:ea typeface="Calibri" pitchFamily="34" charset="-122"/>
                <a:cs typeface="Calibri" pitchFamily="34" charset="-120"/>
              </a:rPr>
              <a:t>Advantages
</a:t>
            </a:r>
            <a:endParaRPr lang="en-US" sz="1250" dirty="0"/>
          </a:p>
        </p:txBody>
      </p:sp>
      <p:sp>
        <p:nvSpPr>
          <p:cNvPr id="9" name="Text 7"/>
          <p:cNvSpPr txBox="1"/>
          <p:nvPr/>
        </p:nvSpPr>
        <p:spPr>
          <a:xfrm>
            <a:off x="777240" y="3017520"/>
            <a:ext cx="4983480" cy="128016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Cheap or free coverage</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More credible and authentic than paid ads</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Builds long-term image and trust</a:t>
            </a:r>
            <a:endParaRPr lang="en-US" sz="1200" dirty="0"/>
          </a:p>
        </p:txBody>
      </p:sp>
      <p:sp>
        <p:nvSpPr>
          <p:cNvPr id="10" name="Text 8"/>
          <p:cNvSpPr txBox="1"/>
          <p:nvPr/>
        </p:nvSpPr>
        <p:spPr>
          <a:xfrm>
            <a:off x="777240" y="4251960"/>
            <a:ext cx="4983480" cy="274320"/>
          </a:xfrm>
          <a:prstGeom prst="rect">
            <a:avLst/>
          </a:prstGeom>
          <a:noFill/>
          <a:ln/>
        </p:spPr>
        <p:txBody>
          <a:bodyPr wrap="square" lIns="0" tIns="0" rIns="0" bIns="0" rtlCol="0" anchor="ctr"/>
          <a:lstStyle/>
          <a:p>
            <a:pPr indent="0" marL="0">
              <a:buNone/>
            </a:pPr>
            <a:r>
              <a:rPr lang="en-US" sz="1250" b="1" dirty="0">
                <a:solidFill>
                  <a:srgbClr val="C14B37"/>
                </a:solidFill>
                <a:latin typeface="Calibri" pitchFamily="34" charset="0"/>
                <a:ea typeface="Calibri" pitchFamily="34" charset="-122"/>
                <a:cs typeface="Calibri" pitchFamily="34" charset="-120"/>
              </a:rPr>
              <a:t>Disadvantages
</a:t>
            </a:r>
            <a:endParaRPr lang="en-US" sz="1250" dirty="0"/>
          </a:p>
        </p:txBody>
      </p:sp>
      <p:sp>
        <p:nvSpPr>
          <p:cNvPr id="11" name="Text 9"/>
          <p:cNvSpPr txBox="1"/>
          <p:nvPr/>
        </p:nvSpPr>
        <p:spPr>
          <a:xfrm>
            <a:off x="777240" y="4526280"/>
            <a:ext cx="4983480" cy="128016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Less control over what is said</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A long-term, not a quick-sales, tool</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Bad news spreads just as fast</a:t>
            </a:r>
            <a:endParaRPr lang="en-US" sz="1200" dirty="0"/>
          </a:p>
        </p:txBody>
      </p:sp>
      <p:sp>
        <p:nvSpPr>
          <p:cNvPr id="12" name="Shape 10"/>
          <p:cNvSpPr/>
          <p:nvPr/>
        </p:nvSpPr>
        <p:spPr>
          <a:xfrm>
            <a:off x="6199632" y="1417320"/>
            <a:ext cx="5440680" cy="4754880"/>
          </a:xfrm>
          <a:prstGeom prst="roundRect">
            <a:avLst>
              <a:gd name="adj" fmla="val 1538"/>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3" name="Shape 11"/>
          <p:cNvSpPr/>
          <p:nvPr/>
        </p:nvSpPr>
        <p:spPr>
          <a:xfrm>
            <a:off x="6428232" y="1581912"/>
            <a:ext cx="2834640" cy="310896"/>
          </a:xfrm>
          <a:prstGeom prst="roundRect">
            <a:avLst>
              <a:gd name="adj" fmla="val 50000"/>
            </a:avLst>
          </a:prstGeom>
          <a:solidFill>
            <a:srgbClr val="E0940F"/>
          </a:solidFill>
          <a:ln/>
        </p:spPr>
      </p:sp>
      <p:sp>
        <p:nvSpPr>
          <p:cNvPr id="14" name="Text 12"/>
          <p:cNvSpPr txBox="1"/>
          <p:nvPr/>
        </p:nvSpPr>
        <p:spPr>
          <a:xfrm>
            <a:off x="6428232" y="1581912"/>
            <a:ext cx="28346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PERSONAL SELLING</a:t>
            </a:r>
            <a:endParaRPr lang="en-US" sz="1050" dirty="0"/>
          </a:p>
        </p:txBody>
      </p:sp>
      <p:sp>
        <p:nvSpPr>
          <p:cNvPr id="15" name="Text 13"/>
          <p:cNvSpPr txBox="1"/>
          <p:nvPr/>
        </p:nvSpPr>
        <p:spPr>
          <a:xfrm>
            <a:off x="6428232" y="2011680"/>
            <a:ext cx="4983480" cy="68580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Trained salespeople sell directly to customers, building relationships and explaining or ‘upselling’ the product.</a:t>
            </a:r>
            <a:endParaRPr lang="en-US" sz="1250" dirty="0"/>
          </a:p>
        </p:txBody>
      </p:sp>
      <p:sp>
        <p:nvSpPr>
          <p:cNvPr id="16" name="Text 14"/>
          <p:cNvSpPr txBox="1"/>
          <p:nvPr/>
        </p:nvSpPr>
        <p:spPr>
          <a:xfrm>
            <a:off x="6428232" y="2743200"/>
            <a:ext cx="4983480" cy="274320"/>
          </a:xfrm>
          <a:prstGeom prst="rect">
            <a:avLst/>
          </a:prstGeom>
          <a:noFill/>
          <a:ln/>
        </p:spPr>
        <p:txBody>
          <a:bodyPr wrap="square" lIns="0" tIns="0" rIns="0" bIns="0" rtlCol="0" anchor="ctr"/>
          <a:lstStyle/>
          <a:p>
            <a:pPr indent="0" marL="0">
              <a:buNone/>
            </a:pPr>
            <a:r>
              <a:rPr lang="en-US" sz="1250" b="1" dirty="0">
                <a:solidFill>
                  <a:srgbClr val="2F8A5B"/>
                </a:solidFill>
                <a:latin typeface="Calibri" pitchFamily="34" charset="0"/>
                <a:ea typeface="Calibri" pitchFamily="34" charset="-122"/>
                <a:cs typeface="Calibri" pitchFamily="34" charset="-120"/>
              </a:rPr>
              <a:t>Advantages
</a:t>
            </a:r>
            <a:endParaRPr lang="en-US" sz="1250" dirty="0"/>
          </a:p>
        </p:txBody>
      </p:sp>
      <p:sp>
        <p:nvSpPr>
          <p:cNvPr id="17" name="Text 15"/>
          <p:cNvSpPr txBox="1"/>
          <p:nvPr/>
        </p:nvSpPr>
        <p:spPr>
          <a:xfrm>
            <a:off x="6428232" y="3017520"/>
            <a:ext cx="4983480" cy="128016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Tailored to each customer; builds relationships</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Ideal for complex or high-value products</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Can upsell add-ons and close the sale</a:t>
            </a:r>
            <a:endParaRPr lang="en-US" sz="1200" dirty="0"/>
          </a:p>
        </p:txBody>
      </p:sp>
      <p:sp>
        <p:nvSpPr>
          <p:cNvPr id="18" name="Text 16"/>
          <p:cNvSpPr txBox="1"/>
          <p:nvPr/>
        </p:nvSpPr>
        <p:spPr>
          <a:xfrm>
            <a:off x="6428232" y="4251960"/>
            <a:ext cx="4983480" cy="274320"/>
          </a:xfrm>
          <a:prstGeom prst="rect">
            <a:avLst/>
          </a:prstGeom>
          <a:noFill/>
          <a:ln/>
        </p:spPr>
        <p:txBody>
          <a:bodyPr wrap="square" lIns="0" tIns="0" rIns="0" bIns="0" rtlCol="0" anchor="ctr"/>
          <a:lstStyle/>
          <a:p>
            <a:pPr indent="0" marL="0">
              <a:buNone/>
            </a:pPr>
            <a:r>
              <a:rPr lang="en-US" sz="1250" b="1" dirty="0">
                <a:solidFill>
                  <a:srgbClr val="C14B37"/>
                </a:solidFill>
                <a:latin typeface="Calibri" pitchFamily="34" charset="0"/>
                <a:ea typeface="Calibri" pitchFamily="34" charset="-122"/>
                <a:cs typeface="Calibri" pitchFamily="34" charset="-120"/>
              </a:rPr>
              <a:t>Disadvantages
</a:t>
            </a:r>
            <a:endParaRPr lang="en-US" sz="1250" dirty="0"/>
          </a:p>
        </p:txBody>
      </p:sp>
      <p:sp>
        <p:nvSpPr>
          <p:cNvPr id="19" name="Text 17"/>
          <p:cNvSpPr txBox="1"/>
          <p:nvPr/>
        </p:nvSpPr>
        <p:spPr>
          <a:xfrm>
            <a:off x="6428232" y="4526280"/>
            <a:ext cx="4983480" cy="128016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Expensive — salary, commission, training</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Limited reach (one customer at a time)</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Only worthwhile where margins are high</a:t>
            </a:r>
            <a:endParaRPr lang="en-US" sz="12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TYPES OF PROMOTION</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Choosing the right promotion</a:t>
            </a:r>
            <a:endParaRPr lang="en-US" sz="2800" dirty="0"/>
          </a:p>
        </p:txBody>
      </p:sp>
      <p:sp>
        <p:nvSpPr>
          <p:cNvPr id="4" name="Shape 2"/>
          <p:cNvSpPr/>
          <p:nvPr/>
        </p:nvSpPr>
        <p:spPr>
          <a:xfrm>
            <a:off x="548640" y="1417320"/>
            <a:ext cx="5486400" cy="4754880"/>
          </a:xfrm>
          <a:prstGeom prst="roundRect">
            <a:avLst>
              <a:gd name="adj" fmla="val 1538"/>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536192"/>
            <a:ext cx="5029200" cy="320040"/>
          </a:xfrm>
          <a:prstGeom prst="rect">
            <a:avLst/>
          </a:prstGeom>
          <a:noFill/>
          <a:ln/>
        </p:spPr>
        <p:txBody>
          <a:bodyPr wrap="square" lIns="0" tIns="0" rIns="0" bIns="0" rtlCol="0" anchor="ctr"/>
          <a:lstStyle/>
          <a:p>
            <a:pPr indent="0" marL="0">
              <a:buNone/>
            </a:pPr>
            <a:r>
              <a:rPr lang="en-US" sz="1400" b="1" dirty="0">
                <a:solidFill>
                  <a:srgbClr val="0B5E66"/>
                </a:solidFill>
                <a:latin typeface="Calibri" pitchFamily="34" charset="0"/>
                <a:ea typeface="Calibri" pitchFamily="34" charset="-122"/>
                <a:cs typeface="Calibri" pitchFamily="34" charset="-120"/>
              </a:rPr>
              <a:t>What affects the choice?</a:t>
            </a:r>
            <a:endParaRPr lang="en-US" sz="1400" dirty="0"/>
          </a:p>
        </p:txBody>
      </p:sp>
      <p:sp>
        <p:nvSpPr>
          <p:cNvPr id="6" name="Text 4"/>
          <p:cNvSpPr txBox="1"/>
          <p:nvPr/>
        </p:nvSpPr>
        <p:spPr>
          <a:xfrm>
            <a:off x="777240" y="1920240"/>
            <a:ext cx="5029200" cy="411480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Budget / cost — can the firm afford ATL?</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Market type — mass → ATL; niche → BTL</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Product type — complex/high-value → personal selling</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Stage of the product life cycle — launch = informative; maturity = persuasive/reminder</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Competitors' promotion</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Legal factors — e.g. restrictions on tobacco advertising</a:t>
            </a:r>
            <a:endParaRPr lang="en-US" sz="1250" dirty="0"/>
          </a:p>
        </p:txBody>
      </p:sp>
      <p:sp>
        <p:nvSpPr>
          <p:cNvPr id="7" name="Shape 5"/>
          <p:cNvSpPr/>
          <p:nvPr/>
        </p:nvSpPr>
        <p:spPr>
          <a:xfrm>
            <a:off x="6199632" y="1417320"/>
            <a:ext cx="5440680" cy="4754880"/>
          </a:xfrm>
          <a:prstGeom prst="roundRect">
            <a:avLst>
              <a:gd name="adj" fmla="val 1538"/>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8" name="Text 6"/>
          <p:cNvSpPr txBox="1"/>
          <p:nvPr/>
        </p:nvSpPr>
        <p:spPr>
          <a:xfrm>
            <a:off x="6428232" y="1536192"/>
            <a:ext cx="5029200" cy="320040"/>
          </a:xfrm>
          <a:prstGeom prst="rect">
            <a:avLst/>
          </a:prstGeom>
          <a:noFill/>
          <a:ln/>
        </p:spPr>
        <p:txBody>
          <a:bodyPr wrap="square" lIns="0" tIns="0" rIns="0" bIns="0" rtlCol="0" anchor="ctr"/>
          <a:lstStyle/>
          <a:p>
            <a:pPr indent="0" marL="0">
              <a:buNone/>
            </a:pPr>
            <a:r>
              <a:rPr lang="en-US" sz="1400" b="1" dirty="0">
                <a:solidFill>
                  <a:srgbClr val="0E3A43"/>
                </a:solidFill>
                <a:latin typeface="Calibri" pitchFamily="34" charset="0"/>
                <a:ea typeface="Calibri" pitchFamily="34" charset="-122"/>
                <a:cs typeface="Calibri" pitchFamily="34" charset="-120"/>
              </a:rPr>
              <a:t>Quick sort: ATL or BTL?</a:t>
            </a:r>
            <a:endParaRPr lang="en-US" sz="1400" dirty="0"/>
          </a:p>
        </p:txBody>
      </p:sp>
      <p:sp>
        <p:nvSpPr>
          <p:cNvPr id="9" name="Text 7"/>
          <p:cNvSpPr txBox="1"/>
          <p:nvPr/>
        </p:nvSpPr>
        <p:spPr>
          <a:xfrm>
            <a:off x="6428232" y="1965960"/>
            <a:ext cx="3657600" cy="457200"/>
          </a:xfrm>
          <a:prstGeom prst="rect">
            <a:avLst/>
          </a:prstGeom>
          <a:noFill/>
          <a:ln/>
        </p:spPr>
        <p:txBody>
          <a:bodyPr wrap="square" lIns="0" tIns="0" rIns="0" bIns="0" rtlCol="0" anchor="ctr"/>
          <a:lstStyle/>
          <a:p>
            <a:pPr indent="0" marL="0">
              <a:buNone/>
            </a:pPr>
            <a:r>
              <a:rPr lang="en-US" sz="1250" dirty="0">
                <a:solidFill>
                  <a:srgbClr val="1F2A33"/>
                </a:solidFill>
                <a:latin typeface="Calibri" pitchFamily="34" charset="0"/>
                <a:ea typeface="Calibri" pitchFamily="34" charset="-122"/>
                <a:cs typeface="Calibri" pitchFamily="34" charset="-120"/>
              </a:rPr>
              <a:t>A national housebuilder, country-wide</a:t>
            </a:r>
            <a:endParaRPr lang="en-US" sz="1250" dirty="0"/>
          </a:p>
        </p:txBody>
      </p:sp>
      <p:sp>
        <p:nvSpPr>
          <p:cNvPr id="10" name="Shape 8"/>
          <p:cNvSpPr/>
          <p:nvPr/>
        </p:nvSpPr>
        <p:spPr>
          <a:xfrm>
            <a:off x="10195560" y="2011680"/>
            <a:ext cx="1234440" cy="365760"/>
          </a:xfrm>
          <a:prstGeom prst="roundRect">
            <a:avLst>
              <a:gd name="adj" fmla="val 50000"/>
            </a:avLst>
          </a:prstGeom>
          <a:solidFill>
            <a:srgbClr val="0E7C86"/>
          </a:solidFill>
          <a:ln/>
        </p:spPr>
      </p:sp>
      <p:sp>
        <p:nvSpPr>
          <p:cNvPr id="11" name="Text 9"/>
          <p:cNvSpPr txBox="1"/>
          <p:nvPr/>
        </p:nvSpPr>
        <p:spPr>
          <a:xfrm>
            <a:off x="10195560" y="2011680"/>
            <a:ext cx="12344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ATL</a:t>
            </a:r>
            <a:endParaRPr lang="en-US" sz="1100" dirty="0"/>
          </a:p>
        </p:txBody>
      </p:sp>
      <p:sp>
        <p:nvSpPr>
          <p:cNvPr id="12" name="Text 10"/>
          <p:cNvSpPr txBox="1"/>
          <p:nvPr/>
        </p:nvSpPr>
        <p:spPr>
          <a:xfrm>
            <a:off x="6428232" y="2752344"/>
            <a:ext cx="3657600" cy="457200"/>
          </a:xfrm>
          <a:prstGeom prst="rect">
            <a:avLst/>
          </a:prstGeom>
          <a:noFill/>
          <a:ln/>
        </p:spPr>
        <p:txBody>
          <a:bodyPr wrap="square" lIns="0" tIns="0" rIns="0" bIns="0" rtlCol="0" anchor="ctr"/>
          <a:lstStyle/>
          <a:p>
            <a:pPr indent="0" marL="0">
              <a:buNone/>
            </a:pPr>
            <a:r>
              <a:rPr lang="en-US" sz="1250" dirty="0">
                <a:solidFill>
                  <a:srgbClr val="1F2A33"/>
                </a:solidFill>
                <a:latin typeface="Calibri" pitchFamily="34" charset="0"/>
                <a:ea typeface="Calibri" pitchFamily="34" charset="-122"/>
                <a:cs typeface="Calibri" pitchFamily="34" charset="-120"/>
              </a:rPr>
              <a:t>A new local florist opening</a:t>
            </a:r>
            <a:endParaRPr lang="en-US" sz="1250" dirty="0"/>
          </a:p>
        </p:txBody>
      </p:sp>
      <p:sp>
        <p:nvSpPr>
          <p:cNvPr id="13" name="Shape 11"/>
          <p:cNvSpPr/>
          <p:nvPr/>
        </p:nvSpPr>
        <p:spPr>
          <a:xfrm>
            <a:off x="10195560" y="2798064"/>
            <a:ext cx="1234440" cy="365760"/>
          </a:xfrm>
          <a:prstGeom prst="roundRect">
            <a:avLst>
              <a:gd name="adj" fmla="val 50000"/>
            </a:avLst>
          </a:prstGeom>
          <a:solidFill>
            <a:srgbClr val="E0940F"/>
          </a:solidFill>
          <a:ln/>
        </p:spPr>
      </p:sp>
      <p:sp>
        <p:nvSpPr>
          <p:cNvPr id="14" name="Text 12"/>
          <p:cNvSpPr txBox="1"/>
          <p:nvPr/>
        </p:nvSpPr>
        <p:spPr>
          <a:xfrm>
            <a:off x="10195560" y="2798064"/>
            <a:ext cx="12344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BTL</a:t>
            </a:r>
            <a:endParaRPr lang="en-US" sz="1100" dirty="0"/>
          </a:p>
        </p:txBody>
      </p:sp>
      <p:sp>
        <p:nvSpPr>
          <p:cNvPr id="15" name="Text 13"/>
          <p:cNvSpPr txBox="1"/>
          <p:nvPr/>
        </p:nvSpPr>
        <p:spPr>
          <a:xfrm>
            <a:off x="6428232" y="3538728"/>
            <a:ext cx="3657600" cy="457200"/>
          </a:xfrm>
          <a:prstGeom prst="rect">
            <a:avLst/>
          </a:prstGeom>
          <a:noFill/>
          <a:ln/>
        </p:spPr>
        <p:txBody>
          <a:bodyPr wrap="square" lIns="0" tIns="0" rIns="0" bIns="0" rtlCol="0" anchor="ctr"/>
          <a:lstStyle/>
          <a:p>
            <a:pPr indent="0" marL="0">
              <a:buNone/>
            </a:pPr>
            <a:r>
              <a:rPr lang="en-US" sz="1250" dirty="0">
                <a:solidFill>
                  <a:srgbClr val="1F2A33"/>
                </a:solidFill>
                <a:latin typeface="Calibri" pitchFamily="34" charset="0"/>
                <a:ea typeface="Calibri" pitchFamily="34" charset="-122"/>
                <a:cs typeface="Calibri" pitchFamily="34" charset="-120"/>
              </a:rPr>
              <a:t>A new VW Golf launch</a:t>
            </a:r>
            <a:endParaRPr lang="en-US" sz="1250" dirty="0"/>
          </a:p>
        </p:txBody>
      </p:sp>
      <p:sp>
        <p:nvSpPr>
          <p:cNvPr id="16" name="Shape 14"/>
          <p:cNvSpPr/>
          <p:nvPr/>
        </p:nvSpPr>
        <p:spPr>
          <a:xfrm>
            <a:off x="10195560" y="3584448"/>
            <a:ext cx="1234440" cy="365760"/>
          </a:xfrm>
          <a:prstGeom prst="roundRect">
            <a:avLst>
              <a:gd name="adj" fmla="val 50000"/>
            </a:avLst>
          </a:prstGeom>
          <a:solidFill>
            <a:srgbClr val="2F8A5B"/>
          </a:solidFill>
          <a:ln/>
        </p:spPr>
      </p:sp>
      <p:sp>
        <p:nvSpPr>
          <p:cNvPr id="17" name="Text 15"/>
          <p:cNvSpPr txBox="1"/>
          <p:nvPr/>
        </p:nvSpPr>
        <p:spPr>
          <a:xfrm>
            <a:off x="10195560" y="3584448"/>
            <a:ext cx="12344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ATL + BTL</a:t>
            </a:r>
            <a:endParaRPr lang="en-US" sz="1100" dirty="0"/>
          </a:p>
        </p:txBody>
      </p:sp>
      <p:sp>
        <p:nvSpPr>
          <p:cNvPr id="18" name="Text 16"/>
          <p:cNvSpPr txBox="1"/>
          <p:nvPr/>
        </p:nvSpPr>
        <p:spPr>
          <a:xfrm>
            <a:off x="6428232" y="4325112"/>
            <a:ext cx="3657600" cy="457200"/>
          </a:xfrm>
          <a:prstGeom prst="rect">
            <a:avLst/>
          </a:prstGeom>
          <a:noFill/>
          <a:ln/>
        </p:spPr>
        <p:txBody>
          <a:bodyPr wrap="square" lIns="0" tIns="0" rIns="0" bIns="0" rtlCol="0" anchor="ctr"/>
          <a:lstStyle/>
          <a:p>
            <a:pPr indent="0" marL="0">
              <a:buNone/>
            </a:pPr>
            <a:r>
              <a:rPr lang="en-US" sz="1250" dirty="0">
                <a:solidFill>
                  <a:srgbClr val="1F2A33"/>
                </a:solidFill>
                <a:latin typeface="Calibri" pitchFamily="34" charset="0"/>
                <a:ea typeface="Calibri" pitchFamily="34" charset="-122"/>
                <a:cs typeface="Calibri" pitchFamily="34" charset="-120"/>
              </a:rPr>
              <a:t>A local car dealership sales event</a:t>
            </a:r>
            <a:endParaRPr lang="en-US" sz="1250" dirty="0"/>
          </a:p>
        </p:txBody>
      </p:sp>
      <p:sp>
        <p:nvSpPr>
          <p:cNvPr id="19" name="Shape 17"/>
          <p:cNvSpPr/>
          <p:nvPr/>
        </p:nvSpPr>
        <p:spPr>
          <a:xfrm>
            <a:off x="10195560" y="4370832"/>
            <a:ext cx="1234440" cy="365760"/>
          </a:xfrm>
          <a:prstGeom prst="roundRect">
            <a:avLst>
              <a:gd name="adj" fmla="val 50000"/>
            </a:avLst>
          </a:prstGeom>
          <a:solidFill>
            <a:srgbClr val="E0940F"/>
          </a:solidFill>
          <a:ln/>
        </p:spPr>
      </p:sp>
      <p:sp>
        <p:nvSpPr>
          <p:cNvPr id="20" name="Text 18"/>
          <p:cNvSpPr txBox="1"/>
          <p:nvPr/>
        </p:nvSpPr>
        <p:spPr>
          <a:xfrm>
            <a:off x="10195560" y="4370832"/>
            <a:ext cx="12344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BTL</a:t>
            </a:r>
            <a:endParaRPr lang="en-US" sz="1100" dirty="0"/>
          </a:p>
        </p:txBody>
      </p:sp>
      <p:sp>
        <p:nvSpPr>
          <p:cNvPr id="21" name="Text 19"/>
          <p:cNvSpPr txBox="1"/>
          <p:nvPr/>
        </p:nvSpPr>
        <p:spPr>
          <a:xfrm>
            <a:off x="6428232" y="5111496"/>
            <a:ext cx="3657600" cy="457200"/>
          </a:xfrm>
          <a:prstGeom prst="rect">
            <a:avLst/>
          </a:prstGeom>
          <a:noFill/>
          <a:ln/>
        </p:spPr>
        <p:txBody>
          <a:bodyPr wrap="square" lIns="0" tIns="0" rIns="0" bIns="0" rtlCol="0" anchor="ctr"/>
          <a:lstStyle/>
          <a:p>
            <a:pPr indent="0" marL="0">
              <a:buNone/>
            </a:pPr>
            <a:r>
              <a:rPr lang="en-US" sz="1250" dirty="0">
                <a:solidFill>
                  <a:srgbClr val="1F2A33"/>
                </a:solidFill>
                <a:latin typeface="Calibri" pitchFamily="34" charset="0"/>
                <a:ea typeface="Calibri" pitchFamily="34" charset="-122"/>
                <a:cs typeface="Calibri" pitchFamily="34" charset="-120"/>
              </a:rPr>
              <a:t>A McDonald's Monopoly promotion</a:t>
            </a:r>
            <a:endParaRPr lang="en-US" sz="1250" dirty="0"/>
          </a:p>
        </p:txBody>
      </p:sp>
      <p:sp>
        <p:nvSpPr>
          <p:cNvPr id="22" name="Shape 20"/>
          <p:cNvSpPr/>
          <p:nvPr/>
        </p:nvSpPr>
        <p:spPr>
          <a:xfrm>
            <a:off x="10195560" y="5157216"/>
            <a:ext cx="1234440" cy="365760"/>
          </a:xfrm>
          <a:prstGeom prst="roundRect">
            <a:avLst>
              <a:gd name="adj" fmla="val 50000"/>
            </a:avLst>
          </a:prstGeom>
          <a:solidFill>
            <a:srgbClr val="2F8A5B"/>
          </a:solidFill>
          <a:ln/>
        </p:spPr>
      </p:sp>
      <p:sp>
        <p:nvSpPr>
          <p:cNvPr id="23" name="Text 21"/>
          <p:cNvSpPr txBox="1"/>
          <p:nvPr/>
        </p:nvSpPr>
        <p:spPr>
          <a:xfrm>
            <a:off x="10195560" y="5157216"/>
            <a:ext cx="12344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ATL + BTL</a:t>
            </a:r>
            <a:endParaRPr lang="en-US" sz="11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EXAM PRACTICE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Exam practice: promotion</a:t>
            </a:r>
            <a:endParaRPr lang="en-US" sz="2800" dirty="0"/>
          </a:p>
        </p:txBody>
      </p:sp>
      <p:sp>
        <p:nvSpPr>
          <p:cNvPr id="4" name="Shape 2"/>
          <p:cNvSpPr/>
          <p:nvPr/>
        </p:nvSpPr>
        <p:spPr>
          <a:xfrm>
            <a:off x="548640" y="1371600"/>
            <a:ext cx="11091672" cy="1874520"/>
          </a:xfrm>
          <a:prstGeom prst="roundRect">
            <a:avLst>
              <a:gd name="adj" fmla="val 3902"/>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5486400" cy="274320"/>
          </a:xfrm>
          <a:prstGeom prst="rect">
            <a:avLst/>
          </a:prstGeom>
          <a:noFill/>
          <a:ln/>
        </p:spPr>
        <p:txBody>
          <a:bodyPr wrap="square" lIns="0" tIns="0" rIns="0" bIns="0" rtlCol="0" anchor="ctr"/>
          <a:lstStyle/>
          <a:p>
            <a:pPr indent="0" marL="0">
              <a:buNone/>
            </a:pPr>
            <a:r>
              <a:rPr lang="en-US" sz="1100" b="1" spc="150" kern="0" dirty="0">
                <a:solidFill>
                  <a:srgbClr val="7FC4CB"/>
                </a:solidFill>
                <a:latin typeface="Calibri" pitchFamily="34" charset="0"/>
                <a:ea typeface="Calibri" pitchFamily="34" charset="-122"/>
                <a:cs typeface="Calibri" pitchFamily="34" charset="-120"/>
              </a:rPr>
              <a:t>EXAM QUESTIONS</a:t>
            </a:r>
            <a:endParaRPr lang="en-US" sz="1100" dirty="0"/>
          </a:p>
        </p:txBody>
      </p:sp>
      <p:sp>
        <p:nvSpPr>
          <p:cNvPr id="6" name="Text 4"/>
          <p:cNvSpPr txBox="1"/>
          <p:nvPr/>
        </p:nvSpPr>
        <p:spPr>
          <a:xfrm>
            <a:off x="777240" y="1792224"/>
            <a:ext cx="10607040" cy="132588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Define the term ‘below-the-line promotion’.  </a:t>
            </a:r>
            <a:pPr indent="0" marL="0">
              <a:spcAft>
                <a:spcPts val="800"/>
              </a:spcAft>
              <a:buNone/>
            </a:pPr>
            <a:r>
              <a:rPr lang="en-US" sz="1350" b="1" dirty="0">
                <a:solidFill>
                  <a:srgbClr val="E0940F"/>
                </a:solidFill>
                <a:latin typeface="Calibri" pitchFamily="34" charset="0"/>
                <a:ea typeface="Calibri" pitchFamily="34" charset="-122"/>
                <a:cs typeface="Calibri" pitchFamily="34" charset="-120"/>
              </a:rPr>
              <a:t>[2]</a:t>
            </a:r>
            <a:endParaRPr lang="en-US" sz="1350" dirty="0"/>
          </a:p>
          <a:p>
            <a:pPr indent="0" marL="0">
              <a:buNone/>
            </a:pPr>
            <a:r>
              <a:rPr lang="en-US" sz="1350" dirty="0">
                <a:solidFill>
                  <a:srgbClr val="FFFFFF"/>
                </a:solidFill>
                <a:latin typeface="Calibri" pitchFamily="34" charset="0"/>
                <a:ea typeface="Calibri" pitchFamily="34" charset="-122"/>
                <a:cs typeface="Calibri" pitchFamily="34" charset="-120"/>
              </a:rPr>
              <a:t>Analyse two benefits to a local florist of using below-the-line promotion.  </a:t>
            </a:r>
            <a:pPr indent="0" marL="0">
              <a:spcAft>
                <a:spcPts val="800"/>
              </a:spcAft>
              <a:buNone/>
            </a:pPr>
            <a:r>
              <a:rPr lang="en-US" sz="1350" b="1" dirty="0">
                <a:solidFill>
                  <a:srgbClr val="E0940F"/>
                </a:solidFill>
                <a:latin typeface="Calibri" pitchFamily="34" charset="0"/>
                <a:ea typeface="Calibri" pitchFamily="34" charset="-122"/>
                <a:cs typeface="Calibri" pitchFamily="34" charset="-120"/>
              </a:rPr>
              <a:t>[6]</a:t>
            </a:r>
            <a:endParaRPr lang="en-US" sz="1350" dirty="0"/>
          </a:p>
        </p:txBody>
      </p:sp>
      <p:sp>
        <p:nvSpPr>
          <p:cNvPr id="7" name="Shape 5"/>
          <p:cNvSpPr/>
          <p:nvPr/>
        </p:nvSpPr>
        <p:spPr>
          <a:xfrm>
            <a:off x="548640" y="3364992"/>
            <a:ext cx="5029200" cy="2834640"/>
          </a:xfrm>
          <a:prstGeom prst="roundRect">
            <a:avLst>
              <a:gd name="adj" fmla="val 2581"/>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3474720"/>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What the question is testing</a:t>
            </a:r>
            <a:endParaRPr lang="en-US" sz="1300" dirty="0"/>
          </a:p>
        </p:txBody>
      </p:sp>
      <p:sp>
        <p:nvSpPr>
          <p:cNvPr id="9" name="Text 7"/>
          <p:cNvSpPr txBox="1"/>
          <p:nvPr/>
        </p:nvSpPr>
        <p:spPr>
          <a:xfrm>
            <a:off x="749808" y="3840480"/>
            <a:ext cx="461772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2-mark Define: meaning (1) + an example such as sales promotion or PR (1).</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6-mark Analyse (K2 A2 An2): two benefits, each applied to the florist, each with a developed chain.</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No judgement needed at 6 marks.</a:t>
            </a:r>
            <a:endParaRPr lang="en-US" sz="1250" dirty="0"/>
          </a:p>
        </p:txBody>
      </p:sp>
      <p:sp>
        <p:nvSpPr>
          <p:cNvPr id="10" name="Shape 8"/>
          <p:cNvSpPr/>
          <p:nvPr/>
        </p:nvSpPr>
        <p:spPr>
          <a:xfrm>
            <a:off x="5788152" y="3364992"/>
            <a:ext cx="5852160" cy="2834640"/>
          </a:xfrm>
          <a:prstGeom prst="roundRect">
            <a:avLst>
              <a:gd name="adj" fmla="val 2581"/>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3474720"/>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How to build the 6-mark answer (twice)</a:t>
            </a:r>
            <a:endParaRPr lang="en-US" sz="1300" dirty="0"/>
          </a:p>
        </p:txBody>
      </p:sp>
      <p:sp>
        <p:nvSpPr>
          <p:cNvPr id="12" name="Text 10"/>
          <p:cNvSpPr txBox="1"/>
          <p:nvPr/>
        </p:nvSpPr>
        <p:spPr>
          <a:xfrm>
            <a:off x="5989320" y="3840480"/>
            <a:ext cx="544068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POINT (K): name a benefit of BTL (targeted, low-cost, controllable).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APPLY (A): link to the florist — e.g. local leaflets/Instagram reach nearby customers cheaply.</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CHAIN (An): “This means… therefore…” — low cost per customer → affordable for a small budget → more local sales.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Repeat for a second, different benefit (e.g. control over the message/targeting).</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B</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B</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300" b="1" dirty="0">
                <a:solidFill>
                  <a:srgbClr val="FFFFFF"/>
                </a:solidFill>
                <a:latin typeface="Cambria" pitchFamily="34" charset="0"/>
                <a:ea typeface="Cambria" pitchFamily="34" charset="-122"/>
                <a:cs typeface="Cambria" pitchFamily="34" charset="-120"/>
              </a:rPr>
              <a:t>Types &amp; benefits of branding</a:t>
            </a:r>
            <a:endParaRPr lang="en-US" sz="33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what a brand is  ·  manufacturer, product, own-label &amp; rebranding  ·  the benefits of strong branding: added value, premium prices, reduced PED</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TYPES OF BRANDING</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Types of branding</a:t>
            </a:r>
            <a:endParaRPr lang="en-US" sz="2800" dirty="0"/>
          </a:p>
        </p:txBody>
      </p:sp>
      <p:sp>
        <p:nvSpPr>
          <p:cNvPr id="4" name="Shape 2"/>
          <p:cNvSpPr/>
          <p:nvPr/>
        </p:nvSpPr>
        <p:spPr>
          <a:xfrm>
            <a:off x="548640" y="1371600"/>
            <a:ext cx="11091672" cy="658368"/>
          </a:xfrm>
          <a:prstGeom prst="roundRect">
            <a:avLst>
              <a:gd name="adj" fmla="val 11111"/>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44752"/>
            <a:ext cx="10698480" cy="512064"/>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A brand =  </a:t>
            </a:r>
            <a:pPr indent="0" marL="0">
              <a:buNone/>
            </a:pPr>
            <a:r>
              <a:rPr lang="en-US" sz="1300" dirty="0">
                <a:solidFill>
                  <a:srgbClr val="1F2A33"/>
                </a:solidFill>
                <a:latin typeface="Calibri" pitchFamily="34" charset="0"/>
                <a:ea typeface="Calibri" pitchFamily="34" charset="-122"/>
                <a:cs typeface="Calibri" pitchFamily="34" charset="-120"/>
              </a:rPr>
              <a:t>a name, symbol or design that distinguishes one supplier's product from another, and carries its reputation.</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11091672" cy="914400"/>
        </p:xfrm>
        <a:graphic>
          <a:graphicData uri="http://schemas.openxmlformats.org/drawingml/2006/table">
            <a:tbl>
              <a:tblPr/>
              <a:tblGrid>
                <a:gridCol w="2286000"/>
                <a:gridCol w="3959352"/>
                <a:gridCol w="2423160"/>
                <a:gridCol w="2423160"/>
              </a:tblGrid>
              <a:tr h="411480">
                <a:tc>
                  <a:txBody>
                    <a:bodyPr/>
                    <a:lstStyle/>
                    <a:p>
                      <a:pPr algn="l" indent="0" marL="0">
                        <a:buNone/>
                      </a:pPr>
                      <a:r>
                        <a:rPr lang="en-US" sz="1180" b="1" dirty="0">
                          <a:solidFill>
                            <a:srgbClr val="FFFFFF"/>
                          </a:solidFill>
                          <a:latin typeface="Calibri" pitchFamily="34" charset="0"/>
                          <a:ea typeface="Calibri" pitchFamily="34" charset="-122"/>
                          <a:cs typeface="Calibri" pitchFamily="34" charset="-120"/>
                        </a:rPr>
                        <a:t>Type</a:t>
                      </a:r>
                      <a:endParaRPr lang="en-US" sz="118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l" indent="0" marL="0">
                        <a:buNone/>
                      </a:pPr>
                      <a:r>
                        <a:rPr lang="en-US" sz="1180" b="1" dirty="0">
                          <a:solidFill>
                            <a:srgbClr val="FFFFFF"/>
                          </a:solidFill>
                          <a:latin typeface="Calibri" pitchFamily="34" charset="0"/>
                          <a:ea typeface="Calibri" pitchFamily="34" charset="-122"/>
                          <a:cs typeface="Calibri" pitchFamily="34" charset="-120"/>
                        </a:rPr>
                        <a:t>What it is (example)</a:t>
                      </a:r>
                      <a:endParaRPr lang="en-US" sz="118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l" indent="0" marL="0">
                        <a:buNone/>
                      </a:pPr>
                      <a:r>
                        <a:rPr lang="en-US" sz="1180" b="1" dirty="0">
                          <a:solidFill>
                            <a:srgbClr val="FFFFFF"/>
                          </a:solidFill>
                          <a:latin typeface="Calibri" pitchFamily="34" charset="0"/>
                          <a:ea typeface="Calibri" pitchFamily="34" charset="-122"/>
                          <a:cs typeface="Calibri" pitchFamily="34" charset="-120"/>
                        </a:rPr>
                        <a:t>Main benefit</a:t>
                      </a:r>
                      <a:endParaRPr lang="en-US" sz="118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l" indent="0" marL="0">
                        <a:buNone/>
                      </a:pPr>
                      <a:r>
                        <a:rPr lang="en-US" sz="1180" b="1" dirty="0">
                          <a:solidFill>
                            <a:srgbClr val="FFFFFF"/>
                          </a:solidFill>
                          <a:latin typeface="Calibri" pitchFamily="34" charset="0"/>
                          <a:ea typeface="Calibri" pitchFamily="34" charset="-122"/>
                          <a:cs typeface="Calibri" pitchFamily="34" charset="-120"/>
                        </a:rPr>
                        <a:t>Main drawback</a:t>
                      </a:r>
                      <a:endParaRPr lang="en-US" sz="118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r>
              <a:tr h="749808">
                <a:tc>
                  <a:txBody>
                    <a:bodyPr/>
                    <a:lstStyle/>
                    <a:p>
                      <a:pPr algn="l" indent="0" marL="0">
                        <a:buNone/>
                      </a:pPr>
                      <a:r>
                        <a:rPr lang="en-US" sz="1180" dirty="0">
                          <a:solidFill>
                            <a:srgbClr val="1F2A33"/>
                          </a:solidFill>
                          <a:latin typeface="Calibri" pitchFamily="34" charset="0"/>
                          <a:ea typeface="Calibri" pitchFamily="34" charset="-122"/>
                          <a:cs typeface="Calibri" pitchFamily="34" charset="-120"/>
                        </a:rPr>
                        <a:t>Manufacturer / corporate</a:t>
                      </a:r>
                      <a:endParaRPr lang="en-US" sz="118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180" dirty="0">
                          <a:solidFill>
                            <a:srgbClr val="1F2A33"/>
                          </a:solidFill>
                          <a:latin typeface="Calibri" pitchFamily="34" charset="0"/>
                          <a:ea typeface="Calibri" pitchFamily="34" charset="-122"/>
                          <a:cs typeface="Calibri" pitchFamily="34" charset="-120"/>
                        </a:rPr>
                        <a:t>The maker's brand across its products (Coca-Cola, Nestlé, Kellogg's)</a:t>
                      </a:r>
                      <a:endParaRPr lang="en-US" sz="118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180" dirty="0">
                          <a:solidFill>
                            <a:srgbClr val="1F2A33"/>
                          </a:solidFill>
                          <a:latin typeface="Calibri" pitchFamily="34" charset="0"/>
                          <a:ea typeface="Calibri" pitchFamily="34" charset="-122"/>
                          <a:cs typeface="Calibri" pitchFamily="34" charset="-120"/>
                        </a:rPr>
                        <a:t>Global awareness; spreads marketing cost</a:t>
                      </a:r>
                      <a:endParaRPr lang="en-US" sz="118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180" dirty="0">
                          <a:solidFill>
                            <a:srgbClr val="1F2A33"/>
                          </a:solidFill>
                          <a:latin typeface="Calibri" pitchFamily="34" charset="0"/>
                          <a:ea typeface="Calibri" pitchFamily="34" charset="-122"/>
                          <a:cs typeface="Calibri" pitchFamily="34" charset="-120"/>
                        </a:rPr>
                        <a:t>One scandal can damage the whole brand</a:t>
                      </a:r>
                      <a:endParaRPr lang="en-US" sz="118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749808">
                <a:tc>
                  <a:txBody>
                    <a:bodyPr/>
                    <a:lstStyle/>
                    <a:p>
                      <a:pPr algn="l" indent="0" marL="0">
                        <a:buNone/>
                      </a:pPr>
                      <a:r>
                        <a:rPr lang="en-US" sz="1180" dirty="0">
                          <a:solidFill>
                            <a:srgbClr val="1F2A33"/>
                          </a:solidFill>
                          <a:latin typeface="Calibri" pitchFamily="34" charset="0"/>
                          <a:ea typeface="Calibri" pitchFamily="34" charset="-122"/>
                          <a:cs typeface="Calibri" pitchFamily="34" charset="-120"/>
                        </a:rPr>
                        <a:t>Product</a:t>
                      </a:r>
                      <a:endParaRPr lang="en-US" sz="118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180" dirty="0">
                          <a:solidFill>
                            <a:srgbClr val="1F2A33"/>
                          </a:solidFill>
                          <a:latin typeface="Calibri" pitchFamily="34" charset="0"/>
                          <a:ea typeface="Calibri" pitchFamily="34" charset="-122"/>
                          <a:cs typeface="Calibri" pitchFamily="34" charset="-120"/>
                        </a:rPr>
                        <a:t>Each product has its own identity/colour (KitKat red, Dairy Milk purple)</a:t>
                      </a:r>
                      <a:endParaRPr lang="en-US" sz="118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180" dirty="0">
                          <a:solidFill>
                            <a:srgbClr val="1F2A33"/>
                          </a:solidFill>
                          <a:latin typeface="Calibri" pitchFamily="34" charset="0"/>
                          <a:ea typeface="Calibri" pitchFamily="34" charset="-122"/>
                          <a:cs typeface="Calibri" pitchFamily="34" charset="-120"/>
                        </a:rPr>
                        <a:t>Strong differentiation; premium prices</a:t>
                      </a:r>
                      <a:endParaRPr lang="en-US" sz="118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180" dirty="0">
                          <a:solidFill>
                            <a:srgbClr val="1F2A33"/>
                          </a:solidFill>
                          <a:latin typeface="Calibri" pitchFamily="34" charset="0"/>
                          <a:ea typeface="Calibri" pitchFamily="34" charset="-122"/>
                          <a:cs typeface="Calibri" pitchFamily="34" charset="-120"/>
                        </a:rPr>
                        <a:t>Costly and slow; limits range flexibility</a:t>
                      </a:r>
                      <a:endParaRPr lang="en-US" sz="118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658368">
                <a:tc>
                  <a:txBody>
                    <a:bodyPr/>
                    <a:lstStyle/>
                    <a:p>
                      <a:pPr algn="l" indent="0" marL="0">
                        <a:buNone/>
                      </a:pPr>
                      <a:r>
                        <a:rPr lang="en-US" sz="1180" dirty="0">
                          <a:solidFill>
                            <a:srgbClr val="1F2A33"/>
                          </a:solidFill>
                          <a:latin typeface="Calibri" pitchFamily="34" charset="0"/>
                          <a:ea typeface="Calibri" pitchFamily="34" charset="-122"/>
                          <a:cs typeface="Calibri" pitchFamily="34" charset="-120"/>
                        </a:rPr>
                        <a:t>Own-label</a:t>
                      </a:r>
                      <a:endParaRPr lang="en-US" sz="118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180" dirty="0">
                          <a:solidFill>
                            <a:srgbClr val="1F2A33"/>
                          </a:solidFill>
                          <a:latin typeface="Calibri" pitchFamily="34" charset="0"/>
                          <a:ea typeface="Calibri" pitchFamily="34" charset="-122"/>
                          <a:cs typeface="Calibri" pitchFamily="34" charset="-120"/>
                        </a:rPr>
                        <a:t>Made for a retailer under its name (Tesco Value, Spinneys)</a:t>
                      </a:r>
                      <a:endParaRPr lang="en-US" sz="118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180" dirty="0">
                          <a:solidFill>
                            <a:srgbClr val="1F2A33"/>
                          </a:solidFill>
                          <a:latin typeface="Calibri" pitchFamily="34" charset="0"/>
                          <a:ea typeface="Calibri" pitchFamily="34" charset="-122"/>
                          <a:cs typeface="Calibri" pitchFamily="34" charset="-120"/>
                        </a:rPr>
                        <a:t>Builds store loyalty; cheaper to offer</a:t>
                      </a:r>
                      <a:endParaRPr lang="en-US" sz="118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180" dirty="0">
                          <a:solidFill>
                            <a:srgbClr val="1F2A33"/>
                          </a:solidFill>
                          <a:latin typeface="Calibri" pitchFamily="34" charset="0"/>
                          <a:ea typeface="Calibri" pitchFamily="34" charset="-122"/>
                          <a:cs typeface="Calibri" pitchFamily="34" charset="-120"/>
                        </a:rPr>
                        <a:t>Mixed quality perception</a:t>
                      </a:r>
                      <a:endParaRPr lang="en-US" sz="118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658368">
                <a:tc>
                  <a:txBody>
                    <a:bodyPr/>
                    <a:lstStyle/>
                    <a:p>
                      <a:pPr algn="l" indent="0" marL="0">
                        <a:buNone/>
                      </a:pPr>
                      <a:r>
                        <a:rPr lang="en-US" sz="1180" dirty="0">
                          <a:solidFill>
                            <a:srgbClr val="1F2A33"/>
                          </a:solidFill>
                          <a:latin typeface="Calibri" pitchFamily="34" charset="0"/>
                          <a:ea typeface="Calibri" pitchFamily="34" charset="-122"/>
                          <a:cs typeface="Calibri" pitchFamily="34" charset="-120"/>
                        </a:rPr>
                        <a:t>Generic</a:t>
                      </a:r>
                      <a:endParaRPr lang="en-US" sz="118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180" dirty="0">
                          <a:solidFill>
                            <a:srgbClr val="1F2A33"/>
                          </a:solidFill>
                          <a:latin typeface="Calibri" pitchFamily="34" charset="0"/>
                          <a:ea typeface="Calibri" pitchFamily="34" charset="-122"/>
                          <a:cs typeface="Calibri" pitchFamily="34" charset="-120"/>
                        </a:rPr>
                        <a:t>Category name only, no brand (paracetamol, salt, foil)</a:t>
                      </a:r>
                      <a:endParaRPr lang="en-US" sz="118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180" dirty="0">
                          <a:solidFill>
                            <a:srgbClr val="1F2A33"/>
                          </a:solidFill>
                          <a:latin typeface="Calibri" pitchFamily="34" charset="0"/>
                          <a:ea typeface="Calibri" pitchFamily="34" charset="-122"/>
                          <a:cs typeface="Calibri" pitchFamily="34" charset="-120"/>
                        </a:rPr>
                        <a:t>Lowest price</a:t>
                      </a:r>
                      <a:endParaRPr lang="en-US" sz="118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180" dirty="0">
                          <a:solidFill>
                            <a:srgbClr val="1F2A33"/>
                          </a:solidFill>
                          <a:latin typeface="Calibri" pitchFamily="34" charset="0"/>
                          <a:ea typeface="Calibri" pitchFamily="34" charset="-122"/>
                          <a:cs typeface="Calibri" pitchFamily="34" charset="-120"/>
                        </a:rPr>
                        <a:t>Tiny share; no loyalty or premium</a:t>
                      </a:r>
                      <a:endParaRPr lang="en-US" sz="118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749808">
                <a:tc>
                  <a:txBody>
                    <a:bodyPr/>
                    <a:lstStyle/>
                    <a:p>
                      <a:pPr algn="l" indent="0" marL="0">
                        <a:buNone/>
                      </a:pPr>
                      <a:r>
                        <a:rPr lang="en-US" sz="1180" dirty="0">
                          <a:solidFill>
                            <a:srgbClr val="1F2A33"/>
                          </a:solidFill>
                          <a:latin typeface="Calibri" pitchFamily="34" charset="0"/>
                          <a:ea typeface="Calibri" pitchFamily="34" charset="-122"/>
                          <a:cs typeface="Calibri" pitchFamily="34" charset="-120"/>
                        </a:rPr>
                        <a:t>Rebranding</a:t>
                      </a:r>
                      <a:endParaRPr lang="en-US" sz="118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180" dirty="0">
                          <a:solidFill>
                            <a:srgbClr val="1F2A33"/>
                          </a:solidFill>
                          <a:latin typeface="Calibri" pitchFamily="34" charset="0"/>
                          <a:ea typeface="Calibri" pitchFamily="34" charset="-122"/>
                          <a:cs typeface="Calibri" pitchFamily="34" charset="-120"/>
                        </a:rPr>
                        <a:t>New name/symbol/design for an existing brand (Old Spice, Jif→Cif)</a:t>
                      </a:r>
                      <a:endParaRPr lang="en-US" sz="118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180" dirty="0">
                          <a:solidFill>
                            <a:srgbClr val="1F2A33"/>
                          </a:solidFill>
                          <a:latin typeface="Calibri" pitchFamily="34" charset="0"/>
                          <a:ea typeface="Calibri" pitchFamily="34" charset="-122"/>
                          <a:cs typeface="Calibri" pitchFamily="34" charset="-120"/>
                        </a:rPr>
                        <a:t>Revives a tired brand</a:t>
                      </a:r>
                      <a:endParaRPr lang="en-US" sz="118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180" dirty="0">
                          <a:solidFill>
                            <a:srgbClr val="1F2A33"/>
                          </a:solidFill>
                          <a:latin typeface="Calibri" pitchFamily="34" charset="0"/>
                          <a:ea typeface="Calibri" pitchFamily="34" charset="-122"/>
                          <a:cs typeface="Calibri" pitchFamily="34" charset="-120"/>
                        </a:rPr>
                        <a:t>Risk of alienating loyal customers</a:t>
                      </a:r>
                      <a:endParaRPr lang="en-US" sz="118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BENEFITS OF BRANDING</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The benefits of strong branding — the chain</a:t>
            </a:r>
            <a:endParaRPr lang="en-US" sz="2800" dirty="0"/>
          </a:p>
        </p:txBody>
      </p:sp>
      <p:sp>
        <p:nvSpPr>
          <p:cNvPr id="4" name="Shape 2"/>
          <p:cNvSpPr/>
          <p:nvPr/>
        </p:nvSpPr>
        <p:spPr>
          <a:xfrm>
            <a:off x="548640" y="1371600"/>
            <a:ext cx="11091672" cy="658368"/>
          </a:xfrm>
          <a:prstGeom prst="roundRect">
            <a:avLst>
              <a:gd name="adj" fmla="val 11111"/>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44752"/>
            <a:ext cx="10698480" cy="512064"/>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The spec names three benefits:  </a:t>
            </a:r>
            <a:pPr indent="0" marL="0">
              <a:buNone/>
            </a:pPr>
            <a:r>
              <a:rPr lang="en-US" sz="1300" dirty="0">
                <a:solidFill>
                  <a:srgbClr val="1F2A33"/>
                </a:solidFill>
                <a:latin typeface="Calibri" pitchFamily="34" charset="0"/>
                <a:ea typeface="Calibri" pitchFamily="34" charset="-122"/>
                <a:cs typeface="Calibri" pitchFamily="34" charset="-120"/>
              </a:rPr>
              <a:t>added value, the ability to charge premium prices, and reduced price elasticity of demand (PED). They build on each other.</a:t>
            </a:r>
            <a:endParaRPr lang="en-US" sz="1300" dirty="0"/>
          </a:p>
        </p:txBody>
      </p:sp>
      <p:sp>
        <p:nvSpPr>
          <p:cNvPr id="6" name="Shape 4"/>
          <p:cNvSpPr/>
          <p:nvPr/>
        </p:nvSpPr>
        <p:spPr>
          <a:xfrm>
            <a:off x="548640" y="2240280"/>
            <a:ext cx="3456432" cy="1828800"/>
          </a:xfrm>
          <a:prstGeom prst="roundRect">
            <a:avLst>
              <a:gd name="adj" fmla="val 40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7" name="Shape 5"/>
          <p:cNvSpPr/>
          <p:nvPr/>
        </p:nvSpPr>
        <p:spPr>
          <a:xfrm>
            <a:off x="548640" y="2240280"/>
            <a:ext cx="3456432" cy="91440"/>
          </a:xfrm>
          <a:prstGeom prst="roundRect">
            <a:avLst/>
          </a:prstGeom>
          <a:solidFill>
            <a:srgbClr val="0E7C86"/>
          </a:solidFill>
          <a:ln/>
        </p:spPr>
      </p:sp>
      <p:sp>
        <p:nvSpPr>
          <p:cNvPr id="8" name="Text 6"/>
          <p:cNvSpPr txBox="1"/>
          <p:nvPr/>
        </p:nvSpPr>
        <p:spPr>
          <a:xfrm>
            <a:off x="731520" y="2450592"/>
            <a:ext cx="3090672" cy="457200"/>
          </a:xfrm>
          <a:prstGeom prst="rect">
            <a:avLst/>
          </a:prstGeom>
          <a:noFill/>
          <a:ln/>
        </p:spPr>
        <p:txBody>
          <a:bodyPr wrap="square" lIns="0" tIns="0" rIns="0" bIns="0" rtlCol="0" anchor="ctr"/>
          <a:lstStyle/>
          <a:p>
            <a:pPr indent="0" marL="0">
              <a:buNone/>
            </a:pPr>
            <a:r>
              <a:rPr lang="en-US" sz="1500" b="1" dirty="0">
                <a:solidFill>
                  <a:srgbClr val="0E7C86"/>
                </a:solidFill>
                <a:latin typeface="Calibri" pitchFamily="34" charset="0"/>
                <a:ea typeface="Calibri" pitchFamily="34" charset="-122"/>
                <a:cs typeface="Calibri" pitchFamily="34" charset="-120"/>
              </a:rPr>
              <a:t>1 · Added value</a:t>
            </a:r>
            <a:endParaRPr lang="en-US" sz="1500" dirty="0"/>
          </a:p>
        </p:txBody>
      </p:sp>
      <p:sp>
        <p:nvSpPr>
          <p:cNvPr id="9" name="Text 7"/>
          <p:cNvSpPr txBox="1"/>
          <p:nvPr/>
        </p:nvSpPr>
        <p:spPr>
          <a:xfrm>
            <a:off x="731520" y="2926080"/>
            <a:ext cx="3090672" cy="105156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Customers perceive higher quality or status, so the brand is worth more than an unbranded rival</a:t>
            </a:r>
            <a:endParaRPr lang="en-US" sz="1250" dirty="0"/>
          </a:p>
        </p:txBody>
      </p:sp>
      <p:sp>
        <p:nvSpPr>
          <p:cNvPr id="10" name="Shape 8"/>
          <p:cNvSpPr/>
          <p:nvPr/>
        </p:nvSpPr>
        <p:spPr>
          <a:xfrm>
            <a:off x="4023360" y="2971800"/>
            <a:ext cx="301752" cy="365760"/>
          </a:xfrm>
          <a:prstGeom prst="rightArrow">
            <a:avLst/>
          </a:prstGeom>
          <a:solidFill>
            <a:srgbClr val="5B6B73"/>
          </a:solidFill>
          <a:ln/>
        </p:spPr>
      </p:sp>
      <p:sp>
        <p:nvSpPr>
          <p:cNvPr id="11" name="Shape 9"/>
          <p:cNvSpPr/>
          <p:nvPr/>
        </p:nvSpPr>
        <p:spPr>
          <a:xfrm>
            <a:off x="4343400" y="2240280"/>
            <a:ext cx="3456432" cy="1828800"/>
          </a:xfrm>
          <a:prstGeom prst="roundRect">
            <a:avLst>
              <a:gd name="adj" fmla="val 40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2" name="Shape 10"/>
          <p:cNvSpPr/>
          <p:nvPr/>
        </p:nvSpPr>
        <p:spPr>
          <a:xfrm>
            <a:off x="4343400" y="2240280"/>
            <a:ext cx="3456432" cy="91440"/>
          </a:xfrm>
          <a:prstGeom prst="roundRect">
            <a:avLst/>
          </a:prstGeom>
          <a:solidFill>
            <a:srgbClr val="E0940F"/>
          </a:solidFill>
          <a:ln/>
        </p:spPr>
      </p:sp>
      <p:sp>
        <p:nvSpPr>
          <p:cNvPr id="13" name="Text 11"/>
          <p:cNvSpPr txBox="1"/>
          <p:nvPr/>
        </p:nvSpPr>
        <p:spPr>
          <a:xfrm>
            <a:off x="4526280" y="2450592"/>
            <a:ext cx="3090672" cy="457200"/>
          </a:xfrm>
          <a:prstGeom prst="rect">
            <a:avLst/>
          </a:prstGeom>
          <a:noFill/>
          <a:ln/>
        </p:spPr>
        <p:txBody>
          <a:bodyPr wrap="square" lIns="0" tIns="0" rIns="0" bIns="0" rtlCol="0" anchor="ctr"/>
          <a:lstStyle/>
          <a:p>
            <a:pPr indent="0" marL="0">
              <a:buNone/>
            </a:pPr>
            <a:r>
              <a:rPr lang="en-US" sz="1500" b="1" dirty="0">
                <a:solidFill>
                  <a:srgbClr val="E0940F"/>
                </a:solidFill>
                <a:latin typeface="Calibri" pitchFamily="34" charset="0"/>
                <a:ea typeface="Calibri" pitchFamily="34" charset="-122"/>
                <a:cs typeface="Calibri" pitchFamily="34" charset="-120"/>
              </a:rPr>
              <a:t>2 · Premium prices</a:t>
            </a:r>
            <a:endParaRPr lang="en-US" sz="1500" dirty="0"/>
          </a:p>
        </p:txBody>
      </p:sp>
      <p:sp>
        <p:nvSpPr>
          <p:cNvPr id="14" name="Text 12"/>
          <p:cNvSpPr txBox="1"/>
          <p:nvPr/>
        </p:nvSpPr>
        <p:spPr>
          <a:xfrm>
            <a:off x="4526280" y="2926080"/>
            <a:ext cx="3090672" cy="105156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A recognised, trusted brand can charge more than competitors for a similar product</a:t>
            </a:r>
            <a:endParaRPr lang="en-US" sz="1250" dirty="0"/>
          </a:p>
        </p:txBody>
      </p:sp>
      <p:sp>
        <p:nvSpPr>
          <p:cNvPr id="15" name="Shape 13"/>
          <p:cNvSpPr/>
          <p:nvPr/>
        </p:nvSpPr>
        <p:spPr>
          <a:xfrm>
            <a:off x="7818120" y="2971800"/>
            <a:ext cx="301752" cy="365760"/>
          </a:xfrm>
          <a:prstGeom prst="rightArrow">
            <a:avLst/>
          </a:prstGeom>
          <a:solidFill>
            <a:srgbClr val="5B6B73"/>
          </a:solidFill>
          <a:ln/>
        </p:spPr>
      </p:sp>
      <p:sp>
        <p:nvSpPr>
          <p:cNvPr id="16" name="Shape 14"/>
          <p:cNvSpPr/>
          <p:nvPr/>
        </p:nvSpPr>
        <p:spPr>
          <a:xfrm>
            <a:off x="8138160" y="2240280"/>
            <a:ext cx="3456432" cy="1828800"/>
          </a:xfrm>
          <a:prstGeom prst="roundRect">
            <a:avLst>
              <a:gd name="adj" fmla="val 40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7" name="Shape 15"/>
          <p:cNvSpPr/>
          <p:nvPr/>
        </p:nvSpPr>
        <p:spPr>
          <a:xfrm>
            <a:off x="8138160" y="2240280"/>
            <a:ext cx="3456432" cy="91440"/>
          </a:xfrm>
          <a:prstGeom prst="roundRect">
            <a:avLst/>
          </a:prstGeom>
          <a:solidFill>
            <a:srgbClr val="2F8A5B"/>
          </a:solidFill>
          <a:ln/>
        </p:spPr>
      </p:sp>
      <p:sp>
        <p:nvSpPr>
          <p:cNvPr id="18" name="Text 16"/>
          <p:cNvSpPr txBox="1"/>
          <p:nvPr/>
        </p:nvSpPr>
        <p:spPr>
          <a:xfrm>
            <a:off x="8321040" y="2450592"/>
            <a:ext cx="3090672" cy="457200"/>
          </a:xfrm>
          <a:prstGeom prst="rect">
            <a:avLst/>
          </a:prstGeom>
          <a:noFill/>
          <a:ln/>
        </p:spPr>
        <p:txBody>
          <a:bodyPr wrap="square" lIns="0" tIns="0" rIns="0" bIns="0" rtlCol="0" anchor="ctr"/>
          <a:lstStyle/>
          <a:p>
            <a:pPr indent="0" marL="0">
              <a:buNone/>
            </a:pPr>
            <a:r>
              <a:rPr lang="en-US" sz="1500" b="1" dirty="0">
                <a:solidFill>
                  <a:srgbClr val="2F8A5B"/>
                </a:solidFill>
                <a:latin typeface="Calibri" pitchFamily="34" charset="0"/>
                <a:ea typeface="Calibri" pitchFamily="34" charset="-122"/>
                <a:cs typeface="Calibri" pitchFamily="34" charset="-120"/>
              </a:rPr>
              <a:t>3 · Reduced PED</a:t>
            </a:r>
            <a:endParaRPr lang="en-US" sz="1500" dirty="0"/>
          </a:p>
        </p:txBody>
      </p:sp>
      <p:sp>
        <p:nvSpPr>
          <p:cNvPr id="19" name="Text 17"/>
          <p:cNvSpPr txBox="1"/>
          <p:nvPr/>
        </p:nvSpPr>
        <p:spPr>
          <a:xfrm>
            <a:off x="8321040" y="2926080"/>
            <a:ext cx="3090672" cy="105156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Loyal customers are less sensitive to price rises — demand becomes more price-inelastic</a:t>
            </a:r>
            <a:endParaRPr lang="en-US" sz="1250" dirty="0"/>
          </a:p>
        </p:txBody>
      </p:sp>
      <p:sp>
        <p:nvSpPr>
          <p:cNvPr id="20" name="Shape 18"/>
          <p:cNvSpPr/>
          <p:nvPr/>
        </p:nvSpPr>
        <p:spPr>
          <a:xfrm>
            <a:off x="548640" y="4315968"/>
            <a:ext cx="11091672" cy="960120"/>
          </a:xfrm>
          <a:prstGeom prst="roundRect">
            <a:avLst>
              <a:gd name="adj" fmla="val 7619"/>
            </a:avLst>
          </a:prstGeom>
          <a:solidFill>
            <a:srgbClr val="0E3A43"/>
          </a:solidFill>
          <a:ln/>
          <a:effectLst>
            <a:outerShdw sx="100000" sy="100000" kx="0" ky="0" algn="bl" rotWithShape="0" blurRad="76200" dist="25400" dir="5400000">
              <a:srgbClr val="9AAAB0">
                <a:alpha val="28000"/>
              </a:srgbClr>
            </a:outerShdw>
          </a:effectLst>
        </p:spPr>
      </p:sp>
      <p:sp>
        <p:nvSpPr>
          <p:cNvPr id="21" name="Text 19"/>
          <p:cNvSpPr txBox="1"/>
          <p:nvPr/>
        </p:nvSpPr>
        <p:spPr>
          <a:xfrm>
            <a:off x="777240" y="4407408"/>
            <a:ext cx="10607040" cy="804672"/>
          </a:xfrm>
          <a:prstGeom prst="rect">
            <a:avLst/>
          </a:prstGeom>
          <a:noFill/>
          <a:ln/>
        </p:spPr>
        <p:txBody>
          <a:bodyPr wrap="square" lIns="0" tIns="0" rIns="0" bIns="0" rtlCol="0" anchor="ctr"/>
          <a:lstStyle/>
          <a:p>
            <a:pPr indent="0" marL="0">
              <a:buNone/>
            </a:pPr>
            <a:r>
              <a:rPr lang="en-US" sz="1280" b="1" dirty="0">
                <a:solidFill>
                  <a:srgbClr val="E0940F"/>
                </a:solidFill>
                <a:latin typeface="Calibri" pitchFamily="34" charset="0"/>
                <a:ea typeface="Calibri" pitchFamily="34" charset="-122"/>
                <a:cs typeface="Calibri" pitchFamily="34" charset="-120"/>
              </a:rPr>
              <a:t>A-grade chain:  </a:t>
            </a:r>
            <a:pPr indent="0" marL="0">
              <a:buNone/>
            </a:pPr>
            <a:r>
              <a:rPr lang="en-US" sz="1280" dirty="0">
                <a:solidFill>
                  <a:srgbClr val="FFFFFF"/>
                </a:solidFill>
                <a:latin typeface="Calibri" pitchFamily="34" charset="0"/>
                <a:ea typeface="Calibri" pitchFamily="34" charset="-122"/>
                <a:cs typeface="Calibri" pitchFamily="34" charset="-120"/>
              </a:rPr>
              <a:t>strong brand → loyalty + added value → can raise price without losing many customers (inelastic demand) → higher margins and profit → funds reinvestment in the brand. This is why firms invest so heavily in branding.</a:t>
            </a:r>
            <a:endParaRPr lang="en-US" sz="1280" dirty="0"/>
          </a:p>
        </p:txBody>
      </p:sp>
      <p:sp>
        <p:nvSpPr>
          <p:cNvPr id="22" name="Shape 20"/>
          <p:cNvSpPr/>
          <p:nvPr/>
        </p:nvSpPr>
        <p:spPr>
          <a:xfrm>
            <a:off x="548640" y="5394960"/>
            <a:ext cx="11091672" cy="777240"/>
          </a:xfrm>
          <a:prstGeom prst="roundRect">
            <a:avLst>
              <a:gd name="adj" fmla="val 9412"/>
            </a:avLst>
          </a:prstGeom>
          <a:solidFill>
            <a:srgbClr val="FBF0D8"/>
          </a:solidFill>
          <a:ln/>
          <a:effectLst>
            <a:outerShdw sx="100000" sy="100000" kx="0" ky="0" algn="bl" rotWithShape="0" blurRad="76200" dist="25400" dir="5400000">
              <a:srgbClr val="9AAAB0">
                <a:alpha val="28000"/>
              </a:srgbClr>
            </a:outerShdw>
          </a:effectLst>
        </p:spPr>
      </p:sp>
      <p:sp>
        <p:nvSpPr>
          <p:cNvPr id="23" name="Text 21"/>
          <p:cNvSpPr txBox="1"/>
          <p:nvPr/>
        </p:nvSpPr>
        <p:spPr>
          <a:xfrm>
            <a:off x="777240" y="5477256"/>
            <a:ext cx="10698480" cy="621792"/>
          </a:xfrm>
          <a:prstGeom prst="rect">
            <a:avLst/>
          </a:prstGeom>
          <a:noFill/>
          <a:ln/>
        </p:spPr>
        <p:txBody>
          <a:bodyPr wrap="square" lIns="0" tIns="0" rIns="0" bIns="0" rtlCol="0" anchor="ctr"/>
          <a:lstStyle/>
          <a:p>
            <a:pPr indent="0" marL="0">
              <a:buNone/>
            </a:pPr>
            <a:r>
              <a:rPr lang="en-US" sz="1200" b="1" dirty="0">
                <a:solidFill>
                  <a:srgbClr val="8A5A06"/>
                </a:solidFill>
                <a:latin typeface="Calibri" pitchFamily="34" charset="0"/>
                <a:ea typeface="Calibri" pitchFamily="34" charset="-122"/>
                <a:cs typeface="Calibri" pitchFamily="34" charset="-120"/>
              </a:rPr>
              <a:t>Examples:  </a:t>
            </a:r>
            <a:pPr indent="0" marL="0">
              <a:buNone/>
            </a:pPr>
            <a:r>
              <a:rPr lang="en-US" sz="1200" dirty="0">
                <a:solidFill>
                  <a:srgbClr val="1F2A33"/>
                </a:solidFill>
                <a:latin typeface="Calibri" pitchFamily="34" charset="0"/>
                <a:ea typeface="Calibri" pitchFamily="34" charset="-122"/>
                <a:cs typeface="Calibri" pitchFamily="34" charset="-120"/>
              </a:rPr>
              <a:t>Apple's iPhone is relatively price-inelastic — loyal buyers pay premium prices and upgrade. ‘Brandnomers’ (Hoover, Biro, Sellotape, Band-Aid) became the generic word for the product — the ultimate brand strength.</a:t>
            </a:r>
            <a:endParaRPr lang="en-US" sz="12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EXAM PRACTICE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Exam practice: branding (Mercedes)</a:t>
            </a:r>
            <a:endParaRPr lang="en-US" sz="2800" dirty="0"/>
          </a:p>
        </p:txBody>
      </p:sp>
      <p:sp>
        <p:nvSpPr>
          <p:cNvPr id="4" name="Shape 2"/>
          <p:cNvSpPr/>
          <p:nvPr/>
        </p:nvSpPr>
        <p:spPr>
          <a:xfrm>
            <a:off x="548640" y="1371600"/>
            <a:ext cx="11091672" cy="1874520"/>
          </a:xfrm>
          <a:prstGeom prst="roundRect">
            <a:avLst>
              <a:gd name="adj" fmla="val 3902"/>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5486400" cy="274320"/>
          </a:xfrm>
          <a:prstGeom prst="rect">
            <a:avLst/>
          </a:prstGeom>
          <a:noFill/>
          <a:ln/>
        </p:spPr>
        <p:txBody>
          <a:bodyPr wrap="square" lIns="0" tIns="0" rIns="0" bIns="0" rtlCol="0" anchor="ctr"/>
          <a:lstStyle/>
          <a:p>
            <a:pPr indent="0" marL="0">
              <a:buNone/>
            </a:pPr>
            <a:r>
              <a:rPr lang="en-US" sz="1100" b="1" spc="150" kern="0" dirty="0">
                <a:solidFill>
                  <a:srgbClr val="7FC4CB"/>
                </a:solidFill>
                <a:latin typeface="Calibri" pitchFamily="34" charset="0"/>
                <a:ea typeface="Calibri" pitchFamily="34" charset="-122"/>
                <a:cs typeface="Calibri" pitchFamily="34" charset="-120"/>
              </a:rPr>
              <a:t>EXAM QUESTIONS</a:t>
            </a:r>
            <a:endParaRPr lang="en-US" sz="1100" dirty="0"/>
          </a:p>
        </p:txBody>
      </p:sp>
      <p:sp>
        <p:nvSpPr>
          <p:cNvPr id="6" name="Text 4"/>
          <p:cNvSpPr txBox="1"/>
          <p:nvPr/>
        </p:nvSpPr>
        <p:spPr>
          <a:xfrm>
            <a:off x="777240" y="1792224"/>
            <a:ext cx="10607040" cy="132588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Define the term ‘below-the-line promotion’.  </a:t>
            </a:r>
            <a:pPr indent="0" marL="0">
              <a:spcAft>
                <a:spcPts val="800"/>
              </a:spcAft>
              <a:buNone/>
            </a:pPr>
            <a:r>
              <a:rPr lang="en-US" sz="1350" b="1" dirty="0">
                <a:solidFill>
                  <a:srgbClr val="E0940F"/>
                </a:solidFill>
                <a:latin typeface="Calibri" pitchFamily="34" charset="0"/>
                <a:ea typeface="Calibri" pitchFamily="34" charset="-122"/>
                <a:cs typeface="Calibri" pitchFamily="34" charset="-120"/>
              </a:rPr>
              <a:t>[2]</a:t>
            </a:r>
            <a:endParaRPr lang="en-US" sz="1350" dirty="0"/>
          </a:p>
          <a:p>
            <a:pPr indent="0" marL="0">
              <a:buNone/>
            </a:pPr>
            <a:r>
              <a:rPr lang="en-US" sz="1350" dirty="0">
                <a:solidFill>
                  <a:srgbClr val="FFFFFF"/>
                </a:solidFill>
                <a:latin typeface="Calibri" pitchFamily="34" charset="0"/>
                <a:ea typeface="Calibri" pitchFamily="34" charset="-122"/>
                <a:cs typeface="Calibri" pitchFamily="34" charset="-120"/>
              </a:rPr>
              <a:t>Analyse two possible advantages to Mercedes of strong branding.  </a:t>
            </a:r>
            <a:pPr indent="0" marL="0">
              <a:spcAft>
                <a:spcPts val="800"/>
              </a:spcAft>
              <a:buNone/>
            </a:pPr>
            <a:r>
              <a:rPr lang="en-US" sz="1350" b="1" dirty="0">
                <a:solidFill>
                  <a:srgbClr val="E0940F"/>
                </a:solidFill>
                <a:latin typeface="Calibri" pitchFamily="34" charset="0"/>
                <a:ea typeface="Calibri" pitchFamily="34" charset="-122"/>
                <a:cs typeface="Calibri" pitchFamily="34" charset="-120"/>
              </a:rPr>
              <a:t>[6]</a:t>
            </a:r>
            <a:endParaRPr lang="en-US" sz="1350" dirty="0"/>
          </a:p>
        </p:txBody>
      </p:sp>
      <p:sp>
        <p:nvSpPr>
          <p:cNvPr id="7" name="Shape 5"/>
          <p:cNvSpPr/>
          <p:nvPr/>
        </p:nvSpPr>
        <p:spPr>
          <a:xfrm>
            <a:off x="548640" y="3364992"/>
            <a:ext cx="5029200" cy="2834640"/>
          </a:xfrm>
          <a:prstGeom prst="roundRect">
            <a:avLst>
              <a:gd name="adj" fmla="val 2581"/>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3474720"/>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What the question is testing</a:t>
            </a:r>
            <a:endParaRPr lang="en-US" sz="1300" dirty="0"/>
          </a:p>
        </p:txBody>
      </p:sp>
      <p:sp>
        <p:nvSpPr>
          <p:cNvPr id="9" name="Text 7"/>
          <p:cNvSpPr txBox="1"/>
          <p:nvPr/>
        </p:nvSpPr>
        <p:spPr>
          <a:xfrm>
            <a:off x="749808" y="3840480"/>
            <a:ext cx="461772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2-mark Define: meaning (1) + an example (1).</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6-mark Analyse (K2 A2 An2): two advantages, each applied to Mercedes, each with a developed chain.</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Use the three spec benefits as your ideas bank: added value, premium prices, reduced PED.</a:t>
            </a:r>
            <a:endParaRPr lang="en-US" sz="1250" dirty="0"/>
          </a:p>
        </p:txBody>
      </p:sp>
      <p:sp>
        <p:nvSpPr>
          <p:cNvPr id="10" name="Shape 8"/>
          <p:cNvSpPr/>
          <p:nvPr/>
        </p:nvSpPr>
        <p:spPr>
          <a:xfrm>
            <a:off x="5788152" y="3364992"/>
            <a:ext cx="5852160" cy="2834640"/>
          </a:xfrm>
          <a:prstGeom prst="roundRect">
            <a:avLst>
              <a:gd name="adj" fmla="val 2581"/>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3474720"/>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How to build it (twice)</a:t>
            </a:r>
            <a:endParaRPr lang="en-US" sz="1300" dirty="0"/>
          </a:p>
        </p:txBody>
      </p:sp>
      <p:sp>
        <p:nvSpPr>
          <p:cNvPr id="12" name="Text 10"/>
          <p:cNvSpPr txBox="1"/>
          <p:nvPr/>
        </p:nvSpPr>
        <p:spPr>
          <a:xfrm>
            <a:off x="5989320" y="3840480"/>
            <a:ext cx="544068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POINT (K): name an advantage (e.g. ability to charge premium prices).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APPLY (A): Mercedes is a luxury marque known for prestige vehicles.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CHAIN (An): “A strong brand lets Mercedes charge more than mainstream rivals → higher margins → funds its sponsorship and R&amp;D.”</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Repeat for a second advantage (e.g. reduced PED / loyalty protecting sales).</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C</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C</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300" b="1" dirty="0">
                <a:solidFill>
                  <a:srgbClr val="FFFFFF"/>
                </a:solidFill>
                <a:latin typeface="Cambria" pitchFamily="34" charset="0"/>
                <a:ea typeface="Cambria" pitchFamily="34" charset="-122"/>
                <a:cs typeface="Cambria" pitchFamily="34" charset="-120"/>
              </a:rPr>
              <a:t>Building a brand &amp; social trends</a:t>
            </a:r>
            <a:endParaRPr lang="en-US" sz="33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ways to build a brand: USP, advertising, sponsorship, social media  ·  changes for social trends: viral, social media &amp; emotional branding</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C · WAYS TO BUILD A BRAND</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Four ways to build a brand</a:t>
            </a:r>
            <a:endParaRPr lang="en-US" sz="2800" dirty="0"/>
          </a:p>
        </p:txBody>
      </p:sp>
      <p:sp>
        <p:nvSpPr>
          <p:cNvPr id="4" name="Shape 2"/>
          <p:cNvSpPr/>
          <p:nvPr/>
        </p:nvSpPr>
        <p:spPr>
          <a:xfrm>
            <a:off x="548640" y="1463040"/>
            <a:ext cx="5440680" cy="2240280"/>
          </a:xfrm>
          <a:prstGeom prst="roundRect">
            <a:avLst>
              <a:gd name="adj" fmla="val 3265"/>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Shape 3"/>
          <p:cNvSpPr/>
          <p:nvPr/>
        </p:nvSpPr>
        <p:spPr>
          <a:xfrm>
            <a:off x="548640" y="1463040"/>
            <a:ext cx="91440" cy="2240280"/>
          </a:xfrm>
          <a:prstGeom prst="roundRect">
            <a:avLst/>
          </a:prstGeom>
          <a:solidFill>
            <a:srgbClr val="0E7C86"/>
          </a:solidFill>
          <a:ln/>
        </p:spPr>
      </p:sp>
      <p:sp>
        <p:nvSpPr>
          <p:cNvPr id="6" name="Text 4"/>
          <p:cNvSpPr txBox="1"/>
          <p:nvPr/>
        </p:nvSpPr>
        <p:spPr>
          <a:xfrm>
            <a:off x="804672" y="1645920"/>
            <a:ext cx="4983480" cy="411480"/>
          </a:xfrm>
          <a:prstGeom prst="rect">
            <a:avLst/>
          </a:prstGeom>
          <a:noFill/>
          <a:ln/>
        </p:spPr>
        <p:txBody>
          <a:bodyPr wrap="square" lIns="0" tIns="0" rIns="0" bIns="0" rtlCol="0" anchor="ctr"/>
          <a:lstStyle/>
          <a:p>
            <a:pPr indent="0" marL="0">
              <a:buNone/>
            </a:pPr>
            <a:r>
              <a:rPr lang="en-US" sz="1600" b="1" dirty="0">
                <a:solidFill>
                  <a:srgbClr val="0E7C86"/>
                </a:solidFill>
                <a:latin typeface="Calibri" pitchFamily="34" charset="0"/>
                <a:ea typeface="Calibri" pitchFamily="34" charset="-122"/>
                <a:cs typeface="Calibri" pitchFamily="34" charset="-120"/>
              </a:rPr>
              <a:t>USP / differentiation</a:t>
            </a:r>
            <a:endParaRPr lang="en-US" sz="1600" dirty="0"/>
          </a:p>
        </p:txBody>
      </p:sp>
      <p:sp>
        <p:nvSpPr>
          <p:cNvPr id="7" name="Text 5"/>
          <p:cNvSpPr txBox="1"/>
          <p:nvPr/>
        </p:nvSpPr>
        <p:spPr>
          <a:xfrm>
            <a:off x="804672" y="2121408"/>
            <a:ext cx="4983480" cy="82296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Unique features that set the brand apart and can be exploited in marketing.</a:t>
            </a:r>
            <a:endParaRPr lang="en-US" sz="1250" dirty="0"/>
          </a:p>
        </p:txBody>
      </p:sp>
      <p:sp>
        <p:nvSpPr>
          <p:cNvPr id="8" name="Text 6"/>
          <p:cNvSpPr txBox="1"/>
          <p:nvPr/>
        </p:nvSpPr>
        <p:spPr>
          <a:xfrm>
            <a:off x="804672" y="3035808"/>
            <a:ext cx="4983480" cy="548640"/>
          </a:xfrm>
          <a:prstGeom prst="rect">
            <a:avLst/>
          </a:prstGeom>
          <a:noFill/>
          <a:ln/>
        </p:spPr>
        <p:txBody>
          <a:bodyPr wrap="square" lIns="0" tIns="0" rIns="0" bIns="0" rtlCol="0" anchor="t"/>
          <a:lstStyle/>
          <a:p>
            <a:pPr indent="0" marL="0">
              <a:buNone/>
            </a:pPr>
            <a:r>
              <a:rPr lang="en-US" sz="1200" b="1" dirty="0">
                <a:solidFill>
                  <a:srgbClr val="5B6B73"/>
                </a:solidFill>
                <a:latin typeface="Calibri" pitchFamily="34" charset="0"/>
                <a:ea typeface="Calibri" pitchFamily="34" charset="-122"/>
                <a:cs typeface="Calibri" pitchFamily="34" charset="-120"/>
              </a:rPr>
              <a:t>Example:  </a:t>
            </a:r>
            <a:pPr indent="0" marL="0">
              <a:buNone/>
            </a:pPr>
            <a:r>
              <a:rPr lang="en-US" sz="1200" dirty="0">
                <a:solidFill>
                  <a:srgbClr val="1F2A33"/>
                </a:solidFill>
                <a:latin typeface="Calibri" pitchFamily="34" charset="0"/>
                <a:ea typeface="Calibri" pitchFamily="34" charset="-122"/>
                <a:cs typeface="Calibri" pitchFamily="34" charset="-120"/>
              </a:rPr>
              <a:t>Dyson's engineering; Amigo loans' guarantor model</a:t>
            </a:r>
            <a:endParaRPr lang="en-US" sz="1200" dirty="0"/>
          </a:p>
        </p:txBody>
      </p:sp>
      <p:sp>
        <p:nvSpPr>
          <p:cNvPr id="9" name="Shape 7"/>
          <p:cNvSpPr/>
          <p:nvPr/>
        </p:nvSpPr>
        <p:spPr>
          <a:xfrm>
            <a:off x="6199632" y="1463040"/>
            <a:ext cx="5440680" cy="2240280"/>
          </a:xfrm>
          <a:prstGeom prst="roundRect">
            <a:avLst>
              <a:gd name="adj" fmla="val 3265"/>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0" name="Shape 8"/>
          <p:cNvSpPr/>
          <p:nvPr/>
        </p:nvSpPr>
        <p:spPr>
          <a:xfrm>
            <a:off x="6199632" y="1463040"/>
            <a:ext cx="91440" cy="2240280"/>
          </a:xfrm>
          <a:prstGeom prst="roundRect">
            <a:avLst/>
          </a:prstGeom>
          <a:solidFill>
            <a:srgbClr val="E0940F"/>
          </a:solidFill>
          <a:ln/>
        </p:spPr>
      </p:sp>
      <p:sp>
        <p:nvSpPr>
          <p:cNvPr id="11" name="Text 9"/>
          <p:cNvSpPr txBox="1"/>
          <p:nvPr/>
        </p:nvSpPr>
        <p:spPr>
          <a:xfrm>
            <a:off x="6455664" y="1645920"/>
            <a:ext cx="4983480" cy="411480"/>
          </a:xfrm>
          <a:prstGeom prst="rect">
            <a:avLst/>
          </a:prstGeom>
          <a:noFill/>
          <a:ln/>
        </p:spPr>
        <p:txBody>
          <a:bodyPr wrap="square" lIns="0" tIns="0" rIns="0" bIns="0" rtlCol="0" anchor="ctr"/>
          <a:lstStyle/>
          <a:p>
            <a:pPr indent="0" marL="0">
              <a:buNone/>
            </a:pPr>
            <a:r>
              <a:rPr lang="en-US" sz="1600" b="1" dirty="0">
                <a:solidFill>
                  <a:srgbClr val="E0940F"/>
                </a:solidFill>
                <a:latin typeface="Calibri" pitchFamily="34" charset="0"/>
                <a:ea typeface="Calibri" pitchFamily="34" charset="-122"/>
                <a:cs typeface="Calibri" pitchFamily="34" charset="-120"/>
              </a:rPr>
              <a:t>Advertising</a:t>
            </a:r>
            <a:endParaRPr lang="en-US" sz="1600" dirty="0"/>
          </a:p>
        </p:txBody>
      </p:sp>
      <p:sp>
        <p:nvSpPr>
          <p:cNvPr id="12" name="Text 10"/>
          <p:cNvSpPr txBox="1"/>
          <p:nvPr/>
        </p:nvSpPr>
        <p:spPr>
          <a:xfrm>
            <a:off x="6455664" y="2121408"/>
            <a:ext cx="4983480" cy="82296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Repeated, mixed-media exposure builds familiarity and loyalty over time.</a:t>
            </a:r>
            <a:endParaRPr lang="en-US" sz="1250" dirty="0"/>
          </a:p>
        </p:txBody>
      </p:sp>
      <p:sp>
        <p:nvSpPr>
          <p:cNvPr id="13" name="Text 11"/>
          <p:cNvSpPr txBox="1"/>
          <p:nvPr/>
        </p:nvSpPr>
        <p:spPr>
          <a:xfrm>
            <a:off x="6455664" y="3035808"/>
            <a:ext cx="4983480" cy="548640"/>
          </a:xfrm>
          <a:prstGeom prst="rect">
            <a:avLst/>
          </a:prstGeom>
          <a:noFill/>
          <a:ln/>
        </p:spPr>
        <p:txBody>
          <a:bodyPr wrap="square" lIns="0" tIns="0" rIns="0" bIns="0" rtlCol="0" anchor="t"/>
          <a:lstStyle/>
          <a:p>
            <a:pPr indent="0" marL="0">
              <a:buNone/>
            </a:pPr>
            <a:r>
              <a:rPr lang="en-US" sz="1200" b="1" dirty="0">
                <a:solidFill>
                  <a:srgbClr val="5B6B73"/>
                </a:solidFill>
                <a:latin typeface="Calibri" pitchFamily="34" charset="0"/>
                <a:ea typeface="Calibri" pitchFamily="34" charset="-122"/>
                <a:cs typeface="Calibri" pitchFamily="34" charset="-120"/>
              </a:rPr>
              <a:t>Example:  </a:t>
            </a:r>
            <a:pPr indent="0" marL="0">
              <a:buNone/>
            </a:pPr>
            <a:r>
              <a:rPr lang="en-US" sz="1200" dirty="0">
                <a:solidFill>
                  <a:srgbClr val="1F2A33"/>
                </a:solidFill>
                <a:latin typeface="Calibri" pitchFamily="34" charset="0"/>
                <a:ea typeface="Calibri" pitchFamily="34" charset="-122"/>
                <a:cs typeface="Calibri" pitchFamily="34" charset="-120"/>
              </a:rPr>
              <a:t>Coca-Cola's sustained global campaigns</a:t>
            </a:r>
            <a:endParaRPr lang="en-US" sz="1200" dirty="0"/>
          </a:p>
        </p:txBody>
      </p:sp>
      <p:sp>
        <p:nvSpPr>
          <p:cNvPr id="14" name="Shape 12"/>
          <p:cNvSpPr/>
          <p:nvPr/>
        </p:nvSpPr>
        <p:spPr>
          <a:xfrm>
            <a:off x="548640" y="3886200"/>
            <a:ext cx="5440680" cy="2240280"/>
          </a:xfrm>
          <a:prstGeom prst="roundRect">
            <a:avLst>
              <a:gd name="adj" fmla="val 3265"/>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5" name="Shape 13"/>
          <p:cNvSpPr/>
          <p:nvPr/>
        </p:nvSpPr>
        <p:spPr>
          <a:xfrm>
            <a:off x="548640" y="3886200"/>
            <a:ext cx="91440" cy="2240280"/>
          </a:xfrm>
          <a:prstGeom prst="roundRect">
            <a:avLst/>
          </a:prstGeom>
          <a:solidFill>
            <a:srgbClr val="2F8A5B"/>
          </a:solidFill>
          <a:ln/>
        </p:spPr>
      </p:sp>
      <p:sp>
        <p:nvSpPr>
          <p:cNvPr id="16" name="Text 14"/>
          <p:cNvSpPr txBox="1"/>
          <p:nvPr/>
        </p:nvSpPr>
        <p:spPr>
          <a:xfrm>
            <a:off x="804672" y="4069080"/>
            <a:ext cx="4983480" cy="411480"/>
          </a:xfrm>
          <a:prstGeom prst="rect">
            <a:avLst/>
          </a:prstGeom>
          <a:noFill/>
          <a:ln/>
        </p:spPr>
        <p:txBody>
          <a:bodyPr wrap="square" lIns="0" tIns="0" rIns="0" bIns="0" rtlCol="0" anchor="ctr"/>
          <a:lstStyle/>
          <a:p>
            <a:pPr indent="0" marL="0">
              <a:buNone/>
            </a:pPr>
            <a:r>
              <a:rPr lang="en-US" sz="1600" b="1" dirty="0">
                <a:solidFill>
                  <a:srgbClr val="2F8A5B"/>
                </a:solidFill>
                <a:latin typeface="Calibri" pitchFamily="34" charset="0"/>
                <a:ea typeface="Calibri" pitchFamily="34" charset="-122"/>
                <a:cs typeface="Calibri" pitchFamily="34" charset="-120"/>
              </a:rPr>
              <a:t>Sponsorship</a:t>
            </a:r>
            <a:endParaRPr lang="en-US" sz="1600" dirty="0"/>
          </a:p>
        </p:txBody>
      </p:sp>
      <p:sp>
        <p:nvSpPr>
          <p:cNvPr id="17" name="Text 15"/>
          <p:cNvSpPr txBox="1"/>
          <p:nvPr/>
        </p:nvSpPr>
        <p:spPr>
          <a:xfrm>
            <a:off x="804672" y="4544568"/>
            <a:ext cx="4983480" cy="82296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Association with a celebrity, team or event transfers prestige to the brand.</a:t>
            </a:r>
            <a:endParaRPr lang="en-US" sz="1250" dirty="0"/>
          </a:p>
        </p:txBody>
      </p:sp>
      <p:sp>
        <p:nvSpPr>
          <p:cNvPr id="18" name="Text 16"/>
          <p:cNvSpPr txBox="1"/>
          <p:nvPr/>
        </p:nvSpPr>
        <p:spPr>
          <a:xfrm>
            <a:off x="804672" y="5458968"/>
            <a:ext cx="4983480" cy="548640"/>
          </a:xfrm>
          <a:prstGeom prst="rect">
            <a:avLst/>
          </a:prstGeom>
          <a:noFill/>
          <a:ln/>
        </p:spPr>
        <p:txBody>
          <a:bodyPr wrap="square" lIns="0" tIns="0" rIns="0" bIns="0" rtlCol="0" anchor="t"/>
          <a:lstStyle/>
          <a:p>
            <a:pPr indent="0" marL="0">
              <a:buNone/>
            </a:pPr>
            <a:r>
              <a:rPr lang="en-US" sz="1200" b="1" dirty="0">
                <a:solidFill>
                  <a:srgbClr val="5B6B73"/>
                </a:solidFill>
                <a:latin typeface="Calibri" pitchFamily="34" charset="0"/>
                <a:ea typeface="Calibri" pitchFamily="34" charset="-122"/>
                <a:cs typeface="Calibri" pitchFamily="34" charset="-120"/>
              </a:rPr>
              <a:t>Example:  </a:t>
            </a:r>
            <a:pPr indent="0" marL="0">
              <a:buNone/>
            </a:pPr>
            <a:r>
              <a:rPr lang="en-US" sz="1200" dirty="0">
                <a:solidFill>
                  <a:srgbClr val="1F2A33"/>
                </a:solidFill>
                <a:latin typeface="Calibri" pitchFamily="34" charset="0"/>
                <a:ea typeface="Calibri" pitchFamily="34" charset="-122"/>
                <a:cs typeface="Calibri" pitchFamily="34" charset="-120"/>
              </a:rPr>
              <a:t>Mercedes &amp; Lewis Hamilton in Formula 1</a:t>
            </a:r>
            <a:endParaRPr lang="en-US" sz="1200" dirty="0"/>
          </a:p>
        </p:txBody>
      </p:sp>
      <p:sp>
        <p:nvSpPr>
          <p:cNvPr id="19" name="Shape 17"/>
          <p:cNvSpPr/>
          <p:nvPr/>
        </p:nvSpPr>
        <p:spPr>
          <a:xfrm>
            <a:off x="6199632" y="3886200"/>
            <a:ext cx="5440680" cy="2240280"/>
          </a:xfrm>
          <a:prstGeom prst="roundRect">
            <a:avLst>
              <a:gd name="adj" fmla="val 3265"/>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0" name="Shape 18"/>
          <p:cNvSpPr/>
          <p:nvPr/>
        </p:nvSpPr>
        <p:spPr>
          <a:xfrm>
            <a:off x="6199632" y="3886200"/>
            <a:ext cx="91440" cy="2240280"/>
          </a:xfrm>
          <a:prstGeom prst="roundRect">
            <a:avLst/>
          </a:prstGeom>
          <a:solidFill>
            <a:srgbClr val="C14B37"/>
          </a:solidFill>
          <a:ln/>
        </p:spPr>
      </p:sp>
      <p:sp>
        <p:nvSpPr>
          <p:cNvPr id="21" name="Text 19"/>
          <p:cNvSpPr txBox="1"/>
          <p:nvPr/>
        </p:nvSpPr>
        <p:spPr>
          <a:xfrm>
            <a:off x="6455664" y="4069080"/>
            <a:ext cx="4983480" cy="411480"/>
          </a:xfrm>
          <a:prstGeom prst="rect">
            <a:avLst/>
          </a:prstGeom>
          <a:noFill/>
          <a:ln/>
        </p:spPr>
        <p:txBody>
          <a:bodyPr wrap="square" lIns="0" tIns="0" rIns="0" bIns="0" rtlCol="0" anchor="ctr"/>
          <a:lstStyle/>
          <a:p>
            <a:pPr indent="0" marL="0">
              <a:buNone/>
            </a:pPr>
            <a:r>
              <a:rPr lang="en-US" sz="1600" b="1" dirty="0">
                <a:solidFill>
                  <a:srgbClr val="C14B37"/>
                </a:solidFill>
                <a:latin typeface="Calibri" pitchFamily="34" charset="0"/>
                <a:ea typeface="Calibri" pitchFamily="34" charset="-122"/>
                <a:cs typeface="Calibri" pitchFamily="34" charset="-120"/>
              </a:rPr>
              <a:t>Social media</a:t>
            </a:r>
            <a:endParaRPr lang="en-US" sz="1600" dirty="0"/>
          </a:p>
        </p:txBody>
      </p:sp>
      <p:sp>
        <p:nvSpPr>
          <p:cNvPr id="22" name="Text 20"/>
          <p:cNvSpPr txBox="1"/>
          <p:nvPr/>
        </p:nvSpPr>
        <p:spPr>
          <a:xfrm>
            <a:off x="6455664" y="4544568"/>
            <a:ext cx="4983480" cy="82296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Engagement, content and influencers build trust and interaction with followers.</a:t>
            </a:r>
            <a:endParaRPr lang="en-US" sz="1250" dirty="0"/>
          </a:p>
        </p:txBody>
      </p:sp>
      <p:sp>
        <p:nvSpPr>
          <p:cNvPr id="23" name="Text 21"/>
          <p:cNvSpPr txBox="1"/>
          <p:nvPr/>
        </p:nvSpPr>
        <p:spPr>
          <a:xfrm>
            <a:off x="6455664" y="5458968"/>
            <a:ext cx="4983480" cy="548640"/>
          </a:xfrm>
          <a:prstGeom prst="rect">
            <a:avLst/>
          </a:prstGeom>
          <a:noFill/>
          <a:ln/>
        </p:spPr>
        <p:txBody>
          <a:bodyPr wrap="square" lIns="0" tIns="0" rIns="0" bIns="0" rtlCol="0" anchor="t"/>
          <a:lstStyle/>
          <a:p>
            <a:pPr indent="0" marL="0">
              <a:buNone/>
            </a:pPr>
            <a:r>
              <a:rPr lang="en-US" sz="1200" b="1" dirty="0">
                <a:solidFill>
                  <a:srgbClr val="5B6B73"/>
                </a:solidFill>
                <a:latin typeface="Calibri" pitchFamily="34" charset="0"/>
                <a:ea typeface="Calibri" pitchFamily="34" charset="-122"/>
                <a:cs typeface="Calibri" pitchFamily="34" charset="-120"/>
              </a:rPr>
              <a:t>Example:  </a:t>
            </a:r>
            <a:pPr indent="0" marL="0">
              <a:buNone/>
            </a:pPr>
            <a:r>
              <a:rPr lang="en-US" sz="1200" dirty="0">
                <a:solidFill>
                  <a:srgbClr val="1F2A33"/>
                </a:solidFill>
                <a:latin typeface="Calibri" pitchFamily="34" charset="0"/>
                <a:ea typeface="Calibri" pitchFamily="34" charset="-122"/>
                <a:cs typeface="Calibri" pitchFamily="34" charset="-120"/>
              </a:rPr>
              <a:t>Brands building communities on Instagram / TikTok</a:t>
            </a:r>
            <a:endParaRPr lang="en-US" sz="12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C · SPONSORSHIP</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Sponsorship — building a brand by association</a:t>
            </a:r>
            <a:endParaRPr lang="en-US" sz="2800" dirty="0"/>
          </a:p>
        </p:txBody>
      </p:sp>
      <p:sp>
        <p:nvSpPr>
          <p:cNvPr id="4" name="Shape 2"/>
          <p:cNvSpPr/>
          <p:nvPr/>
        </p:nvSpPr>
        <p:spPr>
          <a:xfrm>
            <a:off x="548640" y="1371600"/>
            <a:ext cx="11091672"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828800" cy="274320"/>
          </a:xfrm>
          <a:prstGeom prst="rect">
            <a:avLst/>
          </a:prstGeom>
          <a:noFill/>
          <a:ln/>
        </p:spPr>
        <p:txBody>
          <a:bodyPr wrap="square" lIns="0" tIns="0" rIns="0" bIns="0" rtlCol="0" anchor="ctr"/>
          <a:lstStyle/>
          <a:p>
            <a:pPr indent="0" marL="0">
              <a:buNone/>
            </a:pPr>
            <a:r>
              <a:rPr lang="en-US" sz="1100" b="1" spc="100" kern="0" dirty="0">
                <a:solidFill>
                  <a:srgbClr val="0B5E66"/>
                </a:solidFill>
                <a:latin typeface="Calibri" pitchFamily="34" charset="0"/>
                <a:ea typeface="Calibri" pitchFamily="34" charset="-122"/>
                <a:cs typeface="Calibri" pitchFamily="34" charset="-120"/>
              </a:rPr>
              <a:t>DEFINITION</a:t>
            </a:r>
            <a:endParaRPr lang="en-US" sz="1100" dirty="0"/>
          </a:p>
        </p:txBody>
      </p:sp>
      <p:sp>
        <p:nvSpPr>
          <p:cNvPr id="6" name="Text 4"/>
          <p:cNvSpPr txBox="1"/>
          <p:nvPr/>
        </p:nvSpPr>
        <p:spPr>
          <a:xfrm>
            <a:off x="777240" y="1737360"/>
            <a:ext cx="10607040" cy="420624"/>
          </a:xfrm>
          <a:prstGeom prst="rect">
            <a:avLst/>
          </a:prstGeom>
          <a:noFill/>
          <a:ln/>
        </p:spPr>
        <p:txBody>
          <a:bodyPr wrap="square" lIns="0" tIns="0" rIns="0" bIns="0" rtlCol="0" anchor="t"/>
          <a:lstStyle/>
          <a:p>
            <a:pPr indent="0" marL="0">
              <a:buNone/>
            </a:pPr>
            <a:r>
              <a:rPr lang="en-US" sz="1350" dirty="0">
                <a:solidFill>
                  <a:srgbClr val="1F2A33"/>
                </a:solidFill>
                <a:latin typeface="Calibri" pitchFamily="34" charset="0"/>
                <a:ea typeface="Calibri" pitchFamily="34" charset="-122"/>
                <a:cs typeface="Calibri" pitchFamily="34" charset="-120"/>
              </a:rPr>
              <a:t>Sponsorship = supporting an event, person or organisation (with money or in kind) in return for publicity and positive brand association.</a:t>
            </a:r>
            <a:endParaRPr lang="en-US" sz="1350" dirty="0"/>
          </a:p>
        </p:txBody>
      </p:sp>
      <p:sp>
        <p:nvSpPr>
          <p:cNvPr id="7" name="Shape 5"/>
          <p:cNvSpPr/>
          <p:nvPr/>
        </p:nvSpPr>
        <p:spPr>
          <a:xfrm>
            <a:off x="548640" y="2395728"/>
            <a:ext cx="5440680" cy="2240280"/>
          </a:xfrm>
          <a:prstGeom prst="roundRect">
            <a:avLst>
              <a:gd name="adj" fmla="val 3265"/>
            </a:avLst>
          </a:prstGeom>
          <a:solidFill>
            <a:srgbClr val="E8F3EC"/>
          </a:solidFill>
          <a:ln/>
          <a:effectLst>
            <a:outerShdw sx="100000" sy="100000" kx="0" ky="0" algn="bl" rotWithShape="0" blurRad="76200" dist="25400" dir="5400000">
              <a:srgbClr val="9AAAB0">
                <a:alpha val="28000"/>
              </a:srgbClr>
            </a:outerShdw>
          </a:effectLst>
        </p:spPr>
      </p:sp>
      <p:sp>
        <p:nvSpPr>
          <p:cNvPr id="8" name="Shape 6"/>
          <p:cNvSpPr/>
          <p:nvPr/>
        </p:nvSpPr>
        <p:spPr>
          <a:xfrm>
            <a:off x="777240" y="2560320"/>
            <a:ext cx="2286000" cy="310896"/>
          </a:xfrm>
          <a:prstGeom prst="roundRect">
            <a:avLst>
              <a:gd name="adj" fmla="val 50000"/>
            </a:avLst>
          </a:prstGeom>
          <a:solidFill>
            <a:srgbClr val="2F8A5B"/>
          </a:solidFill>
          <a:ln/>
        </p:spPr>
      </p:sp>
      <p:sp>
        <p:nvSpPr>
          <p:cNvPr id="9" name="Text 7"/>
          <p:cNvSpPr txBox="1"/>
          <p:nvPr/>
        </p:nvSpPr>
        <p:spPr>
          <a:xfrm>
            <a:off x="777240" y="2560320"/>
            <a:ext cx="22860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ADVANTAGES</a:t>
            </a:r>
            <a:endParaRPr lang="en-US" sz="1050" dirty="0"/>
          </a:p>
        </p:txBody>
      </p:sp>
      <p:sp>
        <p:nvSpPr>
          <p:cNvPr id="10" name="Text 8"/>
          <p:cNvSpPr txBox="1"/>
          <p:nvPr/>
        </p:nvSpPr>
        <p:spPr>
          <a:xfrm>
            <a:off x="777240"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Transfers the prestige of the team/person to the brand</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Huge, often global, exposure to engaged audiences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Builds brand image, awareness and reach</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Can differentiate a brand and strengthen relationships</a:t>
            </a:r>
            <a:endParaRPr lang="en-US" sz="1300" dirty="0"/>
          </a:p>
        </p:txBody>
      </p:sp>
      <p:sp>
        <p:nvSpPr>
          <p:cNvPr id="11" name="Shape 9"/>
          <p:cNvSpPr/>
          <p:nvPr/>
        </p:nvSpPr>
        <p:spPr>
          <a:xfrm>
            <a:off x="6199632" y="2395728"/>
            <a:ext cx="5440680" cy="2240280"/>
          </a:xfrm>
          <a:prstGeom prst="roundRect">
            <a:avLst>
              <a:gd name="adj" fmla="val 3265"/>
            </a:avLst>
          </a:prstGeom>
          <a:solidFill>
            <a:srgbClr val="F9EAE6"/>
          </a:solidFill>
          <a:ln/>
          <a:effectLst>
            <a:outerShdw sx="100000" sy="100000" kx="0" ky="0" algn="bl" rotWithShape="0" blurRad="76200" dist="25400" dir="5400000">
              <a:srgbClr val="9AAAB0">
                <a:alpha val="28000"/>
              </a:srgbClr>
            </a:outerShdw>
          </a:effectLst>
        </p:spPr>
      </p:sp>
      <p:sp>
        <p:nvSpPr>
          <p:cNvPr id="12" name="Shape 10"/>
          <p:cNvSpPr/>
          <p:nvPr/>
        </p:nvSpPr>
        <p:spPr>
          <a:xfrm>
            <a:off x="6428232" y="2560320"/>
            <a:ext cx="2651760" cy="310896"/>
          </a:xfrm>
          <a:prstGeom prst="roundRect">
            <a:avLst>
              <a:gd name="adj" fmla="val 50000"/>
            </a:avLst>
          </a:prstGeom>
          <a:solidFill>
            <a:srgbClr val="C14B37"/>
          </a:solidFill>
          <a:ln/>
        </p:spPr>
      </p:sp>
      <p:sp>
        <p:nvSpPr>
          <p:cNvPr id="13" name="Text 11"/>
          <p:cNvSpPr txBox="1"/>
          <p:nvPr/>
        </p:nvSpPr>
        <p:spPr>
          <a:xfrm>
            <a:off x="6428232" y="2560320"/>
            <a:ext cx="26517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DISADVANTAGES</a:t>
            </a:r>
            <a:endParaRPr lang="en-US" sz="1050" dirty="0"/>
          </a:p>
        </p:txBody>
      </p:sp>
      <p:sp>
        <p:nvSpPr>
          <p:cNvPr id="14" name="Text 12"/>
          <p:cNvSpPr txBox="1"/>
          <p:nvPr/>
        </p:nvSpPr>
        <p:spPr>
          <a:xfrm>
            <a:off x="6428232"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Very expensive (top deals run into tens of millions)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Hard to measure the impact on sales or loyalty</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Reputational risk if the person/event has a scandal</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Benefits are long-term and indirect, not guaranteed sales</a:t>
            </a:r>
            <a:endParaRPr lang="en-US" sz="1300" dirty="0"/>
          </a:p>
        </p:txBody>
      </p:sp>
      <p:sp>
        <p:nvSpPr>
          <p:cNvPr id="15" name="Shape 13"/>
          <p:cNvSpPr/>
          <p:nvPr/>
        </p:nvSpPr>
        <p:spPr>
          <a:xfrm>
            <a:off x="548640" y="4818888"/>
            <a:ext cx="11091672" cy="1371600"/>
          </a:xfrm>
          <a:prstGeom prst="roundRect">
            <a:avLst>
              <a:gd name="adj" fmla="val 5333"/>
            </a:avLst>
          </a:prstGeom>
          <a:solidFill>
            <a:srgbClr val="FBF0D8"/>
          </a:solidFill>
          <a:ln/>
          <a:effectLst>
            <a:outerShdw sx="100000" sy="100000" kx="0" ky="0" algn="bl" rotWithShape="0" blurRad="76200" dist="25400" dir="5400000">
              <a:srgbClr val="9AAAB0">
                <a:alpha val="28000"/>
              </a:srgbClr>
            </a:outerShdw>
          </a:effectLst>
        </p:spPr>
      </p:sp>
      <p:sp>
        <p:nvSpPr>
          <p:cNvPr id="16" name="Shape 14"/>
          <p:cNvSpPr/>
          <p:nvPr/>
        </p:nvSpPr>
        <p:spPr>
          <a:xfrm>
            <a:off x="548640" y="4818888"/>
            <a:ext cx="109728" cy="1371600"/>
          </a:xfrm>
          <a:prstGeom prst="roundRect">
            <a:avLst/>
          </a:prstGeom>
          <a:solidFill>
            <a:srgbClr val="E0940F"/>
          </a:solidFill>
          <a:ln/>
        </p:spPr>
      </p:sp>
      <p:sp>
        <p:nvSpPr>
          <p:cNvPr id="17" name="Text 15"/>
          <p:cNvSpPr txBox="1"/>
          <p:nvPr/>
        </p:nvSpPr>
        <p:spPr>
          <a:xfrm>
            <a:off x="777240" y="4937760"/>
            <a:ext cx="10607040" cy="292608"/>
          </a:xfrm>
          <a:prstGeom prst="rect">
            <a:avLst/>
          </a:prstGeom>
          <a:noFill/>
          <a:ln/>
        </p:spPr>
        <p:txBody>
          <a:bodyPr wrap="square" lIns="0" tIns="0" rIns="0" bIns="0" rtlCol="0" anchor="ctr"/>
          <a:lstStyle/>
          <a:p>
            <a:pPr indent="0" marL="0">
              <a:buNone/>
            </a:pPr>
            <a:r>
              <a:rPr lang="en-US" sz="1150" b="1" spc="100" kern="0" dirty="0">
                <a:solidFill>
                  <a:srgbClr val="8A5A06"/>
                </a:solidFill>
                <a:latin typeface="Calibri" pitchFamily="34" charset="0"/>
                <a:ea typeface="Calibri" pitchFamily="34" charset="-122"/>
                <a:cs typeface="Calibri" pitchFamily="34" charset="-120"/>
              </a:rPr>
              <a:t>REAL EXAMPLE  ·  Mercedes-Benz &amp; Lewis Hamilton</a:t>
            </a:r>
            <a:endParaRPr lang="en-US" sz="1150" dirty="0"/>
          </a:p>
        </p:txBody>
      </p:sp>
      <p:sp>
        <p:nvSpPr>
          <p:cNvPr id="18" name="Text 16"/>
          <p:cNvSpPr txBox="1"/>
          <p:nvPr/>
        </p:nvSpPr>
        <p:spPr>
          <a:xfrm>
            <a:off x="777240" y="5230368"/>
            <a:ext cx="10698480" cy="86868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Mercedes signed major sponsorship deals when rivals were cutting back, using F1 and Lewis Hamilton (on a reported ~£40m/year deal) to position its luxury brand, engage consumers and drive sales. The prestige of a multiple world champion reinforces Mercedes' premium image.</a:t>
            </a:r>
            <a:endParaRPr lang="en-US" sz="13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C · SOCIAL TRENDS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Changes in branding &amp; promotion for social trends</a:t>
            </a:r>
            <a:endParaRPr lang="en-US" sz="2800" dirty="0"/>
          </a:p>
        </p:txBody>
      </p:sp>
      <p:sp>
        <p:nvSpPr>
          <p:cNvPr id="4" name="Shape 2"/>
          <p:cNvSpPr/>
          <p:nvPr/>
        </p:nvSpPr>
        <p:spPr>
          <a:xfrm>
            <a:off x="548640" y="1371600"/>
            <a:ext cx="11091672" cy="658368"/>
          </a:xfrm>
          <a:prstGeom prst="roundRect">
            <a:avLst>
              <a:gd name="adj" fmla="val 11111"/>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44752"/>
            <a:ext cx="10698480" cy="512064"/>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Why it matters:  </a:t>
            </a:r>
            <a:pPr indent="0" marL="0">
              <a:buNone/>
            </a:pPr>
            <a:r>
              <a:rPr lang="en-US" sz="1300" dirty="0">
                <a:solidFill>
                  <a:srgbClr val="1F2A33"/>
                </a:solidFill>
                <a:latin typeface="Calibri" pitchFamily="34" charset="0"/>
                <a:ea typeface="Calibri" pitchFamily="34" charset="-122"/>
                <a:cs typeface="Calibri" pitchFamily="34" charset="-120"/>
              </a:rPr>
              <a:t>technology has changed how brands reach people. The spec highlights three trends — viral marketing, social media and emotional branding.</a:t>
            </a:r>
            <a:endParaRPr lang="en-US" sz="1300" dirty="0"/>
          </a:p>
        </p:txBody>
      </p:sp>
      <p:sp>
        <p:nvSpPr>
          <p:cNvPr id="6" name="Shape 4"/>
          <p:cNvSpPr/>
          <p:nvPr/>
        </p:nvSpPr>
        <p:spPr>
          <a:xfrm>
            <a:off x="548640" y="2240280"/>
            <a:ext cx="3575304" cy="2468880"/>
          </a:xfrm>
          <a:prstGeom prst="roundRect">
            <a:avLst>
              <a:gd name="adj" fmla="val 296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7" name="Shape 5"/>
          <p:cNvSpPr/>
          <p:nvPr/>
        </p:nvSpPr>
        <p:spPr>
          <a:xfrm>
            <a:off x="548640" y="2240280"/>
            <a:ext cx="3575304" cy="91440"/>
          </a:xfrm>
          <a:prstGeom prst="roundRect">
            <a:avLst/>
          </a:prstGeom>
          <a:solidFill>
            <a:srgbClr val="2F8A5B"/>
          </a:solidFill>
          <a:ln/>
        </p:spPr>
      </p:sp>
      <p:sp>
        <p:nvSpPr>
          <p:cNvPr id="8" name="Text 6"/>
          <p:cNvSpPr txBox="1"/>
          <p:nvPr/>
        </p:nvSpPr>
        <p:spPr>
          <a:xfrm>
            <a:off x="749808" y="2450592"/>
            <a:ext cx="3172968" cy="685800"/>
          </a:xfrm>
          <a:prstGeom prst="rect">
            <a:avLst/>
          </a:prstGeom>
          <a:noFill/>
          <a:ln/>
        </p:spPr>
        <p:txBody>
          <a:bodyPr wrap="square" lIns="0" tIns="0" rIns="0" bIns="0" rtlCol="0" anchor="t"/>
          <a:lstStyle/>
          <a:p>
            <a:pPr indent="0" marL="0">
              <a:buNone/>
            </a:pPr>
            <a:r>
              <a:rPr lang="en-US" sz="1550" b="1" dirty="0">
                <a:solidFill>
                  <a:srgbClr val="2F8A5B"/>
                </a:solidFill>
                <a:latin typeface="Calibri" pitchFamily="34" charset="0"/>
                <a:ea typeface="Calibri" pitchFamily="34" charset="-122"/>
                <a:cs typeface="Calibri" pitchFamily="34" charset="-120"/>
              </a:rPr>
              <a:t>Viral marketing</a:t>
            </a:r>
            <a:endParaRPr lang="en-US" sz="1550" dirty="0"/>
          </a:p>
        </p:txBody>
      </p:sp>
      <p:sp>
        <p:nvSpPr>
          <p:cNvPr id="9" name="Text 7"/>
          <p:cNvSpPr txBox="1"/>
          <p:nvPr/>
        </p:nvSpPr>
        <p:spPr>
          <a:xfrm>
            <a:off x="749808" y="3154680"/>
            <a:ext cx="3172968" cy="77724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Content designed to be shared rapidly online, for exponential reach.</a:t>
            </a:r>
            <a:endParaRPr lang="en-US" sz="1250" dirty="0"/>
          </a:p>
        </p:txBody>
      </p:sp>
      <p:sp>
        <p:nvSpPr>
          <p:cNvPr id="10" name="Text 8"/>
          <p:cNvSpPr txBox="1"/>
          <p:nvPr/>
        </p:nvSpPr>
        <p:spPr>
          <a:xfrm>
            <a:off x="749808" y="3931920"/>
            <a:ext cx="3172968" cy="731520"/>
          </a:xfrm>
          <a:prstGeom prst="rect">
            <a:avLst/>
          </a:prstGeom>
          <a:noFill/>
          <a:ln/>
        </p:spPr>
        <p:txBody>
          <a:bodyPr wrap="square" lIns="0" tIns="0" rIns="0" bIns="0" rtlCol="0" anchor="t"/>
          <a:lstStyle/>
          <a:p>
            <a:pPr indent="0" marL="0">
              <a:buNone/>
            </a:pPr>
            <a:r>
              <a:rPr lang="en-US" sz="1150" i="1" dirty="0">
                <a:solidFill>
                  <a:srgbClr val="5B6B73"/>
                </a:solidFill>
                <a:latin typeface="Calibri" pitchFamily="34" charset="0"/>
                <a:ea typeface="Calibri" pitchFamily="34" charset="-122"/>
                <a:cs typeface="Calibri" pitchFamily="34" charset="-120"/>
              </a:rPr>
              <a:t>Cheap &amp; peer-endorsed, so authentic — but hard to control or predict</a:t>
            </a:r>
            <a:endParaRPr lang="en-US" sz="1150" dirty="0"/>
          </a:p>
        </p:txBody>
      </p:sp>
      <p:sp>
        <p:nvSpPr>
          <p:cNvPr id="11" name="Shape 9"/>
          <p:cNvSpPr/>
          <p:nvPr/>
        </p:nvSpPr>
        <p:spPr>
          <a:xfrm>
            <a:off x="4306824" y="2240280"/>
            <a:ext cx="3575304" cy="2468880"/>
          </a:xfrm>
          <a:prstGeom prst="roundRect">
            <a:avLst>
              <a:gd name="adj" fmla="val 296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2" name="Shape 10"/>
          <p:cNvSpPr/>
          <p:nvPr/>
        </p:nvSpPr>
        <p:spPr>
          <a:xfrm>
            <a:off x="4306824" y="2240280"/>
            <a:ext cx="3575304" cy="91440"/>
          </a:xfrm>
          <a:prstGeom prst="roundRect">
            <a:avLst/>
          </a:prstGeom>
          <a:solidFill>
            <a:srgbClr val="0E7C86"/>
          </a:solidFill>
          <a:ln/>
        </p:spPr>
      </p:sp>
      <p:sp>
        <p:nvSpPr>
          <p:cNvPr id="13" name="Text 11"/>
          <p:cNvSpPr txBox="1"/>
          <p:nvPr/>
        </p:nvSpPr>
        <p:spPr>
          <a:xfrm>
            <a:off x="4507992" y="2450592"/>
            <a:ext cx="3172968" cy="685800"/>
          </a:xfrm>
          <a:prstGeom prst="rect">
            <a:avLst/>
          </a:prstGeom>
          <a:noFill/>
          <a:ln/>
        </p:spPr>
        <p:txBody>
          <a:bodyPr wrap="square" lIns="0" tIns="0" rIns="0" bIns="0" rtlCol="0" anchor="t"/>
          <a:lstStyle/>
          <a:p>
            <a:pPr indent="0" marL="0">
              <a:buNone/>
            </a:pPr>
            <a:r>
              <a:rPr lang="en-US" sz="1550" b="1" dirty="0">
                <a:solidFill>
                  <a:srgbClr val="0E7C86"/>
                </a:solidFill>
                <a:latin typeface="Calibri" pitchFamily="34" charset="0"/>
                <a:ea typeface="Calibri" pitchFamily="34" charset="-122"/>
                <a:cs typeface="Calibri" pitchFamily="34" charset="-120"/>
              </a:rPr>
              <a:t>Social media</a:t>
            </a:r>
            <a:endParaRPr lang="en-US" sz="1550" dirty="0"/>
          </a:p>
        </p:txBody>
      </p:sp>
      <p:sp>
        <p:nvSpPr>
          <p:cNvPr id="14" name="Text 12"/>
          <p:cNvSpPr txBox="1"/>
          <p:nvPr/>
        </p:nvSpPr>
        <p:spPr>
          <a:xfrm>
            <a:off x="4507992" y="3154680"/>
            <a:ext cx="3172968" cy="77724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Brands build a presence, engage and respond directly to customers.</a:t>
            </a:r>
            <a:endParaRPr lang="en-US" sz="1250" dirty="0"/>
          </a:p>
        </p:txBody>
      </p:sp>
      <p:sp>
        <p:nvSpPr>
          <p:cNvPr id="15" name="Text 13"/>
          <p:cNvSpPr txBox="1"/>
          <p:nvPr/>
        </p:nvSpPr>
        <p:spPr>
          <a:xfrm>
            <a:off x="4507992" y="3931920"/>
            <a:ext cx="3172968" cy="731520"/>
          </a:xfrm>
          <a:prstGeom prst="rect">
            <a:avLst/>
          </a:prstGeom>
          <a:noFill/>
          <a:ln/>
        </p:spPr>
        <p:txBody>
          <a:bodyPr wrap="square" lIns="0" tIns="0" rIns="0" bIns="0" rtlCol="0" anchor="t"/>
          <a:lstStyle/>
          <a:p>
            <a:pPr indent="0" marL="0">
              <a:buNone/>
            </a:pPr>
            <a:r>
              <a:rPr lang="en-US" sz="1150" i="1" dirty="0">
                <a:solidFill>
                  <a:srgbClr val="5B6B73"/>
                </a:solidFill>
                <a:latin typeface="Calibri" pitchFamily="34" charset="0"/>
                <a:ea typeface="Calibri" pitchFamily="34" charset="-122"/>
                <a:cs typeface="Calibri" pitchFamily="34" charset="-120"/>
              </a:rPr>
              <a:t>Low-cost reach &amp; engagement — but needs constant management; complaints are public</a:t>
            </a:r>
            <a:endParaRPr lang="en-US" sz="1150" dirty="0"/>
          </a:p>
        </p:txBody>
      </p:sp>
      <p:sp>
        <p:nvSpPr>
          <p:cNvPr id="16" name="Shape 14"/>
          <p:cNvSpPr/>
          <p:nvPr/>
        </p:nvSpPr>
        <p:spPr>
          <a:xfrm>
            <a:off x="8065008" y="2240280"/>
            <a:ext cx="3575304" cy="2468880"/>
          </a:xfrm>
          <a:prstGeom prst="roundRect">
            <a:avLst>
              <a:gd name="adj" fmla="val 296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7" name="Shape 15"/>
          <p:cNvSpPr/>
          <p:nvPr/>
        </p:nvSpPr>
        <p:spPr>
          <a:xfrm>
            <a:off x="8065008" y="2240280"/>
            <a:ext cx="3575304" cy="91440"/>
          </a:xfrm>
          <a:prstGeom prst="roundRect">
            <a:avLst/>
          </a:prstGeom>
          <a:solidFill>
            <a:srgbClr val="E0940F"/>
          </a:solidFill>
          <a:ln/>
        </p:spPr>
      </p:sp>
      <p:sp>
        <p:nvSpPr>
          <p:cNvPr id="18" name="Text 16"/>
          <p:cNvSpPr txBox="1"/>
          <p:nvPr/>
        </p:nvSpPr>
        <p:spPr>
          <a:xfrm>
            <a:off x="8266176" y="2450592"/>
            <a:ext cx="3172968" cy="685800"/>
          </a:xfrm>
          <a:prstGeom prst="rect">
            <a:avLst/>
          </a:prstGeom>
          <a:noFill/>
          <a:ln/>
        </p:spPr>
        <p:txBody>
          <a:bodyPr wrap="square" lIns="0" tIns="0" rIns="0" bIns="0" rtlCol="0" anchor="t"/>
          <a:lstStyle/>
          <a:p>
            <a:pPr indent="0" marL="0">
              <a:buNone/>
            </a:pPr>
            <a:r>
              <a:rPr lang="en-US" sz="1550" b="1" dirty="0">
                <a:solidFill>
                  <a:srgbClr val="E0940F"/>
                </a:solidFill>
                <a:latin typeface="Calibri" pitchFamily="34" charset="0"/>
                <a:ea typeface="Calibri" pitchFamily="34" charset="-122"/>
                <a:cs typeface="Calibri" pitchFamily="34" charset="-120"/>
              </a:rPr>
              <a:t>Emotional branding</a:t>
            </a:r>
            <a:endParaRPr lang="en-US" sz="1550" dirty="0"/>
          </a:p>
        </p:txBody>
      </p:sp>
      <p:sp>
        <p:nvSpPr>
          <p:cNvPr id="19" name="Text 17"/>
          <p:cNvSpPr txBox="1"/>
          <p:nvPr/>
        </p:nvSpPr>
        <p:spPr>
          <a:xfrm>
            <a:off x="8266176" y="3154680"/>
            <a:ext cx="3172968" cy="77724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Advertising that builds an emotional bond and long-term loyalty.</a:t>
            </a:r>
            <a:endParaRPr lang="en-US" sz="1250" dirty="0"/>
          </a:p>
        </p:txBody>
      </p:sp>
      <p:sp>
        <p:nvSpPr>
          <p:cNvPr id="20" name="Text 18"/>
          <p:cNvSpPr txBox="1"/>
          <p:nvPr/>
        </p:nvSpPr>
        <p:spPr>
          <a:xfrm>
            <a:off x="8266176" y="3931920"/>
            <a:ext cx="3172968" cy="731520"/>
          </a:xfrm>
          <a:prstGeom prst="rect">
            <a:avLst/>
          </a:prstGeom>
          <a:noFill/>
          <a:ln/>
        </p:spPr>
        <p:txBody>
          <a:bodyPr wrap="square" lIns="0" tIns="0" rIns="0" bIns="0" rtlCol="0" anchor="t"/>
          <a:lstStyle/>
          <a:p>
            <a:pPr indent="0" marL="0">
              <a:buNone/>
            </a:pPr>
            <a:r>
              <a:rPr lang="en-US" sz="1150" i="1" dirty="0">
                <a:solidFill>
                  <a:srgbClr val="5B6B73"/>
                </a:solidFill>
                <a:latin typeface="Calibri" pitchFamily="34" charset="0"/>
                <a:ea typeface="Calibri" pitchFamily="34" charset="-122"/>
                <a:cs typeface="Calibri" pitchFamily="34" charset="-120"/>
              </a:rPr>
              <a:t>Deep loyalty &amp; differentiation — but must feel authentic and is costly to produce</a:t>
            </a:r>
            <a:endParaRPr lang="en-US" sz="1150" dirty="0"/>
          </a:p>
        </p:txBody>
      </p:sp>
      <p:sp>
        <p:nvSpPr>
          <p:cNvPr id="21" name="Shape 19"/>
          <p:cNvSpPr/>
          <p:nvPr/>
        </p:nvSpPr>
        <p:spPr>
          <a:xfrm>
            <a:off x="548640" y="4892040"/>
            <a:ext cx="11091672" cy="1280160"/>
          </a:xfrm>
          <a:prstGeom prst="roundRect">
            <a:avLst>
              <a:gd name="adj" fmla="val 5714"/>
            </a:avLst>
          </a:prstGeom>
          <a:solidFill>
            <a:srgbClr val="FBF0D8"/>
          </a:solidFill>
          <a:ln/>
          <a:effectLst>
            <a:outerShdw sx="100000" sy="100000" kx="0" ky="0" algn="bl" rotWithShape="0" blurRad="76200" dist="25400" dir="5400000">
              <a:srgbClr val="9AAAB0">
                <a:alpha val="28000"/>
              </a:srgbClr>
            </a:outerShdw>
          </a:effectLst>
        </p:spPr>
      </p:sp>
      <p:sp>
        <p:nvSpPr>
          <p:cNvPr id="22" name="Shape 20"/>
          <p:cNvSpPr/>
          <p:nvPr/>
        </p:nvSpPr>
        <p:spPr>
          <a:xfrm>
            <a:off x="548640" y="4892040"/>
            <a:ext cx="109728" cy="1280160"/>
          </a:xfrm>
          <a:prstGeom prst="roundRect">
            <a:avLst/>
          </a:prstGeom>
          <a:solidFill>
            <a:srgbClr val="E0940F"/>
          </a:solidFill>
          <a:ln/>
        </p:spPr>
      </p:sp>
      <p:sp>
        <p:nvSpPr>
          <p:cNvPr id="23" name="Text 21"/>
          <p:cNvSpPr txBox="1"/>
          <p:nvPr/>
        </p:nvSpPr>
        <p:spPr>
          <a:xfrm>
            <a:off x="777240" y="5001768"/>
            <a:ext cx="10607040" cy="274320"/>
          </a:xfrm>
          <a:prstGeom prst="rect">
            <a:avLst/>
          </a:prstGeom>
          <a:noFill/>
          <a:ln/>
        </p:spPr>
        <p:txBody>
          <a:bodyPr wrap="square" lIns="0" tIns="0" rIns="0" bIns="0" rtlCol="0" anchor="ctr"/>
          <a:lstStyle/>
          <a:p>
            <a:pPr indent="0" marL="0">
              <a:buNone/>
            </a:pPr>
            <a:r>
              <a:rPr lang="en-US" sz="1150" b="1" spc="100" kern="0" dirty="0">
                <a:solidFill>
                  <a:srgbClr val="8A5A06"/>
                </a:solidFill>
                <a:latin typeface="Calibri" pitchFamily="34" charset="0"/>
                <a:ea typeface="Calibri" pitchFamily="34" charset="-122"/>
                <a:cs typeface="Calibri" pitchFamily="34" charset="-120"/>
              </a:rPr>
              <a:t>REAL EXAMPLES</a:t>
            </a:r>
            <a:endParaRPr lang="en-US" sz="1150" dirty="0"/>
          </a:p>
        </p:txBody>
      </p:sp>
      <p:sp>
        <p:nvSpPr>
          <p:cNvPr id="24" name="Text 22"/>
          <p:cNvSpPr txBox="1"/>
          <p:nvPr/>
        </p:nvSpPr>
        <p:spPr>
          <a:xfrm>
            <a:off x="777240" y="5285232"/>
            <a:ext cx="10698480" cy="82296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Coca-Cola's ‘Share a Coke’ put names on bottles — personal, shareable and widely posted online (viral + emotional). Apple and John Lewis Christmas ads build emotional bonds rather than listing features. These trends make promotion cheaper to spread but harder to control.</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C · EXAM PRACTICE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Exam practice: sponsorship (Mercedes)</a:t>
            </a:r>
            <a:endParaRPr lang="en-US" sz="2800" dirty="0"/>
          </a:p>
        </p:txBody>
      </p:sp>
      <p:sp>
        <p:nvSpPr>
          <p:cNvPr id="4" name="Shape 2"/>
          <p:cNvSpPr/>
          <p:nvPr/>
        </p:nvSpPr>
        <p:spPr>
          <a:xfrm>
            <a:off x="548640" y="1371600"/>
            <a:ext cx="11091672" cy="1874520"/>
          </a:xfrm>
          <a:prstGeom prst="roundRect">
            <a:avLst>
              <a:gd name="adj" fmla="val 3902"/>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5486400" cy="274320"/>
          </a:xfrm>
          <a:prstGeom prst="rect">
            <a:avLst/>
          </a:prstGeom>
          <a:noFill/>
          <a:ln/>
        </p:spPr>
        <p:txBody>
          <a:bodyPr wrap="square" lIns="0" tIns="0" rIns="0" bIns="0" rtlCol="0" anchor="ctr"/>
          <a:lstStyle/>
          <a:p>
            <a:pPr indent="0" marL="0">
              <a:buNone/>
            </a:pPr>
            <a:r>
              <a:rPr lang="en-US" sz="1100" b="1" spc="150" kern="0" dirty="0">
                <a:solidFill>
                  <a:srgbClr val="7FC4CB"/>
                </a:solidFill>
                <a:latin typeface="Calibri" pitchFamily="34" charset="0"/>
                <a:ea typeface="Calibri" pitchFamily="34" charset="-122"/>
                <a:cs typeface="Calibri" pitchFamily="34" charset="-120"/>
              </a:rPr>
              <a:t>EXAM QUESTIONS</a:t>
            </a:r>
            <a:endParaRPr lang="en-US" sz="1100" dirty="0"/>
          </a:p>
        </p:txBody>
      </p:sp>
      <p:sp>
        <p:nvSpPr>
          <p:cNvPr id="6" name="Text 4"/>
          <p:cNvSpPr txBox="1"/>
          <p:nvPr/>
        </p:nvSpPr>
        <p:spPr>
          <a:xfrm>
            <a:off x="777240" y="1792224"/>
            <a:ext cx="10607040" cy="132588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Assess the likely importance for Mercedes of using sponsorship.  </a:t>
            </a:r>
            <a:pPr indent="0" marL="0">
              <a:spcAft>
                <a:spcPts val="800"/>
              </a:spcAft>
              <a:buNone/>
            </a:pPr>
            <a:r>
              <a:rPr lang="en-US" sz="1350" b="1" dirty="0">
                <a:solidFill>
                  <a:srgbClr val="E0940F"/>
                </a:solidFill>
                <a:latin typeface="Calibri" pitchFamily="34" charset="0"/>
                <a:ea typeface="Calibri" pitchFamily="34" charset="-122"/>
                <a:cs typeface="Calibri" pitchFamily="34" charset="-120"/>
              </a:rPr>
              <a:t>[10]</a:t>
            </a:r>
            <a:endParaRPr lang="en-US" sz="1350" dirty="0"/>
          </a:p>
        </p:txBody>
      </p:sp>
      <p:sp>
        <p:nvSpPr>
          <p:cNvPr id="7" name="Shape 5"/>
          <p:cNvSpPr/>
          <p:nvPr/>
        </p:nvSpPr>
        <p:spPr>
          <a:xfrm>
            <a:off x="548640" y="3364992"/>
            <a:ext cx="5029200" cy="2834640"/>
          </a:xfrm>
          <a:prstGeom prst="roundRect">
            <a:avLst>
              <a:gd name="adj" fmla="val 2581"/>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3474720"/>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What the question is testing</a:t>
            </a:r>
            <a:endParaRPr lang="en-US" sz="1300" dirty="0"/>
          </a:p>
        </p:txBody>
      </p:sp>
      <p:sp>
        <p:nvSpPr>
          <p:cNvPr id="9" name="Text 7"/>
          <p:cNvSpPr txBox="1"/>
          <p:nvPr/>
        </p:nvSpPr>
        <p:spPr>
          <a:xfrm>
            <a:off x="749808" y="3840480"/>
            <a:ext cx="461772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10-mark Assess: weigh how important sponsorship is against its limits, with a supported judgement.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Apply the Mercedes/Hamilton context throughout (luxury marque, F1, contrarian deals).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Level 4 (8–10): balanced, well-contextualised, competing arguments, a clear supported judgement.</a:t>
            </a:r>
            <a:endParaRPr lang="en-US" sz="1250" dirty="0"/>
          </a:p>
        </p:txBody>
      </p:sp>
      <p:sp>
        <p:nvSpPr>
          <p:cNvPr id="10" name="Shape 8"/>
          <p:cNvSpPr/>
          <p:nvPr/>
        </p:nvSpPr>
        <p:spPr>
          <a:xfrm>
            <a:off x="5788152" y="3364992"/>
            <a:ext cx="5852160" cy="2834640"/>
          </a:xfrm>
          <a:prstGeom prst="roundRect">
            <a:avLst>
              <a:gd name="adj" fmla="val 2581"/>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3474720"/>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Plan (10-mark template)</a:t>
            </a:r>
            <a:endParaRPr lang="en-US" sz="1300" dirty="0"/>
          </a:p>
        </p:txBody>
      </p:sp>
      <p:sp>
        <p:nvSpPr>
          <p:cNvPr id="12" name="Text 10"/>
          <p:cNvSpPr txBox="1"/>
          <p:nvPr/>
        </p:nvSpPr>
        <p:spPr>
          <a:xfrm>
            <a:off x="5989320" y="3840480"/>
            <a:ext cx="544068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¶1 (for): sponsoring F1/Hamilton transfers prestige → reinforces Mercedes' luxury image → premium pricing &amp; sales.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¶2 (limit): it is very expensive (~£40m/yr) and its impact on sales is hard to measure; reputational risk if the driver/team underperforms or has a scandal.</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Conclusion (4Ws): “Overall sponsorship is important for brand positioning, but its value depends on cost vs measurable return and the fit with Mercedes' luxury image.”</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D</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D</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300" b="1" dirty="0">
                <a:solidFill>
                  <a:srgbClr val="FFFFFF"/>
                </a:solidFill>
                <a:latin typeface="Cambria" pitchFamily="34" charset="0"/>
                <a:ea typeface="Cambria" pitchFamily="34" charset="-122"/>
                <a:cs typeface="Cambria" pitchFamily="34" charset="-120"/>
              </a:rPr>
              <a:t>A-grade exam skills</a:t>
            </a:r>
            <a:endParaRPr lang="en-US" sz="33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the LEGO 20-mark on branding  ·  decode and plan with 5×5  ·  a model answer and how to reach the top band</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D · EXAM MASTERY</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The 20-mark: decode it, then plan with 5×5</a:t>
            </a:r>
            <a:endParaRPr lang="en-US" sz="2800" dirty="0"/>
          </a:p>
        </p:txBody>
      </p:sp>
      <p:sp>
        <p:nvSpPr>
          <p:cNvPr id="4" name="Shape 2"/>
          <p:cNvSpPr/>
          <p:nvPr/>
        </p:nvSpPr>
        <p:spPr>
          <a:xfrm>
            <a:off x="548640" y="1371600"/>
            <a:ext cx="11091672" cy="1005840"/>
          </a:xfrm>
          <a:prstGeom prst="roundRect">
            <a:avLst>
              <a:gd name="adj" fmla="val 7273"/>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5486400" cy="274320"/>
          </a:xfrm>
          <a:prstGeom prst="rect">
            <a:avLst/>
          </a:prstGeom>
          <a:noFill/>
          <a:ln/>
        </p:spPr>
        <p:txBody>
          <a:bodyPr wrap="square" lIns="0" tIns="0" rIns="0" bIns="0" rtlCol="0" anchor="ctr"/>
          <a:lstStyle/>
          <a:p>
            <a:pPr indent="0" marL="0">
              <a:buNone/>
            </a:pPr>
            <a:r>
              <a:rPr lang="en-US" sz="1050" b="1" spc="150" kern="0" dirty="0">
                <a:solidFill>
                  <a:srgbClr val="7FC4CB"/>
                </a:solidFill>
                <a:latin typeface="Calibri" pitchFamily="34" charset="0"/>
                <a:ea typeface="Calibri" pitchFamily="34" charset="-122"/>
                <a:cs typeface="Calibri" pitchFamily="34" charset="-120"/>
              </a:rPr>
              <a:t>THE QUESTION</a:t>
            </a:r>
            <a:endParaRPr lang="en-US" sz="1050" dirty="0"/>
          </a:p>
        </p:txBody>
      </p:sp>
      <p:sp>
        <p:nvSpPr>
          <p:cNvPr id="6" name="Text 4"/>
          <p:cNvSpPr txBox="1"/>
          <p:nvPr/>
        </p:nvSpPr>
        <p:spPr>
          <a:xfrm>
            <a:off x="777240" y="1773936"/>
            <a:ext cx="10607040" cy="4572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Evaluate the importance of strong branding to a business such as LEGO.  </a:t>
            </a:r>
            <a:pPr indent="0" marL="0">
              <a:buNone/>
            </a:pPr>
            <a:r>
              <a:rPr lang="en-US" sz="1400" b="1" dirty="0">
                <a:solidFill>
                  <a:srgbClr val="E0940F"/>
                </a:solidFill>
                <a:latin typeface="Calibri" pitchFamily="34" charset="0"/>
                <a:ea typeface="Calibri" pitchFamily="34" charset="-122"/>
                <a:cs typeface="Calibri" pitchFamily="34" charset="-120"/>
              </a:rPr>
              <a:t>[20]</a:t>
            </a:r>
            <a:endParaRPr lang="en-US" sz="1400" dirty="0"/>
          </a:p>
        </p:txBody>
      </p:sp>
      <p:sp>
        <p:nvSpPr>
          <p:cNvPr id="7" name="Shape 5"/>
          <p:cNvSpPr/>
          <p:nvPr/>
        </p:nvSpPr>
        <p:spPr>
          <a:xfrm>
            <a:off x="548640" y="2514600"/>
            <a:ext cx="5029200" cy="3685032"/>
          </a:xfrm>
          <a:prstGeom prst="roundRect">
            <a:avLst>
              <a:gd name="adj" fmla="val 1985"/>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2624328"/>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Decode the command</a:t>
            </a:r>
            <a:endParaRPr lang="en-US" sz="1300" dirty="0"/>
          </a:p>
        </p:txBody>
      </p:sp>
      <p:sp>
        <p:nvSpPr>
          <p:cNvPr id="9" name="Text 7"/>
          <p:cNvSpPr txBox="1"/>
          <p:nvPr/>
        </p:nvSpPr>
        <p:spPr>
          <a:xfrm>
            <a:off x="749808" y="2990088"/>
            <a:ext cx="4617720" cy="3108960"/>
          </a:xfrm>
          <a:prstGeom prst="rect">
            <a:avLst/>
          </a:prstGeom>
          <a:noFill/>
          <a:ln/>
        </p:spPr>
        <p:txBody>
          <a:bodyPr wrap="square" lIns="0" tIns="0" rIns="0" bIns="0" rtlCol="0" anchor="t"/>
          <a:lstStyle/>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Evaluate = argue both importance AND limits, then a supported judgement</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Use the three benefits of branding as evidence: added value, premium price, reduced PED</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Apply to LEGO in every paragraph</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Level 4 (16–20): balanced, well-contextualised, competing arguments, supported judgement</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Timing ~30 min: 5 plan, ~20 write, 3–5 conclude</a:t>
            </a:r>
            <a:endParaRPr lang="en-US" sz="1180" dirty="0"/>
          </a:p>
        </p:txBody>
      </p:sp>
      <p:sp>
        <p:nvSpPr>
          <p:cNvPr id="10" name="Shape 8"/>
          <p:cNvSpPr/>
          <p:nvPr/>
        </p:nvSpPr>
        <p:spPr>
          <a:xfrm>
            <a:off x="5788152" y="2514600"/>
            <a:ext cx="5852160" cy="3685032"/>
          </a:xfrm>
          <a:prstGeom prst="roundRect">
            <a:avLst>
              <a:gd name="adj" fmla="val 1985"/>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2624328"/>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Plan — 5×5 PECAN, 5 paragraphs</a:t>
            </a:r>
            <a:endParaRPr lang="en-US" sz="1300" dirty="0"/>
          </a:p>
        </p:txBody>
      </p:sp>
      <p:sp>
        <p:nvSpPr>
          <p:cNvPr id="12" name="Text 10"/>
          <p:cNvSpPr txBox="1"/>
          <p:nvPr/>
        </p:nvSpPr>
        <p:spPr>
          <a:xfrm>
            <a:off x="5989320" y="2990088"/>
            <a:ext cx="5440680" cy="3108960"/>
          </a:xfrm>
          <a:prstGeom prst="rect">
            <a:avLst/>
          </a:prstGeom>
          <a:noFill/>
          <a:ln/>
        </p:spPr>
        <p:txBody>
          <a:bodyPr wrap="square" lIns="0" tIns="0" rIns="0" bIns="0" rtlCol="0" anchor="t"/>
          <a:lstStyle/>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¶1 Added value &amp; premium price — LEGO charges far more than generic bricks</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¶2 Reduced PED &amp; loyalty — multi-generational fans + licensing (Star Wars)</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¶3 However, branding is costly and not enough alone — quality &amp; innovation matter</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¶4 Other factors — product design, licensing and distribution work WITH the brand</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¶5 Conclusion (4Ws): which, why, why it matters, what it depends on</a:t>
            </a:r>
            <a:endParaRPr lang="en-US" sz="118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D · MODEL ANSWER</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A model 20-mark answer (LEGO) — the body</a:t>
            </a:r>
            <a:endParaRPr lang="en-US" sz="2800" dirty="0"/>
          </a:p>
        </p:txBody>
      </p:sp>
      <p:sp>
        <p:nvSpPr>
          <p:cNvPr id="4" name="Shape 2"/>
          <p:cNvSpPr/>
          <p:nvPr/>
        </p:nvSpPr>
        <p:spPr>
          <a:xfrm>
            <a:off x="548640" y="1371600"/>
            <a:ext cx="11091672" cy="1572768"/>
          </a:xfrm>
          <a:prstGeom prst="roundRect">
            <a:avLst>
              <a:gd name="adj" fmla="val 4651"/>
            </a:avLst>
          </a:prstGeom>
          <a:solidFill>
            <a:srgbClr val="E8F3EC"/>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0607040" cy="1371600"/>
          </a:xfrm>
          <a:prstGeom prst="rect">
            <a:avLst/>
          </a:prstGeom>
          <a:noFill/>
          <a:ln/>
        </p:spPr>
        <p:txBody>
          <a:bodyPr wrap="square" lIns="0" tIns="0" rIns="0" bIns="0" rtlCol="0" anchor="t"/>
          <a:lstStyle/>
          <a:p>
            <a:pPr indent="0" marL="0">
              <a:buNone/>
            </a:pPr>
            <a:r>
              <a:rPr lang="en-US" sz="1180" b="1" dirty="0">
                <a:solidFill>
                  <a:srgbClr val="2F8A5B"/>
                </a:solidFill>
                <a:latin typeface="Calibri" pitchFamily="34" charset="0"/>
                <a:ea typeface="Calibri" pitchFamily="34" charset="-122"/>
                <a:cs typeface="Calibri" pitchFamily="34" charset="-120"/>
              </a:rPr>
              <a:t>¶ Added value &amp; premium price (for).  </a:t>
            </a:r>
            <a:pPr indent="0" marL="0">
              <a:buNone/>
            </a:pPr>
            <a:r>
              <a:rPr lang="en-US" sz="1180" dirty="0">
                <a:solidFill>
                  <a:srgbClr val="1F2A33"/>
                </a:solidFill>
                <a:latin typeface="Calibri" pitchFamily="34" charset="0"/>
                <a:ea typeface="Calibri" pitchFamily="34" charset="-122"/>
                <a:cs typeface="Calibri" pitchFamily="34" charset="-120"/>
              </a:rPr>
              <a:t>Strong branding is highly important to LEGO because it adds value that lets the firm charge premium prices. LEGO bricks cost far more than generic building blocks, yet customers still buy them because the brand signals quality, safety and reliability. This means LEGO earns higher margins on each set, which it can reinvest in design and marketing — so branding directly supports its profitability.</a:t>
            </a:r>
            <a:endParaRPr lang="en-US" sz="1180" dirty="0"/>
          </a:p>
        </p:txBody>
      </p:sp>
      <p:sp>
        <p:nvSpPr>
          <p:cNvPr id="6" name="Shape 4"/>
          <p:cNvSpPr/>
          <p:nvPr/>
        </p:nvSpPr>
        <p:spPr>
          <a:xfrm>
            <a:off x="548640" y="3017520"/>
            <a:ext cx="11091672" cy="1572768"/>
          </a:xfrm>
          <a:prstGeom prst="roundRect">
            <a:avLst>
              <a:gd name="adj" fmla="val 4651"/>
            </a:avLst>
          </a:prstGeom>
          <a:solidFill>
            <a:srgbClr val="EAF3F4"/>
          </a:solidFill>
          <a:ln/>
          <a:effectLst>
            <a:outerShdw sx="100000" sy="100000" kx="0" ky="0" algn="bl" rotWithShape="0" blurRad="76200" dist="25400" dir="5400000">
              <a:srgbClr val="9AAAB0">
                <a:alpha val="28000"/>
              </a:srgbClr>
            </a:outerShdw>
          </a:effectLst>
        </p:spPr>
      </p:sp>
      <p:sp>
        <p:nvSpPr>
          <p:cNvPr id="7" name="Text 5"/>
          <p:cNvSpPr txBox="1"/>
          <p:nvPr/>
        </p:nvSpPr>
        <p:spPr>
          <a:xfrm>
            <a:off x="777240" y="3127248"/>
            <a:ext cx="10607040" cy="1371600"/>
          </a:xfrm>
          <a:prstGeom prst="rect">
            <a:avLst/>
          </a:prstGeom>
          <a:noFill/>
          <a:ln/>
        </p:spPr>
        <p:txBody>
          <a:bodyPr wrap="square" lIns="0" tIns="0" rIns="0" bIns="0" rtlCol="0" anchor="t"/>
          <a:lstStyle/>
          <a:p>
            <a:pPr indent="0" marL="0">
              <a:buNone/>
            </a:pPr>
            <a:r>
              <a:rPr lang="en-US" sz="1180" b="1" dirty="0">
                <a:solidFill>
                  <a:srgbClr val="0B5E66"/>
                </a:solidFill>
                <a:latin typeface="Calibri" pitchFamily="34" charset="0"/>
                <a:ea typeface="Calibri" pitchFamily="34" charset="-122"/>
                <a:cs typeface="Calibri" pitchFamily="34" charset="-120"/>
              </a:rPr>
              <a:t>¶ Reduced PED &amp; loyalty (for).  </a:t>
            </a:r>
            <a:pPr indent="0" marL="0">
              <a:buNone/>
            </a:pPr>
            <a:r>
              <a:rPr lang="en-US" sz="1180" dirty="0">
                <a:solidFill>
                  <a:srgbClr val="1F2A33"/>
                </a:solidFill>
                <a:latin typeface="Calibri" pitchFamily="34" charset="0"/>
                <a:ea typeface="Calibri" pitchFamily="34" charset="-122"/>
                <a:cs typeface="Calibri" pitchFamily="34" charset="-120"/>
              </a:rPr>
              <a:t>Branding also matters because it builds loyalty that reduces price elasticity of demand. LEGO has multi-generational fans and valuable licences such as Star Wars and Harry Potter, so demand is relatively inelastic — it can raise prices with only a small fall in sales. Crucially, since LEGO's core brick patents expired, cheaper rivals can copy the product, so the brand is the main thing protecting its premium position.</a:t>
            </a:r>
            <a:endParaRPr lang="en-US" sz="1180" dirty="0"/>
          </a:p>
        </p:txBody>
      </p:sp>
      <p:sp>
        <p:nvSpPr>
          <p:cNvPr id="8" name="Shape 6"/>
          <p:cNvSpPr/>
          <p:nvPr/>
        </p:nvSpPr>
        <p:spPr>
          <a:xfrm>
            <a:off x="548640" y="4663440"/>
            <a:ext cx="11091672" cy="1517904"/>
          </a:xfrm>
          <a:prstGeom prst="roundRect">
            <a:avLst>
              <a:gd name="adj" fmla="val 4819"/>
            </a:avLst>
          </a:prstGeom>
          <a:solidFill>
            <a:srgbClr val="F9EAE6"/>
          </a:solidFill>
          <a:ln/>
          <a:effectLst>
            <a:outerShdw sx="100000" sy="100000" kx="0" ky="0" algn="bl" rotWithShape="0" blurRad="76200" dist="25400" dir="5400000">
              <a:srgbClr val="9AAAB0">
                <a:alpha val="28000"/>
              </a:srgbClr>
            </a:outerShdw>
          </a:effectLst>
        </p:spPr>
      </p:sp>
      <p:sp>
        <p:nvSpPr>
          <p:cNvPr id="9" name="Text 7"/>
          <p:cNvSpPr txBox="1"/>
          <p:nvPr/>
        </p:nvSpPr>
        <p:spPr>
          <a:xfrm>
            <a:off x="777240" y="4773168"/>
            <a:ext cx="10607040" cy="1316736"/>
          </a:xfrm>
          <a:prstGeom prst="rect">
            <a:avLst/>
          </a:prstGeom>
          <a:noFill/>
          <a:ln/>
        </p:spPr>
        <p:txBody>
          <a:bodyPr wrap="square" lIns="0" tIns="0" rIns="0" bIns="0" rtlCol="0" anchor="t"/>
          <a:lstStyle/>
          <a:p>
            <a:pPr indent="0" marL="0">
              <a:buNone/>
            </a:pPr>
            <a:r>
              <a:rPr lang="en-US" sz="1180" b="1" dirty="0">
                <a:solidFill>
                  <a:srgbClr val="C14B37"/>
                </a:solidFill>
                <a:latin typeface="Calibri" pitchFamily="34" charset="0"/>
                <a:ea typeface="Calibri" pitchFamily="34" charset="-122"/>
                <a:cs typeface="Calibri" pitchFamily="34" charset="-120"/>
              </a:rPr>
              <a:t>¶ Limitation (however).  </a:t>
            </a:r>
            <a:pPr indent="0" marL="0">
              <a:buNone/>
            </a:pPr>
            <a:r>
              <a:rPr lang="en-US" sz="1180" dirty="0">
                <a:solidFill>
                  <a:srgbClr val="1F2A33"/>
                </a:solidFill>
                <a:latin typeface="Calibri" pitchFamily="34" charset="0"/>
                <a:ea typeface="Calibri" pitchFamily="34" charset="-122"/>
                <a:cs typeface="Calibri" pitchFamily="34" charset="-120"/>
              </a:rPr>
              <a:t>However, branding alone does not guarantee success. LEGO still depends on continual product innovation (new sets, themes and video games) and quality; a strong brand would quickly erode if the product disappointed. Branding is also expensive and slow to build, so it must work alongside design, licensing and distribution rather than replacing them.</a:t>
            </a:r>
            <a:endParaRPr lang="en-US" sz="118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D · MODEL ANSWER</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The conclusion — and how to reach the top band</a:t>
            </a:r>
            <a:endParaRPr lang="en-US" sz="2800" dirty="0"/>
          </a:p>
        </p:txBody>
      </p:sp>
      <p:sp>
        <p:nvSpPr>
          <p:cNvPr id="4" name="Shape 2"/>
          <p:cNvSpPr/>
          <p:nvPr/>
        </p:nvSpPr>
        <p:spPr>
          <a:xfrm>
            <a:off x="548640" y="1371600"/>
            <a:ext cx="11091672" cy="1920240"/>
          </a:xfrm>
          <a:prstGeom prst="roundRect">
            <a:avLst>
              <a:gd name="adj" fmla="val 3810"/>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5486400" cy="274320"/>
          </a:xfrm>
          <a:prstGeom prst="rect">
            <a:avLst/>
          </a:prstGeom>
          <a:noFill/>
          <a:ln/>
        </p:spPr>
        <p:txBody>
          <a:bodyPr wrap="square" lIns="0" tIns="0" rIns="0" bIns="0" rtlCol="0" anchor="ctr"/>
          <a:lstStyle/>
          <a:p>
            <a:pPr indent="0" marL="0">
              <a:buNone/>
            </a:pPr>
            <a:r>
              <a:rPr lang="en-US" sz="1050" b="1" spc="150" kern="0" dirty="0">
                <a:solidFill>
                  <a:srgbClr val="7FC4CB"/>
                </a:solidFill>
                <a:latin typeface="Calibri" pitchFamily="34" charset="0"/>
                <a:ea typeface="Calibri" pitchFamily="34" charset="-122"/>
                <a:cs typeface="Calibri" pitchFamily="34" charset="-120"/>
              </a:rPr>
              <a:t>CONCLUSION (4Ws)</a:t>
            </a:r>
            <a:endParaRPr lang="en-US" sz="1050" dirty="0"/>
          </a:p>
        </p:txBody>
      </p:sp>
      <p:sp>
        <p:nvSpPr>
          <p:cNvPr id="6" name="Text 4"/>
          <p:cNvSpPr txBox="1"/>
          <p:nvPr/>
        </p:nvSpPr>
        <p:spPr>
          <a:xfrm>
            <a:off x="777240" y="1773936"/>
            <a:ext cx="10607040" cy="146304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Overall, strong branding is very important to LEGO because it protects premium pricing and loyalty in a market where its product can now be copied. This matters because, without the brand, LEGO would be forced to compete on price against cheaper rivals and lose its margins. However, this depends on LEGO continuing to innovate and maintain quality — the brand amplifies a good product but cannot rescue a poor one. For a commodity producer branding would matter far less, which shows its importance depends on the market and the product.</a:t>
            </a:r>
            <a:endParaRPr lang="en-US" sz="1250" dirty="0"/>
          </a:p>
        </p:txBody>
      </p:sp>
      <p:sp>
        <p:nvSpPr>
          <p:cNvPr id="7" name="Shape 5"/>
          <p:cNvSpPr/>
          <p:nvPr/>
        </p:nvSpPr>
        <p:spPr>
          <a:xfrm>
            <a:off x="548640" y="3474720"/>
            <a:ext cx="5440680" cy="2697480"/>
          </a:xfrm>
          <a:prstGeom prst="roundRect">
            <a:avLst>
              <a:gd name="adj" fmla="val 2712"/>
            </a:avLst>
          </a:prstGeom>
          <a:solidFill>
            <a:srgbClr val="E8F3EC"/>
          </a:solidFill>
          <a:ln/>
          <a:effectLst>
            <a:outerShdw sx="100000" sy="100000" kx="0" ky="0" algn="bl" rotWithShape="0" blurRad="76200" dist="25400" dir="5400000">
              <a:srgbClr val="9AAAB0">
                <a:alpha val="28000"/>
              </a:srgbClr>
            </a:outerShdw>
          </a:effectLst>
        </p:spPr>
      </p:sp>
      <p:sp>
        <p:nvSpPr>
          <p:cNvPr id="8" name="Shape 6"/>
          <p:cNvSpPr/>
          <p:nvPr/>
        </p:nvSpPr>
        <p:spPr>
          <a:xfrm>
            <a:off x="777240" y="3630168"/>
            <a:ext cx="3291840" cy="310896"/>
          </a:xfrm>
          <a:prstGeom prst="roundRect">
            <a:avLst>
              <a:gd name="adj" fmla="val 50000"/>
            </a:avLst>
          </a:prstGeom>
          <a:solidFill>
            <a:srgbClr val="2F8A5B"/>
          </a:solidFill>
          <a:ln/>
        </p:spPr>
      </p:sp>
      <p:sp>
        <p:nvSpPr>
          <p:cNvPr id="9" name="Text 7"/>
          <p:cNvSpPr txBox="1"/>
          <p:nvPr/>
        </p:nvSpPr>
        <p:spPr>
          <a:xfrm>
            <a:off x="777240" y="3630168"/>
            <a:ext cx="32918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TO REACH LEVEL 4</a:t>
            </a:r>
            <a:endParaRPr lang="en-US" sz="1050" dirty="0"/>
          </a:p>
        </p:txBody>
      </p:sp>
      <p:sp>
        <p:nvSpPr>
          <p:cNvPr id="10" name="Text 8"/>
          <p:cNvSpPr txBox="1"/>
          <p:nvPr/>
        </p:nvSpPr>
        <p:spPr>
          <a:xfrm>
            <a:off x="777240" y="4069080"/>
            <a:ext cx="4983480" cy="192024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Argue importance AND limits, not one side</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Use all three benefits (added value, premium, PED)</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Apply LEGO context in every paragraph</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Build 2+ step chains with connectives</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Commit to a judgement AND say what it depends on</a:t>
            </a:r>
            <a:endParaRPr lang="en-US" sz="1200" dirty="0"/>
          </a:p>
        </p:txBody>
      </p:sp>
      <p:sp>
        <p:nvSpPr>
          <p:cNvPr id="11" name="Shape 9"/>
          <p:cNvSpPr/>
          <p:nvPr/>
        </p:nvSpPr>
        <p:spPr>
          <a:xfrm>
            <a:off x="6199632" y="3474720"/>
            <a:ext cx="5440680" cy="2697480"/>
          </a:xfrm>
          <a:prstGeom prst="roundRect">
            <a:avLst>
              <a:gd name="adj" fmla="val 2712"/>
            </a:avLst>
          </a:prstGeom>
          <a:solidFill>
            <a:srgbClr val="F9EAE6"/>
          </a:solidFill>
          <a:ln/>
          <a:effectLst>
            <a:outerShdw sx="100000" sy="100000" kx="0" ky="0" algn="bl" rotWithShape="0" blurRad="76200" dist="25400" dir="5400000">
              <a:srgbClr val="9AAAB0">
                <a:alpha val="28000"/>
              </a:srgbClr>
            </a:outerShdw>
          </a:effectLst>
        </p:spPr>
      </p:sp>
      <p:sp>
        <p:nvSpPr>
          <p:cNvPr id="12" name="Shape 10"/>
          <p:cNvSpPr/>
          <p:nvPr/>
        </p:nvSpPr>
        <p:spPr>
          <a:xfrm>
            <a:off x="6428232" y="3630168"/>
            <a:ext cx="3840480" cy="310896"/>
          </a:xfrm>
          <a:prstGeom prst="roundRect">
            <a:avLst>
              <a:gd name="adj" fmla="val 50000"/>
            </a:avLst>
          </a:prstGeom>
          <a:solidFill>
            <a:srgbClr val="C14B37"/>
          </a:solidFill>
          <a:ln/>
        </p:spPr>
      </p:sp>
      <p:sp>
        <p:nvSpPr>
          <p:cNvPr id="13" name="Text 11"/>
          <p:cNvSpPr txBox="1"/>
          <p:nvPr/>
        </p:nvSpPr>
        <p:spPr>
          <a:xfrm>
            <a:off x="6428232" y="3630168"/>
            <a:ext cx="384048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WHAT DROPS TO LEVEL 2–3</a:t>
            </a:r>
            <a:endParaRPr lang="en-US" sz="1050" dirty="0"/>
          </a:p>
        </p:txBody>
      </p:sp>
      <p:sp>
        <p:nvSpPr>
          <p:cNvPr id="14" name="Text 12"/>
          <p:cNvSpPr txBox="1"/>
          <p:nvPr/>
        </p:nvSpPr>
        <p:spPr>
          <a:xfrm>
            <a:off x="6428232" y="4069080"/>
            <a:ext cx="4983480" cy="192024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Listing benefits of branding with no LEGO context</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Only arguing one side</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Chains that stop at 'customers like it'</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No judgement, or a judgement with no 'depends on'</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Generic points that fit any business</a:t>
            </a:r>
            <a:endParaRPr lang="en-US" sz="12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822960" y="640080"/>
            <a:ext cx="10515600" cy="365760"/>
          </a:xfrm>
          <a:prstGeom prst="rect">
            <a:avLst/>
          </a:prstGeom>
          <a:noFill/>
          <a:ln/>
        </p:spPr>
        <p:txBody>
          <a:bodyPr wrap="square" lIns="0" tIns="0" rIns="0" bIns="0" rtlCol="0" anchor="ctr"/>
          <a:lstStyle/>
          <a:p>
            <a:pPr indent="0" marL="0">
              <a:buNone/>
            </a:pPr>
            <a:r>
              <a:rPr lang="en-US" sz="1300" b="1" spc="200" kern="0" dirty="0">
                <a:solidFill>
                  <a:srgbClr val="E0940F"/>
                </a:solidFill>
                <a:latin typeface="Calibri" pitchFamily="34" charset="0"/>
                <a:ea typeface="Calibri" pitchFamily="34" charset="-122"/>
                <a:cs typeface="Calibri" pitchFamily="34" charset="-120"/>
              </a:rPr>
              <a:t>PUTTING IT TOGETHER</a:t>
            </a:r>
            <a:endParaRPr lang="en-US" sz="1300" dirty="0"/>
          </a:p>
        </p:txBody>
      </p:sp>
      <p:sp>
        <p:nvSpPr>
          <p:cNvPr id="3" name="Text 1"/>
          <p:cNvSpPr txBox="1"/>
          <p:nvPr/>
        </p:nvSpPr>
        <p:spPr>
          <a:xfrm>
            <a:off x="822960" y="1005840"/>
            <a:ext cx="10515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Answering promotion &amp; branding questions</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822960" y="1828800"/>
          <a:ext cx="10543032" cy="914400"/>
        </p:xfrm>
        <a:graphic>
          <a:graphicData uri="http://schemas.openxmlformats.org/drawingml/2006/table">
            <a:tbl>
              <a:tblPr/>
              <a:tblGrid>
                <a:gridCol w="1097280"/>
                <a:gridCol w="2103120"/>
                <a:gridCol w="7342632"/>
              </a:tblGrid>
              <a:tr h="457200">
                <a:tc>
                  <a:txBody>
                    <a:bodyPr/>
                    <a:lstStyle/>
                    <a:p>
                      <a:pPr algn="l" indent="0" marL="0">
                        <a:buNone/>
                      </a:pPr>
                      <a:r>
                        <a:rPr lang="en-US" sz="1350" b="1" dirty="0">
                          <a:solidFill>
                            <a:srgbClr val="0E3A43"/>
                          </a:solidFill>
                          <a:latin typeface="Calibri" pitchFamily="34" charset="0"/>
                          <a:ea typeface="Calibri" pitchFamily="34" charset="-122"/>
                          <a:cs typeface="Calibri" pitchFamily="34" charset="-120"/>
                        </a:rPr>
                        <a:t>Marks</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c>
                  <a:txBody>
                    <a:bodyPr/>
                    <a:lstStyle/>
                    <a:p>
                      <a:pPr algn="l" indent="0" marL="0">
                        <a:buNone/>
                      </a:pPr>
                      <a:r>
                        <a:rPr lang="en-US" sz="1350" b="1" dirty="0">
                          <a:solidFill>
                            <a:srgbClr val="0E3A43"/>
                          </a:solidFill>
                          <a:latin typeface="Calibri" pitchFamily="34" charset="0"/>
                          <a:ea typeface="Calibri" pitchFamily="34" charset="-122"/>
                          <a:cs typeface="Calibri" pitchFamily="34" charset="-120"/>
                        </a:rPr>
                        <a:t>Command</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c>
                  <a:txBody>
                    <a:bodyPr/>
                    <a:lstStyle/>
                    <a:p>
                      <a:pPr algn="l" indent="0" marL="0">
                        <a:buNone/>
                      </a:pPr>
                      <a:r>
                        <a:rPr lang="en-US" sz="1350" b="1" dirty="0">
                          <a:solidFill>
                            <a:srgbClr val="0E3A43"/>
                          </a:solidFill>
                          <a:latin typeface="Calibri" pitchFamily="34" charset="0"/>
                          <a:ea typeface="Calibri" pitchFamily="34" charset="-122"/>
                          <a:cs typeface="Calibri" pitchFamily="34" charset="-120"/>
                        </a:rPr>
                        <a:t>What to do</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r>
              <a:tr h="56692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Define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Meaning + an example (e.g. a BTL method, or a type of branding).</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640080">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Explain</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Knowledge + two pieces of business evidence + one consequence.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65836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6</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Analyse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Two points, each applied to the firm, each with a developed chain. No judgement.</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65836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10</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Assess</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Balanced argument, applied throughout, + a supported judgement (4Ws).</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74980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20</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Evaluate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5×5 PECAN: argue both sides, then a supported ‘it depends’ judgement.</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bl>
          </a:graphicData>
        </a:graphic>
      </p:graphicFrame>
      <p:sp>
        <p:nvSpPr>
          <p:cNvPr id="5" name="Text 2"/>
          <p:cNvSpPr txBox="1"/>
          <p:nvPr/>
        </p:nvSpPr>
        <p:spPr>
          <a:xfrm>
            <a:off x="822960" y="5989320"/>
            <a:ext cx="10515600" cy="457200"/>
          </a:xfrm>
          <a:prstGeom prst="rect">
            <a:avLst/>
          </a:prstGeom>
          <a:noFill/>
          <a:ln/>
        </p:spPr>
        <p:txBody>
          <a:bodyPr wrap="square" lIns="0" tIns="0" rIns="0" bIns="0" rtlCol="0" anchor="ctr"/>
          <a:lstStyle/>
          <a:p>
            <a:pPr indent="0" marL="0">
              <a:buNone/>
            </a:pPr>
            <a:r>
              <a:rPr lang="en-US" sz="1300" i="1" dirty="0">
                <a:solidFill>
                  <a:srgbClr val="9FBCC0"/>
                </a:solidFill>
                <a:latin typeface="Calibri" pitchFamily="34" charset="0"/>
                <a:ea typeface="Calibri" pitchFamily="34" charset="-122"/>
                <a:cs typeface="Calibri" pitchFamily="34" charset="-120"/>
              </a:rPr>
              <a:t>Golden chain for branding answers: strong brand → added value &amp; loyalty → premium price + reduced PED → higher margins — but it depends on the product and market.</a:t>
            </a:r>
            <a:endParaRPr lang="en-US" sz="1300" dirty="0"/>
          </a:p>
        </p:txBody>
      </p:sp>
    </p:spTree>
  </p:cSld>
  <p:clrMapOvr>
    <a:masterClrMapping/>
  </p:clrMapOvr>
</p:sld>
</file>

<file path=ppt/theme/theme1.xml><?xml version="1.0" encoding="utf-8"?>
<a:theme xmlns:a="http://schemas.openxmlformats.org/drawingml/2006/main" name="IAL Marketing">
  <a:themeElements>
    <a:clrScheme name="IAL Marketing">
      <a:dk1>
        <a:srgbClr val="1F2A33"/>
      </a:dk1>
      <a:lt1>
        <a:srgbClr val="FFFFFF"/>
      </a:lt1>
      <a:dk2>
        <a:srgbClr val="0E3A43"/>
      </a:dk2>
      <a:lt2>
        <a:srgbClr val="EAF3F4"/>
      </a:lt2>
      <a:accent1>
        <a:srgbClr val="0E7C86"/>
      </a:accent1>
      <a:accent2>
        <a:srgbClr val="E0940F"/>
      </a:accent2>
      <a:accent3>
        <a:srgbClr val="2F8A5B"/>
      </a:accent3>
      <a:accent4>
        <a:srgbClr val="C14B37"/>
      </a:accent4>
      <a:accent5>
        <a:srgbClr val="5B6B73"/>
      </a:accent5>
      <a:accent6>
        <a:srgbClr val="6B4FA0"/>
      </a:accent6>
      <a:hlink>
        <a:srgbClr val="0E7C86"/>
      </a:hlink>
      <a:folHlink>
        <a:srgbClr val="0B5E66"/>
      </a:folHlink>
    </a:clrScheme>
    <a:fontScheme name="IAL Market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GEMS Metropole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Mr. Akram</dc:creator>
  <cp:lastModifiedBy>Mr. Akram</cp:lastModifiedBy>
  <cp:revision>1</cp:revision>
  <dcterms:created xsi:type="dcterms:W3CDTF">2026-10-20T02:26:29Z</dcterms:created>
  <dcterms:modified xsi:type="dcterms:W3CDTF">2026-10-20T02:26:29Z</dcterms:modified>
</cp:coreProperties>
</file>