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Recruitment &amp; selection" id="{06c2250f-eef0-3c45-c8e5-9d5ebed23d8f}">
          <p14:sldIdLst>
            <p14:sldId id="259"/>
            <p14:sldId id="260"/>
            <p14:sldId id="261"/>
            <p14:sldId id="262"/>
            <p14:sldId id="263"/>
          </p14:sldIdLst>
        </p14:section>
        <p14:section name="B · Training" id="{9395712f-7d99-0ff5-6e17-e5c6d8d4bf38}">
          <p14:sldIdLst>
            <p14:sldId id="264"/>
            <p14:sldId id="265"/>
            <p14:sldId id="266"/>
            <p14:sldId id="267"/>
          </p14:sldIdLst>
        </p14:section>
        <p14:section name="C · A-grade exam skills" id="{11edf76c-6962-29bf-d49b-01e5c244b6d7}">
          <p14:sldIdLst>
            <p14:sldId id="268"/>
            <p14:sldId id="269"/>
            <p14:sldId id="270"/>
          </p14:sldIdLst>
        </p14:section>
        <p14:section name="Default-1" id="{6939d349-ab38-c522-a3eb-e48529f596f2}">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recruitment, selection and training (spec 1.3.4 'Managing people', section 2 of 5), pitched for A-grade students. Same house style. Covers the recruitment &amp; selection process, internal vs external recruitment, the costs of recruitment/selection/training, and the three types of training (induction, on-the-job, off-the-job). Cases: Tesla (recruitment), Dyson &amp; Sports Direct (training). Second of five decks for 1.3.4. NOTE: the student calls Managing people '1.4'; in the spec it is 1.3.4.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follows on from 'approaches to staffing': having decided HOW to view and structure staff, the firm must now GET the right people and DEVELOP them. The recurring evaluation theme is cost vs benefit - recruitment and training both cost money up front but, done well, raise productivity and cut the far larger cost of staff turnover.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of 5 in Managing people. It is practical: HOW a firm fills vacancies and develops people. Keep linking the cost of getting it wrong (a bad hire, high turnover) to the much larger costs of replacement - this is the evaluation spine of every question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 key stages (condensed from the full 12-stage list). Students should be able to order them and explain WHY each matters. The exam-friendly distinction: job description describes the JOB (duties, responsibilities); person specification describes the PERSON (skills, qualifications, qualities). A good process reduces the risk and cost of a poor appointment.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 promote/transfer from within (cheap, known, motivating, but no fresh ideas &amp; creates a knock-on vacancy). External = hire from outside (wider pool, new skills, but costly, risky, slower). Tesla is the exam anchor: it needs specialist, scarce skills (engineering, languages) so often recruits externally and globally - but internal recruitment suits roles where Tesla's fast-paced culture and product knowledge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from your deck (SHRM ~$5,740; Oxford Economics ~£5,800). The key evaluation idea: recruitment cost is sunk each time, so a bad hire or high turnover multiplies it. This is the bridge to training and retention - keeping good staff avoids repeated recruitment spend. Use these figures as evidence in 8/10-mark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Induction = orientation for NEW starters (first days/weeks). On-the-job = learn by doing, in the workplace (cheap, relevant, but quality varies). Off-the-job = learn away from work, often with specialists (expert, transferable, but costly and may not be job-specific). Most firms blend them: induction first, then on-the-job for role skills, off-the-job for qualifications.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replacement-cost figures (from your Sports Direct training doc) are the killer evidence: ~$9,400 to replace an $8/hr worker, ~$40k a nurse, $125k+ a tech vacancy. Training up front looks costly, but if it cuts turnover it is cheaper than repeated recruitment. The evaluation hinge for the 10-marker: training only pays off if the firm RETAINS the staff it trains - a problem for high-turnover, zero-hours employers.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context is everything: Sports Direct is low-margin with high turnover (zero-hours), so the 'however' writes itself - training costs money and trained staff leave before the firm recoups it. But induction and basic service/safety training still protect sales and reputation across hundreds of stores. The judgement turns on retention and how much service differentiates a value retailer.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balanced, applied answer with a conditional judgement. The Level 4 moves: both sides tied to Sports Direct's specific context (670 stores, low margins, zero-hours turnover, past criticism), chains with connectives, and a judgement that commits to a nuanced position (focused low-cost induction) while naming what it depends on (service differentiation and retention). Contrast with Dyson, where training is far more important - a good synoptic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 completes section 2 of 5 in Managing people. Students should leave able to sequence the recruitment &amp; selection process, weigh internal vs external recruitment, explain the costs involved, and evaluate the three training types - always linking cost to the pay-off of retention. Organisational design is the next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1042416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1.3.4 Managing people  (Recruitment, selection &amp; training)</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28016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37360"/>
            <a:ext cx="108813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Recruitment, Selection &amp; Training</a:t>
            </a:r>
            <a:endParaRPr lang="en-US" sz="4000" dirty="0"/>
          </a:p>
        </p:txBody>
      </p:sp>
      <p:sp>
        <p:nvSpPr>
          <p:cNvPr id="4" name="Text 2"/>
          <p:cNvSpPr txBox="1"/>
          <p:nvPr/>
        </p:nvSpPr>
        <p:spPr>
          <a:xfrm>
            <a:off x="822960" y="2651760"/>
            <a:ext cx="10515600" cy="457200"/>
          </a:xfrm>
          <a:prstGeom prst="rect">
            <a:avLst/>
          </a:prstGeom>
          <a:noFill/>
          <a:ln/>
        </p:spPr>
        <p:txBody>
          <a:bodyPr wrap="square" lIns="0" tIns="0" rIns="0" bIns="0" rtlCol="0" anchor="ctr"/>
          <a:lstStyle/>
          <a:p>
            <a:pPr indent="0" marL="0">
              <a:buNone/>
            </a:pPr>
            <a:r>
              <a:rPr lang="en-US" sz="1500" i="1" dirty="0">
                <a:solidFill>
                  <a:srgbClr val="D7E6E8"/>
                </a:solidFill>
                <a:latin typeface="Calibri" pitchFamily="34" charset="0"/>
                <a:ea typeface="Calibri" pitchFamily="34" charset="-122"/>
                <a:cs typeface="Calibri" pitchFamily="34" charset="-120"/>
              </a:rPr>
              <a:t>Spec 1.3.4 Managing people (section 2 of 5)  —  a tutoring guide: the process, the choices, and A-grade exam practice</a:t>
            </a:r>
            <a:endParaRPr lang="en-US" sz="1500" dirty="0"/>
          </a:p>
        </p:txBody>
      </p:sp>
      <p:sp>
        <p:nvSpPr>
          <p:cNvPr id="5" name="Shape 3"/>
          <p:cNvSpPr/>
          <p:nvPr/>
        </p:nvSpPr>
        <p:spPr>
          <a:xfrm>
            <a:off x="822960" y="3749040"/>
            <a:ext cx="2201875"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749040"/>
            <a:ext cx="2201875"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Recruitment process</a:t>
            </a:r>
            <a:endParaRPr lang="en-US" sz="1250" dirty="0"/>
          </a:p>
        </p:txBody>
      </p:sp>
      <p:sp>
        <p:nvSpPr>
          <p:cNvPr id="7" name="Shape 5"/>
          <p:cNvSpPr/>
          <p:nvPr/>
        </p:nvSpPr>
        <p:spPr>
          <a:xfrm>
            <a:off x="3207715" y="3749040"/>
            <a:ext cx="2304288"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3207715" y="3749040"/>
            <a:ext cx="230428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Internal vs external</a:t>
            </a:r>
            <a:endParaRPr lang="en-US" sz="1250" dirty="0"/>
          </a:p>
        </p:txBody>
      </p:sp>
      <p:sp>
        <p:nvSpPr>
          <p:cNvPr id="9" name="Shape 7"/>
          <p:cNvSpPr/>
          <p:nvPr/>
        </p:nvSpPr>
        <p:spPr>
          <a:xfrm>
            <a:off x="5694883" y="3749040"/>
            <a:ext cx="768096"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5694883" y="3749040"/>
            <a:ext cx="768096"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Costs</a:t>
            </a:r>
            <a:endParaRPr lang="en-US" sz="1250" dirty="0"/>
          </a:p>
        </p:txBody>
      </p:sp>
      <p:sp>
        <p:nvSpPr>
          <p:cNvPr id="11" name="Shape 9"/>
          <p:cNvSpPr/>
          <p:nvPr/>
        </p:nvSpPr>
        <p:spPr>
          <a:xfrm>
            <a:off x="6645859" y="3749040"/>
            <a:ext cx="1689811"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6645859" y="3749040"/>
            <a:ext cx="1689811"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Training types</a:t>
            </a:r>
            <a:endParaRPr lang="en-US" sz="1250" dirty="0"/>
          </a:p>
        </p:txBody>
      </p:sp>
      <p:sp>
        <p:nvSpPr>
          <p:cNvPr id="13" name="Text 11"/>
          <p:cNvSpPr txBox="1"/>
          <p:nvPr/>
        </p:nvSpPr>
        <p:spPr>
          <a:xfrm>
            <a:off x="822960" y="5989320"/>
            <a:ext cx="1060704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  ·  Cases: Tesla · Dyson · Sports Direct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What this lesson covers</a:t>
            </a:r>
            <a:endParaRPr lang="en-US" sz="2600" dirty="0"/>
          </a:p>
        </p:txBody>
      </p:sp>
      <p:sp>
        <p:nvSpPr>
          <p:cNvPr id="4" name="Shape 2"/>
          <p:cNvSpPr/>
          <p:nvPr/>
        </p:nvSpPr>
        <p:spPr>
          <a:xfrm>
            <a:off x="548640" y="1737360"/>
            <a:ext cx="11091672" cy="1005840"/>
          </a:xfrm>
          <a:prstGeom prst="roundRect">
            <a:avLst>
              <a:gd name="adj" fmla="val 7273"/>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49808" y="1993392"/>
            <a:ext cx="512064" cy="512064"/>
          </a:xfrm>
          <a:prstGeom prst="roundRect">
            <a:avLst>
              <a:gd name="adj" fmla="val 17857"/>
            </a:avLst>
          </a:prstGeom>
          <a:solidFill>
            <a:srgbClr val="0E7C86"/>
          </a:solidFill>
          <a:ln/>
        </p:spPr>
      </p:sp>
      <p:sp>
        <p:nvSpPr>
          <p:cNvPr id="6" name="Text 4"/>
          <p:cNvSpPr txBox="1"/>
          <p:nvPr/>
        </p:nvSpPr>
        <p:spPr>
          <a:xfrm>
            <a:off x="749808" y="1993392"/>
            <a:ext cx="512064" cy="512064"/>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A</a:t>
            </a:r>
            <a:endParaRPr lang="en-US" sz="2300" dirty="0"/>
          </a:p>
        </p:txBody>
      </p:sp>
      <p:sp>
        <p:nvSpPr>
          <p:cNvPr id="7" name="Text 5"/>
          <p:cNvSpPr txBox="1"/>
          <p:nvPr/>
        </p:nvSpPr>
        <p:spPr>
          <a:xfrm>
            <a:off x="1463040" y="1920240"/>
            <a:ext cx="4846320" cy="640080"/>
          </a:xfrm>
          <a:prstGeom prst="rect">
            <a:avLst/>
          </a:prstGeom>
          <a:noFill/>
          <a:ln/>
        </p:spPr>
        <p:txBody>
          <a:bodyPr wrap="square" lIns="0" tIns="0" rIns="0" bIns="0" rtlCol="0" anchor="ctr"/>
          <a:lstStyle/>
          <a:p>
            <a:pPr indent="0" marL="0">
              <a:buNone/>
            </a:pPr>
            <a:r>
              <a:rPr lang="en-US" sz="1550" b="1" dirty="0">
                <a:solidFill>
                  <a:srgbClr val="0E3A43"/>
                </a:solidFill>
                <a:latin typeface="Calibri" pitchFamily="34" charset="0"/>
                <a:ea typeface="Calibri" pitchFamily="34" charset="-122"/>
                <a:cs typeface="Calibri" pitchFamily="34" charset="-120"/>
              </a:rPr>
              <a:t>Recruitment &amp; selection</a:t>
            </a:r>
            <a:endParaRPr lang="en-US" sz="1550" dirty="0"/>
          </a:p>
        </p:txBody>
      </p:sp>
      <p:sp>
        <p:nvSpPr>
          <p:cNvPr id="8" name="Text 6"/>
          <p:cNvSpPr txBox="1"/>
          <p:nvPr/>
        </p:nvSpPr>
        <p:spPr>
          <a:xfrm>
            <a:off x="6400800" y="1920240"/>
            <a:ext cx="512064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The process, internal vs external recruitment, and the costs involved</a:t>
            </a:r>
            <a:endParaRPr lang="en-US" sz="1250" dirty="0"/>
          </a:p>
        </p:txBody>
      </p:sp>
      <p:sp>
        <p:nvSpPr>
          <p:cNvPr id="9" name="Shape 7"/>
          <p:cNvSpPr/>
          <p:nvPr/>
        </p:nvSpPr>
        <p:spPr>
          <a:xfrm>
            <a:off x="548640" y="2871216"/>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749808" y="3127248"/>
            <a:ext cx="512064" cy="512064"/>
          </a:xfrm>
          <a:prstGeom prst="roundRect">
            <a:avLst>
              <a:gd name="adj" fmla="val 17857"/>
            </a:avLst>
          </a:prstGeom>
          <a:solidFill>
            <a:srgbClr val="0E7C86"/>
          </a:solidFill>
          <a:ln/>
        </p:spPr>
      </p:sp>
      <p:sp>
        <p:nvSpPr>
          <p:cNvPr id="11" name="Text 9"/>
          <p:cNvSpPr txBox="1"/>
          <p:nvPr/>
        </p:nvSpPr>
        <p:spPr>
          <a:xfrm>
            <a:off x="749808" y="3127248"/>
            <a:ext cx="512064" cy="512064"/>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B</a:t>
            </a:r>
            <a:endParaRPr lang="en-US" sz="2300" dirty="0"/>
          </a:p>
        </p:txBody>
      </p:sp>
      <p:sp>
        <p:nvSpPr>
          <p:cNvPr id="12" name="Text 10"/>
          <p:cNvSpPr txBox="1"/>
          <p:nvPr/>
        </p:nvSpPr>
        <p:spPr>
          <a:xfrm>
            <a:off x="1463040" y="3054096"/>
            <a:ext cx="4846320" cy="640080"/>
          </a:xfrm>
          <a:prstGeom prst="rect">
            <a:avLst/>
          </a:prstGeom>
          <a:noFill/>
          <a:ln/>
        </p:spPr>
        <p:txBody>
          <a:bodyPr wrap="square" lIns="0" tIns="0" rIns="0" bIns="0" rtlCol="0" anchor="ctr"/>
          <a:lstStyle/>
          <a:p>
            <a:pPr indent="0" marL="0">
              <a:buNone/>
            </a:pPr>
            <a:r>
              <a:rPr lang="en-US" sz="1550" b="1" dirty="0">
                <a:solidFill>
                  <a:srgbClr val="0E3A43"/>
                </a:solidFill>
                <a:latin typeface="Calibri" pitchFamily="34" charset="0"/>
                <a:ea typeface="Calibri" pitchFamily="34" charset="-122"/>
                <a:cs typeface="Calibri" pitchFamily="34" charset="-120"/>
              </a:rPr>
              <a:t>Training</a:t>
            </a:r>
            <a:endParaRPr lang="en-US" sz="1550" dirty="0"/>
          </a:p>
        </p:txBody>
      </p:sp>
      <p:sp>
        <p:nvSpPr>
          <p:cNvPr id="13" name="Text 11"/>
          <p:cNvSpPr txBox="1"/>
          <p:nvPr/>
        </p:nvSpPr>
        <p:spPr>
          <a:xfrm>
            <a:off x="6400800" y="3054096"/>
            <a:ext cx="512064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Induction, on-the-job &amp; off-the-job — plus the costs and benefits of training</a:t>
            </a:r>
            <a:endParaRPr lang="en-US" sz="1250" dirty="0"/>
          </a:p>
        </p:txBody>
      </p:sp>
      <p:sp>
        <p:nvSpPr>
          <p:cNvPr id="14" name="Shape 12"/>
          <p:cNvSpPr/>
          <p:nvPr/>
        </p:nvSpPr>
        <p:spPr>
          <a:xfrm>
            <a:off x="548640" y="4005072"/>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749808" y="4261104"/>
            <a:ext cx="512064" cy="512064"/>
          </a:xfrm>
          <a:prstGeom prst="roundRect">
            <a:avLst>
              <a:gd name="adj" fmla="val 17857"/>
            </a:avLst>
          </a:prstGeom>
          <a:solidFill>
            <a:srgbClr val="0E7C86"/>
          </a:solidFill>
          <a:ln/>
        </p:spPr>
      </p:sp>
      <p:sp>
        <p:nvSpPr>
          <p:cNvPr id="16" name="Text 14"/>
          <p:cNvSpPr txBox="1"/>
          <p:nvPr/>
        </p:nvSpPr>
        <p:spPr>
          <a:xfrm>
            <a:off x="749808" y="4261104"/>
            <a:ext cx="512064" cy="512064"/>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C</a:t>
            </a:r>
            <a:endParaRPr lang="en-US" sz="2300" dirty="0"/>
          </a:p>
        </p:txBody>
      </p:sp>
      <p:sp>
        <p:nvSpPr>
          <p:cNvPr id="17" name="Text 15"/>
          <p:cNvSpPr txBox="1"/>
          <p:nvPr/>
        </p:nvSpPr>
        <p:spPr>
          <a:xfrm>
            <a:off x="1463040" y="4187952"/>
            <a:ext cx="4846320" cy="640080"/>
          </a:xfrm>
          <a:prstGeom prst="rect">
            <a:avLst/>
          </a:prstGeom>
          <a:noFill/>
          <a:ln/>
        </p:spPr>
        <p:txBody>
          <a:bodyPr wrap="square" lIns="0" tIns="0" rIns="0" bIns="0" rtlCol="0" anchor="ctr"/>
          <a:lstStyle/>
          <a:p>
            <a:pPr indent="0" marL="0">
              <a:buNone/>
            </a:pPr>
            <a:r>
              <a:rPr lang="en-US" sz="1550" b="1" dirty="0">
                <a:solidFill>
                  <a:srgbClr val="0E3A43"/>
                </a:solidFill>
                <a:latin typeface="Calibri" pitchFamily="34" charset="0"/>
                <a:ea typeface="Calibri" pitchFamily="34" charset="-122"/>
                <a:cs typeface="Calibri" pitchFamily="34" charset="-120"/>
              </a:rPr>
              <a:t>A-grade exam skills</a:t>
            </a:r>
            <a:endParaRPr lang="en-US" sz="1550" dirty="0"/>
          </a:p>
        </p:txBody>
      </p:sp>
      <p:sp>
        <p:nvSpPr>
          <p:cNvPr id="18" name="Text 16"/>
          <p:cNvSpPr txBox="1"/>
          <p:nvPr/>
        </p:nvSpPr>
        <p:spPr>
          <a:xfrm>
            <a:off x="6400800" y="4187952"/>
            <a:ext cx="512064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The Sports Direct training 10-marker — decode, plan and model answer</a:t>
            </a:r>
            <a:endParaRPr lang="en-US" sz="1250" dirty="0"/>
          </a:p>
        </p:txBody>
      </p:sp>
      <p:sp>
        <p:nvSpPr>
          <p:cNvPr id="19" name="Text 17"/>
          <p:cNvSpPr txBox="1"/>
          <p:nvPr/>
        </p:nvSpPr>
        <p:spPr>
          <a:xfrm>
            <a:off x="548640" y="5120640"/>
            <a:ext cx="11091672" cy="457200"/>
          </a:xfrm>
          <a:prstGeom prst="rect">
            <a:avLst/>
          </a:prstGeom>
          <a:noFill/>
          <a:ln/>
        </p:spPr>
        <p:txBody>
          <a:bodyPr wrap="square" lIns="0" tIns="0" rIns="0" bIns="0" rtlCol="0" anchor="ctr"/>
          <a:lstStyle/>
          <a:p>
            <a:pPr indent="0" marL="0">
              <a:buNone/>
            </a:pPr>
            <a:r>
              <a:rPr lang="en-US" sz="1300" i="1" dirty="0">
                <a:solidFill>
                  <a:srgbClr val="5B6B73"/>
                </a:solidFill>
                <a:latin typeface="Calibri" pitchFamily="34" charset="0"/>
                <a:ea typeface="Calibri" pitchFamily="34" charset="-122"/>
                <a:cs typeface="Calibri" pitchFamily="34" charset="-120"/>
              </a:rPr>
              <a:t>Getting the right people (recruitment &amp; selection) and developing them (training) is how a business turns ‘staff as an asset’ into real productivity.</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Where this sits in Managing people (1.3.4)</a:t>
            </a:r>
            <a:endParaRPr lang="en-US" sz="2600" dirty="0"/>
          </a:p>
        </p:txBody>
      </p:sp>
      <p:sp>
        <p:nvSpPr>
          <p:cNvPr id="4" name="Shape 2"/>
          <p:cNvSpPr/>
          <p:nvPr/>
        </p:nvSpPr>
        <p:spPr>
          <a:xfrm>
            <a:off x="548640" y="1371600"/>
            <a:ext cx="6675120" cy="4800600"/>
          </a:xfrm>
          <a:prstGeom prst="roundRect">
            <a:avLst>
              <a:gd name="adj" fmla="val 152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Section 1.3.4  Managing people</a:t>
            </a:r>
            <a:endParaRPr lang="en-US" sz="1350" dirty="0"/>
          </a:p>
        </p:txBody>
      </p:sp>
      <p:sp>
        <p:nvSpPr>
          <p:cNvPr id="6" name="Shape 4"/>
          <p:cNvSpPr/>
          <p:nvPr/>
        </p:nvSpPr>
        <p:spPr>
          <a:xfrm>
            <a:off x="749808" y="1901952"/>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7" name="Shape 5"/>
          <p:cNvSpPr/>
          <p:nvPr/>
        </p:nvSpPr>
        <p:spPr>
          <a:xfrm>
            <a:off x="914400" y="2084832"/>
            <a:ext cx="457200" cy="457200"/>
          </a:xfrm>
          <a:prstGeom prst="roundRect">
            <a:avLst>
              <a:gd name="adj" fmla="val 20000"/>
            </a:avLst>
          </a:prstGeom>
          <a:solidFill>
            <a:srgbClr val="0E7C86"/>
          </a:solidFill>
          <a:ln/>
        </p:spPr>
      </p:sp>
      <p:sp>
        <p:nvSpPr>
          <p:cNvPr id="8" name="Text 6"/>
          <p:cNvSpPr txBox="1"/>
          <p:nvPr/>
        </p:nvSpPr>
        <p:spPr>
          <a:xfrm>
            <a:off x="914400" y="208483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txBox="1"/>
          <p:nvPr/>
        </p:nvSpPr>
        <p:spPr>
          <a:xfrm>
            <a:off x="1508760" y="2011680"/>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Approaches to staffing</a:t>
            </a:r>
            <a:endParaRPr lang="en-US" sz="1250" dirty="0"/>
          </a:p>
        </p:txBody>
      </p:sp>
      <p:sp>
        <p:nvSpPr>
          <p:cNvPr id="10" name="Text 8"/>
          <p:cNvSpPr txBox="1"/>
          <p:nvPr/>
        </p:nvSpPr>
        <p:spPr>
          <a:xfrm>
            <a:off x="1508760" y="2313432"/>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asset vs cost, flexible workforce, employee relations — done</a:t>
            </a:r>
            <a:endParaRPr lang="en-US" sz="1030" dirty="0"/>
          </a:p>
        </p:txBody>
      </p:sp>
      <p:sp>
        <p:nvSpPr>
          <p:cNvPr id="11" name="Shape 9"/>
          <p:cNvSpPr/>
          <p:nvPr/>
        </p:nvSpPr>
        <p:spPr>
          <a:xfrm>
            <a:off x="749808" y="2761488"/>
            <a:ext cx="6272784" cy="841248"/>
          </a:xfrm>
          <a:prstGeom prst="roundRect">
            <a:avLst>
              <a:gd name="adj" fmla="val 8696"/>
            </a:avLst>
          </a:prstGeom>
          <a:solidFill>
            <a:srgbClr val="FBF0D8"/>
          </a:solidFill>
          <a:ln/>
          <a:effectLst>
            <a:outerShdw sx="100000" sy="100000" kx="0" ky="0" algn="bl" rotWithShape="0" blurRad="76200" dist="25400" dir="5400000">
              <a:srgbClr val="9AAAB0">
                <a:alpha val="28000"/>
              </a:srgbClr>
            </a:outerShdw>
          </a:effectLst>
        </p:spPr>
      </p:sp>
      <p:sp>
        <p:nvSpPr>
          <p:cNvPr id="12" name="Shape 10"/>
          <p:cNvSpPr/>
          <p:nvPr/>
        </p:nvSpPr>
        <p:spPr>
          <a:xfrm>
            <a:off x="749808" y="2761488"/>
            <a:ext cx="91440" cy="841248"/>
          </a:xfrm>
          <a:prstGeom prst="roundRect">
            <a:avLst/>
          </a:prstGeom>
          <a:solidFill>
            <a:srgbClr val="E0940F"/>
          </a:solidFill>
          <a:ln/>
        </p:spPr>
      </p:sp>
      <p:sp>
        <p:nvSpPr>
          <p:cNvPr id="13" name="Shape 11"/>
          <p:cNvSpPr/>
          <p:nvPr/>
        </p:nvSpPr>
        <p:spPr>
          <a:xfrm>
            <a:off x="914400" y="2944368"/>
            <a:ext cx="457200" cy="457200"/>
          </a:xfrm>
          <a:prstGeom prst="roundRect">
            <a:avLst>
              <a:gd name="adj" fmla="val 20000"/>
            </a:avLst>
          </a:prstGeom>
          <a:solidFill>
            <a:srgbClr val="E0940F"/>
          </a:solidFill>
          <a:ln/>
        </p:spPr>
      </p:sp>
      <p:sp>
        <p:nvSpPr>
          <p:cNvPr id="14" name="Text 12"/>
          <p:cNvSpPr txBox="1"/>
          <p:nvPr/>
        </p:nvSpPr>
        <p:spPr>
          <a:xfrm>
            <a:off x="914400" y="294436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5" name="Text 13"/>
          <p:cNvSpPr txBox="1"/>
          <p:nvPr/>
        </p:nvSpPr>
        <p:spPr>
          <a:xfrm>
            <a:off x="1508760" y="2871216"/>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Recruitment, selection &amp; training   ← this lesson</a:t>
            </a:r>
            <a:endParaRPr lang="en-US" sz="1250" dirty="0"/>
          </a:p>
        </p:txBody>
      </p:sp>
      <p:sp>
        <p:nvSpPr>
          <p:cNvPr id="16" name="Text 14"/>
          <p:cNvSpPr txBox="1"/>
          <p:nvPr/>
        </p:nvSpPr>
        <p:spPr>
          <a:xfrm>
            <a:off x="1508760" y="3172968"/>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internal vs external, costs, induction/on-the-job/off-the-job</a:t>
            </a:r>
            <a:endParaRPr lang="en-US" sz="1030" dirty="0"/>
          </a:p>
        </p:txBody>
      </p:sp>
      <p:sp>
        <p:nvSpPr>
          <p:cNvPr id="17" name="Shape 15"/>
          <p:cNvSpPr/>
          <p:nvPr/>
        </p:nvSpPr>
        <p:spPr>
          <a:xfrm>
            <a:off x="749808" y="3621024"/>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8" name="Shape 16"/>
          <p:cNvSpPr/>
          <p:nvPr/>
        </p:nvSpPr>
        <p:spPr>
          <a:xfrm>
            <a:off x="914400" y="3803904"/>
            <a:ext cx="457200" cy="457200"/>
          </a:xfrm>
          <a:prstGeom prst="roundRect">
            <a:avLst>
              <a:gd name="adj" fmla="val 20000"/>
            </a:avLst>
          </a:prstGeom>
          <a:solidFill>
            <a:srgbClr val="0E7C86"/>
          </a:solidFill>
          <a:ln/>
        </p:spPr>
      </p:sp>
      <p:sp>
        <p:nvSpPr>
          <p:cNvPr id="19" name="Text 17"/>
          <p:cNvSpPr txBox="1"/>
          <p:nvPr/>
        </p:nvSpPr>
        <p:spPr>
          <a:xfrm>
            <a:off x="914400" y="38039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0" name="Text 18"/>
          <p:cNvSpPr txBox="1"/>
          <p:nvPr/>
        </p:nvSpPr>
        <p:spPr>
          <a:xfrm>
            <a:off x="1508760" y="3730752"/>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Organisational design</a:t>
            </a:r>
            <a:endParaRPr lang="en-US" sz="1250" dirty="0"/>
          </a:p>
        </p:txBody>
      </p:sp>
      <p:sp>
        <p:nvSpPr>
          <p:cNvPr id="21" name="Text 19"/>
          <p:cNvSpPr txBox="1"/>
          <p:nvPr/>
        </p:nvSpPr>
        <p:spPr>
          <a:xfrm>
            <a:off x="1508760" y="4032504"/>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hierarchy, span of control, tall/flat/matrix — next</a:t>
            </a:r>
            <a:endParaRPr lang="en-US" sz="1030" dirty="0"/>
          </a:p>
        </p:txBody>
      </p:sp>
      <p:sp>
        <p:nvSpPr>
          <p:cNvPr id="22" name="Shape 20"/>
          <p:cNvSpPr/>
          <p:nvPr/>
        </p:nvSpPr>
        <p:spPr>
          <a:xfrm>
            <a:off x="749808" y="4480560"/>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3" name="Shape 21"/>
          <p:cNvSpPr/>
          <p:nvPr/>
        </p:nvSpPr>
        <p:spPr>
          <a:xfrm>
            <a:off x="914400" y="4663440"/>
            <a:ext cx="457200" cy="457200"/>
          </a:xfrm>
          <a:prstGeom prst="roundRect">
            <a:avLst>
              <a:gd name="adj" fmla="val 20000"/>
            </a:avLst>
          </a:prstGeom>
          <a:solidFill>
            <a:srgbClr val="0E7C86"/>
          </a:solidFill>
          <a:ln/>
        </p:spPr>
      </p:sp>
      <p:sp>
        <p:nvSpPr>
          <p:cNvPr id="24" name="Text 22"/>
          <p:cNvSpPr txBox="1"/>
          <p:nvPr/>
        </p:nvSpPr>
        <p:spPr>
          <a:xfrm>
            <a:off x="914400" y="46634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5" name="Text 23"/>
          <p:cNvSpPr txBox="1"/>
          <p:nvPr/>
        </p:nvSpPr>
        <p:spPr>
          <a:xfrm>
            <a:off x="1508760" y="4590288"/>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Motivation in theory &amp; practice</a:t>
            </a:r>
            <a:endParaRPr lang="en-US" sz="1250" dirty="0"/>
          </a:p>
        </p:txBody>
      </p:sp>
      <p:sp>
        <p:nvSpPr>
          <p:cNvPr id="26" name="Text 24"/>
          <p:cNvSpPr txBox="1"/>
          <p:nvPr/>
        </p:nvSpPr>
        <p:spPr>
          <a:xfrm>
            <a:off x="1508760" y="4892040"/>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Taylor, Mayo, Maslow, Herzberg; financial &amp; non-financial — next</a:t>
            </a:r>
            <a:endParaRPr lang="en-US" sz="1030" dirty="0"/>
          </a:p>
        </p:txBody>
      </p:sp>
      <p:sp>
        <p:nvSpPr>
          <p:cNvPr id="27" name="Shape 25"/>
          <p:cNvSpPr/>
          <p:nvPr/>
        </p:nvSpPr>
        <p:spPr>
          <a:xfrm>
            <a:off x="749808" y="5340096"/>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8" name="Shape 26"/>
          <p:cNvSpPr/>
          <p:nvPr/>
        </p:nvSpPr>
        <p:spPr>
          <a:xfrm>
            <a:off x="914400" y="5522976"/>
            <a:ext cx="457200" cy="457200"/>
          </a:xfrm>
          <a:prstGeom prst="roundRect">
            <a:avLst>
              <a:gd name="adj" fmla="val 20000"/>
            </a:avLst>
          </a:prstGeom>
          <a:solidFill>
            <a:srgbClr val="0E7C86"/>
          </a:solidFill>
          <a:ln/>
        </p:spPr>
      </p:sp>
      <p:sp>
        <p:nvSpPr>
          <p:cNvPr id="29" name="Text 27"/>
          <p:cNvSpPr txBox="1"/>
          <p:nvPr/>
        </p:nvSpPr>
        <p:spPr>
          <a:xfrm>
            <a:off x="914400" y="55229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30" name="Text 28"/>
          <p:cNvSpPr txBox="1"/>
          <p:nvPr/>
        </p:nvSpPr>
        <p:spPr>
          <a:xfrm>
            <a:off x="1508760" y="5449824"/>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Leadership</a:t>
            </a:r>
            <a:endParaRPr lang="en-US" sz="1250" dirty="0"/>
          </a:p>
        </p:txBody>
      </p:sp>
      <p:sp>
        <p:nvSpPr>
          <p:cNvPr id="31" name="Text 29"/>
          <p:cNvSpPr txBox="1"/>
          <p:nvPr/>
        </p:nvSpPr>
        <p:spPr>
          <a:xfrm>
            <a:off x="1508760" y="5751576"/>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management vs leadership; autocratic → laissez-faire — next</a:t>
            </a:r>
            <a:endParaRPr lang="en-US" sz="1030" dirty="0"/>
          </a:p>
        </p:txBody>
      </p:sp>
      <p:sp>
        <p:nvSpPr>
          <p:cNvPr id="32" name="Shape 30"/>
          <p:cNvSpPr/>
          <p:nvPr/>
        </p:nvSpPr>
        <p:spPr>
          <a:xfrm>
            <a:off x="7360920" y="1371600"/>
            <a:ext cx="4279392" cy="4800600"/>
          </a:xfrm>
          <a:prstGeom prst="roundRect">
            <a:avLst>
              <a:gd name="adj" fmla="val 1709"/>
            </a:avLst>
          </a:prstGeom>
          <a:solidFill>
            <a:srgbClr val="EAF3F4"/>
          </a:solidFill>
          <a:ln/>
          <a:effectLst>
            <a:outerShdw sx="100000" sy="100000" kx="0" ky="0" algn="bl" rotWithShape="0" blurRad="76200" dist="25400" dir="5400000">
              <a:srgbClr val="9AAAB0">
                <a:alpha val="28000"/>
              </a:srgbClr>
            </a:outerShdw>
          </a:effectLst>
        </p:spPr>
      </p:sp>
      <p:sp>
        <p:nvSpPr>
          <p:cNvPr id="33" name="Text 31"/>
          <p:cNvSpPr txBox="1"/>
          <p:nvPr/>
        </p:nvSpPr>
        <p:spPr>
          <a:xfrm>
            <a:off x="7571232" y="1508760"/>
            <a:ext cx="3840480" cy="3657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How it links across the course</a:t>
            </a:r>
            <a:endParaRPr lang="en-US" sz="1400" dirty="0"/>
          </a:p>
        </p:txBody>
      </p:sp>
      <p:sp>
        <p:nvSpPr>
          <p:cNvPr id="34" name="Text 32"/>
          <p:cNvSpPr txBox="1"/>
          <p:nvPr/>
        </p:nvSpPr>
        <p:spPr>
          <a:xfrm>
            <a:off x="7571232" y="1965960"/>
            <a:ext cx="3886200" cy="4023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Good recruitment delivers the ‘asset’ mindset of section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Training links to multi-skilling &amp; the flexible workforce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Training feeds motivation (section 4) — staff value development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Recruitment &amp; training costs feed break-even and profit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In Unit 3, labour turnover &amp; productivity ratios measure success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Recruitment &amp; selection</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recruitment &amp; selection process  ·  internal vs external recruitment  ·  the costs involved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THE PROCESS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recruitment &amp; selection process</a:t>
            </a:r>
            <a:endParaRPr lang="en-US" sz="2600" dirty="0"/>
          </a:p>
        </p:txBody>
      </p:sp>
      <p:sp>
        <p:nvSpPr>
          <p:cNvPr id="4" name="Shape 2"/>
          <p:cNvSpPr/>
          <p:nvPr/>
        </p:nvSpPr>
        <p:spPr>
          <a:xfrm>
            <a:off x="548640" y="1371600"/>
            <a:ext cx="11091672" cy="566928"/>
          </a:xfrm>
          <a:prstGeom prst="roundRect">
            <a:avLst>
              <a:gd name="adj" fmla="val 12903"/>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26464"/>
            <a:ext cx="10698480" cy="457200"/>
          </a:xfrm>
          <a:prstGeom prst="rect">
            <a:avLst/>
          </a:prstGeom>
          <a:noFill/>
          <a:ln/>
        </p:spPr>
        <p:txBody>
          <a:bodyPr wrap="square" lIns="0" tIns="0" rIns="0" bIns="0" rtlCol="0" anchor="ctr"/>
          <a:lstStyle/>
          <a:p>
            <a:pPr indent="0" marL="0">
              <a:buNone/>
            </a:pPr>
            <a:r>
              <a:rPr lang="en-US" sz="1250" b="1" dirty="0">
                <a:solidFill>
                  <a:srgbClr val="0B5E66"/>
                </a:solidFill>
                <a:latin typeface="Calibri" pitchFamily="34" charset="0"/>
                <a:ea typeface="Calibri" pitchFamily="34" charset="-122"/>
                <a:cs typeface="Calibri" pitchFamily="34" charset="-120"/>
              </a:rPr>
              <a:t>Recruitment  </a:t>
            </a:r>
            <a:pPr indent="0" marL="0">
              <a:buNone/>
            </a:pPr>
            <a:r>
              <a:rPr lang="en-US" sz="1250" dirty="0">
                <a:solidFill>
                  <a:srgbClr val="1F2A33"/>
                </a:solidFill>
                <a:latin typeface="Calibri" pitchFamily="34" charset="0"/>
                <a:ea typeface="Calibri" pitchFamily="34" charset="-122"/>
                <a:cs typeface="Calibri" pitchFamily="34" charset="-120"/>
              </a:rPr>
              <a:t>= attracting applicants for a vacancy.  </a:t>
            </a:r>
            <a:pPr indent="0" marL="0">
              <a:buNone/>
            </a:pPr>
            <a:r>
              <a:rPr lang="en-US" sz="1250" b="1" dirty="0">
                <a:solidFill>
                  <a:srgbClr val="0B5E66"/>
                </a:solidFill>
                <a:latin typeface="Calibri" pitchFamily="34" charset="0"/>
                <a:ea typeface="Calibri" pitchFamily="34" charset="-122"/>
                <a:cs typeface="Calibri" pitchFamily="34" charset="-120"/>
              </a:rPr>
              <a:t>Selection  </a:t>
            </a:r>
            <a:pPr indent="0" marL="0">
              <a:buNone/>
            </a:pPr>
            <a:r>
              <a:rPr lang="en-US" sz="1250" dirty="0">
                <a:solidFill>
                  <a:srgbClr val="1F2A33"/>
                </a:solidFill>
                <a:latin typeface="Calibri" pitchFamily="34" charset="0"/>
                <a:ea typeface="Calibri" pitchFamily="34" charset="-122"/>
                <a:cs typeface="Calibri" pitchFamily="34" charset="-120"/>
              </a:rPr>
              <a:t>= choosing the best candidate from them. A clear, fair process reduces the risk of a costly bad hire.</a:t>
            </a:r>
            <a:endParaRPr lang="en-US" sz="1250" dirty="0"/>
          </a:p>
        </p:txBody>
      </p:sp>
      <p:sp>
        <p:nvSpPr>
          <p:cNvPr id="6" name="Shape 4"/>
          <p:cNvSpPr/>
          <p:nvPr/>
        </p:nvSpPr>
        <p:spPr>
          <a:xfrm>
            <a:off x="548640" y="2148840"/>
            <a:ext cx="5440680" cy="896112"/>
          </a:xfrm>
          <a:prstGeom prst="roundRect">
            <a:avLst>
              <a:gd name="adj" fmla="val 816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713232" y="2368296"/>
            <a:ext cx="457200" cy="457200"/>
          </a:xfrm>
          <a:prstGeom prst="roundRect">
            <a:avLst>
              <a:gd name="adj" fmla="val 20000"/>
            </a:avLst>
          </a:prstGeom>
          <a:solidFill>
            <a:srgbClr val="0E7C86"/>
          </a:solidFill>
          <a:ln/>
        </p:spPr>
      </p:sp>
      <p:sp>
        <p:nvSpPr>
          <p:cNvPr id="8" name="Text 6"/>
          <p:cNvSpPr txBox="1"/>
          <p:nvPr/>
        </p:nvSpPr>
        <p:spPr>
          <a:xfrm>
            <a:off x="713232" y="236829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1298448" y="2276856"/>
            <a:ext cx="4526280" cy="365760"/>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Identify the vacancy</a:t>
            </a:r>
            <a:endParaRPr lang="en-US" sz="1300" dirty="0"/>
          </a:p>
        </p:txBody>
      </p:sp>
      <p:sp>
        <p:nvSpPr>
          <p:cNvPr id="10" name="Text 8"/>
          <p:cNvSpPr txBox="1"/>
          <p:nvPr/>
        </p:nvSpPr>
        <p:spPr>
          <a:xfrm>
            <a:off x="1298448" y="2606040"/>
            <a:ext cx="4526280" cy="36576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a need to recruit is identified</a:t>
            </a:r>
            <a:endParaRPr lang="en-US" sz="1100" dirty="0"/>
          </a:p>
        </p:txBody>
      </p:sp>
      <p:sp>
        <p:nvSpPr>
          <p:cNvPr id="11" name="Shape 9"/>
          <p:cNvSpPr/>
          <p:nvPr/>
        </p:nvSpPr>
        <p:spPr>
          <a:xfrm>
            <a:off x="6199632" y="2148840"/>
            <a:ext cx="5440680" cy="896112"/>
          </a:xfrm>
          <a:prstGeom prst="roundRect">
            <a:avLst>
              <a:gd name="adj" fmla="val 816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6364224" y="2368296"/>
            <a:ext cx="457200" cy="457200"/>
          </a:xfrm>
          <a:prstGeom prst="roundRect">
            <a:avLst>
              <a:gd name="adj" fmla="val 20000"/>
            </a:avLst>
          </a:prstGeom>
          <a:solidFill>
            <a:srgbClr val="0E7C86"/>
          </a:solidFill>
          <a:ln/>
        </p:spPr>
      </p:sp>
      <p:sp>
        <p:nvSpPr>
          <p:cNvPr id="13" name="Text 11"/>
          <p:cNvSpPr txBox="1"/>
          <p:nvPr/>
        </p:nvSpPr>
        <p:spPr>
          <a:xfrm>
            <a:off x="6364224" y="236829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txBox="1"/>
          <p:nvPr/>
        </p:nvSpPr>
        <p:spPr>
          <a:xfrm>
            <a:off x="6949440" y="2276856"/>
            <a:ext cx="4526280" cy="365760"/>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Write the job description</a:t>
            </a:r>
            <a:endParaRPr lang="en-US" sz="1300" dirty="0"/>
          </a:p>
        </p:txBody>
      </p:sp>
      <p:sp>
        <p:nvSpPr>
          <p:cNvPr id="15" name="Text 13"/>
          <p:cNvSpPr txBox="1"/>
          <p:nvPr/>
        </p:nvSpPr>
        <p:spPr>
          <a:xfrm>
            <a:off x="6949440" y="2606040"/>
            <a:ext cx="4526280" cy="36576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the role, tasks &amp; responsibilities</a:t>
            </a:r>
            <a:endParaRPr lang="en-US" sz="1100" dirty="0"/>
          </a:p>
        </p:txBody>
      </p:sp>
      <p:sp>
        <p:nvSpPr>
          <p:cNvPr id="16" name="Shape 14"/>
          <p:cNvSpPr/>
          <p:nvPr/>
        </p:nvSpPr>
        <p:spPr>
          <a:xfrm>
            <a:off x="548640" y="3136392"/>
            <a:ext cx="5440680" cy="896112"/>
          </a:xfrm>
          <a:prstGeom prst="roundRect">
            <a:avLst>
              <a:gd name="adj" fmla="val 816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713232" y="3355848"/>
            <a:ext cx="457200" cy="457200"/>
          </a:xfrm>
          <a:prstGeom prst="roundRect">
            <a:avLst>
              <a:gd name="adj" fmla="val 20000"/>
            </a:avLst>
          </a:prstGeom>
          <a:solidFill>
            <a:srgbClr val="0E7C86"/>
          </a:solidFill>
          <a:ln/>
        </p:spPr>
      </p:sp>
      <p:sp>
        <p:nvSpPr>
          <p:cNvPr id="18" name="Text 16"/>
          <p:cNvSpPr txBox="1"/>
          <p:nvPr/>
        </p:nvSpPr>
        <p:spPr>
          <a:xfrm>
            <a:off x="713232" y="33558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1298448" y="3264408"/>
            <a:ext cx="4526280" cy="365760"/>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Write the person specification</a:t>
            </a:r>
            <a:endParaRPr lang="en-US" sz="1300" dirty="0"/>
          </a:p>
        </p:txBody>
      </p:sp>
      <p:sp>
        <p:nvSpPr>
          <p:cNvPr id="20" name="Text 18"/>
          <p:cNvSpPr txBox="1"/>
          <p:nvPr/>
        </p:nvSpPr>
        <p:spPr>
          <a:xfrm>
            <a:off x="1298448" y="3593592"/>
            <a:ext cx="4526280" cy="36576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the skills &amp; qualities needed</a:t>
            </a:r>
            <a:endParaRPr lang="en-US" sz="1100" dirty="0"/>
          </a:p>
        </p:txBody>
      </p:sp>
      <p:sp>
        <p:nvSpPr>
          <p:cNvPr id="21" name="Shape 19"/>
          <p:cNvSpPr/>
          <p:nvPr/>
        </p:nvSpPr>
        <p:spPr>
          <a:xfrm>
            <a:off x="6199632" y="3136392"/>
            <a:ext cx="5440680" cy="896112"/>
          </a:xfrm>
          <a:prstGeom prst="roundRect">
            <a:avLst>
              <a:gd name="adj" fmla="val 816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2" name="Shape 20"/>
          <p:cNvSpPr/>
          <p:nvPr/>
        </p:nvSpPr>
        <p:spPr>
          <a:xfrm>
            <a:off x="6364224" y="3355848"/>
            <a:ext cx="457200" cy="457200"/>
          </a:xfrm>
          <a:prstGeom prst="roundRect">
            <a:avLst>
              <a:gd name="adj" fmla="val 20000"/>
            </a:avLst>
          </a:prstGeom>
          <a:solidFill>
            <a:srgbClr val="0E7C86"/>
          </a:solidFill>
          <a:ln/>
        </p:spPr>
      </p:sp>
      <p:sp>
        <p:nvSpPr>
          <p:cNvPr id="23" name="Text 21"/>
          <p:cNvSpPr txBox="1"/>
          <p:nvPr/>
        </p:nvSpPr>
        <p:spPr>
          <a:xfrm>
            <a:off x="6364224" y="33558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txBox="1"/>
          <p:nvPr/>
        </p:nvSpPr>
        <p:spPr>
          <a:xfrm>
            <a:off x="6949440" y="3264408"/>
            <a:ext cx="4526280" cy="365760"/>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Advertise the role</a:t>
            </a:r>
            <a:endParaRPr lang="en-US" sz="1300" dirty="0"/>
          </a:p>
        </p:txBody>
      </p:sp>
      <p:sp>
        <p:nvSpPr>
          <p:cNvPr id="25" name="Text 23"/>
          <p:cNvSpPr txBox="1"/>
          <p:nvPr/>
        </p:nvSpPr>
        <p:spPr>
          <a:xfrm>
            <a:off x="6949440" y="3593592"/>
            <a:ext cx="4526280" cy="36576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internal or external, in the right media</a:t>
            </a:r>
            <a:endParaRPr lang="en-US" sz="1100" dirty="0"/>
          </a:p>
        </p:txBody>
      </p:sp>
      <p:sp>
        <p:nvSpPr>
          <p:cNvPr id="26" name="Shape 24"/>
          <p:cNvSpPr/>
          <p:nvPr/>
        </p:nvSpPr>
        <p:spPr>
          <a:xfrm>
            <a:off x="548640" y="4123944"/>
            <a:ext cx="5440680" cy="896112"/>
          </a:xfrm>
          <a:prstGeom prst="roundRect">
            <a:avLst>
              <a:gd name="adj" fmla="val 816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7" name="Shape 25"/>
          <p:cNvSpPr/>
          <p:nvPr/>
        </p:nvSpPr>
        <p:spPr>
          <a:xfrm>
            <a:off x="713232" y="4343400"/>
            <a:ext cx="457200" cy="457200"/>
          </a:xfrm>
          <a:prstGeom prst="roundRect">
            <a:avLst>
              <a:gd name="adj" fmla="val 20000"/>
            </a:avLst>
          </a:prstGeom>
          <a:solidFill>
            <a:srgbClr val="0E7C86"/>
          </a:solidFill>
          <a:ln/>
        </p:spPr>
      </p:sp>
      <p:sp>
        <p:nvSpPr>
          <p:cNvPr id="28" name="Text 26"/>
          <p:cNvSpPr txBox="1"/>
          <p:nvPr/>
        </p:nvSpPr>
        <p:spPr>
          <a:xfrm>
            <a:off x="713232" y="43434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9" name="Text 27"/>
          <p:cNvSpPr txBox="1"/>
          <p:nvPr/>
        </p:nvSpPr>
        <p:spPr>
          <a:xfrm>
            <a:off x="1298448" y="4251960"/>
            <a:ext cx="4526280" cy="365760"/>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Sort applications → shortlist</a:t>
            </a:r>
            <a:endParaRPr lang="en-US" sz="1300" dirty="0"/>
          </a:p>
        </p:txBody>
      </p:sp>
      <p:sp>
        <p:nvSpPr>
          <p:cNvPr id="30" name="Text 28"/>
          <p:cNvSpPr txBox="1"/>
          <p:nvPr/>
        </p:nvSpPr>
        <p:spPr>
          <a:xfrm>
            <a:off x="1298448" y="4581144"/>
            <a:ext cx="4526280" cy="36576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screen CVs/forms against the spec</a:t>
            </a:r>
            <a:endParaRPr lang="en-US" sz="1100" dirty="0"/>
          </a:p>
        </p:txBody>
      </p:sp>
      <p:sp>
        <p:nvSpPr>
          <p:cNvPr id="31" name="Shape 29"/>
          <p:cNvSpPr/>
          <p:nvPr/>
        </p:nvSpPr>
        <p:spPr>
          <a:xfrm>
            <a:off x="6199632" y="4123944"/>
            <a:ext cx="5440680" cy="896112"/>
          </a:xfrm>
          <a:prstGeom prst="roundRect">
            <a:avLst>
              <a:gd name="adj" fmla="val 816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32" name="Shape 30"/>
          <p:cNvSpPr/>
          <p:nvPr/>
        </p:nvSpPr>
        <p:spPr>
          <a:xfrm>
            <a:off x="6364224" y="4343400"/>
            <a:ext cx="457200" cy="457200"/>
          </a:xfrm>
          <a:prstGeom prst="roundRect">
            <a:avLst>
              <a:gd name="adj" fmla="val 20000"/>
            </a:avLst>
          </a:prstGeom>
          <a:solidFill>
            <a:srgbClr val="0E7C86"/>
          </a:solidFill>
          <a:ln/>
        </p:spPr>
      </p:sp>
      <p:sp>
        <p:nvSpPr>
          <p:cNvPr id="33" name="Text 31"/>
          <p:cNvSpPr txBox="1"/>
          <p:nvPr/>
        </p:nvSpPr>
        <p:spPr>
          <a:xfrm>
            <a:off x="6364224" y="43434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4" name="Text 32"/>
          <p:cNvSpPr txBox="1"/>
          <p:nvPr/>
        </p:nvSpPr>
        <p:spPr>
          <a:xfrm>
            <a:off x="6949440" y="4251960"/>
            <a:ext cx="4526280" cy="365760"/>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Interview &amp; test</a:t>
            </a:r>
            <a:endParaRPr lang="en-US" sz="1300" dirty="0"/>
          </a:p>
        </p:txBody>
      </p:sp>
      <p:sp>
        <p:nvSpPr>
          <p:cNvPr id="35" name="Text 33"/>
          <p:cNvSpPr txBox="1"/>
          <p:nvPr/>
        </p:nvSpPr>
        <p:spPr>
          <a:xfrm>
            <a:off x="6949440" y="4581144"/>
            <a:ext cx="4526280" cy="36576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assess shortlisted candidates</a:t>
            </a:r>
            <a:endParaRPr lang="en-US" sz="1100" dirty="0"/>
          </a:p>
        </p:txBody>
      </p:sp>
      <p:sp>
        <p:nvSpPr>
          <p:cNvPr id="36" name="Shape 34"/>
          <p:cNvSpPr/>
          <p:nvPr/>
        </p:nvSpPr>
        <p:spPr>
          <a:xfrm>
            <a:off x="548640" y="5111496"/>
            <a:ext cx="5440680" cy="896112"/>
          </a:xfrm>
          <a:prstGeom prst="roundRect">
            <a:avLst>
              <a:gd name="adj" fmla="val 816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37" name="Shape 35"/>
          <p:cNvSpPr/>
          <p:nvPr/>
        </p:nvSpPr>
        <p:spPr>
          <a:xfrm>
            <a:off x="713232" y="5330952"/>
            <a:ext cx="457200" cy="457200"/>
          </a:xfrm>
          <a:prstGeom prst="roundRect">
            <a:avLst>
              <a:gd name="adj" fmla="val 20000"/>
            </a:avLst>
          </a:prstGeom>
          <a:solidFill>
            <a:srgbClr val="0E7C86"/>
          </a:solidFill>
          <a:ln/>
        </p:spPr>
      </p:sp>
      <p:sp>
        <p:nvSpPr>
          <p:cNvPr id="38" name="Text 36"/>
          <p:cNvSpPr txBox="1"/>
          <p:nvPr/>
        </p:nvSpPr>
        <p:spPr>
          <a:xfrm>
            <a:off x="713232" y="533095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9" name="Text 37"/>
          <p:cNvSpPr txBox="1"/>
          <p:nvPr/>
        </p:nvSpPr>
        <p:spPr>
          <a:xfrm>
            <a:off x="1298448" y="5239512"/>
            <a:ext cx="4526280" cy="365760"/>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Take up references</a:t>
            </a:r>
            <a:endParaRPr lang="en-US" sz="1300" dirty="0"/>
          </a:p>
        </p:txBody>
      </p:sp>
      <p:sp>
        <p:nvSpPr>
          <p:cNvPr id="40" name="Text 38"/>
          <p:cNvSpPr txBox="1"/>
          <p:nvPr/>
        </p:nvSpPr>
        <p:spPr>
          <a:xfrm>
            <a:off x="1298448" y="5568696"/>
            <a:ext cx="4526280" cy="36576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check background &amp; suitability</a:t>
            </a:r>
            <a:endParaRPr lang="en-US" sz="1100" dirty="0"/>
          </a:p>
        </p:txBody>
      </p:sp>
      <p:sp>
        <p:nvSpPr>
          <p:cNvPr id="41" name="Shape 39"/>
          <p:cNvSpPr/>
          <p:nvPr/>
        </p:nvSpPr>
        <p:spPr>
          <a:xfrm>
            <a:off x="6199632" y="5111496"/>
            <a:ext cx="5440680" cy="896112"/>
          </a:xfrm>
          <a:prstGeom prst="roundRect">
            <a:avLst>
              <a:gd name="adj" fmla="val 816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42" name="Shape 40"/>
          <p:cNvSpPr/>
          <p:nvPr/>
        </p:nvSpPr>
        <p:spPr>
          <a:xfrm>
            <a:off x="6364224" y="5330952"/>
            <a:ext cx="457200" cy="457200"/>
          </a:xfrm>
          <a:prstGeom prst="roundRect">
            <a:avLst>
              <a:gd name="adj" fmla="val 20000"/>
            </a:avLst>
          </a:prstGeom>
          <a:solidFill>
            <a:srgbClr val="0E7C86"/>
          </a:solidFill>
          <a:ln/>
        </p:spPr>
      </p:sp>
      <p:sp>
        <p:nvSpPr>
          <p:cNvPr id="43" name="Text 41"/>
          <p:cNvSpPr txBox="1"/>
          <p:nvPr/>
        </p:nvSpPr>
        <p:spPr>
          <a:xfrm>
            <a:off x="6364224" y="533095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44" name="Text 42"/>
          <p:cNvSpPr txBox="1"/>
          <p:nvPr/>
        </p:nvSpPr>
        <p:spPr>
          <a:xfrm>
            <a:off x="6949440" y="5239512"/>
            <a:ext cx="4526280" cy="365760"/>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Offer &amp; sign contract</a:t>
            </a:r>
            <a:endParaRPr lang="en-US" sz="1300" dirty="0"/>
          </a:p>
        </p:txBody>
      </p:sp>
      <p:sp>
        <p:nvSpPr>
          <p:cNvPr id="45" name="Text 43"/>
          <p:cNvSpPr txBox="1"/>
          <p:nvPr/>
        </p:nvSpPr>
        <p:spPr>
          <a:xfrm>
            <a:off x="6949440" y="5568696"/>
            <a:ext cx="4526280" cy="36576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written offer → contract of employment</a:t>
            </a:r>
            <a:endParaRPr lang="en-US" sz="1100" dirty="0"/>
          </a:p>
        </p:txBody>
      </p:sp>
      <p:sp>
        <p:nvSpPr>
          <p:cNvPr id="46" name="Text 44"/>
          <p:cNvSpPr txBox="1"/>
          <p:nvPr/>
        </p:nvSpPr>
        <p:spPr>
          <a:xfrm>
            <a:off x="548640" y="6163056"/>
            <a:ext cx="11091672" cy="274320"/>
          </a:xfrm>
          <a:prstGeom prst="rect">
            <a:avLst/>
          </a:prstGeom>
          <a:noFill/>
          <a:ln/>
        </p:spPr>
        <p:txBody>
          <a:bodyPr wrap="square" lIns="0" tIns="0" rIns="0" bIns="0" rtlCol="0" anchor="ctr"/>
          <a:lstStyle/>
          <a:p>
            <a:pPr indent="0" marL="0">
              <a:buNone/>
            </a:pPr>
            <a:r>
              <a:rPr lang="en-US" sz="1150" i="1" dirty="0">
                <a:solidFill>
                  <a:srgbClr val="5B6B73"/>
                </a:solidFill>
                <a:latin typeface="Calibri" pitchFamily="34" charset="0"/>
                <a:ea typeface="Calibri" pitchFamily="34" charset="-122"/>
                <a:cs typeface="Calibri" pitchFamily="34" charset="-120"/>
              </a:rPr>
              <a:t>Job description = the JOB (tasks).   Person specification = the PERSON (skills &amp; qualities). Don't confuse them.</a:t>
            </a:r>
            <a:endParaRPr lang="en-US" sz="11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RECRUITMENT CHOICE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Internal vs external recruitment</a:t>
            </a:r>
            <a:endParaRPr lang="en-US" sz="2600" dirty="0"/>
          </a:p>
        </p:txBody>
      </p:sp>
      <p:sp>
        <p:nvSpPr>
          <p:cNvPr id="4" name="Shape 2"/>
          <p:cNvSpPr/>
          <p:nvPr/>
        </p:nvSpPr>
        <p:spPr>
          <a:xfrm>
            <a:off x="548640" y="1371600"/>
            <a:ext cx="5440680" cy="3977640"/>
          </a:xfrm>
          <a:prstGeom prst="roundRect">
            <a:avLst>
              <a:gd name="adj" fmla="val 183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77240" y="1536192"/>
            <a:ext cx="2926080" cy="310896"/>
          </a:xfrm>
          <a:prstGeom prst="roundRect">
            <a:avLst>
              <a:gd name="adj" fmla="val 50000"/>
            </a:avLst>
          </a:prstGeom>
          <a:solidFill>
            <a:srgbClr val="0E7C86"/>
          </a:solidFill>
          <a:ln/>
        </p:spPr>
      </p:sp>
      <p:sp>
        <p:nvSpPr>
          <p:cNvPr id="6" name="Text 4"/>
          <p:cNvSpPr txBox="1"/>
          <p:nvPr/>
        </p:nvSpPr>
        <p:spPr>
          <a:xfrm>
            <a:off x="777240" y="1536192"/>
            <a:ext cx="29260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INTERNAL RECRUITMENT</a:t>
            </a:r>
            <a:endParaRPr lang="en-US" sz="1050" dirty="0"/>
          </a:p>
        </p:txBody>
      </p:sp>
      <p:sp>
        <p:nvSpPr>
          <p:cNvPr id="7" name="Text 5"/>
          <p:cNvSpPr txBox="1"/>
          <p:nvPr/>
        </p:nvSpPr>
        <p:spPr>
          <a:xfrm>
            <a:off x="777240" y="1965960"/>
            <a:ext cx="4983480" cy="5029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Filling the vacancy from EXISTING employees (promotion or transfer).</a:t>
            </a:r>
            <a:endParaRPr lang="en-US" sz="1250" dirty="0"/>
          </a:p>
        </p:txBody>
      </p:sp>
      <p:sp>
        <p:nvSpPr>
          <p:cNvPr id="8" name="Text 6"/>
          <p:cNvSpPr txBox="1"/>
          <p:nvPr/>
        </p:nvSpPr>
        <p:spPr>
          <a:xfrm>
            <a:off x="777240" y="2514600"/>
            <a:ext cx="4983480" cy="2743200"/>
          </a:xfrm>
          <a:prstGeom prst="rect">
            <a:avLst/>
          </a:prstGeom>
          <a:noFill/>
          <a:ln/>
        </p:spPr>
        <p:txBody>
          <a:bodyPr wrap="square" lIns="0" tIns="0" rIns="0" bIns="0" rtlCol="0" anchor="t"/>
          <a:lstStyle/>
          <a:p>
            <a:pPr indent="0" marL="0">
              <a:spcAft>
                <a:spcPts val="600"/>
              </a:spcAft>
              <a:buNone/>
            </a:pPr>
            <a:r>
              <a:rPr lang="en-US" sz="1200" b="1" dirty="0">
                <a:solidFill>
                  <a:srgbClr val="2F8A5B"/>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cheaper &amp; quicker; candidate already known &amp; familiar with the business; motivates staff (promotion prospects); shorter induction.
</a:t>
            </a:r>
            <a:pPr indent="0" marL="0">
              <a:spcAft>
                <a:spcPts val="600"/>
              </a:spcAft>
              <a:buNone/>
            </a:pPr>
            <a:r>
              <a:rPr lang="en-US" sz="1200" b="1" dirty="0">
                <a:solidFill>
                  <a:srgbClr val="C14B37"/>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limits the applicant pool; no fresh ideas; creates another vacancy; can cause resentment.</a:t>
            </a:r>
            <a:endParaRPr lang="en-US" sz="1200" dirty="0"/>
          </a:p>
        </p:txBody>
      </p:sp>
      <p:sp>
        <p:nvSpPr>
          <p:cNvPr id="9" name="Shape 7"/>
          <p:cNvSpPr/>
          <p:nvPr/>
        </p:nvSpPr>
        <p:spPr>
          <a:xfrm>
            <a:off x="6199632" y="1371600"/>
            <a:ext cx="5440680" cy="3977640"/>
          </a:xfrm>
          <a:prstGeom prst="roundRect">
            <a:avLst>
              <a:gd name="adj" fmla="val 183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6428232" y="1536192"/>
            <a:ext cx="2926080" cy="310896"/>
          </a:xfrm>
          <a:prstGeom prst="roundRect">
            <a:avLst>
              <a:gd name="adj" fmla="val 50000"/>
            </a:avLst>
          </a:prstGeom>
          <a:solidFill>
            <a:srgbClr val="E0940F"/>
          </a:solidFill>
          <a:ln/>
        </p:spPr>
      </p:sp>
      <p:sp>
        <p:nvSpPr>
          <p:cNvPr id="11" name="Text 9"/>
          <p:cNvSpPr txBox="1"/>
          <p:nvPr/>
        </p:nvSpPr>
        <p:spPr>
          <a:xfrm>
            <a:off x="6428232" y="1536192"/>
            <a:ext cx="29260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EXTERNAL RECRUITMENT</a:t>
            </a:r>
            <a:endParaRPr lang="en-US" sz="1050" dirty="0"/>
          </a:p>
        </p:txBody>
      </p:sp>
      <p:sp>
        <p:nvSpPr>
          <p:cNvPr id="12" name="Text 10"/>
          <p:cNvSpPr txBox="1"/>
          <p:nvPr/>
        </p:nvSpPr>
        <p:spPr>
          <a:xfrm>
            <a:off x="6428232" y="1965960"/>
            <a:ext cx="4983480" cy="5029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Recruiting from OUTSIDE the business (job boards, agencies, adverts).</a:t>
            </a:r>
            <a:endParaRPr lang="en-US" sz="1250" dirty="0"/>
          </a:p>
        </p:txBody>
      </p:sp>
      <p:sp>
        <p:nvSpPr>
          <p:cNvPr id="13" name="Text 11"/>
          <p:cNvSpPr txBox="1"/>
          <p:nvPr/>
        </p:nvSpPr>
        <p:spPr>
          <a:xfrm>
            <a:off x="6428232" y="2514600"/>
            <a:ext cx="4983480" cy="2743200"/>
          </a:xfrm>
          <a:prstGeom prst="rect">
            <a:avLst/>
          </a:prstGeom>
          <a:noFill/>
          <a:ln/>
        </p:spPr>
        <p:txBody>
          <a:bodyPr wrap="square" lIns="0" tIns="0" rIns="0" bIns="0" rtlCol="0" anchor="t"/>
          <a:lstStyle/>
          <a:p>
            <a:pPr indent="0" marL="0">
              <a:spcAft>
                <a:spcPts val="600"/>
              </a:spcAft>
              <a:buNone/>
            </a:pPr>
            <a:r>
              <a:rPr lang="en-US" sz="1200" b="1" dirty="0">
                <a:solidFill>
                  <a:srgbClr val="2F8A5B"/>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wider pool of applicants; brings new ideas, skills &amp; experience; no internal resentment; can inject specialist talent.
</a:t>
            </a:r>
            <a:pPr indent="0" marL="0">
              <a:spcAft>
                <a:spcPts val="600"/>
              </a:spcAft>
              <a:buNone/>
            </a:pPr>
            <a:r>
              <a:rPr lang="en-US" sz="1200" b="1" dirty="0">
                <a:solidFill>
                  <a:srgbClr val="C14B37"/>
                </a:solidFill>
                <a:latin typeface="Calibri" pitchFamily="34" charset="0"/>
                <a:ea typeface="Calibri" pitchFamily="34" charset="-122"/>
                <a:cs typeface="Calibri" pitchFamily="34" charset="-120"/>
              </a:rPr>
              <a:t>✗ </a:t>
            </a:r>
            <a:pPr indent="0" marL="0">
              <a:spcAft>
                <a:spcPts val="600"/>
              </a:spcAft>
              <a:buNone/>
            </a:pPr>
            <a:r>
              <a:rPr lang="en-US" sz="1200" dirty="0">
                <a:solidFill>
                  <a:srgbClr val="1F2A33"/>
                </a:solidFill>
                <a:latin typeface="Calibri" pitchFamily="34" charset="0"/>
                <a:ea typeface="Calibri" pitchFamily="34" charset="-122"/>
                <a:cs typeface="Calibri" pitchFamily="34" charset="-120"/>
              </a:rPr>
              <a:t>more expensive &amp; slower; candidate is unknown (higher risk); longer induction; may demotivate staff passed over.</a:t>
            </a:r>
            <a:endParaRPr lang="en-US" sz="1200" dirty="0"/>
          </a:p>
        </p:txBody>
      </p:sp>
      <p:sp>
        <p:nvSpPr>
          <p:cNvPr id="14" name="Shape 12"/>
          <p:cNvSpPr/>
          <p:nvPr/>
        </p:nvSpPr>
        <p:spPr>
          <a:xfrm>
            <a:off x="548640" y="5440680"/>
            <a:ext cx="11091672" cy="731520"/>
          </a:xfrm>
          <a:prstGeom prst="roundRect">
            <a:avLst>
              <a:gd name="adj" fmla="val 10000"/>
            </a:avLst>
          </a:prstGeom>
          <a:solidFill>
            <a:srgbClr val="FBF0D8"/>
          </a:solidFill>
          <a:ln/>
          <a:effectLst>
            <a:outerShdw sx="100000" sy="100000" kx="0" ky="0" algn="bl" rotWithShape="0" blurRad="76200" dist="25400" dir="5400000">
              <a:srgbClr val="9AAAB0">
                <a:alpha val="28000"/>
              </a:srgbClr>
            </a:outerShdw>
          </a:effectLst>
        </p:spPr>
      </p:sp>
      <p:sp>
        <p:nvSpPr>
          <p:cNvPr id="15" name="Text 13"/>
          <p:cNvSpPr txBox="1"/>
          <p:nvPr/>
        </p:nvSpPr>
        <p:spPr>
          <a:xfrm>
            <a:off x="777240" y="5513832"/>
            <a:ext cx="10698480" cy="585216"/>
          </a:xfrm>
          <a:prstGeom prst="rect">
            <a:avLst/>
          </a:prstGeom>
          <a:noFill/>
          <a:ln/>
        </p:spPr>
        <p:txBody>
          <a:bodyPr wrap="square" lIns="0" tIns="0" rIns="0" bIns="0" rtlCol="0" anchor="ctr"/>
          <a:lstStyle/>
          <a:p>
            <a:pPr indent="0" marL="0">
              <a:buNone/>
            </a:pPr>
            <a:r>
              <a:rPr lang="en-US" sz="1200" b="1" dirty="0">
                <a:solidFill>
                  <a:srgbClr val="8A5A06"/>
                </a:solidFill>
                <a:latin typeface="Calibri" pitchFamily="34" charset="0"/>
                <a:ea typeface="Calibri" pitchFamily="34" charset="-122"/>
                <a:cs typeface="Calibri" pitchFamily="34" charset="-120"/>
              </a:rPr>
              <a:t>Case — Tesla:  </a:t>
            </a:r>
            <a:pPr indent="0" marL="0">
              <a:buNone/>
            </a:pPr>
            <a:r>
              <a:rPr lang="en-US" sz="1200" dirty="0">
                <a:solidFill>
                  <a:srgbClr val="1F2A33"/>
                </a:solidFill>
                <a:latin typeface="Calibri" pitchFamily="34" charset="0"/>
                <a:ea typeface="Calibri" pitchFamily="34" charset="-122"/>
                <a:cs typeface="Calibri" pitchFamily="34" charset="-120"/>
              </a:rPr>
              <a:t>Tesla recruits EXTERNALLY for specialist roles (e.g. a Charging Specialist in Tokyo needing electrical-engineering knowledge and fluent Japanese &amp; English) to access scarce global skills — but may recruit INTERNALLY where cultural fit and existing know-how matter most.</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COSTS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costs of recruitment &amp; selection</a:t>
            </a:r>
            <a:endParaRPr lang="en-US" sz="2600" dirty="0"/>
          </a:p>
        </p:txBody>
      </p:sp>
      <p:sp>
        <p:nvSpPr>
          <p:cNvPr id="4" name="Shape 2"/>
          <p:cNvSpPr/>
          <p:nvPr/>
        </p:nvSpPr>
        <p:spPr>
          <a:xfrm>
            <a:off x="548640" y="1371600"/>
            <a:ext cx="5440680" cy="2834640"/>
          </a:xfrm>
          <a:prstGeom prst="roundRect">
            <a:avLst>
              <a:gd name="adj" fmla="val 258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02920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Where the costs come from</a:t>
            </a:r>
            <a:endParaRPr lang="en-US" sz="1400" dirty="0"/>
          </a:p>
        </p:txBody>
      </p:sp>
      <p:sp>
        <p:nvSpPr>
          <p:cNvPr id="6" name="Text 4"/>
          <p:cNvSpPr txBox="1"/>
          <p:nvPr/>
        </p:nvSpPr>
        <p:spPr>
          <a:xfrm>
            <a:off x="777240" y="1847088"/>
            <a:ext cx="4983480" cy="22860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Advertising the vacancy (job boards, agencies)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Recruitment-agency fees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Management &amp; staff TIME (shortlisting, interviewing)</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Testing, references and administration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Induction &amp; initial training of the new hire</a:t>
            </a:r>
            <a:endParaRPr lang="en-US" sz="1250" dirty="0"/>
          </a:p>
        </p:txBody>
      </p:sp>
      <p:sp>
        <p:nvSpPr>
          <p:cNvPr id="7" name="Shape 5"/>
          <p:cNvSpPr/>
          <p:nvPr/>
        </p:nvSpPr>
        <p:spPr>
          <a:xfrm>
            <a:off x="6199632" y="1371600"/>
            <a:ext cx="5440680" cy="2834640"/>
          </a:xfrm>
          <a:prstGeom prst="roundRect">
            <a:avLst>
              <a:gd name="adj" fmla="val 2581"/>
            </a:avLst>
          </a:prstGeom>
          <a:solidFill>
            <a:srgbClr val="0E3A43"/>
          </a:solidFill>
          <a:ln/>
          <a:effectLst>
            <a:outerShdw sx="100000" sy="100000" kx="0" ky="0" algn="bl" rotWithShape="0" blurRad="76200" dist="25400" dir="5400000">
              <a:srgbClr val="9AAAB0">
                <a:alpha val="28000"/>
              </a:srgbClr>
            </a:outerShdw>
          </a:effectLst>
        </p:spPr>
      </p:sp>
      <p:sp>
        <p:nvSpPr>
          <p:cNvPr id="8" name="Text 6"/>
          <p:cNvSpPr txBox="1"/>
          <p:nvPr/>
        </p:nvSpPr>
        <p:spPr>
          <a:xfrm>
            <a:off x="6428232" y="1481328"/>
            <a:ext cx="5029200" cy="320040"/>
          </a:xfrm>
          <a:prstGeom prst="rect">
            <a:avLst/>
          </a:prstGeom>
          <a:noFill/>
          <a:ln/>
        </p:spPr>
        <p:txBody>
          <a:bodyPr wrap="square" lIns="0" tIns="0" rIns="0" bIns="0" rtlCol="0" anchor="ctr"/>
          <a:lstStyle/>
          <a:p>
            <a:pPr indent="0" marL="0">
              <a:buNone/>
            </a:pPr>
            <a:r>
              <a:rPr lang="en-US" sz="1400" b="1" dirty="0">
                <a:solidFill>
                  <a:srgbClr val="7FC4CB"/>
                </a:solidFill>
                <a:latin typeface="Calibri" pitchFamily="34" charset="0"/>
                <a:ea typeface="Calibri" pitchFamily="34" charset="-122"/>
                <a:cs typeface="Calibri" pitchFamily="34" charset="-120"/>
              </a:rPr>
              <a:t>The scale of it</a:t>
            </a:r>
            <a:endParaRPr lang="en-US" sz="1400" dirty="0"/>
          </a:p>
        </p:txBody>
      </p:sp>
      <p:sp>
        <p:nvSpPr>
          <p:cNvPr id="9" name="Text 7"/>
          <p:cNvSpPr txBox="1"/>
          <p:nvPr/>
        </p:nvSpPr>
        <p:spPr>
          <a:xfrm>
            <a:off x="6428232" y="1874520"/>
            <a:ext cx="4983480" cy="2194560"/>
          </a:xfrm>
          <a:prstGeom prst="rect">
            <a:avLst/>
          </a:prstGeom>
          <a:noFill/>
          <a:ln/>
        </p:spPr>
        <p:txBody>
          <a:bodyPr wrap="square" lIns="0" tIns="0" rIns="0" bIns="0" rtlCol="0" anchor="t"/>
          <a:lstStyle/>
          <a:p>
            <a:pPr indent="0" marL="0">
              <a:buNone/>
            </a:pPr>
            <a:r>
              <a:rPr lang="en-US" sz="2200" b="1" dirty="0">
                <a:solidFill>
                  <a:srgbClr val="FFFFFF"/>
                </a:solidFill>
              </a:rPr>
              <a:t>~$5,740
</a:t>
            </a:r>
            <a:pPr indent="0" marL="0">
              <a:buNone/>
            </a:pPr>
            <a:r>
              <a:rPr lang="en-US" sz="1200" dirty="0">
                <a:solidFill>
                  <a:srgbClr val="D7E6E8"/>
                </a:solidFill>
              </a:rPr>
              <a:t>average cost per hire (SHRM)
</a:t>
            </a:r>
            <a:pPr indent="0" marL="0">
              <a:buNone/>
            </a:pPr>
            <a:r>
              <a:rPr lang="en-US" sz="2200" b="1" dirty="0">
                <a:solidFill>
                  <a:srgbClr val="FFFFFF"/>
                </a:solidFill>
              </a:rPr>
              <a:t>~£5,800
</a:t>
            </a:r>
            <a:pPr indent="0" marL="0">
              <a:buNone/>
            </a:pPr>
            <a:r>
              <a:rPr lang="en-US" sz="1200" dirty="0">
                <a:solidFill>
                  <a:srgbClr val="D7E6E8"/>
                </a:solidFill>
              </a:rPr>
              <a:t>logistical cost per job (Oxford Economics)</a:t>
            </a:r>
            <a:endParaRPr lang="en-US" sz="2200" dirty="0"/>
          </a:p>
        </p:txBody>
      </p:sp>
      <p:sp>
        <p:nvSpPr>
          <p:cNvPr id="10" name="Shape 8"/>
          <p:cNvSpPr/>
          <p:nvPr/>
        </p:nvSpPr>
        <p:spPr>
          <a:xfrm>
            <a:off x="548640" y="4343400"/>
            <a:ext cx="11091672" cy="1828800"/>
          </a:xfrm>
          <a:prstGeom prst="roundRect">
            <a:avLst>
              <a:gd name="adj" fmla="val 4000"/>
            </a:avLst>
          </a:prstGeom>
          <a:solidFill>
            <a:srgbClr val="FBF0D8"/>
          </a:solidFill>
          <a:ln/>
          <a:effectLst>
            <a:outerShdw sx="100000" sy="100000" kx="0" ky="0" algn="bl" rotWithShape="0" blurRad="76200" dist="25400" dir="5400000">
              <a:srgbClr val="9AAAB0">
                <a:alpha val="28000"/>
              </a:srgbClr>
            </a:outerShdw>
          </a:effectLst>
        </p:spPr>
      </p:sp>
      <p:sp>
        <p:nvSpPr>
          <p:cNvPr id="11" name="Shape 9"/>
          <p:cNvSpPr/>
          <p:nvPr/>
        </p:nvSpPr>
        <p:spPr>
          <a:xfrm>
            <a:off x="548640" y="4343400"/>
            <a:ext cx="109728" cy="1828800"/>
          </a:xfrm>
          <a:prstGeom prst="roundRect">
            <a:avLst/>
          </a:prstGeom>
          <a:solidFill>
            <a:srgbClr val="E0940F"/>
          </a:solidFill>
          <a:ln/>
        </p:spPr>
      </p:sp>
      <p:sp>
        <p:nvSpPr>
          <p:cNvPr id="12" name="Text 10"/>
          <p:cNvSpPr txBox="1"/>
          <p:nvPr/>
        </p:nvSpPr>
        <p:spPr>
          <a:xfrm>
            <a:off x="777240" y="4453128"/>
            <a:ext cx="10607040" cy="274320"/>
          </a:xfrm>
          <a:prstGeom prst="rect">
            <a:avLst/>
          </a:prstGeom>
          <a:noFill/>
          <a:ln/>
        </p:spPr>
        <p:txBody>
          <a:bodyPr wrap="square" lIns="0" tIns="0" rIns="0" bIns="0" rtlCol="0" anchor="ctr"/>
          <a:lstStyle/>
          <a:p>
            <a:pPr indent="0" marL="0">
              <a:buNone/>
            </a:pPr>
            <a:r>
              <a:rPr lang="en-US" sz="1150" b="1" spc="50" kern="0" dirty="0">
                <a:solidFill>
                  <a:srgbClr val="8A5A06"/>
                </a:solidFill>
                <a:latin typeface="Calibri" pitchFamily="34" charset="0"/>
                <a:ea typeface="Calibri" pitchFamily="34" charset="-122"/>
                <a:cs typeface="Calibri" pitchFamily="34" charset="-120"/>
              </a:rPr>
              <a:t>WHY THIS MATTERS (the A-grade link)</a:t>
            </a:r>
            <a:endParaRPr lang="en-US" sz="1150" dirty="0"/>
          </a:p>
        </p:txBody>
      </p:sp>
      <p:sp>
        <p:nvSpPr>
          <p:cNvPr id="13" name="Text 11"/>
          <p:cNvSpPr txBox="1"/>
          <p:nvPr/>
        </p:nvSpPr>
        <p:spPr>
          <a:xfrm>
            <a:off x="777240" y="4754880"/>
            <a:ext cx="10698480" cy="128016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Recruitment is expensive, so a POOR selection is doubly costly — the firm pays to recruit, then pays again when the bad hire leaves and must be replaced. This is why good selection and staff RETENTION matter so much: every avoided departure saves a full recruitment cost. It also links straight to training (next) — training improves retention, so it can pay for itself.</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Exam practice: recruitment (Tesla)</a:t>
            </a:r>
            <a:endParaRPr lang="en-US" sz="26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Analyse two possible advantages to Tesla of using external recruitment.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[6]</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Discuss the reasons why Tesla may use internal recruitment.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[8]</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6-mark Analyse (K2 A2 An2): two advantages, each applied to Tesla, each with a chain. No judgement.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Discuss: reasons for internal recruitment + a ‘However’, applied to Tesla.</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the case: specialist/global skills, fast-paced innovative culture.</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How to build them</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6-mark ¶1: external access to a wider, global pool → Tesla finds scarce specialist skills (engineering, languages) it lacks internally.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6-mark ¶2: external brings new ideas/experience → supports Tesla's fast-paced innovation.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FOR internal: cheaper, quicker, motivates staff, candidate already fits Tesla's culture.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HOWEVER: internal limits fresh ideas &amp; the specialist skills Tesla often needs → judge it depends on the role.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Training</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why firms train  ·  the three types — induction, on-the-job, off-the-job  ·  the costs and benefits of training</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TRAINING TYPES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three types of training</a:t>
            </a:r>
            <a:endParaRPr lang="en-US" sz="2600" dirty="0"/>
          </a:p>
        </p:txBody>
      </p:sp>
      <p:sp>
        <p:nvSpPr>
          <p:cNvPr id="4" name="Shape 2"/>
          <p:cNvSpPr/>
          <p:nvPr/>
        </p:nvSpPr>
        <p:spPr>
          <a:xfrm>
            <a:off x="548640" y="1371600"/>
            <a:ext cx="11091672" cy="566928"/>
          </a:xfrm>
          <a:prstGeom prst="roundRect">
            <a:avLst>
              <a:gd name="adj" fmla="val 12903"/>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26464"/>
            <a:ext cx="10698480" cy="457200"/>
          </a:xfrm>
          <a:prstGeom prst="rect">
            <a:avLst/>
          </a:prstGeom>
          <a:noFill/>
          <a:ln/>
        </p:spPr>
        <p:txBody>
          <a:bodyPr wrap="square" lIns="0" tIns="0" rIns="0" bIns="0" rtlCol="0" anchor="ctr"/>
          <a:lstStyle/>
          <a:p>
            <a:pPr indent="0" marL="0">
              <a:buNone/>
            </a:pPr>
            <a:r>
              <a:rPr lang="en-US" sz="1250" b="1" dirty="0">
                <a:solidFill>
                  <a:srgbClr val="0B5E66"/>
                </a:solidFill>
                <a:latin typeface="Calibri" pitchFamily="34" charset="0"/>
                <a:ea typeface="Calibri" pitchFamily="34" charset="-122"/>
                <a:cs typeface="Calibri" pitchFamily="34" charset="-120"/>
              </a:rPr>
              <a:t>Training  </a:t>
            </a:r>
            <a:pPr indent="0" marL="0">
              <a:buNone/>
            </a:pPr>
            <a:r>
              <a:rPr lang="en-US" sz="1250" dirty="0">
                <a:solidFill>
                  <a:srgbClr val="1F2A33"/>
                </a:solidFill>
                <a:latin typeface="Calibri" pitchFamily="34" charset="0"/>
                <a:ea typeface="Calibri" pitchFamily="34" charset="-122"/>
                <a:cs typeface="Calibri" pitchFamily="34" charset="-120"/>
              </a:rPr>
              <a:t>= developing employees' skills and knowledge so they perform their role effectively. The spec names three types.</a:t>
            </a:r>
            <a:endParaRPr lang="en-US" sz="1250" dirty="0"/>
          </a:p>
        </p:txBody>
      </p:sp>
      <p:sp>
        <p:nvSpPr>
          <p:cNvPr id="6" name="Shape 4"/>
          <p:cNvSpPr/>
          <p:nvPr/>
        </p:nvSpPr>
        <p:spPr>
          <a:xfrm>
            <a:off x="548640" y="2103120"/>
            <a:ext cx="3575304" cy="4069080"/>
          </a:xfrm>
          <a:prstGeom prst="roundRect">
            <a:avLst>
              <a:gd name="adj" fmla="val 204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548640" y="2103120"/>
            <a:ext cx="3575304" cy="91440"/>
          </a:xfrm>
          <a:prstGeom prst="roundRect">
            <a:avLst/>
          </a:prstGeom>
          <a:solidFill>
            <a:srgbClr val="0E7C86"/>
          </a:solidFill>
          <a:ln/>
        </p:spPr>
      </p:sp>
      <p:sp>
        <p:nvSpPr>
          <p:cNvPr id="8" name="Text 6"/>
          <p:cNvSpPr txBox="1"/>
          <p:nvPr/>
        </p:nvSpPr>
        <p:spPr>
          <a:xfrm>
            <a:off x="749808" y="2286000"/>
            <a:ext cx="3172968" cy="36576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Induction</a:t>
            </a:r>
            <a:endParaRPr lang="en-US" sz="1400" dirty="0"/>
          </a:p>
        </p:txBody>
      </p:sp>
      <p:sp>
        <p:nvSpPr>
          <p:cNvPr id="9" name="Text 7"/>
          <p:cNvSpPr txBox="1"/>
          <p:nvPr/>
        </p:nvSpPr>
        <p:spPr>
          <a:xfrm>
            <a:off x="749808" y="2670048"/>
            <a:ext cx="3172968" cy="868680"/>
          </a:xfrm>
          <a:prstGeom prst="rect">
            <a:avLst/>
          </a:prstGeom>
          <a:noFill/>
          <a:ln/>
        </p:spPr>
        <p:txBody>
          <a:bodyPr wrap="square" lIns="0" tIns="0" rIns="0" bIns="0" rtlCol="0" anchor="t"/>
          <a:lstStyle/>
          <a:p>
            <a:pPr indent="0" marL="0">
              <a:buNone/>
            </a:pPr>
            <a:r>
              <a:rPr lang="en-US" sz="1150" dirty="0">
                <a:solidFill>
                  <a:srgbClr val="1F2A33"/>
                </a:solidFill>
                <a:latin typeface="Calibri" pitchFamily="34" charset="0"/>
                <a:ea typeface="Calibri" pitchFamily="34" charset="-122"/>
                <a:cs typeface="Calibri" pitchFamily="34" charset="-120"/>
              </a:rPr>
              <a:t>An introduction for NEW employees — procedures, health &amp; safety, culture and people — so they settle in.</a:t>
            </a:r>
            <a:endParaRPr lang="en-US" sz="1150" dirty="0"/>
          </a:p>
        </p:txBody>
      </p:sp>
      <p:sp>
        <p:nvSpPr>
          <p:cNvPr id="10" name="Text 8"/>
          <p:cNvSpPr txBox="1"/>
          <p:nvPr/>
        </p:nvSpPr>
        <p:spPr>
          <a:xfrm>
            <a:off x="749808" y="3584448"/>
            <a:ext cx="3172968" cy="658368"/>
          </a:xfrm>
          <a:prstGeom prst="rect">
            <a:avLst/>
          </a:prstGeom>
          <a:noFill/>
          <a:ln/>
        </p:spPr>
        <p:txBody>
          <a:bodyPr wrap="square" lIns="0" tIns="0" rIns="0" bIns="0" rtlCol="0" anchor="t"/>
          <a:lstStyle/>
          <a:p>
            <a:pPr indent="0" marL="0">
              <a:buNone/>
            </a:pPr>
            <a:r>
              <a:rPr lang="en-US" sz="1100" b="1" dirty="0">
                <a:solidFill>
                  <a:srgbClr val="2F8A5B"/>
                </a:solidFill>
                <a:latin typeface="Calibri" pitchFamily="34" charset="0"/>
                <a:ea typeface="Calibri" pitchFamily="34" charset="-122"/>
                <a:cs typeface="Calibri" pitchFamily="34" charset="-120"/>
              </a:rPr>
              <a:t>✓ </a:t>
            </a:r>
            <a:pPr indent="0" marL="0">
              <a:buNone/>
            </a:pPr>
            <a:r>
              <a:rPr lang="en-US" sz="1100" dirty="0">
                <a:solidFill>
                  <a:srgbClr val="1F2A33"/>
                </a:solidFill>
                <a:latin typeface="Calibri" pitchFamily="34" charset="0"/>
                <a:ea typeface="Calibri" pitchFamily="34" charset="-122"/>
                <a:cs typeface="Calibri" pitchFamily="34" charset="-120"/>
              </a:rPr>
              <a:t>Settles new staff fast; safe &amp; confident; productive sooner; good first impression aids retention</a:t>
            </a:r>
            <a:endParaRPr lang="en-US" sz="1100" dirty="0"/>
          </a:p>
        </p:txBody>
      </p:sp>
      <p:sp>
        <p:nvSpPr>
          <p:cNvPr id="11" name="Text 9"/>
          <p:cNvSpPr txBox="1"/>
          <p:nvPr/>
        </p:nvSpPr>
        <p:spPr>
          <a:xfrm>
            <a:off x="749808" y="4242816"/>
            <a:ext cx="3172968" cy="658368"/>
          </a:xfrm>
          <a:prstGeom prst="rect">
            <a:avLst/>
          </a:prstGeom>
          <a:noFill/>
          <a:ln/>
        </p:spPr>
        <p:txBody>
          <a:bodyPr wrap="square" lIns="0" tIns="0" rIns="0" bIns="0" rtlCol="0" anchor="t"/>
          <a:lstStyle/>
          <a:p>
            <a:pPr indent="0" marL="0">
              <a:buNone/>
            </a:pPr>
            <a:r>
              <a:rPr lang="en-US" sz="1100" b="1" dirty="0">
                <a:solidFill>
                  <a:srgbClr val="C14B37"/>
                </a:solidFill>
                <a:latin typeface="Calibri" pitchFamily="34" charset="0"/>
                <a:ea typeface="Calibri" pitchFamily="34" charset="-122"/>
                <a:cs typeface="Calibri" pitchFamily="34" charset="-120"/>
              </a:rPr>
              <a:t>✗ </a:t>
            </a:r>
            <a:pPr indent="0" marL="0">
              <a:buNone/>
            </a:pPr>
            <a:r>
              <a:rPr lang="en-US" sz="1100" dirty="0">
                <a:solidFill>
                  <a:srgbClr val="1F2A33"/>
                </a:solidFill>
                <a:latin typeface="Calibri" pitchFamily="34" charset="0"/>
                <a:ea typeface="Calibri" pitchFamily="34" charset="-122"/>
                <a:cs typeface="Calibri" pitchFamily="34" charset="-120"/>
              </a:rPr>
              <a:t>Takes time &amp; resources; can be information overload on day one</a:t>
            </a:r>
            <a:endParaRPr lang="en-US" sz="1100" dirty="0"/>
          </a:p>
        </p:txBody>
      </p:sp>
      <p:sp>
        <p:nvSpPr>
          <p:cNvPr id="12" name="Shape 10"/>
          <p:cNvSpPr/>
          <p:nvPr/>
        </p:nvSpPr>
        <p:spPr>
          <a:xfrm>
            <a:off x="4306824" y="2103120"/>
            <a:ext cx="3575304" cy="4069080"/>
          </a:xfrm>
          <a:prstGeom prst="roundRect">
            <a:avLst>
              <a:gd name="adj" fmla="val 204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Shape 11"/>
          <p:cNvSpPr/>
          <p:nvPr/>
        </p:nvSpPr>
        <p:spPr>
          <a:xfrm>
            <a:off x="4306824" y="2103120"/>
            <a:ext cx="3575304" cy="91440"/>
          </a:xfrm>
          <a:prstGeom prst="roundRect">
            <a:avLst/>
          </a:prstGeom>
          <a:solidFill>
            <a:srgbClr val="E0940F"/>
          </a:solidFill>
          <a:ln/>
        </p:spPr>
      </p:sp>
      <p:sp>
        <p:nvSpPr>
          <p:cNvPr id="14" name="Text 12"/>
          <p:cNvSpPr txBox="1"/>
          <p:nvPr/>
        </p:nvSpPr>
        <p:spPr>
          <a:xfrm>
            <a:off x="4507992" y="2286000"/>
            <a:ext cx="3172968" cy="365760"/>
          </a:xfrm>
          <a:prstGeom prst="rect">
            <a:avLst/>
          </a:prstGeom>
          <a:noFill/>
          <a:ln/>
        </p:spPr>
        <p:txBody>
          <a:bodyPr wrap="square" lIns="0" tIns="0" rIns="0" bIns="0" rtlCol="0" anchor="ctr"/>
          <a:lstStyle/>
          <a:p>
            <a:pPr indent="0" marL="0">
              <a:buNone/>
            </a:pPr>
            <a:r>
              <a:rPr lang="en-US" sz="1400" b="1" dirty="0">
                <a:solidFill>
                  <a:srgbClr val="E0940F"/>
                </a:solidFill>
                <a:latin typeface="Calibri" pitchFamily="34" charset="0"/>
                <a:ea typeface="Calibri" pitchFamily="34" charset="-122"/>
                <a:cs typeface="Calibri" pitchFamily="34" charset="-120"/>
              </a:rPr>
              <a:t>On-the-job</a:t>
            </a:r>
            <a:endParaRPr lang="en-US" sz="1400" dirty="0"/>
          </a:p>
        </p:txBody>
      </p:sp>
      <p:sp>
        <p:nvSpPr>
          <p:cNvPr id="15" name="Text 13"/>
          <p:cNvSpPr txBox="1"/>
          <p:nvPr/>
        </p:nvSpPr>
        <p:spPr>
          <a:xfrm>
            <a:off x="4507992" y="2670048"/>
            <a:ext cx="3172968" cy="868680"/>
          </a:xfrm>
          <a:prstGeom prst="rect">
            <a:avLst/>
          </a:prstGeom>
          <a:noFill/>
          <a:ln/>
        </p:spPr>
        <p:txBody>
          <a:bodyPr wrap="square" lIns="0" tIns="0" rIns="0" bIns="0" rtlCol="0" anchor="t"/>
          <a:lstStyle/>
          <a:p>
            <a:pPr indent="0" marL="0">
              <a:buNone/>
            </a:pPr>
            <a:r>
              <a:rPr lang="en-US" sz="1150" dirty="0">
                <a:solidFill>
                  <a:srgbClr val="1F2A33"/>
                </a:solidFill>
                <a:latin typeface="Calibri" pitchFamily="34" charset="0"/>
                <a:ea typeface="Calibri" pitchFamily="34" charset="-122"/>
                <a:cs typeface="Calibri" pitchFamily="34" charset="-120"/>
              </a:rPr>
              <a:t>Training in the workplace WHILE doing the job — demonstration, coaching, mentoring, job rotation.</a:t>
            </a:r>
            <a:endParaRPr lang="en-US" sz="1150" dirty="0"/>
          </a:p>
        </p:txBody>
      </p:sp>
      <p:sp>
        <p:nvSpPr>
          <p:cNvPr id="16" name="Text 14"/>
          <p:cNvSpPr txBox="1"/>
          <p:nvPr/>
        </p:nvSpPr>
        <p:spPr>
          <a:xfrm>
            <a:off x="4507992" y="3584448"/>
            <a:ext cx="3172968" cy="658368"/>
          </a:xfrm>
          <a:prstGeom prst="rect">
            <a:avLst/>
          </a:prstGeom>
          <a:noFill/>
          <a:ln/>
        </p:spPr>
        <p:txBody>
          <a:bodyPr wrap="square" lIns="0" tIns="0" rIns="0" bIns="0" rtlCol="0" anchor="t"/>
          <a:lstStyle/>
          <a:p>
            <a:pPr indent="0" marL="0">
              <a:buNone/>
            </a:pPr>
            <a:r>
              <a:rPr lang="en-US" sz="1100" b="1" dirty="0">
                <a:solidFill>
                  <a:srgbClr val="2F8A5B"/>
                </a:solidFill>
                <a:latin typeface="Calibri" pitchFamily="34" charset="0"/>
                <a:ea typeface="Calibri" pitchFamily="34" charset="-122"/>
                <a:cs typeface="Calibri" pitchFamily="34" charset="-120"/>
              </a:rPr>
              <a:t>✓ </a:t>
            </a:r>
            <a:pPr indent="0" marL="0">
              <a:buNone/>
            </a:pPr>
            <a:r>
              <a:rPr lang="en-US" sz="1100" dirty="0">
                <a:solidFill>
                  <a:srgbClr val="1F2A33"/>
                </a:solidFill>
                <a:latin typeface="Calibri" pitchFamily="34" charset="0"/>
                <a:ea typeface="Calibri" pitchFamily="34" charset="-122"/>
                <a:cs typeface="Calibri" pitchFamily="34" charset="-120"/>
              </a:rPr>
              <a:t>Cheap; relevant to the real role; productive while training; learns the actual job</a:t>
            </a:r>
            <a:endParaRPr lang="en-US" sz="1100" dirty="0"/>
          </a:p>
        </p:txBody>
      </p:sp>
      <p:sp>
        <p:nvSpPr>
          <p:cNvPr id="17" name="Text 15"/>
          <p:cNvSpPr txBox="1"/>
          <p:nvPr/>
        </p:nvSpPr>
        <p:spPr>
          <a:xfrm>
            <a:off x="4507992" y="4242816"/>
            <a:ext cx="3172968" cy="658368"/>
          </a:xfrm>
          <a:prstGeom prst="rect">
            <a:avLst/>
          </a:prstGeom>
          <a:noFill/>
          <a:ln/>
        </p:spPr>
        <p:txBody>
          <a:bodyPr wrap="square" lIns="0" tIns="0" rIns="0" bIns="0" rtlCol="0" anchor="t"/>
          <a:lstStyle/>
          <a:p>
            <a:pPr indent="0" marL="0">
              <a:buNone/>
            </a:pPr>
            <a:r>
              <a:rPr lang="en-US" sz="1100" b="1" dirty="0">
                <a:solidFill>
                  <a:srgbClr val="C14B37"/>
                </a:solidFill>
                <a:latin typeface="Calibri" pitchFamily="34" charset="0"/>
                <a:ea typeface="Calibri" pitchFamily="34" charset="-122"/>
                <a:cs typeface="Calibri" pitchFamily="34" charset="-120"/>
              </a:rPr>
              <a:t>✗ </a:t>
            </a:r>
            <a:pPr indent="0" marL="0">
              <a:buNone/>
            </a:pPr>
            <a:r>
              <a:rPr lang="en-US" sz="1100" dirty="0">
                <a:solidFill>
                  <a:srgbClr val="1F2A33"/>
                </a:solidFill>
                <a:latin typeface="Calibri" pitchFamily="34" charset="0"/>
                <a:ea typeface="Calibri" pitchFamily="34" charset="-122"/>
                <a:cs typeface="Calibri" pitchFamily="34" charset="-120"/>
              </a:rPr>
              <a:t>Quality depends on the trainer; may pick up bad habits; disrupts output; uses the trainer's time</a:t>
            </a:r>
            <a:endParaRPr lang="en-US" sz="1100" dirty="0"/>
          </a:p>
        </p:txBody>
      </p:sp>
      <p:sp>
        <p:nvSpPr>
          <p:cNvPr id="18" name="Shape 16"/>
          <p:cNvSpPr/>
          <p:nvPr/>
        </p:nvSpPr>
        <p:spPr>
          <a:xfrm>
            <a:off x="8065008" y="2103120"/>
            <a:ext cx="3575304" cy="4069080"/>
          </a:xfrm>
          <a:prstGeom prst="roundRect">
            <a:avLst>
              <a:gd name="adj" fmla="val 204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9" name="Shape 17"/>
          <p:cNvSpPr/>
          <p:nvPr/>
        </p:nvSpPr>
        <p:spPr>
          <a:xfrm>
            <a:off x="8065008" y="2103120"/>
            <a:ext cx="3575304" cy="91440"/>
          </a:xfrm>
          <a:prstGeom prst="roundRect">
            <a:avLst/>
          </a:prstGeom>
          <a:solidFill>
            <a:srgbClr val="2F8A5B"/>
          </a:solidFill>
          <a:ln/>
        </p:spPr>
      </p:sp>
      <p:sp>
        <p:nvSpPr>
          <p:cNvPr id="20" name="Text 18"/>
          <p:cNvSpPr txBox="1"/>
          <p:nvPr/>
        </p:nvSpPr>
        <p:spPr>
          <a:xfrm>
            <a:off x="8266176" y="2286000"/>
            <a:ext cx="3172968" cy="365760"/>
          </a:xfrm>
          <a:prstGeom prst="rect">
            <a:avLst/>
          </a:prstGeom>
          <a:noFill/>
          <a:ln/>
        </p:spPr>
        <p:txBody>
          <a:bodyPr wrap="square" lIns="0" tIns="0" rIns="0" bIns="0" rtlCol="0" anchor="ctr"/>
          <a:lstStyle/>
          <a:p>
            <a:pPr indent="0" marL="0">
              <a:buNone/>
            </a:pPr>
            <a:r>
              <a:rPr lang="en-US" sz="1400" b="1" dirty="0">
                <a:solidFill>
                  <a:srgbClr val="2F8A5B"/>
                </a:solidFill>
                <a:latin typeface="Calibri" pitchFamily="34" charset="0"/>
                <a:ea typeface="Calibri" pitchFamily="34" charset="-122"/>
                <a:cs typeface="Calibri" pitchFamily="34" charset="-120"/>
              </a:rPr>
              <a:t>Off-the-job</a:t>
            </a:r>
            <a:endParaRPr lang="en-US" sz="1400" dirty="0"/>
          </a:p>
        </p:txBody>
      </p:sp>
      <p:sp>
        <p:nvSpPr>
          <p:cNvPr id="21" name="Text 19"/>
          <p:cNvSpPr txBox="1"/>
          <p:nvPr/>
        </p:nvSpPr>
        <p:spPr>
          <a:xfrm>
            <a:off x="8266176" y="2670048"/>
            <a:ext cx="3172968" cy="868680"/>
          </a:xfrm>
          <a:prstGeom prst="rect">
            <a:avLst/>
          </a:prstGeom>
          <a:noFill/>
          <a:ln/>
        </p:spPr>
        <p:txBody>
          <a:bodyPr wrap="square" lIns="0" tIns="0" rIns="0" bIns="0" rtlCol="0" anchor="t"/>
          <a:lstStyle/>
          <a:p>
            <a:pPr indent="0" marL="0">
              <a:buNone/>
            </a:pPr>
            <a:r>
              <a:rPr lang="en-US" sz="1150" dirty="0">
                <a:solidFill>
                  <a:srgbClr val="1F2A33"/>
                </a:solidFill>
                <a:latin typeface="Calibri" pitchFamily="34" charset="0"/>
                <a:ea typeface="Calibri" pitchFamily="34" charset="-122"/>
                <a:cs typeface="Calibri" pitchFamily="34" charset="-120"/>
              </a:rPr>
              <a:t>Training AWAY from the workplace — college day-release, external courses, specialist trainers.</a:t>
            </a:r>
            <a:endParaRPr lang="en-US" sz="1150" dirty="0"/>
          </a:p>
        </p:txBody>
      </p:sp>
      <p:sp>
        <p:nvSpPr>
          <p:cNvPr id="22" name="Text 20"/>
          <p:cNvSpPr txBox="1"/>
          <p:nvPr/>
        </p:nvSpPr>
        <p:spPr>
          <a:xfrm>
            <a:off x="8266176" y="3584448"/>
            <a:ext cx="3172968" cy="658368"/>
          </a:xfrm>
          <a:prstGeom prst="rect">
            <a:avLst/>
          </a:prstGeom>
          <a:noFill/>
          <a:ln/>
        </p:spPr>
        <p:txBody>
          <a:bodyPr wrap="square" lIns="0" tIns="0" rIns="0" bIns="0" rtlCol="0" anchor="t"/>
          <a:lstStyle/>
          <a:p>
            <a:pPr indent="0" marL="0">
              <a:buNone/>
            </a:pPr>
            <a:r>
              <a:rPr lang="en-US" sz="1100" b="1" dirty="0">
                <a:solidFill>
                  <a:srgbClr val="2F8A5B"/>
                </a:solidFill>
                <a:latin typeface="Calibri" pitchFamily="34" charset="0"/>
                <a:ea typeface="Calibri" pitchFamily="34" charset="-122"/>
                <a:cs typeface="Calibri" pitchFamily="34" charset="-120"/>
              </a:rPr>
              <a:t>✓ </a:t>
            </a:r>
            <a:pPr indent="0" marL="0">
              <a:buNone/>
            </a:pPr>
            <a:r>
              <a:rPr lang="en-US" sz="1100" dirty="0">
                <a:solidFill>
                  <a:srgbClr val="1F2A33"/>
                </a:solidFill>
                <a:latin typeface="Calibri" pitchFamily="34" charset="0"/>
                <a:ea typeface="Calibri" pitchFamily="34" charset="-122"/>
                <a:cs typeface="Calibri" pitchFamily="34" charset="-120"/>
              </a:rPr>
              <a:t>Expert tuition; no workplace distractions; broader, transferable qualifications; fresh ideas</a:t>
            </a:r>
            <a:endParaRPr lang="en-US" sz="1100" dirty="0"/>
          </a:p>
        </p:txBody>
      </p:sp>
      <p:sp>
        <p:nvSpPr>
          <p:cNvPr id="23" name="Text 21"/>
          <p:cNvSpPr txBox="1"/>
          <p:nvPr/>
        </p:nvSpPr>
        <p:spPr>
          <a:xfrm>
            <a:off x="8266176" y="4242816"/>
            <a:ext cx="3172968" cy="658368"/>
          </a:xfrm>
          <a:prstGeom prst="rect">
            <a:avLst/>
          </a:prstGeom>
          <a:noFill/>
          <a:ln/>
        </p:spPr>
        <p:txBody>
          <a:bodyPr wrap="square" lIns="0" tIns="0" rIns="0" bIns="0" rtlCol="0" anchor="t"/>
          <a:lstStyle/>
          <a:p>
            <a:pPr indent="0" marL="0">
              <a:buNone/>
            </a:pPr>
            <a:r>
              <a:rPr lang="en-US" sz="1100" b="1" dirty="0">
                <a:solidFill>
                  <a:srgbClr val="C14B37"/>
                </a:solidFill>
                <a:latin typeface="Calibri" pitchFamily="34" charset="0"/>
                <a:ea typeface="Calibri" pitchFamily="34" charset="-122"/>
                <a:cs typeface="Calibri" pitchFamily="34" charset="-120"/>
              </a:rPr>
              <a:t>✗ </a:t>
            </a:r>
            <a:pPr indent="0" marL="0">
              <a:buNone/>
            </a:pPr>
            <a:r>
              <a:rPr lang="en-US" sz="1100" dirty="0">
                <a:solidFill>
                  <a:srgbClr val="1F2A33"/>
                </a:solidFill>
                <a:latin typeface="Calibri" pitchFamily="34" charset="0"/>
                <a:ea typeface="Calibri" pitchFamily="34" charset="-122"/>
                <a:cs typeface="Calibri" pitchFamily="34" charset="-120"/>
              </a:rPr>
              <a:t>Expensive (fees, travel, time off); not always job-specific; staff may leave with new skills (poaching)</a:t>
            </a:r>
            <a:endParaRPr lang="en-US" sz="11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TRAINING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costs &amp; benefits of training</a:t>
            </a:r>
            <a:endParaRPr lang="en-US" sz="2600" dirty="0"/>
          </a:p>
        </p:txBody>
      </p:sp>
      <p:sp>
        <p:nvSpPr>
          <p:cNvPr id="4" name="Shape 2"/>
          <p:cNvSpPr/>
          <p:nvPr/>
        </p:nvSpPr>
        <p:spPr>
          <a:xfrm>
            <a:off x="548640" y="1463040"/>
            <a:ext cx="5440680" cy="3108960"/>
          </a:xfrm>
          <a:prstGeom prst="roundRect">
            <a:avLst>
              <a:gd name="adj" fmla="val 2353"/>
            </a:avLst>
          </a:prstGeom>
          <a:solidFill>
            <a:srgbClr val="F9EAE6"/>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627632"/>
            <a:ext cx="2103120" cy="310896"/>
          </a:xfrm>
          <a:prstGeom prst="roundRect">
            <a:avLst>
              <a:gd name="adj" fmla="val 50000"/>
            </a:avLst>
          </a:prstGeom>
          <a:solidFill>
            <a:srgbClr val="C14B37"/>
          </a:solidFill>
          <a:ln/>
        </p:spPr>
      </p:sp>
      <p:sp>
        <p:nvSpPr>
          <p:cNvPr id="6" name="Text 4"/>
          <p:cNvSpPr txBox="1"/>
          <p:nvPr/>
        </p:nvSpPr>
        <p:spPr>
          <a:xfrm>
            <a:off x="777240" y="1627632"/>
            <a:ext cx="210312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COSTS</a:t>
            </a:r>
            <a:endParaRPr lang="en-US" sz="1050" dirty="0"/>
          </a:p>
        </p:txBody>
      </p:sp>
      <p:sp>
        <p:nvSpPr>
          <p:cNvPr id="7" name="Text 5"/>
          <p:cNvSpPr txBox="1"/>
          <p:nvPr/>
        </p:nvSpPr>
        <p:spPr>
          <a:xfrm>
            <a:off x="777240" y="2103120"/>
            <a:ext cx="4983480" cy="23774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Direct: course fees, trainers, materials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Indirect: lost output while staff train; management time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Risk of trained staff being POACHED by rivals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Off-the-job adds travel, accommodation &amp; cover costs</a:t>
            </a:r>
            <a:endParaRPr lang="en-US" sz="1250" dirty="0"/>
          </a:p>
        </p:txBody>
      </p:sp>
      <p:sp>
        <p:nvSpPr>
          <p:cNvPr id="8" name="Shape 6"/>
          <p:cNvSpPr/>
          <p:nvPr/>
        </p:nvSpPr>
        <p:spPr>
          <a:xfrm>
            <a:off x="6199632" y="1463040"/>
            <a:ext cx="5440680" cy="3108960"/>
          </a:xfrm>
          <a:prstGeom prst="roundRect">
            <a:avLst>
              <a:gd name="adj" fmla="val 2353"/>
            </a:avLst>
          </a:prstGeom>
          <a:solidFill>
            <a:srgbClr val="E8F3EC"/>
          </a:solidFill>
          <a:ln/>
          <a:effectLst>
            <a:outerShdw sx="100000" sy="100000" kx="0" ky="0" algn="bl" rotWithShape="0" blurRad="76200" dist="25400" dir="5400000">
              <a:srgbClr val="9AAAB0">
                <a:alpha val="28000"/>
              </a:srgbClr>
            </a:outerShdw>
          </a:effectLst>
        </p:spPr>
      </p:sp>
      <p:sp>
        <p:nvSpPr>
          <p:cNvPr id="9" name="Shape 7"/>
          <p:cNvSpPr/>
          <p:nvPr/>
        </p:nvSpPr>
        <p:spPr>
          <a:xfrm>
            <a:off x="6428232" y="1627632"/>
            <a:ext cx="2286000" cy="310896"/>
          </a:xfrm>
          <a:prstGeom prst="roundRect">
            <a:avLst>
              <a:gd name="adj" fmla="val 50000"/>
            </a:avLst>
          </a:prstGeom>
          <a:solidFill>
            <a:srgbClr val="2F8A5B"/>
          </a:solidFill>
          <a:ln/>
        </p:spPr>
      </p:sp>
      <p:sp>
        <p:nvSpPr>
          <p:cNvPr id="10" name="Text 8"/>
          <p:cNvSpPr txBox="1"/>
          <p:nvPr/>
        </p:nvSpPr>
        <p:spPr>
          <a:xfrm>
            <a:off x="6428232" y="1627632"/>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BENEFITS</a:t>
            </a:r>
            <a:endParaRPr lang="en-US" sz="1050" dirty="0"/>
          </a:p>
        </p:txBody>
      </p:sp>
      <p:sp>
        <p:nvSpPr>
          <p:cNvPr id="11" name="Text 9"/>
          <p:cNvSpPr txBox="1"/>
          <p:nvPr/>
        </p:nvSpPr>
        <p:spPr>
          <a:xfrm>
            <a:off x="6428232" y="2103120"/>
            <a:ext cx="4983480" cy="23774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Higher productivity, quality and safety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Flexibility — multi-skilled staff can cover roles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Motivation &amp; RETENTION — staff value development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Better service → stronger reputation and sales</a:t>
            </a:r>
            <a:endParaRPr lang="en-US" sz="1250" dirty="0"/>
          </a:p>
        </p:txBody>
      </p:sp>
      <p:sp>
        <p:nvSpPr>
          <p:cNvPr id="12" name="Shape 10"/>
          <p:cNvSpPr/>
          <p:nvPr/>
        </p:nvSpPr>
        <p:spPr>
          <a:xfrm>
            <a:off x="548640" y="4709160"/>
            <a:ext cx="11091672" cy="1463040"/>
          </a:xfrm>
          <a:prstGeom prst="roundRect">
            <a:avLst>
              <a:gd name="adj" fmla="val 5000"/>
            </a:avLst>
          </a:prstGeom>
          <a:solidFill>
            <a:srgbClr val="FBF0D8"/>
          </a:solidFill>
          <a:ln/>
          <a:effectLst>
            <a:outerShdw sx="100000" sy="100000" kx="0" ky="0" algn="bl" rotWithShape="0" blurRad="76200" dist="25400" dir="5400000">
              <a:srgbClr val="9AAAB0">
                <a:alpha val="28000"/>
              </a:srgbClr>
            </a:outerShdw>
          </a:effectLst>
        </p:spPr>
      </p:sp>
      <p:sp>
        <p:nvSpPr>
          <p:cNvPr id="13" name="Shape 11"/>
          <p:cNvSpPr/>
          <p:nvPr/>
        </p:nvSpPr>
        <p:spPr>
          <a:xfrm>
            <a:off x="548640" y="4709160"/>
            <a:ext cx="109728" cy="1463040"/>
          </a:xfrm>
          <a:prstGeom prst="roundRect">
            <a:avLst/>
          </a:prstGeom>
          <a:solidFill>
            <a:srgbClr val="E0940F"/>
          </a:solidFill>
          <a:ln/>
        </p:spPr>
      </p:sp>
      <p:sp>
        <p:nvSpPr>
          <p:cNvPr id="14" name="Text 12"/>
          <p:cNvSpPr txBox="1"/>
          <p:nvPr/>
        </p:nvSpPr>
        <p:spPr>
          <a:xfrm>
            <a:off x="777240" y="4818888"/>
            <a:ext cx="10607040" cy="274320"/>
          </a:xfrm>
          <a:prstGeom prst="rect">
            <a:avLst/>
          </a:prstGeom>
          <a:noFill/>
          <a:ln/>
        </p:spPr>
        <p:txBody>
          <a:bodyPr wrap="square" lIns="0" tIns="0" rIns="0" bIns="0" rtlCol="0" anchor="ctr"/>
          <a:lstStyle/>
          <a:p>
            <a:pPr indent="0" marL="0">
              <a:buNone/>
            </a:pPr>
            <a:r>
              <a:rPr lang="en-US" sz="1150" b="1" spc="50" kern="0" dirty="0">
                <a:solidFill>
                  <a:srgbClr val="8A5A06"/>
                </a:solidFill>
                <a:latin typeface="Calibri" pitchFamily="34" charset="0"/>
                <a:ea typeface="Calibri" pitchFamily="34" charset="-122"/>
                <a:cs typeface="Calibri" pitchFamily="34" charset="-120"/>
              </a:rPr>
              <a:t>THE KEY ARGUMENT — training can pay for itself</a:t>
            </a:r>
            <a:endParaRPr lang="en-US" sz="1150" dirty="0"/>
          </a:p>
        </p:txBody>
      </p:sp>
      <p:sp>
        <p:nvSpPr>
          <p:cNvPr id="15" name="Text 13"/>
          <p:cNvSpPr txBox="1"/>
          <p:nvPr/>
        </p:nvSpPr>
        <p:spPr>
          <a:xfrm>
            <a:off x="777240" y="5120640"/>
            <a:ext cx="10698480" cy="10058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Training costs money up front, but it raises productivity AND retention — and replacing staff is far more expensive (studies put replacing an $8/hour worker at ~$9,400, a nurse at ~$40,000, and a tech role at over $125,000). So a firm that trains and keeps its people often spends LESS than one that constantly recruits. The judgement depends on whether the firm can retain the staff it trains.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Exam practice: training (Dyson)</a:t>
            </a:r>
            <a:endParaRPr lang="en-US" sz="26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Define the term ‘induction training’.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[2]</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Discuss the importance of training employees at Dyson.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[8]</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2-mark Define: training that introduces new employees to the business (1) + its procedures/people/safety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Discuss: why training matters to Dyson + a ‘However’, applied.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the case: £1bn R&amp;D, 450 engineers in the D9 lab, innovation-led technology firm.</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(one side, then However)</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FOR: Dyson's competitive advantage is innovation → it needs highly-skilled engineers → training develops the specialist skills to design new products → protects its technology lead.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Develop: trained, valued staff stay, so Dyson keeps the expertise its £1bn R&amp;D depends 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HOWEVER: training is costly and skilled engineers may be poached by rivals.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Judgement: training is very important for a technology firm like Dyson, but depends on retaining the people it develops.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C</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C</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A-grade exam skills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Sports Direct training 10-marker  ·  decode and plan  ·  a model answer and how to reach the top band</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EXAM MASTERY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10-mark: decode it, then plan</a:t>
            </a:r>
            <a:endParaRPr lang="en-US" sz="2600" dirty="0"/>
          </a:p>
        </p:txBody>
      </p:sp>
      <p:sp>
        <p:nvSpPr>
          <p:cNvPr id="4" name="Shape 2"/>
          <p:cNvSpPr/>
          <p:nvPr/>
        </p:nvSpPr>
        <p:spPr>
          <a:xfrm>
            <a:off x="548640" y="1371600"/>
            <a:ext cx="11091672" cy="1005840"/>
          </a:xfrm>
          <a:prstGeom prst="roundRect">
            <a:avLst>
              <a:gd name="adj" fmla="val 7273"/>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73936"/>
            <a:ext cx="10607040" cy="4572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Assess the importance of training employees in Sports Direct.  </a:t>
            </a:r>
            <a:pPr indent="0" marL="0">
              <a:buNone/>
            </a:pPr>
            <a:r>
              <a:rPr lang="en-US" sz="1400" b="1" dirty="0">
                <a:solidFill>
                  <a:srgbClr val="E0940F"/>
                </a:solidFill>
                <a:latin typeface="Calibri" pitchFamily="34" charset="0"/>
                <a:ea typeface="Calibri" pitchFamily="34" charset="-122"/>
                <a:cs typeface="Calibri" pitchFamily="34" charset="-120"/>
              </a:rPr>
              <a:t>[10]</a:t>
            </a:r>
            <a:endParaRPr lang="en-US" sz="1400" dirty="0"/>
          </a:p>
        </p:txBody>
      </p:sp>
      <p:sp>
        <p:nvSpPr>
          <p:cNvPr id="7" name="Shape 5"/>
          <p:cNvSpPr/>
          <p:nvPr/>
        </p:nvSpPr>
        <p:spPr>
          <a:xfrm>
            <a:off x="548640" y="2514600"/>
            <a:ext cx="5029200" cy="3685032"/>
          </a:xfrm>
          <a:prstGeom prst="roundRect">
            <a:avLst>
              <a:gd name="adj" fmla="val 1985"/>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262432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9" name="Text 7"/>
          <p:cNvSpPr txBox="1"/>
          <p:nvPr/>
        </p:nvSpPr>
        <p:spPr>
          <a:xfrm>
            <a:off x="749808" y="2990088"/>
            <a:ext cx="4617720" cy="31089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Assess = weigh how important training is, both ways, then a supported judgement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Apply Sports Direct: low margins, large retailer, zero-hours/part-time, high turnover, past criticism</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‘Important for what?’ — service, safety, productivity, reputation</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Level 4 (8–10): balanced, applied, competing arguments, clear judgement</a:t>
            </a:r>
            <a:endParaRPr lang="en-US" sz="1200" dirty="0"/>
          </a:p>
        </p:txBody>
      </p:sp>
      <p:sp>
        <p:nvSpPr>
          <p:cNvPr id="10" name="Shape 8"/>
          <p:cNvSpPr/>
          <p:nvPr/>
        </p:nvSpPr>
        <p:spPr>
          <a:xfrm>
            <a:off x="5788152" y="2514600"/>
            <a:ext cx="5852160" cy="3685032"/>
          </a:xfrm>
          <a:prstGeom prst="roundRect">
            <a:avLst>
              <a:gd name="adj" fmla="val 1985"/>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262432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(10-mark template)</a:t>
            </a:r>
            <a:endParaRPr lang="en-US" sz="1300" dirty="0"/>
          </a:p>
        </p:txBody>
      </p:sp>
      <p:sp>
        <p:nvSpPr>
          <p:cNvPr id="12" name="Text 10"/>
          <p:cNvSpPr txBox="1"/>
          <p:nvPr/>
        </p:nvSpPr>
        <p:spPr>
          <a:xfrm>
            <a:off x="5989320" y="2990088"/>
            <a:ext cx="5440680" cy="310896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¶1 (important): training (esp. induction) improves service, consistency &amp; safety across ~670 stores → better experience → protects sales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¶2 (less important / limits): costly in a low-margin business; high turnover from zero-hours means trained staff leave → wasted spend; much retail work is low-skill</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Conclusion (4Ws): training matters for service &amp; safety, but for a low-margin, high-turnover retailer basic induction may be enough — depends on how much service differentiates Sports Direct and whether it can retain trained staff</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A model 10-mark answer (Sports Direct)</a:t>
            </a:r>
            <a:endParaRPr lang="en-US" sz="2600" dirty="0"/>
          </a:p>
        </p:txBody>
      </p:sp>
      <p:sp>
        <p:nvSpPr>
          <p:cNvPr id="4" name="Shape 2"/>
          <p:cNvSpPr/>
          <p:nvPr/>
        </p:nvSpPr>
        <p:spPr>
          <a:xfrm>
            <a:off x="548640" y="1371600"/>
            <a:ext cx="11091672" cy="1572768"/>
          </a:xfrm>
          <a:prstGeom prst="roundRect">
            <a:avLst>
              <a:gd name="adj" fmla="val 4651"/>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371600"/>
          </a:xfrm>
          <a:prstGeom prst="rect">
            <a:avLst/>
          </a:prstGeom>
          <a:noFill/>
          <a:ln/>
        </p:spPr>
        <p:txBody>
          <a:bodyPr wrap="square" lIns="0" tIns="0" rIns="0" bIns="0" rtlCol="0" anchor="t"/>
          <a:lstStyle/>
          <a:p>
            <a:pPr indent="0" marL="0">
              <a:buNone/>
            </a:pPr>
            <a:r>
              <a:rPr lang="en-US" sz="1180" b="1" dirty="0">
                <a:solidFill>
                  <a:srgbClr val="2F8A5B"/>
                </a:solidFill>
                <a:latin typeface="Calibri" pitchFamily="34" charset="0"/>
                <a:ea typeface="Calibri" pitchFamily="34" charset="-122"/>
                <a:cs typeface="Calibri" pitchFamily="34" charset="-120"/>
              </a:rPr>
              <a:t>¶ Important (for).  </a:t>
            </a:r>
            <a:pPr indent="0" marL="0">
              <a:buNone/>
            </a:pPr>
            <a:r>
              <a:rPr lang="en-US" sz="1180" dirty="0">
                <a:solidFill>
                  <a:srgbClr val="1F2A33"/>
                </a:solidFill>
                <a:latin typeface="Calibri" pitchFamily="34" charset="0"/>
                <a:ea typeface="Calibri" pitchFamily="34" charset="-122"/>
                <a:cs typeface="Calibri" pitchFamily="34" charset="-120"/>
              </a:rPr>
              <a:t>Training is important to Sports Direct because, as a large retailer with around 670 stores, it needs consistent service and safe working. Induction and basic product training mean staff can help customers and follow safety procedures from day one. This means a better, more consistent shopping experience across all stores, which protects sales and helps repair a reputation that has been criticised in the past.</a:t>
            </a:r>
            <a:endParaRPr lang="en-US" sz="1180" dirty="0"/>
          </a:p>
        </p:txBody>
      </p:sp>
      <p:sp>
        <p:nvSpPr>
          <p:cNvPr id="6" name="Shape 4"/>
          <p:cNvSpPr/>
          <p:nvPr/>
        </p:nvSpPr>
        <p:spPr>
          <a:xfrm>
            <a:off x="548640" y="3017520"/>
            <a:ext cx="11091672" cy="1572768"/>
          </a:xfrm>
          <a:prstGeom prst="roundRect">
            <a:avLst>
              <a:gd name="adj" fmla="val 4651"/>
            </a:avLst>
          </a:prstGeom>
          <a:solidFill>
            <a:srgbClr val="F9EAE6"/>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3127248"/>
            <a:ext cx="10607040" cy="1371600"/>
          </a:xfrm>
          <a:prstGeom prst="rect">
            <a:avLst/>
          </a:prstGeom>
          <a:noFill/>
          <a:ln/>
        </p:spPr>
        <p:txBody>
          <a:bodyPr wrap="square" lIns="0" tIns="0" rIns="0" bIns="0" rtlCol="0" anchor="t"/>
          <a:lstStyle/>
          <a:p>
            <a:pPr indent="0" marL="0">
              <a:buNone/>
            </a:pPr>
            <a:r>
              <a:rPr lang="en-US" sz="1180" b="1" dirty="0">
                <a:solidFill>
                  <a:srgbClr val="C14B37"/>
                </a:solidFill>
                <a:latin typeface="Calibri" pitchFamily="34" charset="0"/>
                <a:ea typeface="Calibri" pitchFamily="34" charset="-122"/>
                <a:cs typeface="Calibri" pitchFamily="34" charset="-120"/>
              </a:rPr>
              <a:t>¶ But less important here (however).  </a:t>
            </a:r>
            <a:pPr indent="0" marL="0">
              <a:buNone/>
            </a:pPr>
            <a:r>
              <a:rPr lang="en-US" sz="1180" dirty="0">
                <a:solidFill>
                  <a:srgbClr val="1F2A33"/>
                </a:solidFill>
                <a:latin typeface="Calibri" pitchFamily="34" charset="0"/>
                <a:ea typeface="Calibri" pitchFamily="34" charset="-122"/>
                <a:cs typeface="Calibri" pitchFamily="34" charset="-120"/>
              </a:rPr>
              <a:t>However, Sports Direct operates on low margins and uses many zero-hours and part-time staff, so turnover is high. Spending heavily on training risks wasting money when trained staff soon leave, and much retail work is relatively low-skill, so extensive training may not be needed. For a cost-focused retailer, too much training could eat into already thin margins.</a:t>
            </a:r>
            <a:endParaRPr lang="en-US" sz="1180" dirty="0"/>
          </a:p>
        </p:txBody>
      </p:sp>
      <p:sp>
        <p:nvSpPr>
          <p:cNvPr id="8" name="Shape 6"/>
          <p:cNvSpPr/>
          <p:nvPr/>
        </p:nvSpPr>
        <p:spPr>
          <a:xfrm>
            <a:off x="548640" y="4663440"/>
            <a:ext cx="11091672" cy="1517904"/>
          </a:xfrm>
          <a:prstGeom prst="roundRect">
            <a:avLst>
              <a:gd name="adj" fmla="val 4819"/>
            </a:avLst>
          </a:prstGeom>
          <a:solidFill>
            <a:srgbClr val="0E3A43"/>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4773168"/>
            <a:ext cx="10607040" cy="1316736"/>
          </a:xfrm>
          <a:prstGeom prst="rect">
            <a:avLst/>
          </a:prstGeom>
          <a:noFill/>
          <a:ln/>
        </p:spPr>
        <p:txBody>
          <a:bodyPr wrap="square" lIns="0" tIns="0" rIns="0" bIns="0" rtlCol="0" anchor="t"/>
          <a:lstStyle/>
          <a:p>
            <a:pPr indent="0" marL="0">
              <a:buNone/>
            </a:pPr>
            <a:r>
              <a:rPr lang="en-US" sz="1180" b="1" dirty="0">
                <a:solidFill>
                  <a:srgbClr val="E0940F"/>
                </a:solidFill>
                <a:latin typeface="Calibri" pitchFamily="34" charset="0"/>
                <a:ea typeface="Calibri" pitchFamily="34" charset="-122"/>
                <a:cs typeface="Calibri" pitchFamily="34" charset="-120"/>
              </a:rPr>
              <a:t>Conclusion (4Ws).  </a:t>
            </a:r>
            <a:pPr indent="0" marL="0">
              <a:buNone/>
            </a:pPr>
            <a:r>
              <a:rPr lang="en-US" sz="1180" dirty="0">
                <a:solidFill>
                  <a:srgbClr val="FFFFFF"/>
                </a:solidFill>
                <a:latin typeface="Calibri" pitchFamily="34" charset="0"/>
                <a:ea typeface="Calibri" pitchFamily="34" charset="-122"/>
                <a:cs typeface="Calibri" pitchFamily="34" charset="-120"/>
              </a:rPr>
              <a:t>Overall, training is important to Sports Direct mainly for induction, service and safety, which protect sales and reputation across its many stores. But heavy investment in training is less justified than at a skills-based firm, because of low margins and high turnover. Its importance depends on how much Sports Direct competes on service and whether it can retain staff long enough to benefit — so a focused, low-cost induction is likely the most sensible approach.</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Answering recruitment &amp; training questions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188720"/>
                <a:gridCol w="2651760"/>
                <a:gridCol w="6702552"/>
              </a:tblGrid>
              <a:tr h="457200">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What to do</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62179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Define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Meaning + an example (induction, external recruitment…).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Knowledge + two pieces of business evidence + one consequence.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Two points, each applied, each with a developed chain. No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8 / 10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Discuss / Assess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Both sides, applied, + a supported judgement (4Ws).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Evaluate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5×5 / essay framework: both sides, applied, + an ‘it depends’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5715000"/>
            <a:ext cx="10515600" cy="457200"/>
          </a:xfrm>
          <a:prstGeom prst="rect">
            <a:avLst/>
          </a:prstGeom>
          <a:noFill/>
          <a:ln/>
        </p:spPr>
        <p:txBody>
          <a:bodyPr wrap="square" lIns="0" tIns="0" rIns="0" bIns="0" rtlCol="0" anchor="ctr"/>
          <a:lstStyle/>
          <a:p>
            <a:pPr indent="0" marL="0">
              <a:buNone/>
            </a:pPr>
            <a:r>
              <a:rPr lang="en-US" sz="1250" i="1" dirty="0">
                <a:solidFill>
                  <a:srgbClr val="9FBCC0"/>
                </a:solidFill>
                <a:latin typeface="Calibri" pitchFamily="34" charset="0"/>
                <a:ea typeface="Calibri" pitchFamily="34" charset="-122"/>
                <a:cs typeface="Calibri" pitchFamily="34" charset="-120"/>
              </a:rPr>
              <a:t>Golden thread: recruitment &amp; training cost money up front, but a good hire you keep and develop is far cheaper than replacing a bad one — so retention is the pay-off.</a:t>
            </a:r>
            <a:endParaRPr lang="en-US" sz="1250" dirty="0"/>
          </a:p>
        </p:txBody>
      </p:sp>
      <p:sp>
        <p:nvSpPr>
          <p:cNvPr id="6" name="Text 3"/>
          <p:cNvSpPr txBox="1"/>
          <p:nvPr/>
        </p:nvSpPr>
        <p:spPr>
          <a:xfrm>
            <a:off x="822960" y="6172200"/>
            <a:ext cx="10515600" cy="320040"/>
          </a:xfrm>
          <a:prstGeom prst="rect">
            <a:avLst/>
          </a:prstGeom>
          <a:noFill/>
          <a:ln/>
        </p:spPr>
        <p:txBody>
          <a:bodyPr wrap="square" lIns="0" tIns="0" rIns="0" bIns="0" rtlCol="0" anchor="ctr"/>
          <a:lstStyle/>
          <a:p>
            <a:pPr indent="0" marL="0">
              <a:buNone/>
            </a:pPr>
            <a:r>
              <a:rPr lang="en-US" sz="1250" b="1" dirty="0">
                <a:solidFill>
                  <a:srgbClr val="7FC4CB"/>
                </a:solidFill>
                <a:latin typeface="Calibri" pitchFamily="34" charset="0"/>
                <a:ea typeface="Calibri" pitchFamily="34" charset="-122"/>
                <a:cs typeface="Calibri" pitchFamily="34" charset="-120"/>
              </a:rPr>
              <a:t>Next in 1.3.4: Organisational design.</a:t>
            </a:r>
            <a:endParaRPr lang="en-US" sz="1250" dirty="0"/>
          </a:p>
        </p:txBody>
      </p:sp>
    </p:spTree>
  </p:cSld>
  <p:clrMapOvr>
    <a:masterClrMapping/>
  </p:clrMapOvr>
</p:sld>
</file>

<file path=ppt/theme/theme1.xml><?xml version="1.0" encoding="utf-8"?>
<a:theme xmlns:a="http://schemas.openxmlformats.org/drawingml/2006/main" name="IAL Marketing">
  <a:themeElements>
    <a:clrScheme name="IAL Marketing">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rke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2026-10-20T12:10:02Z</dcterms:created>
  <dcterms:modified xsi:type="dcterms:W3CDTF">2026-10-20T12:10:02Z</dcterms:modified>
</cp:coreProperties>
</file>