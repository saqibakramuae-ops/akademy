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 · Asset vs cost" id="{bd6ff346-739d-6dbb-9044-f8fd8d17ce12}">
          <p14:sldIdLst>
            <p14:sldId id="259"/>
            <p14:sldId id="260"/>
            <p14:sldId id="261"/>
          </p14:sldIdLst>
        </p14:section>
        <p14:section name="B · Flexible workforce" id="{b889cb94-9d3c-1279-d40e-4537eaf4f8f2}">
          <p14:sldIdLst>
            <p14:sldId id="262"/>
            <p14:sldId id="263"/>
            <p14:sldId id="264"/>
            <p14:sldId id="265"/>
            <p14:sldId id="266"/>
            <p14:sldId id="267"/>
          </p14:sldIdLst>
        </p14:section>
        <p14:section name="C · Protections &amp; relations" id="{896e4695-74ac-f296-2ff7-93d06dc8f5dd}">
          <p14:sldIdLst>
            <p14:sldId id="268"/>
            <p14:sldId id="269"/>
            <p14:sldId id="270"/>
            <p14:sldId id="271"/>
          </p14:sldIdLst>
        </p14:section>
        <p14:section name="D · A-grade exam skills" id="{3d657e19-7c27-90c5-d429-b9b935544b07}">
          <p14:sldIdLst>
            <p14:sldId id="272"/>
            <p14:sldId id="273"/>
            <p14:sldId id="274"/>
            <p14:sldId id="275"/>
          </p14:sldIdLst>
        </p14:section>
        <p14:section name="Default-1" id="{fc2962d8-16dd-635e-a6a5-45bce8fcb5f2}">
          <p14:sldIdLst>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Tutoring deck on approaches to staffing (spec 1.3.4 'Managing people', section 1 of 5), pitched for A-grade students. Same house style as the marketing decks. Covers staff as asset vs cost, the flexible workforce (multi-skilling, part-time &amp; temporary, zero-hours, flexible/home working, outsourcing), dismissal vs redundancy, and employer/employee relations (individual vs collective bargaining). Cases: Sports Direct, PwC, Google, Amazon. This is the first of five decks for 1.3.4. NOTE: the student calls Managing people '1.4'; in the spec it is 1.3.4.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Approaches to staffing = how a business organises and views its workforce. The recurring A-grade theme is the TRADE-OFF: flexibility and low cost (good for the business short-term) versus security, loyalty and motivation (good for productivity and reputation long-term). Keep returning to that 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of five sub-sections of Managing people. This deck is the foundation - how a firm views and structures its workforce - and everything else (recruitment, motivation, leadership) builds on the asset-vs-cost mindset introduced here. Each of the five sub-sections is its own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mindset underpins the whole topic. Asset = invest (Google, John Lewis); cost = minimise (Sports Direct, some gig-economy firms). Neither is automatically 'right': a low-margin, low-skill operation may lean 'cost'; a high-skill, service business must treat staff as an asset. The evaluation hook: short-term cost saving vs long-term productivity, loyalty and reputation.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Flexible working = variety in time, location, pattern. The next slides take each of the five spec types with definition, advantages and disadvantages, then outsourcing in depth. Keep the two-sided framing: good for the firm's flexibility/cost, but the human cost (insecurity) can rebound as turnover and reputational damage.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of the five flexible types. Zero-hours is the most exam-relevant: ~1.8m contracts in the UK (2017, ONS); used by Sports Direct, JD Wetherspoon, Cineworld. The pattern across all three: they cut the firm's cost/commitment but reduce workers' security and often their loyalty - which can rebound as poorer service and higher turnover. Part-time workers still have guaranteed hours (unlike zero-hours) - a key distinction for the 20-marker.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Outsourcing is a key staffing choice: 'what should we do ourselves vs buy in from others?' Examples: payroll, IT, cleaning, production, call centres. The outsourcing-vs-offshoring distinction is commonly confused - outsourcing is about WHO (external provider), offshoring is about WHERE (overseas). They're independent, and a firm can do both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 point 1(c). The clean distinction: dismissal = the employee is at fault (conduct/capability); redundancy = the role is removed (no fault of the worker, usually with redundancy pay). Students routinely blur these. A fair dismissal needs due process; skipping it risks an unfair-dismissal claim - a cost and reputational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 point 1(d). Individual = one-to-one (good for skilled, scarce workers; weak for most); collective = group/union (stronger worker power, efficient, but can slow change and risk disputes). A trade union is the vehicle for collective bargaining. Employee representation (works councils, union reps) is the broader idea - benefits: motivation, commitment, better decisions, fewer disputes; drawbacks: slower, possible conflict, managers feel undermined.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Uses your essay framework (intro, point + counter, point + counter, conclusion). The key to 'evaluate which' questions: don't just describe both - DEFINE 'effective' (here, balancing low cost/flexibility against service and reputation for a low-margin retailer), weigh them, and COMMIT to a judgement with a 'depends on'. The strongest answers note a MIX is realistic, then still answer which is more effective if one must be chosen.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balanced paragraphs (each point + counter) and a conditional judgement. The Level 4 habits: defines 'effective', applies Sports Direct context (low margins, variable demand, reputation damage), builds chains with connectives, proposes a realistic MIX, then still COMMITS (part-time long-term) with a 'depends on'. The reputation chain (zero-hours → criticism → deters customers/recruits) is a strong, case-specific evaluation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discriminators: defining the criterion ('effective' = balancing cost/flexibility with service/reputation), two-sided argument on BOTH methods, case-specific chains, and a committed-but-conditional judgement. Weaker answers describe the two contract types generically and never commit. Use this slide for peer-assessment: mark a sample answer against the two columns.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here - completes section 1 of 5 in Managing people. Students should leave able to contrast staff as asset vs cost, define and evaluate the five flexible-workforce types, distinguish dismissal from redundancy, and compare individual vs collective bargaining - and to argue a staffing 20-marker with a defined criterion and a conditional judgement. Recruitment, selection &amp; training is the next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E3A43"/>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37376"/>
            <a:ext cx="10058400" cy="274320"/>
          </a:xfrm>
          <a:prstGeom prst="rect">
            <a:avLst/>
          </a:prstGeom>
          <a:noFill/>
          <a:ln/>
        </p:spPr>
        <p:txBody>
          <a:bodyPr wrap="square" lIns="0" tIns="0" rIns="0" bIns="0" rtlCol="0" anchor="ctr"/>
          <a:lstStyle/>
          <a:p>
            <a:pPr algn="l" indent="0" marL="0">
              <a:buNone/>
            </a:pPr>
            <a:r>
              <a:rPr lang="en-US" sz="900" dirty="0">
                <a:solidFill>
                  <a:srgbClr val="5B6B73"/>
                </a:solidFill>
                <a:latin typeface="Calibri" pitchFamily="34" charset="0"/>
                <a:ea typeface="Calibri" pitchFamily="34" charset="-122"/>
                <a:cs typeface="Calibri" pitchFamily="34" charset="-120"/>
              </a:rPr>
              <a:t>IAL Business  ·  Unit 1  ·  Spec 1.3.4 Managing people  (Approaches to staffing)</a:t>
            </a:r>
            <a:endParaRPr lang="en-US" sz="9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1280160"/>
            <a:ext cx="10515600" cy="365760"/>
          </a:xfrm>
          <a:prstGeom prst="rect">
            <a:avLst/>
          </a:prstGeom>
          <a:noFill/>
          <a:ln/>
        </p:spPr>
        <p:txBody>
          <a:bodyPr wrap="square" lIns="0" tIns="0" rIns="0" bIns="0" rtlCol="0" anchor="ctr"/>
          <a:lstStyle/>
          <a:p>
            <a:pPr indent="0" marL="0">
              <a:buNone/>
            </a:pPr>
            <a:r>
              <a:rPr lang="en-US" sz="1250" b="1" spc="150" kern="0" dirty="0">
                <a:solidFill>
                  <a:srgbClr val="7FC4CB"/>
                </a:solidFill>
                <a:latin typeface="Calibri" pitchFamily="34" charset="0"/>
                <a:ea typeface="Calibri" pitchFamily="34" charset="-122"/>
                <a:cs typeface="Calibri" pitchFamily="34" charset="-120"/>
              </a:rPr>
              <a:t>PEARSON EDEXCEL  ·  INTERNATIONAL A LEVEL BUSINESS  ·  UNIT 1 (WBS11)</a:t>
            </a:r>
            <a:endParaRPr lang="en-US" sz="1250" dirty="0"/>
          </a:p>
        </p:txBody>
      </p:sp>
      <p:sp>
        <p:nvSpPr>
          <p:cNvPr id="3" name="Text 1"/>
          <p:cNvSpPr txBox="1"/>
          <p:nvPr/>
        </p:nvSpPr>
        <p:spPr>
          <a:xfrm>
            <a:off x="822960" y="1737360"/>
            <a:ext cx="1060704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Approaches to Staffing</a:t>
            </a:r>
            <a:endParaRPr lang="en-US" sz="4600" dirty="0"/>
          </a:p>
        </p:txBody>
      </p:sp>
      <p:sp>
        <p:nvSpPr>
          <p:cNvPr id="4" name="Text 2"/>
          <p:cNvSpPr txBox="1"/>
          <p:nvPr/>
        </p:nvSpPr>
        <p:spPr>
          <a:xfrm>
            <a:off x="822960" y="2743200"/>
            <a:ext cx="10515600" cy="457200"/>
          </a:xfrm>
          <a:prstGeom prst="rect">
            <a:avLst/>
          </a:prstGeom>
          <a:noFill/>
          <a:ln/>
        </p:spPr>
        <p:txBody>
          <a:bodyPr wrap="square" lIns="0" tIns="0" rIns="0" bIns="0" rtlCol="0" anchor="ctr"/>
          <a:lstStyle/>
          <a:p>
            <a:pPr indent="0" marL="0">
              <a:buNone/>
            </a:pPr>
            <a:r>
              <a:rPr lang="en-US" sz="1500" i="1" dirty="0">
                <a:solidFill>
                  <a:srgbClr val="D7E6E8"/>
                </a:solidFill>
                <a:latin typeface="Calibri" pitchFamily="34" charset="0"/>
                <a:ea typeface="Calibri" pitchFamily="34" charset="-122"/>
                <a:cs typeface="Calibri" pitchFamily="34" charset="-120"/>
              </a:rPr>
              <a:t>Spec 1.3.4 Managing people (section 1 of 5)  —  a tutoring guide: the ideas, the trade-offs, and A-grade exam practice</a:t>
            </a:r>
            <a:endParaRPr lang="en-US" sz="1500" dirty="0"/>
          </a:p>
        </p:txBody>
      </p:sp>
      <p:sp>
        <p:nvSpPr>
          <p:cNvPr id="5" name="Shape 3"/>
          <p:cNvSpPr/>
          <p:nvPr/>
        </p:nvSpPr>
        <p:spPr>
          <a:xfrm>
            <a:off x="822960" y="3794760"/>
            <a:ext cx="1587398" cy="420624"/>
          </a:xfrm>
          <a:prstGeom prst="roundRect">
            <a:avLst>
              <a:gd name="adj" fmla="val 50000"/>
            </a:avLst>
          </a:prstGeom>
          <a:solidFill>
            <a:srgbClr val="0B2E35"/>
          </a:solidFill>
          <a:ln w="12700">
            <a:solidFill>
              <a:srgbClr val="0E7C86"/>
            </a:solidFill>
            <a:prstDash val="solid"/>
          </a:ln>
        </p:spPr>
      </p:sp>
      <p:sp>
        <p:nvSpPr>
          <p:cNvPr id="6" name="Text 4"/>
          <p:cNvSpPr txBox="1"/>
          <p:nvPr/>
        </p:nvSpPr>
        <p:spPr>
          <a:xfrm>
            <a:off x="822960" y="3794760"/>
            <a:ext cx="1587398"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Asset vs cost</a:t>
            </a:r>
            <a:endParaRPr lang="en-US" sz="1250" dirty="0"/>
          </a:p>
        </p:txBody>
      </p:sp>
      <p:sp>
        <p:nvSpPr>
          <p:cNvPr id="7" name="Shape 5"/>
          <p:cNvSpPr/>
          <p:nvPr/>
        </p:nvSpPr>
        <p:spPr>
          <a:xfrm>
            <a:off x="2593238" y="3794760"/>
            <a:ext cx="2099462" cy="420624"/>
          </a:xfrm>
          <a:prstGeom prst="roundRect">
            <a:avLst>
              <a:gd name="adj" fmla="val 50000"/>
            </a:avLst>
          </a:prstGeom>
          <a:solidFill>
            <a:srgbClr val="0B2E35"/>
          </a:solidFill>
          <a:ln w="12700">
            <a:solidFill>
              <a:srgbClr val="0E7C86"/>
            </a:solidFill>
            <a:prstDash val="solid"/>
          </a:ln>
        </p:spPr>
      </p:sp>
      <p:sp>
        <p:nvSpPr>
          <p:cNvPr id="8" name="Text 6"/>
          <p:cNvSpPr txBox="1"/>
          <p:nvPr/>
        </p:nvSpPr>
        <p:spPr>
          <a:xfrm>
            <a:off x="2593238" y="3794760"/>
            <a:ext cx="2099462"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Flexible workforce</a:t>
            </a:r>
            <a:endParaRPr lang="en-US" sz="1250" dirty="0"/>
          </a:p>
        </p:txBody>
      </p:sp>
      <p:sp>
        <p:nvSpPr>
          <p:cNvPr id="9" name="Shape 7"/>
          <p:cNvSpPr/>
          <p:nvPr/>
        </p:nvSpPr>
        <p:spPr>
          <a:xfrm>
            <a:off x="4875581" y="3794760"/>
            <a:ext cx="2611526" cy="420624"/>
          </a:xfrm>
          <a:prstGeom prst="roundRect">
            <a:avLst>
              <a:gd name="adj" fmla="val 50000"/>
            </a:avLst>
          </a:prstGeom>
          <a:solidFill>
            <a:srgbClr val="0B2E35"/>
          </a:solidFill>
          <a:ln w="12700">
            <a:solidFill>
              <a:srgbClr val="0E7C86"/>
            </a:solidFill>
            <a:prstDash val="solid"/>
          </a:ln>
        </p:spPr>
      </p:sp>
      <p:sp>
        <p:nvSpPr>
          <p:cNvPr id="10" name="Text 8"/>
          <p:cNvSpPr txBox="1"/>
          <p:nvPr/>
        </p:nvSpPr>
        <p:spPr>
          <a:xfrm>
            <a:off x="4875581" y="3794760"/>
            <a:ext cx="2611526"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Dismissal vs redundancy</a:t>
            </a:r>
            <a:endParaRPr lang="en-US" sz="1250" dirty="0"/>
          </a:p>
        </p:txBody>
      </p:sp>
      <p:sp>
        <p:nvSpPr>
          <p:cNvPr id="11" name="Shape 9"/>
          <p:cNvSpPr/>
          <p:nvPr/>
        </p:nvSpPr>
        <p:spPr>
          <a:xfrm>
            <a:off x="7669987" y="3794760"/>
            <a:ext cx="2406701" cy="420624"/>
          </a:xfrm>
          <a:prstGeom prst="roundRect">
            <a:avLst>
              <a:gd name="adj" fmla="val 50000"/>
            </a:avLst>
          </a:prstGeom>
          <a:solidFill>
            <a:srgbClr val="0B2E35"/>
          </a:solidFill>
          <a:ln w="12700">
            <a:solidFill>
              <a:srgbClr val="0E7C86"/>
            </a:solidFill>
            <a:prstDash val="solid"/>
          </a:ln>
        </p:spPr>
      </p:sp>
      <p:sp>
        <p:nvSpPr>
          <p:cNvPr id="12" name="Text 10"/>
          <p:cNvSpPr txBox="1"/>
          <p:nvPr/>
        </p:nvSpPr>
        <p:spPr>
          <a:xfrm>
            <a:off x="7669987" y="3794760"/>
            <a:ext cx="2406701"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Collective bargaining</a:t>
            </a:r>
            <a:endParaRPr lang="en-US" sz="1250" dirty="0"/>
          </a:p>
        </p:txBody>
      </p:sp>
      <p:sp>
        <p:nvSpPr>
          <p:cNvPr id="13" name="Text 11"/>
          <p:cNvSpPr txBox="1"/>
          <p:nvPr/>
        </p:nvSpPr>
        <p:spPr>
          <a:xfrm>
            <a:off x="822960" y="5989320"/>
            <a:ext cx="10607040" cy="365760"/>
          </a:xfrm>
          <a:prstGeom prst="rect">
            <a:avLst/>
          </a:prstGeom>
          <a:noFill/>
          <a:ln/>
        </p:spPr>
        <p:txBody>
          <a:bodyPr wrap="square" lIns="0" tIns="0" rIns="0" bIns="0" rtlCol="0" anchor="ctr"/>
          <a:lstStyle/>
          <a:p>
            <a:pPr indent="0" marL="0">
              <a:buNone/>
            </a:pPr>
            <a:r>
              <a:rPr lang="en-US" sz="1300" dirty="0">
                <a:solidFill>
                  <a:srgbClr val="9FBCC0"/>
                </a:solidFill>
                <a:latin typeface="Calibri" pitchFamily="34" charset="0"/>
                <a:ea typeface="Calibri" pitchFamily="34" charset="-122"/>
                <a:cs typeface="Calibri" pitchFamily="34" charset="-120"/>
              </a:rPr>
              <a:t>Mr. Akram  ·  GEMS Metropole School  ·  Cases: Sports Direct · PwC · Google · Amazon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OVERVIEW</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What this lesson covers</a:t>
            </a:r>
            <a:endParaRPr lang="en-US" sz="2600" dirty="0"/>
          </a:p>
        </p:txBody>
      </p:sp>
      <p:sp>
        <p:nvSpPr>
          <p:cNvPr id="4" name="Shape 2"/>
          <p:cNvSpPr/>
          <p:nvPr/>
        </p:nvSpPr>
        <p:spPr>
          <a:xfrm>
            <a:off x="548640" y="1554480"/>
            <a:ext cx="11091672" cy="914400"/>
          </a:xfrm>
          <a:prstGeom prst="roundRect">
            <a:avLst>
              <a:gd name="adj" fmla="val 8000"/>
            </a:avLst>
          </a:prstGeom>
          <a:solidFill>
            <a:srgbClr val="EAF3F4"/>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5" name="Shape 3"/>
          <p:cNvSpPr/>
          <p:nvPr/>
        </p:nvSpPr>
        <p:spPr>
          <a:xfrm>
            <a:off x="731520" y="1773936"/>
            <a:ext cx="493776" cy="493776"/>
          </a:xfrm>
          <a:prstGeom prst="roundRect">
            <a:avLst>
              <a:gd name="adj" fmla="val 18519"/>
            </a:avLst>
          </a:prstGeom>
          <a:solidFill>
            <a:srgbClr val="0E7C86"/>
          </a:solidFill>
          <a:ln/>
        </p:spPr>
      </p:sp>
      <p:sp>
        <p:nvSpPr>
          <p:cNvPr id="6" name="Text 4"/>
          <p:cNvSpPr txBox="1"/>
          <p:nvPr/>
        </p:nvSpPr>
        <p:spPr>
          <a:xfrm>
            <a:off x="731520" y="1773936"/>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a:t>
            </a:r>
            <a:endParaRPr lang="en-US" sz="2200" dirty="0"/>
          </a:p>
        </p:txBody>
      </p:sp>
      <p:sp>
        <p:nvSpPr>
          <p:cNvPr id="7" name="Text 5"/>
          <p:cNvSpPr txBox="1"/>
          <p:nvPr/>
        </p:nvSpPr>
        <p:spPr>
          <a:xfrm>
            <a:off x="1417320" y="1700784"/>
            <a:ext cx="4846320" cy="640080"/>
          </a:xfrm>
          <a:prstGeom prst="rect">
            <a:avLst/>
          </a:prstGeom>
          <a:noFill/>
          <a:ln/>
        </p:spPr>
        <p:txBody>
          <a:bodyPr wrap="square" lIns="0" tIns="0" rIns="0" bIns="0" rtlCol="0" anchor="ctr"/>
          <a:lstStyle/>
          <a:p>
            <a:pPr indent="0" marL="0">
              <a:buNone/>
            </a:pPr>
            <a:r>
              <a:rPr lang="en-US" sz="1500" b="1" dirty="0">
                <a:solidFill>
                  <a:srgbClr val="0E3A43"/>
                </a:solidFill>
                <a:latin typeface="Calibri" pitchFamily="34" charset="0"/>
                <a:ea typeface="Calibri" pitchFamily="34" charset="-122"/>
                <a:cs typeface="Calibri" pitchFamily="34" charset="-120"/>
              </a:rPr>
              <a:t>Staff as asset vs cost</a:t>
            </a:r>
            <a:endParaRPr lang="en-US" sz="1500" dirty="0"/>
          </a:p>
        </p:txBody>
      </p:sp>
      <p:sp>
        <p:nvSpPr>
          <p:cNvPr id="8" name="Text 6"/>
          <p:cNvSpPr txBox="1"/>
          <p:nvPr/>
        </p:nvSpPr>
        <p:spPr>
          <a:xfrm>
            <a:off x="6355080" y="1700784"/>
            <a:ext cx="5166360" cy="640080"/>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Two views of the workforce — and how each shapes staffing strategy</a:t>
            </a:r>
            <a:endParaRPr lang="en-US" sz="1250" dirty="0"/>
          </a:p>
        </p:txBody>
      </p:sp>
      <p:sp>
        <p:nvSpPr>
          <p:cNvPr id="9" name="Shape 7"/>
          <p:cNvSpPr/>
          <p:nvPr/>
        </p:nvSpPr>
        <p:spPr>
          <a:xfrm>
            <a:off x="548640" y="2578608"/>
            <a:ext cx="11091672" cy="914400"/>
          </a:xfrm>
          <a:prstGeom prst="roundRect">
            <a:avLst>
              <a:gd name="adj" fmla="val 800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0" name="Shape 8"/>
          <p:cNvSpPr/>
          <p:nvPr/>
        </p:nvSpPr>
        <p:spPr>
          <a:xfrm>
            <a:off x="731520" y="2798064"/>
            <a:ext cx="493776" cy="493776"/>
          </a:xfrm>
          <a:prstGeom prst="roundRect">
            <a:avLst>
              <a:gd name="adj" fmla="val 18519"/>
            </a:avLst>
          </a:prstGeom>
          <a:solidFill>
            <a:srgbClr val="0E7C86"/>
          </a:solidFill>
          <a:ln/>
        </p:spPr>
      </p:sp>
      <p:sp>
        <p:nvSpPr>
          <p:cNvPr id="11" name="Text 9"/>
          <p:cNvSpPr txBox="1"/>
          <p:nvPr/>
        </p:nvSpPr>
        <p:spPr>
          <a:xfrm>
            <a:off x="731520" y="2798064"/>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B</a:t>
            </a:r>
            <a:endParaRPr lang="en-US" sz="2200" dirty="0"/>
          </a:p>
        </p:txBody>
      </p:sp>
      <p:sp>
        <p:nvSpPr>
          <p:cNvPr id="12" name="Text 10"/>
          <p:cNvSpPr txBox="1"/>
          <p:nvPr/>
        </p:nvSpPr>
        <p:spPr>
          <a:xfrm>
            <a:off x="1417320" y="2724912"/>
            <a:ext cx="4846320" cy="640080"/>
          </a:xfrm>
          <a:prstGeom prst="rect">
            <a:avLst/>
          </a:prstGeom>
          <a:noFill/>
          <a:ln/>
        </p:spPr>
        <p:txBody>
          <a:bodyPr wrap="square" lIns="0" tIns="0" rIns="0" bIns="0" rtlCol="0" anchor="ctr"/>
          <a:lstStyle/>
          <a:p>
            <a:pPr indent="0" marL="0">
              <a:buNone/>
            </a:pPr>
            <a:r>
              <a:rPr lang="en-US" sz="1500" b="1" dirty="0">
                <a:solidFill>
                  <a:srgbClr val="0E3A43"/>
                </a:solidFill>
                <a:latin typeface="Calibri" pitchFamily="34" charset="0"/>
                <a:ea typeface="Calibri" pitchFamily="34" charset="-122"/>
                <a:cs typeface="Calibri" pitchFamily="34" charset="-120"/>
              </a:rPr>
              <a:t>The flexible workforce</a:t>
            </a:r>
            <a:endParaRPr lang="en-US" sz="1500" dirty="0"/>
          </a:p>
        </p:txBody>
      </p:sp>
      <p:sp>
        <p:nvSpPr>
          <p:cNvPr id="13" name="Text 11"/>
          <p:cNvSpPr txBox="1"/>
          <p:nvPr/>
        </p:nvSpPr>
        <p:spPr>
          <a:xfrm>
            <a:off x="6355080" y="2724912"/>
            <a:ext cx="5166360" cy="640080"/>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Multi-skilling, part-time &amp; temporary, zero-hours, flexible/home working, outsourcing</a:t>
            </a:r>
            <a:endParaRPr lang="en-US" sz="1250" dirty="0"/>
          </a:p>
        </p:txBody>
      </p:sp>
      <p:sp>
        <p:nvSpPr>
          <p:cNvPr id="14" name="Shape 12"/>
          <p:cNvSpPr/>
          <p:nvPr/>
        </p:nvSpPr>
        <p:spPr>
          <a:xfrm>
            <a:off x="548640" y="3602736"/>
            <a:ext cx="11091672" cy="914400"/>
          </a:xfrm>
          <a:prstGeom prst="roundRect">
            <a:avLst>
              <a:gd name="adj" fmla="val 800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5" name="Shape 13"/>
          <p:cNvSpPr/>
          <p:nvPr/>
        </p:nvSpPr>
        <p:spPr>
          <a:xfrm>
            <a:off x="731520" y="3822192"/>
            <a:ext cx="493776" cy="493776"/>
          </a:xfrm>
          <a:prstGeom prst="roundRect">
            <a:avLst>
              <a:gd name="adj" fmla="val 18519"/>
            </a:avLst>
          </a:prstGeom>
          <a:solidFill>
            <a:srgbClr val="0E7C86"/>
          </a:solidFill>
          <a:ln/>
        </p:spPr>
      </p:sp>
      <p:sp>
        <p:nvSpPr>
          <p:cNvPr id="16" name="Text 14"/>
          <p:cNvSpPr txBox="1"/>
          <p:nvPr/>
        </p:nvSpPr>
        <p:spPr>
          <a:xfrm>
            <a:off x="731520" y="3822192"/>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C</a:t>
            </a:r>
            <a:endParaRPr lang="en-US" sz="2200" dirty="0"/>
          </a:p>
        </p:txBody>
      </p:sp>
      <p:sp>
        <p:nvSpPr>
          <p:cNvPr id="17" name="Text 15"/>
          <p:cNvSpPr txBox="1"/>
          <p:nvPr/>
        </p:nvSpPr>
        <p:spPr>
          <a:xfrm>
            <a:off x="1417320" y="3749040"/>
            <a:ext cx="4846320" cy="640080"/>
          </a:xfrm>
          <a:prstGeom prst="rect">
            <a:avLst/>
          </a:prstGeom>
          <a:noFill/>
          <a:ln/>
        </p:spPr>
        <p:txBody>
          <a:bodyPr wrap="square" lIns="0" tIns="0" rIns="0" bIns="0" rtlCol="0" anchor="ctr"/>
          <a:lstStyle/>
          <a:p>
            <a:pPr indent="0" marL="0">
              <a:buNone/>
            </a:pPr>
            <a:r>
              <a:rPr lang="en-US" sz="1500" b="1" dirty="0">
                <a:solidFill>
                  <a:srgbClr val="0E3A43"/>
                </a:solidFill>
                <a:latin typeface="Calibri" pitchFamily="34" charset="0"/>
                <a:ea typeface="Calibri" pitchFamily="34" charset="-122"/>
                <a:cs typeface="Calibri" pitchFamily="34" charset="-120"/>
              </a:rPr>
              <a:t>Protections &amp; relations</a:t>
            </a:r>
            <a:endParaRPr lang="en-US" sz="1500" dirty="0"/>
          </a:p>
        </p:txBody>
      </p:sp>
      <p:sp>
        <p:nvSpPr>
          <p:cNvPr id="18" name="Text 16"/>
          <p:cNvSpPr txBox="1"/>
          <p:nvPr/>
        </p:nvSpPr>
        <p:spPr>
          <a:xfrm>
            <a:off x="6355080" y="3749040"/>
            <a:ext cx="5166360" cy="640080"/>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Dismissal vs redundancy; individual approach vs collective bargaining</a:t>
            </a:r>
            <a:endParaRPr lang="en-US" sz="1250" dirty="0"/>
          </a:p>
        </p:txBody>
      </p:sp>
      <p:sp>
        <p:nvSpPr>
          <p:cNvPr id="19" name="Shape 17"/>
          <p:cNvSpPr/>
          <p:nvPr/>
        </p:nvSpPr>
        <p:spPr>
          <a:xfrm>
            <a:off x="548640" y="4626864"/>
            <a:ext cx="11091672" cy="914400"/>
          </a:xfrm>
          <a:prstGeom prst="roundRect">
            <a:avLst>
              <a:gd name="adj" fmla="val 800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20" name="Shape 18"/>
          <p:cNvSpPr/>
          <p:nvPr/>
        </p:nvSpPr>
        <p:spPr>
          <a:xfrm>
            <a:off x="731520" y="4846320"/>
            <a:ext cx="493776" cy="493776"/>
          </a:xfrm>
          <a:prstGeom prst="roundRect">
            <a:avLst>
              <a:gd name="adj" fmla="val 18519"/>
            </a:avLst>
          </a:prstGeom>
          <a:solidFill>
            <a:srgbClr val="0E7C86"/>
          </a:solidFill>
          <a:ln/>
        </p:spPr>
      </p:sp>
      <p:sp>
        <p:nvSpPr>
          <p:cNvPr id="21" name="Text 19"/>
          <p:cNvSpPr txBox="1"/>
          <p:nvPr/>
        </p:nvSpPr>
        <p:spPr>
          <a:xfrm>
            <a:off x="731520" y="484632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D</a:t>
            </a:r>
            <a:endParaRPr lang="en-US" sz="2200" dirty="0"/>
          </a:p>
        </p:txBody>
      </p:sp>
      <p:sp>
        <p:nvSpPr>
          <p:cNvPr id="22" name="Text 20"/>
          <p:cNvSpPr txBox="1"/>
          <p:nvPr/>
        </p:nvSpPr>
        <p:spPr>
          <a:xfrm>
            <a:off x="1417320" y="4773168"/>
            <a:ext cx="4846320" cy="640080"/>
          </a:xfrm>
          <a:prstGeom prst="rect">
            <a:avLst/>
          </a:prstGeom>
          <a:noFill/>
          <a:ln/>
        </p:spPr>
        <p:txBody>
          <a:bodyPr wrap="square" lIns="0" tIns="0" rIns="0" bIns="0" rtlCol="0" anchor="ctr"/>
          <a:lstStyle/>
          <a:p>
            <a:pPr indent="0" marL="0">
              <a:buNone/>
            </a:pPr>
            <a:r>
              <a:rPr lang="en-US" sz="1500" b="1" dirty="0">
                <a:solidFill>
                  <a:srgbClr val="0E3A43"/>
                </a:solidFill>
                <a:latin typeface="Calibri" pitchFamily="34" charset="0"/>
                <a:ea typeface="Calibri" pitchFamily="34" charset="-122"/>
                <a:cs typeface="Calibri" pitchFamily="34" charset="-120"/>
              </a:rPr>
              <a:t>A-grade exam skills</a:t>
            </a:r>
            <a:endParaRPr lang="en-US" sz="1500" dirty="0"/>
          </a:p>
        </p:txBody>
      </p:sp>
      <p:sp>
        <p:nvSpPr>
          <p:cNvPr id="23" name="Text 21"/>
          <p:cNvSpPr txBox="1"/>
          <p:nvPr/>
        </p:nvSpPr>
        <p:spPr>
          <a:xfrm>
            <a:off x="6355080" y="4773168"/>
            <a:ext cx="5166360" cy="640080"/>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The Sports Direct 20-marker — zero-hours vs part-time, with structure</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WHERE IT FITS</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Where this sits in Managing people (1.3.4)</a:t>
            </a:r>
            <a:endParaRPr lang="en-US" sz="2600" dirty="0"/>
          </a:p>
        </p:txBody>
      </p:sp>
      <p:sp>
        <p:nvSpPr>
          <p:cNvPr id="4" name="Shape 2"/>
          <p:cNvSpPr/>
          <p:nvPr/>
        </p:nvSpPr>
        <p:spPr>
          <a:xfrm>
            <a:off x="548640" y="1371600"/>
            <a:ext cx="6675120" cy="4800600"/>
          </a:xfrm>
          <a:prstGeom prst="roundRect">
            <a:avLst>
              <a:gd name="adj" fmla="val 1524"/>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6217920" cy="329184"/>
          </a:xfrm>
          <a:prstGeom prst="rect">
            <a:avLst/>
          </a:prstGeom>
          <a:noFill/>
          <a:ln/>
        </p:spPr>
        <p:txBody>
          <a:bodyPr wrap="square" lIns="0" tIns="0" rIns="0" bIns="0" rtlCol="0" anchor="ctr"/>
          <a:lstStyle/>
          <a:p>
            <a:pPr indent="0" marL="0">
              <a:buNone/>
            </a:pPr>
            <a:r>
              <a:rPr lang="en-US" sz="1350" b="1" dirty="0">
                <a:solidFill>
                  <a:srgbClr val="0E3A43"/>
                </a:solidFill>
                <a:latin typeface="Calibri" pitchFamily="34" charset="0"/>
                <a:ea typeface="Calibri" pitchFamily="34" charset="-122"/>
                <a:cs typeface="Calibri" pitchFamily="34" charset="-120"/>
              </a:rPr>
              <a:t>Section 1.3.4  Managing people</a:t>
            </a:r>
            <a:endParaRPr lang="en-US" sz="1350" dirty="0"/>
          </a:p>
        </p:txBody>
      </p:sp>
      <p:sp>
        <p:nvSpPr>
          <p:cNvPr id="6" name="Shape 4"/>
          <p:cNvSpPr/>
          <p:nvPr/>
        </p:nvSpPr>
        <p:spPr>
          <a:xfrm>
            <a:off x="749808" y="1901952"/>
            <a:ext cx="6272784" cy="841248"/>
          </a:xfrm>
          <a:prstGeom prst="roundRect">
            <a:avLst>
              <a:gd name="adj" fmla="val 8696"/>
            </a:avLst>
          </a:prstGeom>
          <a:solidFill>
            <a:srgbClr val="FBF0D8"/>
          </a:solidFill>
          <a:ln/>
          <a:effectLst>
            <a:outerShdw sx="100000" sy="100000" kx="0" ky="0" algn="bl" rotWithShape="0" blurRad="76200" dist="25400" dir="5400000">
              <a:srgbClr val="9AAAB0">
                <a:alpha val="28000"/>
              </a:srgbClr>
            </a:outerShdw>
          </a:effectLst>
        </p:spPr>
      </p:sp>
      <p:sp>
        <p:nvSpPr>
          <p:cNvPr id="7" name="Shape 5"/>
          <p:cNvSpPr/>
          <p:nvPr/>
        </p:nvSpPr>
        <p:spPr>
          <a:xfrm>
            <a:off x="749808" y="1901952"/>
            <a:ext cx="91440" cy="841248"/>
          </a:xfrm>
          <a:prstGeom prst="roundRect">
            <a:avLst/>
          </a:prstGeom>
          <a:solidFill>
            <a:srgbClr val="E0940F"/>
          </a:solidFill>
          <a:ln/>
        </p:spPr>
      </p:sp>
      <p:sp>
        <p:nvSpPr>
          <p:cNvPr id="8" name="Shape 6"/>
          <p:cNvSpPr/>
          <p:nvPr/>
        </p:nvSpPr>
        <p:spPr>
          <a:xfrm>
            <a:off x="914400" y="2084832"/>
            <a:ext cx="457200" cy="457200"/>
          </a:xfrm>
          <a:prstGeom prst="roundRect">
            <a:avLst>
              <a:gd name="adj" fmla="val 20000"/>
            </a:avLst>
          </a:prstGeom>
          <a:solidFill>
            <a:srgbClr val="E0940F"/>
          </a:solidFill>
          <a:ln/>
        </p:spPr>
      </p:sp>
      <p:sp>
        <p:nvSpPr>
          <p:cNvPr id="9" name="Text 7"/>
          <p:cNvSpPr txBox="1"/>
          <p:nvPr/>
        </p:nvSpPr>
        <p:spPr>
          <a:xfrm>
            <a:off x="914400" y="2084832"/>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1</a:t>
            </a:r>
            <a:endParaRPr lang="en-US" sz="1900" dirty="0"/>
          </a:p>
        </p:txBody>
      </p:sp>
      <p:sp>
        <p:nvSpPr>
          <p:cNvPr id="10" name="Text 8"/>
          <p:cNvSpPr txBox="1"/>
          <p:nvPr/>
        </p:nvSpPr>
        <p:spPr>
          <a:xfrm>
            <a:off x="1508760" y="2011680"/>
            <a:ext cx="5440680" cy="310896"/>
          </a:xfrm>
          <a:prstGeom prst="rect">
            <a:avLst/>
          </a:prstGeom>
          <a:noFill/>
          <a:ln/>
        </p:spPr>
        <p:txBody>
          <a:bodyPr wrap="square" lIns="0" tIns="0" rIns="0" bIns="0" rtlCol="0" anchor="ctr"/>
          <a:lstStyle/>
          <a:p>
            <a:pPr indent="0" marL="0">
              <a:buNone/>
            </a:pPr>
            <a:r>
              <a:rPr lang="en-US" sz="1250" b="1" dirty="0">
                <a:solidFill>
                  <a:srgbClr val="0E3A43"/>
                </a:solidFill>
                <a:latin typeface="Calibri" pitchFamily="34" charset="0"/>
                <a:ea typeface="Calibri" pitchFamily="34" charset="-122"/>
                <a:cs typeface="Calibri" pitchFamily="34" charset="-120"/>
              </a:rPr>
              <a:t>Approaches to staffing   ← this lesson</a:t>
            </a:r>
            <a:endParaRPr lang="en-US" sz="1250" dirty="0"/>
          </a:p>
        </p:txBody>
      </p:sp>
      <p:sp>
        <p:nvSpPr>
          <p:cNvPr id="11" name="Text 9"/>
          <p:cNvSpPr txBox="1"/>
          <p:nvPr/>
        </p:nvSpPr>
        <p:spPr>
          <a:xfrm>
            <a:off x="1508760" y="2313432"/>
            <a:ext cx="5440680" cy="384048"/>
          </a:xfrm>
          <a:prstGeom prst="rect">
            <a:avLst/>
          </a:prstGeom>
          <a:noFill/>
          <a:ln/>
        </p:spPr>
        <p:txBody>
          <a:bodyPr wrap="square" lIns="0" tIns="0" rIns="0" bIns="0" rtlCol="0" anchor="t"/>
          <a:lstStyle/>
          <a:p>
            <a:pPr indent="0" marL="0">
              <a:buNone/>
            </a:pPr>
            <a:r>
              <a:rPr lang="en-US" sz="1030" dirty="0">
                <a:solidFill>
                  <a:srgbClr val="5B6B73"/>
                </a:solidFill>
                <a:latin typeface="Calibri" pitchFamily="34" charset="0"/>
                <a:ea typeface="Calibri" pitchFamily="34" charset="-122"/>
                <a:cs typeface="Calibri" pitchFamily="34" charset="-120"/>
              </a:rPr>
              <a:t>asset vs cost, flexible workforce, dismissal/redundancy, employee relations</a:t>
            </a:r>
            <a:endParaRPr lang="en-US" sz="1030" dirty="0"/>
          </a:p>
        </p:txBody>
      </p:sp>
      <p:sp>
        <p:nvSpPr>
          <p:cNvPr id="12" name="Shape 10"/>
          <p:cNvSpPr/>
          <p:nvPr/>
        </p:nvSpPr>
        <p:spPr>
          <a:xfrm>
            <a:off x="749808" y="2761488"/>
            <a:ext cx="6272784"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13" name="Shape 11"/>
          <p:cNvSpPr/>
          <p:nvPr/>
        </p:nvSpPr>
        <p:spPr>
          <a:xfrm>
            <a:off x="914400" y="2944368"/>
            <a:ext cx="457200" cy="457200"/>
          </a:xfrm>
          <a:prstGeom prst="roundRect">
            <a:avLst>
              <a:gd name="adj" fmla="val 20000"/>
            </a:avLst>
          </a:prstGeom>
          <a:solidFill>
            <a:srgbClr val="0E7C86"/>
          </a:solidFill>
          <a:ln/>
        </p:spPr>
      </p:sp>
      <p:sp>
        <p:nvSpPr>
          <p:cNvPr id="14" name="Text 12"/>
          <p:cNvSpPr txBox="1"/>
          <p:nvPr/>
        </p:nvSpPr>
        <p:spPr>
          <a:xfrm>
            <a:off x="914400" y="2944368"/>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2</a:t>
            </a:r>
            <a:endParaRPr lang="en-US" sz="1900" dirty="0"/>
          </a:p>
        </p:txBody>
      </p:sp>
      <p:sp>
        <p:nvSpPr>
          <p:cNvPr id="15" name="Text 13"/>
          <p:cNvSpPr txBox="1"/>
          <p:nvPr/>
        </p:nvSpPr>
        <p:spPr>
          <a:xfrm>
            <a:off x="1508760" y="2871216"/>
            <a:ext cx="5440680" cy="310896"/>
          </a:xfrm>
          <a:prstGeom prst="rect">
            <a:avLst/>
          </a:prstGeom>
          <a:noFill/>
          <a:ln/>
        </p:spPr>
        <p:txBody>
          <a:bodyPr wrap="square" lIns="0" tIns="0" rIns="0" bIns="0" rtlCol="0" anchor="ctr"/>
          <a:lstStyle/>
          <a:p>
            <a:pPr indent="0" marL="0">
              <a:buNone/>
            </a:pPr>
            <a:r>
              <a:rPr lang="en-US" sz="1250" b="1" dirty="0">
                <a:solidFill>
                  <a:srgbClr val="0E3A43"/>
                </a:solidFill>
                <a:latin typeface="Calibri" pitchFamily="34" charset="0"/>
                <a:ea typeface="Calibri" pitchFamily="34" charset="-122"/>
                <a:cs typeface="Calibri" pitchFamily="34" charset="-120"/>
              </a:rPr>
              <a:t>Recruitment, selection &amp; training</a:t>
            </a:r>
            <a:endParaRPr lang="en-US" sz="1250" dirty="0"/>
          </a:p>
        </p:txBody>
      </p:sp>
      <p:sp>
        <p:nvSpPr>
          <p:cNvPr id="16" name="Text 14"/>
          <p:cNvSpPr txBox="1"/>
          <p:nvPr/>
        </p:nvSpPr>
        <p:spPr>
          <a:xfrm>
            <a:off x="1508760" y="3172968"/>
            <a:ext cx="5440680" cy="384048"/>
          </a:xfrm>
          <a:prstGeom prst="rect">
            <a:avLst/>
          </a:prstGeom>
          <a:noFill/>
          <a:ln/>
        </p:spPr>
        <p:txBody>
          <a:bodyPr wrap="square" lIns="0" tIns="0" rIns="0" bIns="0" rtlCol="0" anchor="t"/>
          <a:lstStyle/>
          <a:p>
            <a:pPr indent="0" marL="0">
              <a:buNone/>
            </a:pPr>
            <a:r>
              <a:rPr lang="en-US" sz="1030" dirty="0">
                <a:solidFill>
                  <a:srgbClr val="5B6B73"/>
                </a:solidFill>
                <a:latin typeface="Calibri" pitchFamily="34" charset="0"/>
                <a:ea typeface="Calibri" pitchFamily="34" charset="-122"/>
                <a:cs typeface="Calibri" pitchFamily="34" charset="-120"/>
              </a:rPr>
              <a:t>internal vs external, costs, induction/on-the-job/off-the-job — next</a:t>
            </a:r>
            <a:endParaRPr lang="en-US" sz="1030" dirty="0"/>
          </a:p>
        </p:txBody>
      </p:sp>
      <p:sp>
        <p:nvSpPr>
          <p:cNvPr id="17" name="Shape 15"/>
          <p:cNvSpPr/>
          <p:nvPr/>
        </p:nvSpPr>
        <p:spPr>
          <a:xfrm>
            <a:off x="749808" y="3621024"/>
            <a:ext cx="6272784"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18" name="Shape 16"/>
          <p:cNvSpPr/>
          <p:nvPr/>
        </p:nvSpPr>
        <p:spPr>
          <a:xfrm>
            <a:off x="914400" y="3803904"/>
            <a:ext cx="457200" cy="457200"/>
          </a:xfrm>
          <a:prstGeom prst="roundRect">
            <a:avLst>
              <a:gd name="adj" fmla="val 20000"/>
            </a:avLst>
          </a:prstGeom>
          <a:solidFill>
            <a:srgbClr val="0E7C86"/>
          </a:solidFill>
          <a:ln/>
        </p:spPr>
      </p:sp>
      <p:sp>
        <p:nvSpPr>
          <p:cNvPr id="19" name="Text 17"/>
          <p:cNvSpPr txBox="1"/>
          <p:nvPr/>
        </p:nvSpPr>
        <p:spPr>
          <a:xfrm>
            <a:off x="914400" y="3803904"/>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3</a:t>
            </a:r>
            <a:endParaRPr lang="en-US" sz="1900" dirty="0"/>
          </a:p>
        </p:txBody>
      </p:sp>
      <p:sp>
        <p:nvSpPr>
          <p:cNvPr id="20" name="Text 18"/>
          <p:cNvSpPr txBox="1"/>
          <p:nvPr/>
        </p:nvSpPr>
        <p:spPr>
          <a:xfrm>
            <a:off x="1508760" y="3730752"/>
            <a:ext cx="5440680" cy="310896"/>
          </a:xfrm>
          <a:prstGeom prst="rect">
            <a:avLst/>
          </a:prstGeom>
          <a:noFill/>
          <a:ln/>
        </p:spPr>
        <p:txBody>
          <a:bodyPr wrap="square" lIns="0" tIns="0" rIns="0" bIns="0" rtlCol="0" anchor="ctr"/>
          <a:lstStyle/>
          <a:p>
            <a:pPr indent="0" marL="0">
              <a:buNone/>
            </a:pPr>
            <a:r>
              <a:rPr lang="en-US" sz="1250" b="1" dirty="0">
                <a:solidFill>
                  <a:srgbClr val="0E3A43"/>
                </a:solidFill>
                <a:latin typeface="Calibri" pitchFamily="34" charset="0"/>
                <a:ea typeface="Calibri" pitchFamily="34" charset="-122"/>
                <a:cs typeface="Calibri" pitchFamily="34" charset="-120"/>
              </a:rPr>
              <a:t>Organisational design</a:t>
            </a:r>
            <a:endParaRPr lang="en-US" sz="1250" dirty="0"/>
          </a:p>
        </p:txBody>
      </p:sp>
      <p:sp>
        <p:nvSpPr>
          <p:cNvPr id="21" name="Text 19"/>
          <p:cNvSpPr txBox="1"/>
          <p:nvPr/>
        </p:nvSpPr>
        <p:spPr>
          <a:xfrm>
            <a:off x="1508760" y="4032504"/>
            <a:ext cx="5440680" cy="384048"/>
          </a:xfrm>
          <a:prstGeom prst="rect">
            <a:avLst/>
          </a:prstGeom>
          <a:noFill/>
          <a:ln/>
        </p:spPr>
        <p:txBody>
          <a:bodyPr wrap="square" lIns="0" tIns="0" rIns="0" bIns="0" rtlCol="0" anchor="t"/>
          <a:lstStyle/>
          <a:p>
            <a:pPr indent="0" marL="0">
              <a:buNone/>
            </a:pPr>
            <a:r>
              <a:rPr lang="en-US" sz="1030" dirty="0">
                <a:solidFill>
                  <a:srgbClr val="5B6B73"/>
                </a:solidFill>
                <a:latin typeface="Calibri" pitchFamily="34" charset="0"/>
                <a:ea typeface="Calibri" pitchFamily="34" charset="-122"/>
                <a:cs typeface="Calibri" pitchFamily="34" charset="-120"/>
              </a:rPr>
              <a:t>hierarchy, span of control, tall/flat/matrix — next</a:t>
            </a:r>
            <a:endParaRPr lang="en-US" sz="1030" dirty="0"/>
          </a:p>
        </p:txBody>
      </p:sp>
      <p:sp>
        <p:nvSpPr>
          <p:cNvPr id="22" name="Shape 20"/>
          <p:cNvSpPr/>
          <p:nvPr/>
        </p:nvSpPr>
        <p:spPr>
          <a:xfrm>
            <a:off x="749808" y="4480560"/>
            <a:ext cx="6272784"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23" name="Shape 21"/>
          <p:cNvSpPr/>
          <p:nvPr/>
        </p:nvSpPr>
        <p:spPr>
          <a:xfrm>
            <a:off x="914400" y="4663440"/>
            <a:ext cx="457200" cy="457200"/>
          </a:xfrm>
          <a:prstGeom prst="roundRect">
            <a:avLst>
              <a:gd name="adj" fmla="val 20000"/>
            </a:avLst>
          </a:prstGeom>
          <a:solidFill>
            <a:srgbClr val="0E7C86"/>
          </a:solidFill>
          <a:ln/>
        </p:spPr>
      </p:sp>
      <p:sp>
        <p:nvSpPr>
          <p:cNvPr id="24" name="Text 22"/>
          <p:cNvSpPr txBox="1"/>
          <p:nvPr/>
        </p:nvSpPr>
        <p:spPr>
          <a:xfrm>
            <a:off x="914400" y="466344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4</a:t>
            </a:r>
            <a:endParaRPr lang="en-US" sz="1900" dirty="0"/>
          </a:p>
        </p:txBody>
      </p:sp>
      <p:sp>
        <p:nvSpPr>
          <p:cNvPr id="25" name="Text 23"/>
          <p:cNvSpPr txBox="1"/>
          <p:nvPr/>
        </p:nvSpPr>
        <p:spPr>
          <a:xfrm>
            <a:off x="1508760" y="4590288"/>
            <a:ext cx="5440680" cy="310896"/>
          </a:xfrm>
          <a:prstGeom prst="rect">
            <a:avLst/>
          </a:prstGeom>
          <a:noFill/>
          <a:ln/>
        </p:spPr>
        <p:txBody>
          <a:bodyPr wrap="square" lIns="0" tIns="0" rIns="0" bIns="0" rtlCol="0" anchor="ctr"/>
          <a:lstStyle/>
          <a:p>
            <a:pPr indent="0" marL="0">
              <a:buNone/>
            </a:pPr>
            <a:r>
              <a:rPr lang="en-US" sz="1250" b="1" dirty="0">
                <a:solidFill>
                  <a:srgbClr val="0E3A43"/>
                </a:solidFill>
                <a:latin typeface="Calibri" pitchFamily="34" charset="0"/>
                <a:ea typeface="Calibri" pitchFamily="34" charset="-122"/>
                <a:cs typeface="Calibri" pitchFamily="34" charset="-120"/>
              </a:rPr>
              <a:t>Motivation in theory &amp; practice</a:t>
            </a:r>
            <a:endParaRPr lang="en-US" sz="1250" dirty="0"/>
          </a:p>
        </p:txBody>
      </p:sp>
      <p:sp>
        <p:nvSpPr>
          <p:cNvPr id="26" name="Text 24"/>
          <p:cNvSpPr txBox="1"/>
          <p:nvPr/>
        </p:nvSpPr>
        <p:spPr>
          <a:xfrm>
            <a:off x="1508760" y="4892040"/>
            <a:ext cx="5440680" cy="384048"/>
          </a:xfrm>
          <a:prstGeom prst="rect">
            <a:avLst/>
          </a:prstGeom>
          <a:noFill/>
          <a:ln/>
        </p:spPr>
        <p:txBody>
          <a:bodyPr wrap="square" lIns="0" tIns="0" rIns="0" bIns="0" rtlCol="0" anchor="t"/>
          <a:lstStyle/>
          <a:p>
            <a:pPr indent="0" marL="0">
              <a:buNone/>
            </a:pPr>
            <a:r>
              <a:rPr lang="en-US" sz="1030" dirty="0">
                <a:solidFill>
                  <a:srgbClr val="5B6B73"/>
                </a:solidFill>
                <a:latin typeface="Calibri" pitchFamily="34" charset="0"/>
                <a:ea typeface="Calibri" pitchFamily="34" charset="-122"/>
                <a:cs typeface="Calibri" pitchFamily="34" charset="-120"/>
              </a:rPr>
              <a:t>Taylor, Mayo, Maslow, Herzberg; financial &amp; non-financial methods — next</a:t>
            </a:r>
            <a:endParaRPr lang="en-US" sz="1030" dirty="0"/>
          </a:p>
        </p:txBody>
      </p:sp>
      <p:sp>
        <p:nvSpPr>
          <p:cNvPr id="27" name="Shape 25"/>
          <p:cNvSpPr/>
          <p:nvPr/>
        </p:nvSpPr>
        <p:spPr>
          <a:xfrm>
            <a:off x="749808" y="5340096"/>
            <a:ext cx="6272784"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28" name="Shape 26"/>
          <p:cNvSpPr/>
          <p:nvPr/>
        </p:nvSpPr>
        <p:spPr>
          <a:xfrm>
            <a:off x="914400" y="5522976"/>
            <a:ext cx="457200" cy="457200"/>
          </a:xfrm>
          <a:prstGeom prst="roundRect">
            <a:avLst>
              <a:gd name="adj" fmla="val 20000"/>
            </a:avLst>
          </a:prstGeom>
          <a:solidFill>
            <a:srgbClr val="0E7C86"/>
          </a:solidFill>
          <a:ln/>
        </p:spPr>
      </p:sp>
      <p:sp>
        <p:nvSpPr>
          <p:cNvPr id="29" name="Text 27"/>
          <p:cNvSpPr txBox="1"/>
          <p:nvPr/>
        </p:nvSpPr>
        <p:spPr>
          <a:xfrm>
            <a:off x="914400" y="552297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5</a:t>
            </a:r>
            <a:endParaRPr lang="en-US" sz="1900" dirty="0"/>
          </a:p>
        </p:txBody>
      </p:sp>
      <p:sp>
        <p:nvSpPr>
          <p:cNvPr id="30" name="Text 28"/>
          <p:cNvSpPr txBox="1"/>
          <p:nvPr/>
        </p:nvSpPr>
        <p:spPr>
          <a:xfrm>
            <a:off x="1508760" y="5449824"/>
            <a:ext cx="5440680" cy="310896"/>
          </a:xfrm>
          <a:prstGeom prst="rect">
            <a:avLst/>
          </a:prstGeom>
          <a:noFill/>
          <a:ln/>
        </p:spPr>
        <p:txBody>
          <a:bodyPr wrap="square" lIns="0" tIns="0" rIns="0" bIns="0" rtlCol="0" anchor="ctr"/>
          <a:lstStyle/>
          <a:p>
            <a:pPr indent="0" marL="0">
              <a:buNone/>
            </a:pPr>
            <a:r>
              <a:rPr lang="en-US" sz="1250" b="1" dirty="0">
                <a:solidFill>
                  <a:srgbClr val="0E3A43"/>
                </a:solidFill>
                <a:latin typeface="Calibri" pitchFamily="34" charset="0"/>
                <a:ea typeface="Calibri" pitchFamily="34" charset="-122"/>
                <a:cs typeface="Calibri" pitchFamily="34" charset="-120"/>
              </a:rPr>
              <a:t>Leadership</a:t>
            </a:r>
            <a:endParaRPr lang="en-US" sz="1250" dirty="0"/>
          </a:p>
        </p:txBody>
      </p:sp>
      <p:sp>
        <p:nvSpPr>
          <p:cNvPr id="31" name="Text 29"/>
          <p:cNvSpPr txBox="1"/>
          <p:nvPr/>
        </p:nvSpPr>
        <p:spPr>
          <a:xfrm>
            <a:off x="1508760" y="5751576"/>
            <a:ext cx="5440680" cy="384048"/>
          </a:xfrm>
          <a:prstGeom prst="rect">
            <a:avLst/>
          </a:prstGeom>
          <a:noFill/>
          <a:ln/>
        </p:spPr>
        <p:txBody>
          <a:bodyPr wrap="square" lIns="0" tIns="0" rIns="0" bIns="0" rtlCol="0" anchor="t"/>
          <a:lstStyle/>
          <a:p>
            <a:pPr indent="0" marL="0">
              <a:buNone/>
            </a:pPr>
            <a:r>
              <a:rPr lang="en-US" sz="1030" dirty="0">
                <a:solidFill>
                  <a:srgbClr val="5B6B73"/>
                </a:solidFill>
                <a:latin typeface="Calibri" pitchFamily="34" charset="0"/>
                <a:ea typeface="Calibri" pitchFamily="34" charset="-122"/>
                <a:cs typeface="Calibri" pitchFamily="34" charset="-120"/>
              </a:rPr>
              <a:t>management vs leadership; autocratic → laissez-faire — next</a:t>
            </a:r>
            <a:endParaRPr lang="en-US" sz="1030" dirty="0"/>
          </a:p>
        </p:txBody>
      </p:sp>
      <p:sp>
        <p:nvSpPr>
          <p:cNvPr id="32" name="Shape 30"/>
          <p:cNvSpPr/>
          <p:nvPr/>
        </p:nvSpPr>
        <p:spPr>
          <a:xfrm>
            <a:off x="7360920" y="1371600"/>
            <a:ext cx="4279392" cy="4800600"/>
          </a:xfrm>
          <a:prstGeom prst="roundRect">
            <a:avLst>
              <a:gd name="adj" fmla="val 1709"/>
            </a:avLst>
          </a:prstGeom>
          <a:solidFill>
            <a:srgbClr val="EAF3F4"/>
          </a:solidFill>
          <a:ln/>
          <a:effectLst>
            <a:outerShdw sx="100000" sy="100000" kx="0" ky="0" algn="bl" rotWithShape="0" blurRad="76200" dist="25400" dir="5400000">
              <a:srgbClr val="9AAAB0">
                <a:alpha val="28000"/>
              </a:srgbClr>
            </a:outerShdw>
          </a:effectLst>
        </p:spPr>
      </p:sp>
      <p:sp>
        <p:nvSpPr>
          <p:cNvPr id="33" name="Text 31"/>
          <p:cNvSpPr txBox="1"/>
          <p:nvPr/>
        </p:nvSpPr>
        <p:spPr>
          <a:xfrm>
            <a:off x="7571232" y="1508760"/>
            <a:ext cx="3840480" cy="365760"/>
          </a:xfrm>
          <a:prstGeom prst="rect">
            <a:avLst/>
          </a:prstGeom>
          <a:noFill/>
          <a:ln/>
        </p:spPr>
        <p:txBody>
          <a:bodyPr wrap="square" lIns="0" tIns="0" rIns="0" bIns="0" rtlCol="0" anchor="ctr"/>
          <a:lstStyle/>
          <a:p>
            <a:pPr indent="0" marL="0">
              <a:buNone/>
            </a:pPr>
            <a:r>
              <a:rPr lang="en-US" sz="1400" b="1" dirty="0">
                <a:solidFill>
                  <a:srgbClr val="0B5E66"/>
                </a:solidFill>
                <a:latin typeface="Calibri" pitchFamily="34" charset="0"/>
                <a:ea typeface="Calibri" pitchFamily="34" charset="-122"/>
                <a:cs typeface="Calibri" pitchFamily="34" charset="-120"/>
              </a:rPr>
              <a:t>How it links across the course</a:t>
            </a:r>
            <a:endParaRPr lang="en-US" sz="1400" dirty="0"/>
          </a:p>
        </p:txBody>
      </p:sp>
      <p:sp>
        <p:nvSpPr>
          <p:cNvPr id="34" name="Text 32"/>
          <p:cNvSpPr txBox="1"/>
          <p:nvPr/>
        </p:nvSpPr>
        <p:spPr>
          <a:xfrm>
            <a:off x="7571232" y="1965960"/>
            <a:ext cx="3886200" cy="402336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Asset vs cost sets up motivation theory (section 4)</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Flexible working affects recruitment &amp; retention (section 2)</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Staffing costs feed break-even &amp; profit</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Employee relations links to leadership style (section 5)</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In Unit 3, HR ratios (turnover, productivity) measure the result</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7000" b="1" dirty="0">
                <a:solidFill>
                  <a:srgbClr val="FFFFFF"/>
                </a:solidFill>
                <a:latin typeface="Cambria" pitchFamily="34" charset="0"/>
                <a:ea typeface="Cambria" pitchFamily="34" charset="-122"/>
                <a:cs typeface="Cambria" pitchFamily="34" charset="-120"/>
              </a:rPr>
              <a:t>A</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PART A</a:t>
            </a:r>
            <a:endParaRPr lang="en-US" sz="1300" dirty="0"/>
          </a:p>
        </p:txBody>
      </p:sp>
      <p:sp>
        <p:nvSpPr>
          <p:cNvPr id="5" name="Text 3"/>
          <p:cNvSpPr txBox="1"/>
          <p:nvPr/>
        </p:nvSpPr>
        <p:spPr>
          <a:xfrm>
            <a:off x="2834640" y="2487168"/>
            <a:ext cx="8686800" cy="1143000"/>
          </a:xfrm>
          <a:prstGeom prst="rect">
            <a:avLst/>
          </a:prstGeom>
          <a:noFill/>
          <a:ln/>
        </p:spPr>
        <p:txBody>
          <a:bodyPr wrap="square" lIns="0" tIns="0" rIns="0" bIns="0" rtlCol="0" anchor="t"/>
          <a:lstStyle/>
          <a:p>
            <a:pPr indent="0" marL="0">
              <a:buNone/>
            </a:pPr>
            <a:r>
              <a:rPr lang="en-US" sz="3100" b="1" dirty="0">
                <a:solidFill>
                  <a:srgbClr val="FFFFFF"/>
                </a:solidFill>
                <a:latin typeface="Cambria" pitchFamily="34" charset="0"/>
                <a:ea typeface="Cambria" pitchFamily="34" charset="-122"/>
                <a:cs typeface="Cambria" pitchFamily="34" charset="-120"/>
              </a:rPr>
              <a:t>Staff as asset vs cost</a:t>
            </a:r>
            <a:endParaRPr lang="en-US" sz="31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part:  </a:t>
            </a:r>
            <a:pPr indent="0" marL="0">
              <a:buNone/>
            </a:pPr>
            <a:r>
              <a:rPr lang="en-US" sz="1350" dirty="0">
                <a:solidFill>
                  <a:srgbClr val="D7E6E8"/>
                </a:solidFill>
                <a:latin typeface="Calibri" pitchFamily="34" charset="0"/>
                <a:ea typeface="Calibri" pitchFamily="34" charset="-122"/>
                <a:cs typeface="Calibri" pitchFamily="34" charset="-120"/>
              </a:rPr>
              <a:t>two ways a business can view its workforce  ·  how each shapes pay, training and conditions, with real examples</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ASSET VS COST</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Two views of the workforce</a:t>
            </a:r>
            <a:endParaRPr lang="en-US" sz="2600" dirty="0"/>
          </a:p>
        </p:txBody>
      </p:sp>
      <p:sp>
        <p:nvSpPr>
          <p:cNvPr id="4" name="Shape 2"/>
          <p:cNvSpPr/>
          <p:nvPr/>
        </p:nvSpPr>
        <p:spPr>
          <a:xfrm>
            <a:off x="548640" y="1371600"/>
            <a:ext cx="5440680" cy="3931920"/>
          </a:xfrm>
          <a:prstGeom prst="roundRect">
            <a:avLst>
              <a:gd name="adj" fmla="val 186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5" name="Shape 3"/>
          <p:cNvSpPr/>
          <p:nvPr/>
        </p:nvSpPr>
        <p:spPr>
          <a:xfrm>
            <a:off x="777240" y="1536192"/>
            <a:ext cx="2926080" cy="310896"/>
          </a:xfrm>
          <a:prstGeom prst="roundRect">
            <a:avLst>
              <a:gd name="adj" fmla="val 50000"/>
            </a:avLst>
          </a:prstGeom>
          <a:solidFill>
            <a:srgbClr val="0E7C86"/>
          </a:solidFill>
          <a:ln/>
        </p:spPr>
      </p:sp>
      <p:sp>
        <p:nvSpPr>
          <p:cNvPr id="6" name="Text 4"/>
          <p:cNvSpPr txBox="1"/>
          <p:nvPr/>
        </p:nvSpPr>
        <p:spPr>
          <a:xfrm>
            <a:off x="777240" y="1536192"/>
            <a:ext cx="292608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STAFF AS AN ASSET</a:t>
            </a:r>
            <a:endParaRPr lang="en-US" sz="1050" dirty="0"/>
          </a:p>
        </p:txBody>
      </p:sp>
      <p:sp>
        <p:nvSpPr>
          <p:cNvPr id="7" name="Text 5"/>
          <p:cNvSpPr txBox="1"/>
          <p:nvPr/>
        </p:nvSpPr>
        <p:spPr>
          <a:xfrm>
            <a:off x="777240" y="1965960"/>
            <a:ext cx="4983480" cy="640080"/>
          </a:xfrm>
          <a:prstGeom prst="rect">
            <a:avLst/>
          </a:prstGeom>
          <a:noFill/>
          <a:ln/>
        </p:spPr>
        <p:txBody>
          <a:bodyPr wrap="square" lIns="0" tIns="0" rIns="0" bIns="0" rtlCol="0" anchor="t"/>
          <a:lstStyle/>
          <a:p>
            <a:pPr indent="0" marL="0">
              <a:buNone/>
            </a:pPr>
            <a:r>
              <a:rPr lang="en-US" sz="1300" dirty="0">
                <a:solidFill>
                  <a:srgbClr val="1F2A33"/>
                </a:solidFill>
                <a:latin typeface="Calibri" pitchFamily="34" charset="0"/>
                <a:ea typeface="Calibri" pitchFamily="34" charset="-122"/>
                <a:cs typeface="Calibri" pitchFamily="34" charset="-120"/>
              </a:rPr>
              <a:t>The most important resource and a source of competitive advantage — worth investing in.</a:t>
            </a:r>
            <a:endParaRPr lang="en-US" sz="1300" dirty="0"/>
          </a:p>
        </p:txBody>
      </p:sp>
      <p:sp>
        <p:nvSpPr>
          <p:cNvPr id="8" name="Text 6"/>
          <p:cNvSpPr txBox="1"/>
          <p:nvPr/>
        </p:nvSpPr>
        <p:spPr>
          <a:xfrm>
            <a:off x="777240" y="2606040"/>
            <a:ext cx="4983480" cy="15544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Invest in training, good pay &amp; conditions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Involve &amp; develop staff; low turnover</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 motivation, loyalty, productivity, strong brand</a:t>
            </a:r>
            <a:endParaRPr lang="en-US" sz="1250" dirty="0"/>
          </a:p>
        </p:txBody>
      </p:sp>
      <p:sp>
        <p:nvSpPr>
          <p:cNvPr id="9" name="Text 7"/>
          <p:cNvSpPr txBox="1"/>
          <p:nvPr/>
        </p:nvSpPr>
        <p:spPr>
          <a:xfrm>
            <a:off x="777240" y="4754880"/>
            <a:ext cx="4983480" cy="457200"/>
          </a:xfrm>
          <a:prstGeom prst="rect">
            <a:avLst/>
          </a:prstGeom>
          <a:noFill/>
          <a:ln/>
        </p:spPr>
        <p:txBody>
          <a:bodyPr wrap="square" lIns="0" tIns="0" rIns="0" bIns="0" rtlCol="0" anchor="ctr"/>
          <a:lstStyle/>
          <a:p>
            <a:pPr indent="0" marL="0">
              <a:buNone/>
            </a:pPr>
            <a:r>
              <a:rPr lang="en-US" sz="1150" b="1" dirty="0">
                <a:solidFill>
                  <a:srgbClr val="5B6B73"/>
                </a:solidFill>
                <a:latin typeface="Calibri" pitchFamily="34" charset="0"/>
                <a:ea typeface="Calibri" pitchFamily="34" charset="-122"/>
                <a:cs typeface="Calibri" pitchFamily="34" charset="-120"/>
              </a:rPr>
              <a:t>e.g. </a:t>
            </a:r>
            <a:pPr indent="0" marL="0">
              <a:buNone/>
            </a:pPr>
            <a:r>
              <a:rPr lang="en-US" sz="1150" i="1" dirty="0">
                <a:solidFill>
                  <a:srgbClr val="5B6B73"/>
                </a:solidFill>
                <a:latin typeface="Calibri" pitchFamily="34" charset="0"/>
                <a:ea typeface="Calibri" pitchFamily="34" charset="-122"/>
                <a:cs typeface="Calibri" pitchFamily="34" charset="-120"/>
              </a:rPr>
              <a:t>Google — benefits, development, strong culture.</a:t>
            </a:r>
            <a:endParaRPr lang="en-US" sz="1150" dirty="0"/>
          </a:p>
        </p:txBody>
      </p:sp>
      <p:sp>
        <p:nvSpPr>
          <p:cNvPr id="10" name="Shape 8"/>
          <p:cNvSpPr/>
          <p:nvPr/>
        </p:nvSpPr>
        <p:spPr>
          <a:xfrm>
            <a:off x="6199632" y="1371600"/>
            <a:ext cx="5440680" cy="3931920"/>
          </a:xfrm>
          <a:prstGeom prst="roundRect">
            <a:avLst>
              <a:gd name="adj" fmla="val 186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1" name="Shape 9"/>
          <p:cNvSpPr/>
          <p:nvPr/>
        </p:nvSpPr>
        <p:spPr>
          <a:xfrm>
            <a:off x="6428232" y="1536192"/>
            <a:ext cx="2926080" cy="310896"/>
          </a:xfrm>
          <a:prstGeom prst="roundRect">
            <a:avLst>
              <a:gd name="adj" fmla="val 50000"/>
            </a:avLst>
          </a:prstGeom>
          <a:solidFill>
            <a:srgbClr val="E0940F"/>
          </a:solidFill>
          <a:ln/>
        </p:spPr>
      </p:sp>
      <p:sp>
        <p:nvSpPr>
          <p:cNvPr id="12" name="Text 10"/>
          <p:cNvSpPr txBox="1"/>
          <p:nvPr/>
        </p:nvSpPr>
        <p:spPr>
          <a:xfrm>
            <a:off x="6428232" y="1536192"/>
            <a:ext cx="292608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STAFF AS A COST</a:t>
            </a:r>
            <a:endParaRPr lang="en-US" sz="1050" dirty="0"/>
          </a:p>
        </p:txBody>
      </p:sp>
      <p:sp>
        <p:nvSpPr>
          <p:cNvPr id="13" name="Text 11"/>
          <p:cNvSpPr txBox="1"/>
          <p:nvPr/>
        </p:nvSpPr>
        <p:spPr>
          <a:xfrm>
            <a:off x="6428232" y="1965960"/>
            <a:ext cx="4983480" cy="640080"/>
          </a:xfrm>
          <a:prstGeom prst="rect">
            <a:avLst/>
          </a:prstGeom>
          <a:noFill/>
          <a:ln/>
        </p:spPr>
        <p:txBody>
          <a:bodyPr wrap="square" lIns="0" tIns="0" rIns="0" bIns="0" rtlCol="0" anchor="t"/>
          <a:lstStyle/>
          <a:p>
            <a:pPr indent="0" marL="0">
              <a:buNone/>
            </a:pPr>
            <a:r>
              <a:rPr lang="en-US" sz="1300" dirty="0">
                <a:solidFill>
                  <a:srgbClr val="1F2A33"/>
                </a:solidFill>
                <a:latin typeface="Calibri" pitchFamily="34" charset="0"/>
                <a:ea typeface="Calibri" pitchFamily="34" charset="-122"/>
                <a:cs typeface="Calibri" pitchFamily="34" charset="-120"/>
              </a:rPr>
              <a:t>Simply a resource/expense to be minimised — kept as low and flexible as possible.</a:t>
            </a:r>
            <a:endParaRPr lang="en-US" sz="1300" dirty="0"/>
          </a:p>
        </p:txBody>
      </p:sp>
      <p:sp>
        <p:nvSpPr>
          <p:cNvPr id="14" name="Text 12"/>
          <p:cNvSpPr txBox="1"/>
          <p:nvPr/>
        </p:nvSpPr>
        <p:spPr>
          <a:xfrm>
            <a:off x="6428232" y="2606040"/>
            <a:ext cx="4983480" cy="15544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Keep wages low; use flexible contracts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Little training; hire &amp; fire with demand</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 lower short-term cost, but weaker loyalty</a:t>
            </a:r>
            <a:endParaRPr lang="en-US" sz="1250" dirty="0"/>
          </a:p>
        </p:txBody>
      </p:sp>
      <p:sp>
        <p:nvSpPr>
          <p:cNvPr id="15" name="Text 13"/>
          <p:cNvSpPr txBox="1"/>
          <p:nvPr/>
        </p:nvSpPr>
        <p:spPr>
          <a:xfrm>
            <a:off x="6428232" y="4754880"/>
            <a:ext cx="4983480" cy="457200"/>
          </a:xfrm>
          <a:prstGeom prst="rect">
            <a:avLst/>
          </a:prstGeom>
          <a:noFill/>
          <a:ln/>
        </p:spPr>
        <p:txBody>
          <a:bodyPr wrap="square" lIns="0" tIns="0" rIns="0" bIns="0" rtlCol="0" anchor="ctr"/>
          <a:lstStyle/>
          <a:p>
            <a:pPr indent="0" marL="0">
              <a:buNone/>
            </a:pPr>
            <a:r>
              <a:rPr lang="en-US" sz="1150" b="1" dirty="0">
                <a:solidFill>
                  <a:srgbClr val="5B6B73"/>
                </a:solidFill>
                <a:latin typeface="Calibri" pitchFamily="34" charset="0"/>
                <a:ea typeface="Calibri" pitchFamily="34" charset="-122"/>
                <a:cs typeface="Calibri" pitchFamily="34" charset="-120"/>
              </a:rPr>
              <a:t>e.g. </a:t>
            </a:r>
            <a:pPr indent="0" marL="0">
              <a:buNone/>
            </a:pPr>
            <a:r>
              <a:rPr lang="en-US" sz="1150" i="1" dirty="0">
                <a:solidFill>
                  <a:srgbClr val="5B6B73"/>
                </a:solidFill>
                <a:latin typeface="Calibri" pitchFamily="34" charset="0"/>
                <a:ea typeface="Calibri" pitchFamily="34" charset="-122"/>
                <a:cs typeface="Calibri" pitchFamily="34" charset="-120"/>
              </a:rPr>
              <a:t>Sports Direct — low margins, zero-hours contracts.</a:t>
            </a:r>
            <a:endParaRPr lang="en-US" sz="1150" dirty="0"/>
          </a:p>
        </p:txBody>
      </p:sp>
      <p:sp>
        <p:nvSpPr>
          <p:cNvPr id="16" name="Shape 14"/>
          <p:cNvSpPr/>
          <p:nvPr/>
        </p:nvSpPr>
        <p:spPr>
          <a:xfrm>
            <a:off x="548640" y="5440680"/>
            <a:ext cx="11091672" cy="731520"/>
          </a:xfrm>
          <a:prstGeom prst="roundRect">
            <a:avLst>
              <a:gd name="adj" fmla="val 10000"/>
            </a:avLst>
          </a:prstGeom>
          <a:solidFill>
            <a:srgbClr val="FBF0D8"/>
          </a:solidFill>
          <a:ln/>
          <a:effectLst>
            <a:outerShdw sx="100000" sy="100000" kx="0" ky="0" algn="bl" rotWithShape="0" blurRad="76200" dist="25400" dir="5400000">
              <a:srgbClr val="9AAAB0">
                <a:alpha val="28000"/>
              </a:srgbClr>
            </a:outerShdw>
          </a:effectLst>
        </p:spPr>
      </p:sp>
      <p:sp>
        <p:nvSpPr>
          <p:cNvPr id="17" name="Text 15"/>
          <p:cNvSpPr txBox="1"/>
          <p:nvPr/>
        </p:nvSpPr>
        <p:spPr>
          <a:xfrm>
            <a:off x="777240" y="5513832"/>
            <a:ext cx="10698480" cy="585216"/>
          </a:xfrm>
          <a:prstGeom prst="rect">
            <a:avLst/>
          </a:prstGeom>
          <a:noFill/>
          <a:ln/>
        </p:spPr>
        <p:txBody>
          <a:bodyPr wrap="square" lIns="0" tIns="0" rIns="0" bIns="0" rtlCol="0" anchor="ctr"/>
          <a:lstStyle/>
          <a:p>
            <a:pPr indent="0" marL="0">
              <a:buNone/>
            </a:pPr>
            <a:r>
              <a:rPr lang="en-US" sz="1250" b="1" dirty="0">
                <a:solidFill>
                  <a:srgbClr val="8A5A06"/>
                </a:solidFill>
                <a:latin typeface="Calibri" pitchFamily="34" charset="0"/>
                <a:ea typeface="Calibri" pitchFamily="34" charset="-122"/>
                <a:cs typeface="Calibri" pitchFamily="34" charset="-120"/>
              </a:rPr>
              <a:t>The trade-off:  </a:t>
            </a:r>
            <a:pPr indent="0" marL="0">
              <a:buNone/>
            </a:pPr>
            <a:r>
              <a:rPr lang="en-US" sz="1250" dirty="0">
                <a:solidFill>
                  <a:srgbClr val="1F2A33"/>
                </a:solidFill>
                <a:latin typeface="Calibri" pitchFamily="34" charset="0"/>
                <a:ea typeface="Calibri" pitchFamily="34" charset="-122"/>
                <a:cs typeface="Calibri" pitchFamily="34" charset="-120"/>
              </a:rPr>
              <a:t>treating staff as a cost cuts short-term spending but risks low morale, high turnover and reputational damage. Treating them as an asset costs more now but can raise productivity and protect the brand. The ‘right’ view depends on the business, its margins and its market.</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EXAM PRACTICE</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Exam practice: asset vs cost</a:t>
            </a:r>
            <a:endParaRPr lang="en-US" sz="2600" dirty="0"/>
          </a:p>
        </p:txBody>
      </p:sp>
      <p:sp>
        <p:nvSpPr>
          <p:cNvPr id="4" name="Shape 2"/>
          <p:cNvSpPr/>
          <p:nvPr/>
        </p:nvSpPr>
        <p:spPr>
          <a:xfrm>
            <a:off x="548640" y="1371600"/>
            <a:ext cx="11091672" cy="1874520"/>
          </a:xfrm>
          <a:prstGeom prst="roundRect">
            <a:avLst>
              <a:gd name="adj" fmla="val 3902"/>
            </a:avLst>
          </a:prstGeom>
          <a:solidFill>
            <a:srgbClr val="0E3A43"/>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5486400" cy="274320"/>
          </a:xfrm>
          <a:prstGeom prst="rect">
            <a:avLst/>
          </a:prstGeom>
          <a:noFill/>
          <a:ln/>
        </p:spPr>
        <p:txBody>
          <a:bodyPr wrap="square" lIns="0" tIns="0" rIns="0" bIns="0" rtlCol="0" anchor="ctr"/>
          <a:lstStyle/>
          <a:p>
            <a:pPr indent="0" marL="0">
              <a:buNone/>
            </a:pPr>
            <a:r>
              <a:rPr lang="en-US" sz="1100" b="1" spc="150" kern="0" dirty="0">
                <a:solidFill>
                  <a:srgbClr val="7FC4CB"/>
                </a:solidFill>
                <a:latin typeface="Calibri" pitchFamily="34" charset="0"/>
                <a:ea typeface="Calibri" pitchFamily="34" charset="-122"/>
                <a:cs typeface="Calibri" pitchFamily="34" charset="-120"/>
              </a:rPr>
              <a:t>EXAM QUESTIONS</a:t>
            </a:r>
            <a:endParaRPr lang="en-US" sz="1100" dirty="0"/>
          </a:p>
        </p:txBody>
      </p:sp>
      <p:sp>
        <p:nvSpPr>
          <p:cNvPr id="6" name="Text 4"/>
          <p:cNvSpPr txBox="1"/>
          <p:nvPr/>
        </p:nvSpPr>
        <p:spPr>
          <a:xfrm>
            <a:off x="777240" y="1792224"/>
            <a:ext cx="10607040" cy="13258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Define the term ‘staff as an asset’.  </a:t>
            </a:r>
            <a:pPr indent="0" marL="0">
              <a:spcAft>
                <a:spcPts val="600"/>
              </a:spcAft>
              <a:buNone/>
            </a:pPr>
            <a:r>
              <a:rPr lang="en-US" sz="1300" b="1" dirty="0">
                <a:solidFill>
                  <a:srgbClr val="E0940F"/>
                </a:solidFill>
                <a:latin typeface="Calibri" pitchFamily="34" charset="0"/>
                <a:ea typeface="Calibri" pitchFamily="34" charset="-122"/>
                <a:cs typeface="Calibri" pitchFamily="34" charset="-120"/>
              </a:rPr>
              <a:t>[2]</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Explain one reason why a business like Google may treat its staff as an asset.  </a:t>
            </a:r>
            <a:pPr indent="0" marL="0">
              <a:spcAft>
                <a:spcPts val="600"/>
              </a:spcAft>
              <a:buNone/>
            </a:pPr>
            <a:r>
              <a:rPr lang="en-US" sz="1300" b="1" dirty="0">
                <a:solidFill>
                  <a:srgbClr val="E0940F"/>
                </a:solidFill>
                <a:latin typeface="Calibri" pitchFamily="34" charset="0"/>
                <a:ea typeface="Calibri" pitchFamily="34" charset="-122"/>
                <a:cs typeface="Calibri" pitchFamily="34" charset="-120"/>
              </a:rPr>
              <a:t>[4]</a:t>
            </a:r>
            <a:endParaRPr lang="en-US" sz="1300" dirty="0"/>
          </a:p>
        </p:txBody>
      </p:sp>
      <p:sp>
        <p:nvSpPr>
          <p:cNvPr id="7" name="Shape 5"/>
          <p:cNvSpPr/>
          <p:nvPr/>
        </p:nvSpPr>
        <p:spPr>
          <a:xfrm>
            <a:off x="548640" y="3364992"/>
            <a:ext cx="5029200" cy="2834640"/>
          </a:xfrm>
          <a:prstGeom prst="roundRect">
            <a:avLst>
              <a:gd name="adj" fmla="val 2581"/>
            </a:avLst>
          </a:prstGeom>
          <a:solidFill>
            <a:srgbClr val="EAF3F4"/>
          </a:solidFill>
          <a:ln/>
          <a:effectLst>
            <a:outerShdw sx="100000" sy="100000" kx="0" ky="0" algn="bl" rotWithShape="0" blurRad="76200" dist="25400" dir="5400000">
              <a:srgbClr val="9AAAB0">
                <a:alpha val="28000"/>
              </a:srgbClr>
            </a:outerShdw>
          </a:effectLst>
        </p:spPr>
      </p:sp>
      <p:sp>
        <p:nvSpPr>
          <p:cNvPr id="8" name="Text 6"/>
          <p:cNvSpPr txBox="1"/>
          <p:nvPr/>
        </p:nvSpPr>
        <p:spPr>
          <a:xfrm>
            <a:off x="749808" y="3474720"/>
            <a:ext cx="4663440" cy="310896"/>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What the question is testing</a:t>
            </a:r>
            <a:endParaRPr lang="en-US" sz="1300" dirty="0"/>
          </a:p>
        </p:txBody>
      </p:sp>
      <p:sp>
        <p:nvSpPr>
          <p:cNvPr id="9" name="Text 7"/>
          <p:cNvSpPr txBox="1"/>
          <p:nvPr/>
        </p:nvSpPr>
        <p:spPr>
          <a:xfrm>
            <a:off x="749808" y="3840480"/>
            <a:ext cx="461772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2-mark Define: staff as the most important resource / a source of competitive advantage (1) + worth investing in (1).</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4-mark Explain (K1 A2 An1): one reason, two pieces of evidence, one consequence.</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Tie the reason to a purpose — motivation, retention or productivity.</a:t>
            </a:r>
            <a:endParaRPr lang="en-US" sz="1250" dirty="0"/>
          </a:p>
        </p:txBody>
      </p:sp>
      <p:sp>
        <p:nvSpPr>
          <p:cNvPr id="10" name="Shape 8"/>
          <p:cNvSpPr/>
          <p:nvPr/>
        </p:nvSpPr>
        <p:spPr>
          <a:xfrm>
            <a:off x="5788152" y="3364992"/>
            <a:ext cx="5852160" cy="2834640"/>
          </a:xfrm>
          <a:prstGeom prst="roundRect">
            <a:avLst>
              <a:gd name="adj" fmla="val 2581"/>
            </a:avLst>
          </a:prstGeom>
          <a:solidFill>
            <a:srgbClr val="FBF0D8"/>
          </a:solidFill>
          <a:ln/>
          <a:effectLst>
            <a:outerShdw sx="100000" sy="100000" kx="0" ky="0" algn="bl" rotWithShape="0" blurRad="76200" dist="25400" dir="5400000">
              <a:srgbClr val="9AAAB0">
                <a:alpha val="28000"/>
              </a:srgbClr>
            </a:outerShdw>
          </a:effectLst>
        </p:spPr>
      </p:sp>
      <p:sp>
        <p:nvSpPr>
          <p:cNvPr id="11" name="Text 9"/>
          <p:cNvSpPr txBox="1"/>
          <p:nvPr/>
        </p:nvSpPr>
        <p:spPr>
          <a:xfrm>
            <a:off x="5989320" y="3474720"/>
            <a:ext cx="5486400" cy="310896"/>
          </a:xfrm>
          <a:prstGeom prst="rect">
            <a:avLst/>
          </a:prstGeom>
          <a:noFill/>
          <a:ln/>
        </p:spPr>
        <p:txBody>
          <a:bodyPr wrap="square" lIns="0" tIns="0" rIns="0" bIns="0" rtlCol="0" anchor="ctr"/>
          <a:lstStyle/>
          <a:p>
            <a:pPr indent="0" marL="0">
              <a:buNone/>
            </a:pPr>
            <a:r>
              <a:rPr lang="en-US" sz="1300" b="1" dirty="0">
                <a:solidFill>
                  <a:srgbClr val="8A5A06"/>
                </a:solidFill>
                <a:latin typeface="Calibri" pitchFamily="34" charset="0"/>
                <a:ea typeface="Calibri" pitchFamily="34" charset="-122"/>
                <a:cs typeface="Calibri" pitchFamily="34" charset="-120"/>
              </a:rPr>
              <a:t>How to build the 4-marker</a:t>
            </a:r>
            <a:endParaRPr lang="en-US" sz="1300" dirty="0"/>
          </a:p>
        </p:txBody>
      </p:sp>
      <p:sp>
        <p:nvSpPr>
          <p:cNvPr id="12" name="Text 10"/>
          <p:cNvSpPr txBox="1"/>
          <p:nvPr/>
        </p:nvSpPr>
        <p:spPr>
          <a:xfrm>
            <a:off x="5989320" y="3840480"/>
            <a:ext cx="544068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K: treating staff as an asset means investing in them (pay, training, conditions).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A: Google offers strong benefits, development and a positive culture.</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An: “This means staff are more motivated and loyal, so they stay and are more productive — giving Google a competitive advantage in attracting top talent.”</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Contrast with ‘cost’ (Sports Direct) to show you understand both.</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7000" b="1" dirty="0">
                <a:solidFill>
                  <a:srgbClr val="FFFFFF"/>
                </a:solidFill>
                <a:latin typeface="Cambria" pitchFamily="34" charset="0"/>
                <a:ea typeface="Cambria" pitchFamily="34" charset="-122"/>
                <a:cs typeface="Cambria" pitchFamily="34" charset="-120"/>
              </a:rPr>
              <a:t>B</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PART B</a:t>
            </a:r>
            <a:endParaRPr lang="en-US" sz="1300" dirty="0"/>
          </a:p>
        </p:txBody>
      </p:sp>
      <p:sp>
        <p:nvSpPr>
          <p:cNvPr id="5" name="Text 3"/>
          <p:cNvSpPr txBox="1"/>
          <p:nvPr/>
        </p:nvSpPr>
        <p:spPr>
          <a:xfrm>
            <a:off x="2834640" y="2487168"/>
            <a:ext cx="8686800" cy="1143000"/>
          </a:xfrm>
          <a:prstGeom prst="rect">
            <a:avLst/>
          </a:prstGeom>
          <a:noFill/>
          <a:ln/>
        </p:spPr>
        <p:txBody>
          <a:bodyPr wrap="square" lIns="0" tIns="0" rIns="0" bIns="0" rtlCol="0" anchor="t"/>
          <a:lstStyle/>
          <a:p>
            <a:pPr indent="0" marL="0">
              <a:buNone/>
            </a:pPr>
            <a:r>
              <a:rPr lang="en-US" sz="3100" b="1" dirty="0">
                <a:solidFill>
                  <a:srgbClr val="FFFFFF"/>
                </a:solidFill>
                <a:latin typeface="Cambria" pitchFamily="34" charset="0"/>
                <a:ea typeface="Cambria" pitchFamily="34" charset="-122"/>
                <a:cs typeface="Cambria" pitchFamily="34" charset="-120"/>
              </a:rPr>
              <a:t>The flexible workforce</a:t>
            </a:r>
            <a:endParaRPr lang="en-US" sz="31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part:  </a:t>
            </a:r>
            <a:pPr indent="0" marL="0">
              <a:buNone/>
            </a:pPr>
            <a:r>
              <a:rPr lang="en-US" sz="1350" dirty="0">
                <a:solidFill>
                  <a:srgbClr val="D7E6E8"/>
                </a:solidFill>
                <a:latin typeface="Calibri" pitchFamily="34" charset="0"/>
                <a:ea typeface="Calibri" pitchFamily="34" charset="-122"/>
                <a:cs typeface="Calibri" pitchFamily="34" charset="-120"/>
              </a:rPr>
              <a:t>what a flexible workforce is &amp; why firms use one  ·  multi-skilling, part-time &amp; temporary, zero-hours, flexible/home working, outsourcing</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FLEXIBLE WORKFORCE</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What is a flexible workforce — and why use one?</a:t>
            </a:r>
            <a:endParaRPr lang="en-US" sz="2600" dirty="0"/>
          </a:p>
        </p:txBody>
      </p:sp>
      <p:sp>
        <p:nvSpPr>
          <p:cNvPr id="4" name="Shape 2"/>
          <p:cNvSpPr/>
          <p:nvPr/>
        </p:nvSpPr>
        <p:spPr>
          <a:xfrm>
            <a:off x="548640" y="1371600"/>
            <a:ext cx="11091672" cy="822960"/>
          </a:xfrm>
          <a:prstGeom prst="roundRect">
            <a:avLst>
              <a:gd name="adj" fmla="val 8889"/>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63040"/>
            <a:ext cx="2743200" cy="274320"/>
          </a:xfrm>
          <a:prstGeom prst="rect">
            <a:avLst/>
          </a:prstGeom>
          <a:noFill/>
          <a:ln/>
        </p:spPr>
        <p:txBody>
          <a:bodyPr wrap="square" lIns="0" tIns="0" rIns="0" bIns="0" rtlCol="0" anchor="ctr"/>
          <a:lstStyle/>
          <a:p>
            <a:pPr indent="0" marL="0">
              <a:buNone/>
            </a:pPr>
            <a:r>
              <a:rPr lang="en-US" sz="1100" b="1" spc="100" kern="0" dirty="0">
                <a:solidFill>
                  <a:srgbClr val="0B5E66"/>
                </a:solidFill>
                <a:latin typeface="Calibri" pitchFamily="34" charset="0"/>
                <a:ea typeface="Calibri" pitchFamily="34" charset="-122"/>
                <a:cs typeface="Calibri" pitchFamily="34" charset="-120"/>
              </a:rPr>
              <a:t>DEFINITION</a:t>
            </a:r>
            <a:endParaRPr lang="en-US" sz="1100" dirty="0"/>
          </a:p>
        </p:txBody>
      </p:sp>
      <p:sp>
        <p:nvSpPr>
          <p:cNvPr id="6" name="Text 4"/>
          <p:cNvSpPr txBox="1"/>
          <p:nvPr/>
        </p:nvSpPr>
        <p:spPr>
          <a:xfrm>
            <a:off x="777240" y="1737360"/>
            <a:ext cx="10607040" cy="457200"/>
          </a:xfrm>
          <a:prstGeom prst="rect">
            <a:avLst/>
          </a:prstGeom>
          <a:noFill/>
          <a:ln/>
        </p:spPr>
        <p:txBody>
          <a:bodyPr wrap="square" lIns="0" tIns="0" rIns="0" bIns="0" rtlCol="0" anchor="t"/>
          <a:lstStyle/>
          <a:p>
            <a:pPr indent="0" marL="0">
              <a:buNone/>
            </a:pPr>
            <a:r>
              <a:rPr lang="en-US" sz="1400" dirty="0">
                <a:solidFill>
                  <a:srgbClr val="1F2A33"/>
                </a:solidFill>
                <a:latin typeface="Calibri" pitchFamily="34" charset="0"/>
                <a:ea typeface="Calibri" pitchFamily="34" charset="-122"/>
                <a:cs typeface="Calibri" pitchFamily="34" charset="-120"/>
              </a:rPr>
              <a:t>Working arrangements that give variety in working TIME, LOCATION and PATTERN — so the business can adjust its labour to demand.</a:t>
            </a:r>
            <a:endParaRPr lang="en-US" sz="1400" dirty="0"/>
          </a:p>
        </p:txBody>
      </p:sp>
      <p:sp>
        <p:nvSpPr>
          <p:cNvPr id="7" name="Shape 5"/>
          <p:cNvSpPr/>
          <p:nvPr/>
        </p:nvSpPr>
        <p:spPr>
          <a:xfrm>
            <a:off x="548640" y="2377440"/>
            <a:ext cx="5440680" cy="2286000"/>
          </a:xfrm>
          <a:prstGeom prst="roundRect">
            <a:avLst>
              <a:gd name="adj" fmla="val 3200"/>
            </a:avLst>
          </a:prstGeom>
          <a:solidFill>
            <a:srgbClr val="E8F3EC"/>
          </a:solidFill>
          <a:ln/>
          <a:effectLst>
            <a:outerShdw sx="100000" sy="100000" kx="0" ky="0" algn="bl" rotWithShape="0" blurRad="76200" dist="25400" dir="5400000">
              <a:srgbClr val="9AAAB0">
                <a:alpha val="28000"/>
              </a:srgbClr>
            </a:outerShdw>
          </a:effectLst>
        </p:spPr>
      </p:sp>
      <p:sp>
        <p:nvSpPr>
          <p:cNvPr id="8" name="Text 6"/>
          <p:cNvSpPr txBox="1"/>
          <p:nvPr/>
        </p:nvSpPr>
        <p:spPr>
          <a:xfrm>
            <a:off x="777240" y="2487168"/>
            <a:ext cx="5029200" cy="320040"/>
          </a:xfrm>
          <a:prstGeom prst="rect">
            <a:avLst/>
          </a:prstGeom>
          <a:noFill/>
          <a:ln/>
        </p:spPr>
        <p:txBody>
          <a:bodyPr wrap="square" lIns="0" tIns="0" rIns="0" bIns="0" rtlCol="0" anchor="ctr"/>
          <a:lstStyle/>
          <a:p>
            <a:pPr indent="0" marL="0">
              <a:buNone/>
            </a:pPr>
            <a:r>
              <a:rPr lang="en-US" sz="1400" b="1" dirty="0">
                <a:solidFill>
                  <a:srgbClr val="2F8A5B"/>
                </a:solidFill>
                <a:latin typeface="Calibri" pitchFamily="34" charset="0"/>
                <a:ea typeface="Calibri" pitchFamily="34" charset="-122"/>
                <a:cs typeface="Calibri" pitchFamily="34" charset="-120"/>
              </a:rPr>
              <a:t>Why firms want flexibility</a:t>
            </a:r>
            <a:endParaRPr lang="en-US" sz="1400" dirty="0"/>
          </a:p>
        </p:txBody>
      </p:sp>
      <p:sp>
        <p:nvSpPr>
          <p:cNvPr id="9" name="Text 7"/>
          <p:cNvSpPr txBox="1"/>
          <p:nvPr/>
        </p:nvSpPr>
        <p:spPr>
          <a:xfrm>
            <a:off x="777240" y="2834640"/>
            <a:ext cx="4983480" cy="173736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Match staffing to changing/seasonal demand</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Save on wage costs (pay only for hours needed)</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Cover absences and peaks; stay competitive</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Attract &amp; retain a more diverse workforce</a:t>
            </a:r>
            <a:endParaRPr lang="en-US" sz="1250" dirty="0"/>
          </a:p>
        </p:txBody>
      </p:sp>
      <p:sp>
        <p:nvSpPr>
          <p:cNvPr id="10" name="Shape 8"/>
          <p:cNvSpPr/>
          <p:nvPr/>
        </p:nvSpPr>
        <p:spPr>
          <a:xfrm>
            <a:off x="6199632" y="2377440"/>
            <a:ext cx="5440680" cy="2286000"/>
          </a:xfrm>
          <a:prstGeom prst="roundRect">
            <a:avLst>
              <a:gd name="adj" fmla="val 320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1" name="Text 9"/>
          <p:cNvSpPr txBox="1"/>
          <p:nvPr/>
        </p:nvSpPr>
        <p:spPr>
          <a:xfrm>
            <a:off x="6428232" y="2487168"/>
            <a:ext cx="5029200" cy="320040"/>
          </a:xfrm>
          <a:prstGeom prst="rect">
            <a:avLst/>
          </a:prstGeom>
          <a:noFill/>
          <a:ln/>
        </p:spPr>
        <p:txBody>
          <a:bodyPr wrap="square" lIns="0" tIns="0" rIns="0" bIns="0" rtlCol="0" anchor="ctr"/>
          <a:lstStyle/>
          <a:p>
            <a:pPr indent="0" marL="0">
              <a:buNone/>
            </a:pPr>
            <a:r>
              <a:rPr lang="en-US" sz="1400" b="1" dirty="0">
                <a:solidFill>
                  <a:srgbClr val="0E3A43"/>
                </a:solidFill>
                <a:latin typeface="Calibri" pitchFamily="34" charset="0"/>
                <a:ea typeface="Calibri" pitchFamily="34" charset="-122"/>
                <a:cs typeface="Calibri" pitchFamily="34" charset="-120"/>
              </a:rPr>
              <a:t>The five types in the spec</a:t>
            </a:r>
            <a:endParaRPr lang="en-US" sz="1400" dirty="0"/>
          </a:p>
        </p:txBody>
      </p:sp>
      <p:sp>
        <p:nvSpPr>
          <p:cNvPr id="12" name="Text 10"/>
          <p:cNvSpPr txBox="1"/>
          <p:nvPr/>
        </p:nvSpPr>
        <p:spPr>
          <a:xfrm>
            <a:off x="6428232" y="2834640"/>
            <a:ext cx="4983480" cy="173736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Multi-skilling</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Part-time &amp; temporary</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Zero-hour contracts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Flexible hours &amp; home working</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Outsourcing</a:t>
            </a:r>
            <a:endParaRPr lang="en-US" sz="1250" dirty="0"/>
          </a:p>
        </p:txBody>
      </p:sp>
      <p:sp>
        <p:nvSpPr>
          <p:cNvPr id="13" name="Shape 11"/>
          <p:cNvSpPr/>
          <p:nvPr/>
        </p:nvSpPr>
        <p:spPr>
          <a:xfrm>
            <a:off x="548640" y="4846320"/>
            <a:ext cx="11091672" cy="1325880"/>
          </a:xfrm>
          <a:prstGeom prst="roundRect">
            <a:avLst>
              <a:gd name="adj" fmla="val 5517"/>
            </a:avLst>
          </a:prstGeom>
          <a:solidFill>
            <a:srgbClr val="FBF0D8"/>
          </a:solidFill>
          <a:ln/>
          <a:effectLst>
            <a:outerShdw sx="100000" sy="100000" kx="0" ky="0" algn="bl" rotWithShape="0" blurRad="76200" dist="25400" dir="5400000">
              <a:srgbClr val="9AAAB0">
                <a:alpha val="28000"/>
              </a:srgbClr>
            </a:outerShdw>
          </a:effectLst>
        </p:spPr>
      </p:sp>
      <p:sp>
        <p:nvSpPr>
          <p:cNvPr id="14" name="Text 12"/>
          <p:cNvSpPr txBox="1"/>
          <p:nvPr/>
        </p:nvSpPr>
        <p:spPr>
          <a:xfrm>
            <a:off x="777240" y="4956048"/>
            <a:ext cx="10698480" cy="1097280"/>
          </a:xfrm>
          <a:prstGeom prst="rect">
            <a:avLst/>
          </a:prstGeom>
          <a:noFill/>
          <a:ln/>
        </p:spPr>
        <p:txBody>
          <a:bodyPr wrap="square" lIns="0" tIns="0" rIns="0" bIns="0" rtlCol="0" anchor="ctr"/>
          <a:lstStyle/>
          <a:p>
            <a:pPr indent="0" marL="0">
              <a:buNone/>
            </a:pPr>
            <a:r>
              <a:rPr lang="en-US" sz="1250" b="1" dirty="0">
                <a:solidFill>
                  <a:srgbClr val="8A5A06"/>
                </a:solidFill>
                <a:latin typeface="Calibri" pitchFamily="34" charset="0"/>
                <a:ea typeface="Calibri" pitchFamily="34" charset="-122"/>
                <a:cs typeface="Calibri" pitchFamily="34" charset="-120"/>
              </a:rPr>
              <a:t>The A-grade tension:  </a:t>
            </a:r>
            <a:pPr indent="0" marL="0">
              <a:buNone/>
            </a:pPr>
            <a:r>
              <a:rPr lang="en-US" sz="1250" dirty="0">
                <a:solidFill>
                  <a:srgbClr val="1F2A33"/>
                </a:solidFill>
                <a:latin typeface="Calibri" pitchFamily="34" charset="0"/>
                <a:ea typeface="Calibri" pitchFamily="34" charset="-122"/>
                <a:cs typeface="Calibri" pitchFamily="34" charset="-120"/>
              </a:rPr>
              <a:t>flexibility helps the BUSINESS (lower cost, responsive) but can hurt EMPLOYEES (insecurity, less loyalty). The best answers weigh the firm's cost/flexibility gains against the effect on motivation, retention and reputation — which then feed back into productivity and sales.</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FLEXIBLE TYPES (1–3)</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Multi-skilling · Part-time &amp; temporary · Zero-hours</a:t>
            </a:r>
            <a:endParaRPr lang="en-US" sz="2600" dirty="0"/>
          </a:p>
        </p:txBody>
      </p:sp>
      <p:sp>
        <p:nvSpPr>
          <p:cNvPr id="4" name="Shape 2"/>
          <p:cNvSpPr/>
          <p:nvPr/>
        </p:nvSpPr>
        <p:spPr>
          <a:xfrm>
            <a:off x="548640" y="1417320"/>
            <a:ext cx="3575304" cy="4663440"/>
          </a:xfrm>
          <a:prstGeom prst="roundRect">
            <a:avLst>
              <a:gd name="adj" fmla="val 2046"/>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5" name="Shape 3"/>
          <p:cNvSpPr/>
          <p:nvPr/>
        </p:nvSpPr>
        <p:spPr>
          <a:xfrm>
            <a:off x="548640" y="1417320"/>
            <a:ext cx="3575304" cy="91440"/>
          </a:xfrm>
          <a:prstGeom prst="roundRect">
            <a:avLst/>
          </a:prstGeom>
          <a:solidFill>
            <a:srgbClr val="0E7C86"/>
          </a:solidFill>
          <a:ln/>
        </p:spPr>
      </p:sp>
      <p:sp>
        <p:nvSpPr>
          <p:cNvPr id="6" name="Text 4"/>
          <p:cNvSpPr txBox="1"/>
          <p:nvPr/>
        </p:nvSpPr>
        <p:spPr>
          <a:xfrm>
            <a:off x="749808" y="1600200"/>
            <a:ext cx="3172968" cy="365760"/>
          </a:xfrm>
          <a:prstGeom prst="rect">
            <a:avLst/>
          </a:prstGeom>
          <a:noFill/>
          <a:ln/>
        </p:spPr>
        <p:txBody>
          <a:bodyPr wrap="square" lIns="0" tIns="0" rIns="0" bIns="0" rtlCol="0" anchor="ctr"/>
          <a:lstStyle/>
          <a:p>
            <a:pPr indent="0" marL="0">
              <a:buNone/>
            </a:pPr>
            <a:r>
              <a:rPr lang="en-US" sz="1400" b="1" dirty="0">
                <a:solidFill>
                  <a:srgbClr val="0E7C86"/>
                </a:solidFill>
                <a:latin typeface="Calibri" pitchFamily="34" charset="0"/>
                <a:ea typeface="Calibri" pitchFamily="34" charset="-122"/>
                <a:cs typeface="Calibri" pitchFamily="34" charset="-120"/>
              </a:rPr>
              <a:t>Multi-skilling</a:t>
            </a:r>
            <a:endParaRPr lang="en-US" sz="1400" dirty="0"/>
          </a:p>
        </p:txBody>
      </p:sp>
      <p:sp>
        <p:nvSpPr>
          <p:cNvPr id="7" name="Text 5"/>
          <p:cNvSpPr txBox="1"/>
          <p:nvPr/>
        </p:nvSpPr>
        <p:spPr>
          <a:xfrm>
            <a:off x="749808" y="1984248"/>
            <a:ext cx="3172968" cy="749808"/>
          </a:xfrm>
          <a:prstGeom prst="rect">
            <a:avLst/>
          </a:prstGeom>
          <a:noFill/>
          <a:ln/>
        </p:spPr>
        <p:txBody>
          <a:bodyPr wrap="square" lIns="0" tIns="0" rIns="0" bIns="0" rtlCol="0" anchor="t"/>
          <a:lstStyle/>
          <a:p>
            <a:pPr indent="0" marL="0">
              <a:buNone/>
            </a:pPr>
            <a:r>
              <a:rPr lang="en-US" sz="1150" dirty="0">
                <a:solidFill>
                  <a:srgbClr val="1F2A33"/>
                </a:solidFill>
                <a:latin typeface="Calibri" pitchFamily="34" charset="0"/>
                <a:ea typeface="Calibri" pitchFamily="34" charset="-122"/>
                <a:cs typeface="Calibri" pitchFamily="34" charset="-120"/>
              </a:rPr>
              <a:t>Training workers to do a variety of tasks rather than specialise in one.</a:t>
            </a:r>
            <a:endParaRPr lang="en-US" sz="1150" dirty="0"/>
          </a:p>
        </p:txBody>
      </p:sp>
      <p:sp>
        <p:nvSpPr>
          <p:cNvPr id="8" name="Text 6"/>
          <p:cNvSpPr txBox="1"/>
          <p:nvPr/>
        </p:nvSpPr>
        <p:spPr>
          <a:xfrm>
            <a:off x="749808" y="2752344"/>
            <a:ext cx="3172968" cy="566928"/>
          </a:xfrm>
          <a:prstGeom prst="rect">
            <a:avLst/>
          </a:prstGeom>
          <a:noFill/>
          <a:ln/>
        </p:spPr>
        <p:txBody>
          <a:bodyPr wrap="square" lIns="0" tIns="0" rIns="0" bIns="0" rtlCol="0" anchor="t"/>
          <a:lstStyle/>
          <a:p>
            <a:pPr indent="0" marL="0">
              <a:buNone/>
            </a:pPr>
            <a:r>
              <a:rPr lang="en-US" sz="1100" b="1" dirty="0">
                <a:solidFill>
                  <a:srgbClr val="2F8A5B"/>
                </a:solidFill>
                <a:latin typeface="Calibri" pitchFamily="34" charset="0"/>
                <a:ea typeface="Calibri" pitchFamily="34" charset="-122"/>
                <a:cs typeface="Calibri" pitchFamily="34" charset="-120"/>
              </a:rPr>
              <a:t>✓ </a:t>
            </a:r>
            <a:pPr indent="0" marL="0">
              <a:buNone/>
            </a:pPr>
            <a:r>
              <a:rPr lang="en-US" sz="1100" dirty="0">
                <a:solidFill>
                  <a:srgbClr val="1F2A33"/>
                </a:solidFill>
                <a:latin typeface="Calibri" pitchFamily="34" charset="0"/>
                <a:ea typeface="Calibri" pitchFamily="34" charset="-122"/>
                <a:cs typeface="Calibri" pitchFamily="34" charset="-120"/>
              </a:rPr>
              <a:t>Fewer staff needed; cover absences; flexible; staff used to full capacity</a:t>
            </a:r>
            <a:endParaRPr lang="en-US" sz="1100" dirty="0"/>
          </a:p>
        </p:txBody>
      </p:sp>
      <p:sp>
        <p:nvSpPr>
          <p:cNvPr id="9" name="Text 7"/>
          <p:cNvSpPr txBox="1"/>
          <p:nvPr/>
        </p:nvSpPr>
        <p:spPr>
          <a:xfrm>
            <a:off x="749808" y="3319272"/>
            <a:ext cx="3172968" cy="566928"/>
          </a:xfrm>
          <a:prstGeom prst="rect">
            <a:avLst/>
          </a:prstGeom>
          <a:noFill/>
          <a:ln/>
        </p:spPr>
        <p:txBody>
          <a:bodyPr wrap="square" lIns="0" tIns="0" rIns="0" bIns="0" rtlCol="0" anchor="t"/>
          <a:lstStyle/>
          <a:p>
            <a:pPr indent="0" marL="0">
              <a:buNone/>
            </a:pPr>
            <a:r>
              <a:rPr lang="en-US" sz="1100" b="1" dirty="0">
                <a:solidFill>
                  <a:srgbClr val="C14B37"/>
                </a:solidFill>
                <a:latin typeface="Calibri" pitchFamily="34" charset="0"/>
                <a:ea typeface="Calibri" pitchFamily="34" charset="-122"/>
                <a:cs typeface="Calibri" pitchFamily="34" charset="-120"/>
              </a:rPr>
              <a:t>✗ </a:t>
            </a:r>
            <a:pPr indent="0" marL="0">
              <a:buNone/>
            </a:pPr>
            <a:r>
              <a:rPr lang="en-US" sz="1100" dirty="0">
                <a:solidFill>
                  <a:srgbClr val="1F2A33"/>
                </a:solidFill>
                <a:latin typeface="Calibri" pitchFamily="34" charset="0"/>
                <a:ea typeface="Calibri" pitchFamily="34" charset="-122"/>
                <a:cs typeface="Calibri" pitchFamily="34" charset="-120"/>
              </a:rPr>
              <a:t>‘Jack of all trades, master of none’; training cost; staff may want higher pay</a:t>
            </a:r>
            <a:endParaRPr lang="en-US" sz="1100" dirty="0"/>
          </a:p>
        </p:txBody>
      </p:sp>
      <p:sp>
        <p:nvSpPr>
          <p:cNvPr id="10" name="Shape 8"/>
          <p:cNvSpPr/>
          <p:nvPr/>
        </p:nvSpPr>
        <p:spPr>
          <a:xfrm>
            <a:off x="4306824" y="1417320"/>
            <a:ext cx="3575304" cy="4663440"/>
          </a:xfrm>
          <a:prstGeom prst="roundRect">
            <a:avLst>
              <a:gd name="adj" fmla="val 2046"/>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1" name="Shape 9"/>
          <p:cNvSpPr/>
          <p:nvPr/>
        </p:nvSpPr>
        <p:spPr>
          <a:xfrm>
            <a:off x="4306824" y="1417320"/>
            <a:ext cx="3575304" cy="91440"/>
          </a:xfrm>
          <a:prstGeom prst="roundRect">
            <a:avLst/>
          </a:prstGeom>
          <a:solidFill>
            <a:srgbClr val="E0940F"/>
          </a:solidFill>
          <a:ln/>
        </p:spPr>
      </p:sp>
      <p:sp>
        <p:nvSpPr>
          <p:cNvPr id="12" name="Text 10"/>
          <p:cNvSpPr txBox="1"/>
          <p:nvPr/>
        </p:nvSpPr>
        <p:spPr>
          <a:xfrm>
            <a:off x="4507992" y="1600200"/>
            <a:ext cx="3172968" cy="365760"/>
          </a:xfrm>
          <a:prstGeom prst="rect">
            <a:avLst/>
          </a:prstGeom>
          <a:noFill/>
          <a:ln/>
        </p:spPr>
        <p:txBody>
          <a:bodyPr wrap="square" lIns="0" tIns="0" rIns="0" bIns="0" rtlCol="0" anchor="ctr"/>
          <a:lstStyle/>
          <a:p>
            <a:pPr indent="0" marL="0">
              <a:buNone/>
            </a:pPr>
            <a:r>
              <a:rPr lang="en-US" sz="1400" b="1" dirty="0">
                <a:solidFill>
                  <a:srgbClr val="E0940F"/>
                </a:solidFill>
                <a:latin typeface="Calibri" pitchFamily="34" charset="0"/>
                <a:ea typeface="Calibri" pitchFamily="34" charset="-122"/>
                <a:cs typeface="Calibri" pitchFamily="34" charset="-120"/>
              </a:rPr>
              <a:t>Part-time &amp; temporary</a:t>
            </a:r>
            <a:endParaRPr lang="en-US" sz="1400" dirty="0"/>
          </a:p>
        </p:txBody>
      </p:sp>
      <p:sp>
        <p:nvSpPr>
          <p:cNvPr id="13" name="Text 11"/>
          <p:cNvSpPr txBox="1"/>
          <p:nvPr/>
        </p:nvSpPr>
        <p:spPr>
          <a:xfrm>
            <a:off x="4507992" y="1984248"/>
            <a:ext cx="3172968" cy="749808"/>
          </a:xfrm>
          <a:prstGeom prst="rect">
            <a:avLst/>
          </a:prstGeom>
          <a:noFill/>
          <a:ln/>
        </p:spPr>
        <p:txBody>
          <a:bodyPr wrap="square" lIns="0" tIns="0" rIns="0" bIns="0" rtlCol="0" anchor="t"/>
          <a:lstStyle/>
          <a:p>
            <a:pPr indent="0" marL="0">
              <a:buNone/>
            </a:pPr>
            <a:r>
              <a:rPr lang="en-US" sz="1150" dirty="0">
                <a:solidFill>
                  <a:srgbClr val="1F2A33"/>
                </a:solidFill>
                <a:latin typeface="Calibri" pitchFamily="34" charset="0"/>
                <a:ea typeface="Calibri" pitchFamily="34" charset="-122"/>
                <a:cs typeface="Calibri" pitchFamily="34" charset="-120"/>
              </a:rPr>
              <a:t>Part-time = fewer hours (usually under 35/week); temporary = fixed-term or seasonal.</a:t>
            </a:r>
            <a:endParaRPr lang="en-US" sz="1150" dirty="0"/>
          </a:p>
        </p:txBody>
      </p:sp>
      <p:sp>
        <p:nvSpPr>
          <p:cNvPr id="14" name="Text 12"/>
          <p:cNvSpPr txBox="1"/>
          <p:nvPr/>
        </p:nvSpPr>
        <p:spPr>
          <a:xfrm>
            <a:off x="4507992" y="2752344"/>
            <a:ext cx="3172968" cy="566928"/>
          </a:xfrm>
          <a:prstGeom prst="rect">
            <a:avLst/>
          </a:prstGeom>
          <a:noFill/>
          <a:ln/>
        </p:spPr>
        <p:txBody>
          <a:bodyPr wrap="square" lIns="0" tIns="0" rIns="0" bIns="0" rtlCol="0" anchor="t"/>
          <a:lstStyle/>
          <a:p>
            <a:pPr indent="0" marL="0">
              <a:buNone/>
            </a:pPr>
            <a:r>
              <a:rPr lang="en-US" sz="1100" b="1" dirty="0">
                <a:solidFill>
                  <a:srgbClr val="2F8A5B"/>
                </a:solidFill>
                <a:latin typeface="Calibri" pitchFamily="34" charset="0"/>
                <a:ea typeface="Calibri" pitchFamily="34" charset="-122"/>
                <a:cs typeface="Calibri" pitchFamily="34" charset="-120"/>
              </a:rPr>
              <a:t>✓ </a:t>
            </a:r>
            <a:pPr indent="0" marL="0">
              <a:buNone/>
            </a:pPr>
            <a:r>
              <a:rPr lang="en-US" sz="1100" dirty="0">
                <a:solidFill>
                  <a:srgbClr val="1F2A33"/>
                </a:solidFill>
                <a:latin typeface="Calibri" pitchFamily="34" charset="0"/>
                <a:ea typeface="Calibri" pitchFamily="34" charset="-122"/>
                <a:cs typeface="Calibri" pitchFamily="34" charset="-120"/>
              </a:rPr>
              <a:t>Flexibility to match demand; lower cost; cover peaks &amp; cover for leave</a:t>
            </a:r>
            <a:endParaRPr lang="en-US" sz="1100" dirty="0"/>
          </a:p>
        </p:txBody>
      </p:sp>
      <p:sp>
        <p:nvSpPr>
          <p:cNvPr id="15" name="Text 13"/>
          <p:cNvSpPr txBox="1"/>
          <p:nvPr/>
        </p:nvSpPr>
        <p:spPr>
          <a:xfrm>
            <a:off x="4507992" y="3319272"/>
            <a:ext cx="3172968" cy="566928"/>
          </a:xfrm>
          <a:prstGeom prst="rect">
            <a:avLst/>
          </a:prstGeom>
          <a:noFill/>
          <a:ln/>
        </p:spPr>
        <p:txBody>
          <a:bodyPr wrap="square" lIns="0" tIns="0" rIns="0" bIns="0" rtlCol="0" anchor="t"/>
          <a:lstStyle/>
          <a:p>
            <a:pPr indent="0" marL="0">
              <a:buNone/>
            </a:pPr>
            <a:r>
              <a:rPr lang="en-US" sz="1100" b="1" dirty="0">
                <a:solidFill>
                  <a:srgbClr val="C14B37"/>
                </a:solidFill>
                <a:latin typeface="Calibri" pitchFamily="34" charset="0"/>
                <a:ea typeface="Calibri" pitchFamily="34" charset="-122"/>
                <a:cs typeface="Calibri" pitchFamily="34" charset="-120"/>
              </a:rPr>
              <a:t>✗ </a:t>
            </a:r>
            <a:pPr indent="0" marL="0">
              <a:buNone/>
            </a:pPr>
            <a:r>
              <a:rPr lang="en-US" sz="1100" dirty="0">
                <a:solidFill>
                  <a:srgbClr val="1F2A33"/>
                </a:solidFill>
                <a:latin typeface="Calibri" pitchFamily="34" charset="0"/>
                <a:ea typeface="Calibri" pitchFamily="34" charset="-122"/>
                <a:cs typeface="Calibri" pitchFamily="34" charset="-120"/>
              </a:rPr>
              <a:t>Less commitment &amp; continuity; training cost per head; may be harder to coordinate</a:t>
            </a:r>
            <a:endParaRPr lang="en-US" sz="1100" dirty="0"/>
          </a:p>
        </p:txBody>
      </p:sp>
      <p:sp>
        <p:nvSpPr>
          <p:cNvPr id="16" name="Shape 14"/>
          <p:cNvSpPr/>
          <p:nvPr/>
        </p:nvSpPr>
        <p:spPr>
          <a:xfrm>
            <a:off x="8065008" y="1417320"/>
            <a:ext cx="3575304" cy="4663440"/>
          </a:xfrm>
          <a:prstGeom prst="roundRect">
            <a:avLst>
              <a:gd name="adj" fmla="val 2046"/>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7" name="Shape 15"/>
          <p:cNvSpPr/>
          <p:nvPr/>
        </p:nvSpPr>
        <p:spPr>
          <a:xfrm>
            <a:off x="8065008" y="1417320"/>
            <a:ext cx="3575304" cy="91440"/>
          </a:xfrm>
          <a:prstGeom prst="roundRect">
            <a:avLst/>
          </a:prstGeom>
          <a:solidFill>
            <a:srgbClr val="C14B37"/>
          </a:solidFill>
          <a:ln/>
        </p:spPr>
      </p:sp>
      <p:sp>
        <p:nvSpPr>
          <p:cNvPr id="18" name="Text 16"/>
          <p:cNvSpPr txBox="1"/>
          <p:nvPr/>
        </p:nvSpPr>
        <p:spPr>
          <a:xfrm>
            <a:off x="8266176" y="1600200"/>
            <a:ext cx="3172968" cy="365760"/>
          </a:xfrm>
          <a:prstGeom prst="rect">
            <a:avLst/>
          </a:prstGeom>
          <a:noFill/>
          <a:ln/>
        </p:spPr>
        <p:txBody>
          <a:bodyPr wrap="square" lIns="0" tIns="0" rIns="0" bIns="0" rtlCol="0" anchor="ctr"/>
          <a:lstStyle/>
          <a:p>
            <a:pPr indent="0" marL="0">
              <a:buNone/>
            </a:pPr>
            <a:r>
              <a:rPr lang="en-US" sz="1400" b="1" dirty="0">
                <a:solidFill>
                  <a:srgbClr val="C14B37"/>
                </a:solidFill>
                <a:latin typeface="Calibri" pitchFamily="34" charset="0"/>
                <a:ea typeface="Calibri" pitchFamily="34" charset="-122"/>
                <a:cs typeface="Calibri" pitchFamily="34" charset="-120"/>
              </a:rPr>
              <a:t>Zero-hour contracts</a:t>
            </a:r>
            <a:endParaRPr lang="en-US" sz="1400" dirty="0"/>
          </a:p>
        </p:txBody>
      </p:sp>
      <p:sp>
        <p:nvSpPr>
          <p:cNvPr id="19" name="Text 17"/>
          <p:cNvSpPr txBox="1"/>
          <p:nvPr/>
        </p:nvSpPr>
        <p:spPr>
          <a:xfrm>
            <a:off x="8266176" y="1984248"/>
            <a:ext cx="3172968" cy="749808"/>
          </a:xfrm>
          <a:prstGeom prst="rect">
            <a:avLst/>
          </a:prstGeom>
          <a:noFill/>
          <a:ln/>
        </p:spPr>
        <p:txBody>
          <a:bodyPr wrap="square" lIns="0" tIns="0" rIns="0" bIns="0" rtlCol="0" anchor="t"/>
          <a:lstStyle/>
          <a:p>
            <a:pPr indent="0" marL="0">
              <a:buNone/>
            </a:pPr>
            <a:r>
              <a:rPr lang="en-US" sz="1150" dirty="0">
                <a:solidFill>
                  <a:srgbClr val="1F2A33"/>
                </a:solidFill>
                <a:latin typeface="Calibri" pitchFamily="34" charset="0"/>
                <a:ea typeface="Calibri" pitchFamily="34" charset="-122"/>
                <a:cs typeface="Calibri" pitchFamily="34" charset="-120"/>
              </a:rPr>
              <a:t>No guaranteed minimum hours; the worker is not obliged to accept work offered.</a:t>
            </a:r>
            <a:endParaRPr lang="en-US" sz="1150" dirty="0"/>
          </a:p>
        </p:txBody>
      </p:sp>
      <p:sp>
        <p:nvSpPr>
          <p:cNvPr id="20" name="Text 18"/>
          <p:cNvSpPr txBox="1"/>
          <p:nvPr/>
        </p:nvSpPr>
        <p:spPr>
          <a:xfrm>
            <a:off x="8266176" y="2752344"/>
            <a:ext cx="3172968" cy="566928"/>
          </a:xfrm>
          <a:prstGeom prst="rect">
            <a:avLst/>
          </a:prstGeom>
          <a:noFill/>
          <a:ln/>
        </p:spPr>
        <p:txBody>
          <a:bodyPr wrap="square" lIns="0" tIns="0" rIns="0" bIns="0" rtlCol="0" anchor="t"/>
          <a:lstStyle/>
          <a:p>
            <a:pPr indent="0" marL="0">
              <a:buNone/>
            </a:pPr>
            <a:r>
              <a:rPr lang="en-US" sz="1100" b="1" dirty="0">
                <a:solidFill>
                  <a:srgbClr val="2F8A5B"/>
                </a:solidFill>
                <a:latin typeface="Calibri" pitchFamily="34" charset="0"/>
                <a:ea typeface="Calibri" pitchFamily="34" charset="-122"/>
                <a:cs typeface="Calibri" pitchFamily="34" charset="-120"/>
              </a:rPr>
              <a:t>✓ </a:t>
            </a:r>
            <a:pPr indent="0" marL="0">
              <a:buNone/>
            </a:pPr>
            <a:r>
              <a:rPr lang="en-US" sz="1100" dirty="0">
                <a:solidFill>
                  <a:srgbClr val="1F2A33"/>
                </a:solidFill>
                <a:latin typeface="Calibri" pitchFamily="34" charset="0"/>
                <a:ea typeface="Calibri" pitchFamily="34" charset="-122"/>
                <a:cs typeface="Calibri" pitchFamily="34" charset="-120"/>
              </a:rPr>
              <a:t>Maximum flexibility; pay only for hours worked; ideal for very variable demand</a:t>
            </a:r>
            <a:endParaRPr lang="en-US" sz="1100" dirty="0"/>
          </a:p>
        </p:txBody>
      </p:sp>
      <p:sp>
        <p:nvSpPr>
          <p:cNvPr id="21" name="Text 19"/>
          <p:cNvSpPr txBox="1"/>
          <p:nvPr/>
        </p:nvSpPr>
        <p:spPr>
          <a:xfrm>
            <a:off x="8266176" y="3319272"/>
            <a:ext cx="3172968" cy="566928"/>
          </a:xfrm>
          <a:prstGeom prst="rect">
            <a:avLst/>
          </a:prstGeom>
          <a:noFill/>
          <a:ln/>
        </p:spPr>
        <p:txBody>
          <a:bodyPr wrap="square" lIns="0" tIns="0" rIns="0" bIns="0" rtlCol="0" anchor="t"/>
          <a:lstStyle/>
          <a:p>
            <a:pPr indent="0" marL="0">
              <a:buNone/>
            </a:pPr>
            <a:r>
              <a:rPr lang="en-US" sz="1100" b="1" dirty="0">
                <a:solidFill>
                  <a:srgbClr val="C14B37"/>
                </a:solidFill>
                <a:latin typeface="Calibri" pitchFamily="34" charset="0"/>
                <a:ea typeface="Calibri" pitchFamily="34" charset="-122"/>
                <a:cs typeface="Calibri" pitchFamily="34" charset="-120"/>
              </a:rPr>
              <a:t>✗ </a:t>
            </a:r>
            <a:pPr indent="0" marL="0">
              <a:buNone/>
            </a:pPr>
            <a:r>
              <a:rPr lang="en-US" sz="1100" dirty="0">
                <a:solidFill>
                  <a:srgbClr val="1F2A33"/>
                </a:solidFill>
                <a:latin typeface="Calibri" pitchFamily="34" charset="0"/>
                <a:ea typeface="Calibri" pitchFamily="34" charset="-122"/>
                <a:cs typeface="Calibri" pitchFamily="34" charset="-120"/>
              </a:rPr>
              <a:t>Insecurity → low morale &amp; loyalty; reputational risk; can't rely on availability</a:t>
            </a:r>
            <a:endParaRPr lang="en-US" sz="11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FLEXIBLE TYPE 4</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Flexible hours &amp; home working</a:t>
            </a:r>
            <a:endParaRPr lang="en-US" sz="2600" dirty="0"/>
          </a:p>
        </p:txBody>
      </p:sp>
      <p:sp>
        <p:nvSpPr>
          <p:cNvPr id="4" name="Shape 2"/>
          <p:cNvSpPr/>
          <p:nvPr/>
        </p:nvSpPr>
        <p:spPr>
          <a:xfrm>
            <a:off x="548640" y="1371600"/>
            <a:ext cx="11091672"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1828800" cy="274320"/>
          </a:xfrm>
          <a:prstGeom prst="rect">
            <a:avLst/>
          </a:prstGeom>
          <a:noFill/>
          <a:ln/>
        </p:spPr>
        <p:txBody>
          <a:bodyPr wrap="square" lIns="0" tIns="0" rIns="0" bIns="0" rtlCol="0" anchor="ctr"/>
          <a:lstStyle/>
          <a:p>
            <a:pPr indent="0" marL="0">
              <a:buNone/>
            </a:pPr>
            <a:r>
              <a:rPr lang="en-US" sz="1100" b="1" spc="100" kern="0" dirty="0">
                <a:solidFill>
                  <a:srgbClr val="0B5E66"/>
                </a:solidFill>
                <a:latin typeface="Calibri" pitchFamily="34" charset="0"/>
                <a:ea typeface="Calibri" pitchFamily="34" charset="-122"/>
                <a:cs typeface="Calibri" pitchFamily="34" charset="-120"/>
              </a:rPr>
              <a:t>DEFINITION</a:t>
            </a:r>
            <a:endParaRPr lang="en-US" sz="1100" dirty="0"/>
          </a:p>
        </p:txBody>
      </p:sp>
      <p:sp>
        <p:nvSpPr>
          <p:cNvPr id="6" name="Text 4"/>
          <p:cNvSpPr txBox="1"/>
          <p:nvPr/>
        </p:nvSpPr>
        <p:spPr>
          <a:xfrm>
            <a:off x="777240" y="1737360"/>
            <a:ext cx="10607040" cy="420624"/>
          </a:xfrm>
          <a:prstGeom prst="rect">
            <a:avLst/>
          </a:prstGeom>
          <a:noFill/>
          <a:ln/>
        </p:spPr>
        <p:txBody>
          <a:bodyPr wrap="square" lIns="0" tIns="0" rIns="0" bIns="0" rtlCol="0" anchor="t"/>
          <a:lstStyle/>
          <a:p>
            <a:pPr indent="0" marL="0">
              <a:buNone/>
            </a:pPr>
            <a:r>
              <a:rPr lang="en-US" sz="1350" dirty="0">
                <a:solidFill>
                  <a:srgbClr val="1F2A33"/>
                </a:solidFill>
                <a:latin typeface="Calibri" pitchFamily="34" charset="0"/>
                <a:ea typeface="Calibri" pitchFamily="34" charset="-122"/>
                <a:cs typeface="Calibri" pitchFamily="34" charset="-120"/>
              </a:rPr>
              <a:t>Flexitime, compressed hours, and remote/hybrid working — giving employees choice over when and where they work.</a:t>
            </a:r>
            <a:endParaRPr lang="en-US" sz="1350" dirty="0"/>
          </a:p>
        </p:txBody>
      </p:sp>
      <p:sp>
        <p:nvSpPr>
          <p:cNvPr id="7" name="Shape 5"/>
          <p:cNvSpPr/>
          <p:nvPr/>
        </p:nvSpPr>
        <p:spPr>
          <a:xfrm>
            <a:off x="548640" y="2395728"/>
            <a:ext cx="5440680" cy="2240280"/>
          </a:xfrm>
          <a:prstGeom prst="roundRect">
            <a:avLst>
              <a:gd name="adj" fmla="val 3265"/>
            </a:avLst>
          </a:prstGeom>
          <a:solidFill>
            <a:srgbClr val="E8F3EC"/>
          </a:solidFill>
          <a:ln/>
          <a:effectLst>
            <a:outerShdw sx="100000" sy="100000" kx="0" ky="0" algn="bl" rotWithShape="0" blurRad="76200" dist="25400" dir="5400000">
              <a:srgbClr val="9AAAB0">
                <a:alpha val="28000"/>
              </a:srgbClr>
            </a:outerShdw>
          </a:effectLst>
        </p:spPr>
      </p:sp>
      <p:sp>
        <p:nvSpPr>
          <p:cNvPr id="8" name="Shape 6"/>
          <p:cNvSpPr/>
          <p:nvPr/>
        </p:nvSpPr>
        <p:spPr>
          <a:xfrm>
            <a:off x="777240" y="2560320"/>
            <a:ext cx="2286000" cy="310896"/>
          </a:xfrm>
          <a:prstGeom prst="roundRect">
            <a:avLst>
              <a:gd name="adj" fmla="val 50000"/>
            </a:avLst>
          </a:prstGeom>
          <a:solidFill>
            <a:srgbClr val="2F8A5B"/>
          </a:solidFill>
          <a:ln/>
        </p:spPr>
      </p:sp>
      <p:sp>
        <p:nvSpPr>
          <p:cNvPr id="9" name="Text 7"/>
          <p:cNvSpPr txBox="1"/>
          <p:nvPr/>
        </p:nvSpPr>
        <p:spPr>
          <a:xfrm>
            <a:off x="777240" y="2560320"/>
            <a:ext cx="22860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ADVANTAGES</a:t>
            </a:r>
            <a:endParaRPr lang="en-US" sz="1050" dirty="0"/>
          </a:p>
        </p:txBody>
      </p:sp>
      <p:sp>
        <p:nvSpPr>
          <p:cNvPr id="10" name="Text 8"/>
          <p:cNvSpPr txBox="1"/>
          <p:nvPr/>
        </p:nvSpPr>
        <p:spPr>
          <a:xfrm>
            <a:off x="777240" y="2980944"/>
            <a:ext cx="4983480" cy="155448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Attracts &amp; retains a more diverse workforce</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Improves work-life balance → motivation &amp; lower turnover</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Cuts office/overhead costs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Widens the talent pool beyond commuting distance</a:t>
            </a:r>
            <a:endParaRPr lang="en-US" sz="1300" dirty="0"/>
          </a:p>
        </p:txBody>
      </p:sp>
      <p:sp>
        <p:nvSpPr>
          <p:cNvPr id="11" name="Shape 9"/>
          <p:cNvSpPr/>
          <p:nvPr/>
        </p:nvSpPr>
        <p:spPr>
          <a:xfrm>
            <a:off x="6199632" y="2395728"/>
            <a:ext cx="5440680" cy="2240280"/>
          </a:xfrm>
          <a:prstGeom prst="roundRect">
            <a:avLst>
              <a:gd name="adj" fmla="val 3265"/>
            </a:avLst>
          </a:prstGeom>
          <a:solidFill>
            <a:srgbClr val="F9EAE6"/>
          </a:solidFill>
          <a:ln/>
          <a:effectLst>
            <a:outerShdw sx="100000" sy="100000" kx="0" ky="0" algn="bl" rotWithShape="0" blurRad="76200" dist="25400" dir="5400000">
              <a:srgbClr val="9AAAB0">
                <a:alpha val="28000"/>
              </a:srgbClr>
            </a:outerShdw>
          </a:effectLst>
        </p:spPr>
      </p:sp>
      <p:sp>
        <p:nvSpPr>
          <p:cNvPr id="12" name="Shape 10"/>
          <p:cNvSpPr/>
          <p:nvPr/>
        </p:nvSpPr>
        <p:spPr>
          <a:xfrm>
            <a:off x="6428232" y="2560320"/>
            <a:ext cx="2651760" cy="310896"/>
          </a:xfrm>
          <a:prstGeom prst="roundRect">
            <a:avLst>
              <a:gd name="adj" fmla="val 50000"/>
            </a:avLst>
          </a:prstGeom>
          <a:solidFill>
            <a:srgbClr val="C14B37"/>
          </a:solidFill>
          <a:ln/>
        </p:spPr>
      </p:sp>
      <p:sp>
        <p:nvSpPr>
          <p:cNvPr id="13" name="Text 11"/>
          <p:cNvSpPr txBox="1"/>
          <p:nvPr/>
        </p:nvSpPr>
        <p:spPr>
          <a:xfrm>
            <a:off x="6428232" y="2560320"/>
            <a:ext cx="26517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DISADVANTAGES</a:t>
            </a:r>
            <a:endParaRPr lang="en-US" sz="1050" dirty="0"/>
          </a:p>
        </p:txBody>
      </p:sp>
      <p:sp>
        <p:nvSpPr>
          <p:cNvPr id="14" name="Text 12"/>
          <p:cNvSpPr txBox="1"/>
          <p:nvPr/>
        </p:nvSpPr>
        <p:spPr>
          <a:xfrm>
            <a:off x="6428232" y="2980944"/>
            <a:ext cx="4983480" cy="155448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Harder to manage, monitor and coordinate</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Weaker team cohesion &amp; communication</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Not suitable for all roles (e.g. shop floor)</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Security and data-protection challenges</a:t>
            </a:r>
            <a:endParaRPr lang="en-US" sz="1300" dirty="0"/>
          </a:p>
        </p:txBody>
      </p:sp>
      <p:sp>
        <p:nvSpPr>
          <p:cNvPr id="15" name="Shape 13"/>
          <p:cNvSpPr/>
          <p:nvPr/>
        </p:nvSpPr>
        <p:spPr>
          <a:xfrm>
            <a:off x="548640" y="4818888"/>
            <a:ext cx="11091672" cy="1371600"/>
          </a:xfrm>
          <a:prstGeom prst="roundRect">
            <a:avLst>
              <a:gd name="adj" fmla="val 5333"/>
            </a:avLst>
          </a:prstGeom>
          <a:solidFill>
            <a:srgbClr val="FBF0D8"/>
          </a:solidFill>
          <a:ln/>
          <a:effectLst>
            <a:outerShdw sx="100000" sy="100000" kx="0" ky="0" algn="bl" rotWithShape="0" blurRad="76200" dist="25400" dir="5400000">
              <a:srgbClr val="9AAAB0">
                <a:alpha val="28000"/>
              </a:srgbClr>
            </a:outerShdw>
          </a:effectLst>
        </p:spPr>
      </p:sp>
      <p:sp>
        <p:nvSpPr>
          <p:cNvPr id="16" name="Shape 14"/>
          <p:cNvSpPr/>
          <p:nvPr/>
        </p:nvSpPr>
        <p:spPr>
          <a:xfrm>
            <a:off x="548640" y="4818888"/>
            <a:ext cx="109728" cy="1371600"/>
          </a:xfrm>
          <a:prstGeom prst="roundRect">
            <a:avLst/>
          </a:prstGeom>
          <a:solidFill>
            <a:srgbClr val="E0940F"/>
          </a:solidFill>
          <a:ln/>
        </p:spPr>
      </p:sp>
      <p:sp>
        <p:nvSpPr>
          <p:cNvPr id="17" name="Text 15"/>
          <p:cNvSpPr txBox="1"/>
          <p:nvPr/>
        </p:nvSpPr>
        <p:spPr>
          <a:xfrm>
            <a:off x="777240" y="4937760"/>
            <a:ext cx="10607040" cy="292608"/>
          </a:xfrm>
          <a:prstGeom prst="rect">
            <a:avLst/>
          </a:prstGeom>
          <a:noFill/>
          <a:ln/>
        </p:spPr>
        <p:txBody>
          <a:bodyPr wrap="square" lIns="0" tIns="0" rIns="0" bIns="0" rtlCol="0" anchor="ctr"/>
          <a:lstStyle/>
          <a:p>
            <a:pPr indent="0" marL="0">
              <a:buNone/>
            </a:pPr>
            <a:r>
              <a:rPr lang="en-US" sz="1150" b="1" spc="100" kern="0" dirty="0">
                <a:solidFill>
                  <a:srgbClr val="8A5A06"/>
                </a:solidFill>
                <a:latin typeface="Calibri" pitchFamily="34" charset="0"/>
                <a:ea typeface="Calibri" pitchFamily="34" charset="-122"/>
                <a:cs typeface="Calibri" pitchFamily="34" charset="-120"/>
              </a:rPr>
              <a:t>REAL EXAMPLE  ·  PwC — the Flexible Talent Network</a:t>
            </a:r>
            <a:endParaRPr lang="en-US" sz="1150" dirty="0"/>
          </a:p>
        </p:txBody>
      </p:sp>
      <p:sp>
        <p:nvSpPr>
          <p:cNvPr id="18" name="Text 16"/>
          <p:cNvSpPr txBox="1"/>
          <p:nvPr/>
        </p:nvSpPr>
        <p:spPr>
          <a:xfrm>
            <a:off x="777240" y="5230368"/>
            <a:ext cx="10698480" cy="868680"/>
          </a:xfrm>
          <a:prstGeom prst="rect">
            <a:avLst/>
          </a:prstGeom>
          <a:noFill/>
          <a:ln/>
        </p:spPr>
        <p:txBody>
          <a:bodyPr wrap="square" lIns="0" tIns="0" rIns="0" bIns="0" rtlCol="0" anchor="t"/>
          <a:lstStyle/>
          <a:p>
            <a:pPr indent="0" marL="0">
              <a:buNone/>
            </a:pPr>
            <a:r>
              <a:rPr lang="en-US" sz="1300" dirty="0">
                <a:solidFill>
                  <a:srgbClr val="1F2A33"/>
                </a:solidFill>
                <a:latin typeface="Calibri" pitchFamily="34" charset="0"/>
                <a:ea typeface="Calibri" pitchFamily="34" charset="-122"/>
                <a:cs typeface="Calibri" pitchFamily="34" charset="-120"/>
              </a:rPr>
              <a:t>PwC launched the Flexible Talent Network (2018): candidates apply by skillset and the working pattern that suits their life (shorter hours, a few months a year), not a fixed job. Over 2,000 registered in two weeks. It aims to attract a more diverse, higher-quality workforce and improve retention.</a:t>
            </a:r>
            <a:endParaRPr lang="en-US" sz="13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FLEXIBLE TYPE 5</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Outsourcing</a:t>
            </a:r>
            <a:endParaRPr lang="en-US" sz="2600" dirty="0"/>
          </a:p>
        </p:txBody>
      </p:sp>
      <p:sp>
        <p:nvSpPr>
          <p:cNvPr id="4" name="Shape 2"/>
          <p:cNvSpPr/>
          <p:nvPr/>
        </p:nvSpPr>
        <p:spPr>
          <a:xfrm>
            <a:off x="548640" y="1371600"/>
            <a:ext cx="11091672" cy="749808"/>
          </a:xfrm>
          <a:prstGeom prst="roundRect">
            <a:avLst>
              <a:gd name="adj" fmla="val 9756"/>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63040"/>
            <a:ext cx="10698480" cy="548640"/>
          </a:xfrm>
          <a:prstGeom prst="rect">
            <a:avLst/>
          </a:prstGeom>
          <a:noFill/>
          <a:ln/>
        </p:spPr>
        <p:txBody>
          <a:bodyPr wrap="square" lIns="0" tIns="0" rIns="0" bIns="0" rtlCol="0" anchor="ctr"/>
          <a:lstStyle/>
          <a:p>
            <a:pPr indent="0" marL="0">
              <a:buNone/>
            </a:pPr>
            <a:r>
              <a:rPr lang="en-US" sz="1350" b="1" dirty="0">
                <a:solidFill>
                  <a:srgbClr val="0B5E66"/>
                </a:solidFill>
                <a:latin typeface="Calibri" pitchFamily="34" charset="0"/>
                <a:ea typeface="Calibri" pitchFamily="34" charset="-122"/>
                <a:cs typeface="Calibri" pitchFamily="34" charset="-120"/>
              </a:rPr>
              <a:t>Definition:  </a:t>
            </a:r>
            <a:pPr indent="0" marL="0">
              <a:buNone/>
            </a:pPr>
            <a:r>
              <a:rPr lang="en-US" sz="1350" dirty="0">
                <a:solidFill>
                  <a:srgbClr val="1F2A33"/>
                </a:solidFill>
                <a:latin typeface="Calibri" pitchFamily="34" charset="0"/>
                <a:ea typeface="Calibri" pitchFamily="34" charset="-122"/>
                <a:cs typeface="Calibri" pitchFamily="34" charset="-120"/>
              </a:rPr>
              <a:t>delegating a business process (e.g. payroll, IT, production) to an external provider who manages it to an agreed standard — so the firm can focus on what it does best.</a:t>
            </a:r>
            <a:endParaRPr lang="en-US" sz="1350" dirty="0"/>
          </a:p>
        </p:txBody>
      </p:sp>
      <p:sp>
        <p:nvSpPr>
          <p:cNvPr id="6" name="Shape 4"/>
          <p:cNvSpPr/>
          <p:nvPr/>
        </p:nvSpPr>
        <p:spPr>
          <a:xfrm>
            <a:off x="548640" y="2286000"/>
            <a:ext cx="5440680" cy="2286000"/>
          </a:xfrm>
          <a:prstGeom prst="roundRect">
            <a:avLst>
              <a:gd name="adj" fmla="val 3200"/>
            </a:avLst>
          </a:prstGeom>
          <a:solidFill>
            <a:srgbClr val="E8F3EC"/>
          </a:solidFill>
          <a:ln/>
          <a:effectLst>
            <a:outerShdw sx="100000" sy="100000" kx="0" ky="0" algn="bl" rotWithShape="0" blurRad="76200" dist="25400" dir="5400000">
              <a:srgbClr val="9AAAB0">
                <a:alpha val="28000"/>
              </a:srgbClr>
            </a:outerShdw>
          </a:effectLst>
        </p:spPr>
      </p:sp>
      <p:sp>
        <p:nvSpPr>
          <p:cNvPr id="7" name="Shape 5"/>
          <p:cNvSpPr/>
          <p:nvPr/>
        </p:nvSpPr>
        <p:spPr>
          <a:xfrm>
            <a:off x="777240" y="2432304"/>
            <a:ext cx="2286000" cy="310896"/>
          </a:xfrm>
          <a:prstGeom prst="roundRect">
            <a:avLst>
              <a:gd name="adj" fmla="val 50000"/>
            </a:avLst>
          </a:prstGeom>
          <a:solidFill>
            <a:srgbClr val="2F8A5B"/>
          </a:solidFill>
          <a:ln/>
        </p:spPr>
      </p:sp>
      <p:sp>
        <p:nvSpPr>
          <p:cNvPr id="8" name="Text 6"/>
          <p:cNvSpPr txBox="1"/>
          <p:nvPr/>
        </p:nvSpPr>
        <p:spPr>
          <a:xfrm>
            <a:off x="777240" y="2432304"/>
            <a:ext cx="22860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ADVANTAGES</a:t>
            </a:r>
            <a:endParaRPr lang="en-US" sz="1050" dirty="0"/>
          </a:p>
        </p:txBody>
      </p:sp>
      <p:sp>
        <p:nvSpPr>
          <p:cNvPr id="9" name="Text 7"/>
          <p:cNvSpPr txBox="1"/>
          <p:nvPr/>
        </p:nvSpPr>
        <p:spPr>
          <a:xfrm>
            <a:off x="777240" y="2834640"/>
            <a:ext cx="4983480" cy="169164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Access to outside expertise &amp; technology</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Lets the firm focus on its core activities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Can lower cost and turn fixed costs variable</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Flexible capacity — scale up or down quickly</a:t>
            </a:r>
            <a:endParaRPr lang="en-US" sz="1250" dirty="0"/>
          </a:p>
        </p:txBody>
      </p:sp>
      <p:sp>
        <p:nvSpPr>
          <p:cNvPr id="10" name="Shape 8"/>
          <p:cNvSpPr/>
          <p:nvPr/>
        </p:nvSpPr>
        <p:spPr>
          <a:xfrm>
            <a:off x="6199632" y="2286000"/>
            <a:ext cx="5440680" cy="2286000"/>
          </a:xfrm>
          <a:prstGeom prst="roundRect">
            <a:avLst>
              <a:gd name="adj" fmla="val 3200"/>
            </a:avLst>
          </a:prstGeom>
          <a:solidFill>
            <a:srgbClr val="F9EAE6"/>
          </a:solidFill>
          <a:ln/>
          <a:effectLst>
            <a:outerShdw sx="100000" sy="100000" kx="0" ky="0" algn="bl" rotWithShape="0" blurRad="76200" dist="25400" dir="5400000">
              <a:srgbClr val="9AAAB0">
                <a:alpha val="28000"/>
              </a:srgbClr>
            </a:outerShdw>
          </a:effectLst>
        </p:spPr>
      </p:sp>
      <p:sp>
        <p:nvSpPr>
          <p:cNvPr id="11" name="Shape 9"/>
          <p:cNvSpPr/>
          <p:nvPr/>
        </p:nvSpPr>
        <p:spPr>
          <a:xfrm>
            <a:off x="6428232" y="2432304"/>
            <a:ext cx="2651760" cy="310896"/>
          </a:xfrm>
          <a:prstGeom prst="roundRect">
            <a:avLst>
              <a:gd name="adj" fmla="val 50000"/>
            </a:avLst>
          </a:prstGeom>
          <a:solidFill>
            <a:srgbClr val="C14B37"/>
          </a:solidFill>
          <a:ln/>
        </p:spPr>
      </p:sp>
      <p:sp>
        <p:nvSpPr>
          <p:cNvPr id="12" name="Text 10"/>
          <p:cNvSpPr txBox="1"/>
          <p:nvPr/>
        </p:nvSpPr>
        <p:spPr>
          <a:xfrm>
            <a:off x="6428232" y="2432304"/>
            <a:ext cx="26517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DISADVANTAGES</a:t>
            </a:r>
            <a:endParaRPr lang="en-US" sz="1050" dirty="0"/>
          </a:p>
        </p:txBody>
      </p:sp>
      <p:sp>
        <p:nvSpPr>
          <p:cNvPr id="13" name="Text 11"/>
          <p:cNvSpPr txBox="1"/>
          <p:nvPr/>
        </p:nvSpPr>
        <p:spPr>
          <a:xfrm>
            <a:off x="6428232" y="2834640"/>
            <a:ext cx="4983480" cy="169164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Less control over quality &amp; timing</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Dependence on the provider; confidentiality risk</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Can harm morale if in-house jobs are lost</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Communication &amp; coordination challenges</a:t>
            </a:r>
            <a:endParaRPr lang="en-US" sz="1250" dirty="0"/>
          </a:p>
        </p:txBody>
      </p:sp>
      <p:sp>
        <p:nvSpPr>
          <p:cNvPr id="14" name="Shape 12"/>
          <p:cNvSpPr/>
          <p:nvPr/>
        </p:nvSpPr>
        <p:spPr>
          <a:xfrm>
            <a:off x="548640" y="4800600"/>
            <a:ext cx="11091672" cy="1371600"/>
          </a:xfrm>
          <a:prstGeom prst="roundRect">
            <a:avLst>
              <a:gd name="adj" fmla="val 5333"/>
            </a:avLst>
          </a:prstGeom>
          <a:solidFill>
            <a:srgbClr val="FBF0D8"/>
          </a:solidFill>
          <a:ln/>
          <a:effectLst>
            <a:outerShdw sx="100000" sy="100000" kx="0" ky="0" algn="bl" rotWithShape="0" blurRad="76200" dist="25400" dir="5400000">
              <a:srgbClr val="9AAAB0">
                <a:alpha val="28000"/>
              </a:srgbClr>
            </a:outerShdw>
          </a:effectLst>
        </p:spPr>
      </p:sp>
      <p:sp>
        <p:nvSpPr>
          <p:cNvPr id="15" name="Shape 13"/>
          <p:cNvSpPr/>
          <p:nvPr/>
        </p:nvSpPr>
        <p:spPr>
          <a:xfrm>
            <a:off x="548640" y="4800600"/>
            <a:ext cx="109728" cy="1371600"/>
          </a:xfrm>
          <a:prstGeom prst="roundRect">
            <a:avLst/>
          </a:prstGeom>
          <a:solidFill>
            <a:srgbClr val="E0940F"/>
          </a:solidFill>
          <a:ln/>
        </p:spPr>
      </p:sp>
      <p:sp>
        <p:nvSpPr>
          <p:cNvPr id="16" name="Text 14"/>
          <p:cNvSpPr txBox="1"/>
          <p:nvPr/>
        </p:nvSpPr>
        <p:spPr>
          <a:xfrm>
            <a:off x="777240" y="4910328"/>
            <a:ext cx="10607040" cy="274320"/>
          </a:xfrm>
          <a:prstGeom prst="rect">
            <a:avLst/>
          </a:prstGeom>
          <a:noFill/>
          <a:ln/>
        </p:spPr>
        <p:txBody>
          <a:bodyPr wrap="square" lIns="0" tIns="0" rIns="0" bIns="0" rtlCol="0" anchor="ctr"/>
          <a:lstStyle/>
          <a:p>
            <a:pPr indent="0" marL="0">
              <a:buNone/>
            </a:pPr>
            <a:r>
              <a:rPr lang="en-US" sz="1150" b="1" spc="50" kern="0" dirty="0">
                <a:solidFill>
                  <a:srgbClr val="8A5A06"/>
                </a:solidFill>
                <a:latin typeface="Calibri" pitchFamily="34" charset="0"/>
                <a:ea typeface="Calibri" pitchFamily="34" charset="-122"/>
                <a:cs typeface="Calibri" pitchFamily="34" charset="-120"/>
              </a:rPr>
              <a:t>OUTSOURCING vs OFFSHORING — don't confuse them</a:t>
            </a:r>
            <a:endParaRPr lang="en-US" sz="1150" dirty="0"/>
          </a:p>
        </p:txBody>
      </p:sp>
      <p:sp>
        <p:nvSpPr>
          <p:cNvPr id="17" name="Text 15"/>
          <p:cNvSpPr txBox="1"/>
          <p:nvPr/>
        </p:nvSpPr>
        <p:spPr>
          <a:xfrm>
            <a:off x="777240" y="5193792"/>
            <a:ext cx="10698480" cy="914400"/>
          </a:xfrm>
          <a:prstGeom prst="rect">
            <a:avLst/>
          </a:prstGeom>
          <a:noFill/>
          <a:ln/>
        </p:spPr>
        <p:txBody>
          <a:bodyPr wrap="square" lIns="0" tIns="0" rIns="0" bIns="0" rtlCol="0" anchor="t"/>
          <a:lstStyle/>
          <a:p>
            <a:pPr indent="0" marL="0">
              <a:buNone/>
            </a:pPr>
            <a:r>
              <a:rPr lang="en-US" sz="1200" b="1" dirty="0">
                <a:solidFill>
                  <a:srgbClr val="1F2A33"/>
                </a:solidFill>
                <a:latin typeface="Calibri" pitchFamily="34" charset="0"/>
                <a:ea typeface="Calibri" pitchFamily="34" charset="-122"/>
                <a:cs typeface="Calibri" pitchFamily="34" charset="-120"/>
              </a:rPr>
              <a:t>Outsourcing = WHO does the work:  </a:t>
            </a:r>
            <a:pPr indent="0" marL="0">
              <a:buNone/>
            </a:pPr>
            <a:r>
              <a:rPr lang="en-US" sz="1200" dirty="0">
                <a:solidFill>
                  <a:srgbClr val="5B6B73"/>
                </a:solidFill>
                <a:latin typeface="Calibri" pitchFamily="34" charset="0"/>
                <a:ea typeface="Calibri" pitchFamily="34" charset="-122"/>
                <a:cs typeface="Calibri" pitchFamily="34" charset="-120"/>
              </a:rPr>
              <a:t>someone else (an external firm) does it for you.   </a:t>
            </a:r>
            <a:pPr indent="0" marL="0">
              <a:buNone/>
            </a:pPr>
            <a:r>
              <a:rPr lang="en-US" sz="1200" b="1" dirty="0">
                <a:solidFill>
                  <a:srgbClr val="1F2A33"/>
                </a:solidFill>
                <a:latin typeface="Calibri" pitchFamily="34" charset="0"/>
                <a:ea typeface="Calibri" pitchFamily="34" charset="-122"/>
                <a:cs typeface="Calibri" pitchFamily="34" charset="-120"/>
              </a:rPr>
              <a:t>Offshoring = WHERE it is done:  </a:t>
            </a:r>
            <a:pPr indent="0" marL="0">
              <a:buNone/>
            </a:pPr>
            <a:r>
              <a:rPr lang="en-US" sz="1200" dirty="0">
                <a:solidFill>
                  <a:srgbClr val="5B6B73"/>
                </a:solidFill>
                <a:latin typeface="Calibri" pitchFamily="34" charset="0"/>
                <a:ea typeface="Calibri" pitchFamily="34" charset="-122"/>
                <a:cs typeface="Calibri" pitchFamily="34" charset="-120"/>
              </a:rPr>
              <a:t>the work is moved overseas.
</a:t>
            </a:r>
            <a:pPr indent="0" marL="0">
              <a:buNone/>
            </a:pPr>
            <a:r>
              <a:rPr lang="en-US" sz="1200" i="1" dirty="0">
                <a:solidFill>
                  <a:srgbClr val="5B6B73"/>
                </a:solidFill>
                <a:latin typeface="Calibri" pitchFamily="34" charset="0"/>
                <a:ea typeface="Calibri" pitchFamily="34" charset="-122"/>
                <a:cs typeface="Calibri" pitchFamily="34" charset="-120"/>
              </a:rPr>
              <a:t>A process can be outsourced, offshored, or both (e.g. a UK firm using an Indian call-centre company = outsourced AND offshored).</a:t>
            </a:r>
            <a:endParaRPr lang="en-US" sz="12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EXAM PRACTICE</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Exam practice: flexible working (PwC)</a:t>
            </a:r>
            <a:endParaRPr lang="en-US" sz="2600" dirty="0"/>
          </a:p>
        </p:txBody>
      </p:sp>
      <p:sp>
        <p:nvSpPr>
          <p:cNvPr id="4" name="Shape 2"/>
          <p:cNvSpPr/>
          <p:nvPr/>
        </p:nvSpPr>
        <p:spPr>
          <a:xfrm>
            <a:off x="548640" y="1371600"/>
            <a:ext cx="11091672" cy="1874520"/>
          </a:xfrm>
          <a:prstGeom prst="roundRect">
            <a:avLst>
              <a:gd name="adj" fmla="val 3902"/>
            </a:avLst>
          </a:prstGeom>
          <a:solidFill>
            <a:srgbClr val="0E3A43"/>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5486400" cy="274320"/>
          </a:xfrm>
          <a:prstGeom prst="rect">
            <a:avLst/>
          </a:prstGeom>
          <a:noFill/>
          <a:ln/>
        </p:spPr>
        <p:txBody>
          <a:bodyPr wrap="square" lIns="0" tIns="0" rIns="0" bIns="0" rtlCol="0" anchor="ctr"/>
          <a:lstStyle/>
          <a:p>
            <a:pPr indent="0" marL="0">
              <a:buNone/>
            </a:pPr>
            <a:r>
              <a:rPr lang="en-US" sz="1100" b="1" spc="150" kern="0" dirty="0">
                <a:solidFill>
                  <a:srgbClr val="7FC4CB"/>
                </a:solidFill>
                <a:latin typeface="Calibri" pitchFamily="34" charset="0"/>
                <a:ea typeface="Calibri" pitchFamily="34" charset="-122"/>
                <a:cs typeface="Calibri" pitchFamily="34" charset="-120"/>
              </a:rPr>
              <a:t>EXAM QUESTIONS</a:t>
            </a:r>
            <a:endParaRPr lang="en-US" sz="1100" dirty="0"/>
          </a:p>
        </p:txBody>
      </p:sp>
      <p:sp>
        <p:nvSpPr>
          <p:cNvPr id="6" name="Text 4"/>
          <p:cNvSpPr txBox="1"/>
          <p:nvPr/>
        </p:nvSpPr>
        <p:spPr>
          <a:xfrm>
            <a:off x="777240" y="1792224"/>
            <a:ext cx="10607040" cy="13258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Define the term ‘zero-hour contract’.  </a:t>
            </a:r>
            <a:pPr indent="0" marL="0">
              <a:spcAft>
                <a:spcPts val="600"/>
              </a:spcAft>
              <a:buNone/>
            </a:pPr>
            <a:r>
              <a:rPr lang="en-US" sz="1300" b="1" dirty="0">
                <a:solidFill>
                  <a:srgbClr val="E0940F"/>
                </a:solidFill>
                <a:latin typeface="Calibri" pitchFamily="34" charset="0"/>
                <a:ea typeface="Calibri" pitchFamily="34" charset="-122"/>
                <a:cs typeface="Calibri" pitchFamily="34" charset="-120"/>
              </a:rPr>
              <a:t>[2]</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Assess the benefits of PwC introducing ‘The Flexible Talent Network’.  </a:t>
            </a:r>
            <a:pPr indent="0" marL="0">
              <a:spcAft>
                <a:spcPts val="600"/>
              </a:spcAft>
              <a:buNone/>
            </a:pPr>
            <a:r>
              <a:rPr lang="en-US" sz="1300" b="1" dirty="0">
                <a:solidFill>
                  <a:srgbClr val="E0940F"/>
                </a:solidFill>
                <a:latin typeface="Calibri" pitchFamily="34" charset="0"/>
                <a:ea typeface="Calibri" pitchFamily="34" charset="-122"/>
                <a:cs typeface="Calibri" pitchFamily="34" charset="-120"/>
              </a:rPr>
              <a:t>[10]</a:t>
            </a:r>
            <a:endParaRPr lang="en-US" sz="1300" dirty="0"/>
          </a:p>
        </p:txBody>
      </p:sp>
      <p:sp>
        <p:nvSpPr>
          <p:cNvPr id="7" name="Shape 5"/>
          <p:cNvSpPr/>
          <p:nvPr/>
        </p:nvSpPr>
        <p:spPr>
          <a:xfrm>
            <a:off x="548640" y="3364992"/>
            <a:ext cx="5029200" cy="2834640"/>
          </a:xfrm>
          <a:prstGeom prst="roundRect">
            <a:avLst>
              <a:gd name="adj" fmla="val 2581"/>
            </a:avLst>
          </a:prstGeom>
          <a:solidFill>
            <a:srgbClr val="EAF3F4"/>
          </a:solidFill>
          <a:ln/>
          <a:effectLst>
            <a:outerShdw sx="100000" sy="100000" kx="0" ky="0" algn="bl" rotWithShape="0" blurRad="76200" dist="25400" dir="5400000">
              <a:srgbClr val="9AAAB0">
                <a:alpha val="28000"/>
              </a:srgbClr>
            </a:outerShdw>
          </a:effectLst>
        </p:spPr>
      </p:sp>
      <p:sp>
        <p:nvSpPr>
          <p:cNvPr id="8" name="Text 6"/>
          <p:cNvSpPr txBox="1"/>
          <p:nvPr/>
        </p:nvSpPr>
        <p:spPr>
          <a:xfrm>
            <a:off x="749808" y="3474720"/>
            <a:ext cx="4663440" cy="310896"/>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What the question is testing</a:t>
            </a:r>
            <a:endParaRPr lang="en-US" sz="1300" dirty="0"/>
          </a:p>
        </p:txBody>
      </p:sp>
      <p:sp>
        <p:nvSpPr>
          <p:cNvPr id="9" name="Text 7"/>
          <p:cNvSpPr txBox="1"/>
          <p:nvPr/>
        </p:nvSpPr>
        <p:spPr>
          <a:xfrm>
            <a:off x="749808" y="3840480"/>
            <a:ext cx="461772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2-mark Define: a contract with no guaranteed minimum hours (1) + worker not obliged to accept work (1).</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10-mark Assess: weigh the benefits of flexible working to PwC against its limits, with a supported judgement.</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Apply the case: attracting diverse talent, 2,000 registrations in two weeks, retention.</a:t>
            </a:r>
            <a:endParaRPr lang="en-US" sz="1250" dirty="0"/>
          </a:p>
        </p:txBody>
      </p:sp>
      <p:sp>
        <p:nvSpPr>
          <p:cNvPr id="10" name="Shape 8"/>
          <p:cNvSpPr/>
          <p:nvPr/>
        </p:nvSpPr>
        <p:spPr>
          <a:xfrm>
            <a:off x="5788152" y="3364992"/>
            <a:ext cx="5852160" cy="2834640"/>
          </a:xfrm>
          <a:prstGeom prst="roundRect">
            <a:avLst>
              <a:gd name="adj" fmla="val 2581"/>
            </a:avLst>
          </a:prstGeom>
          <a:solidFill>
            <a:srgbClr val="FBF0D8"/>
          </a:solidFill>
          <a:ln/>
          <a:effectLst>
            <a:outerShdw sx="100000" sy="100000" kx="0" ky="0" algn="bl" rotWithShape="0" blurRad="76200" dist="25400" dir="5400000">
              <a:srgbClr val="9AAAB0">
                <a:alpha val="28000"/>
              </a:srgbClr>
            </a:outerShdw>
          </a:effectLst>
        </p:spPr>
      </p:sp>
      <p:sp>
        <p:nvSpPr>
          <p:cNvPr id="11" name="Text 9"/>
          <p:cNvSpPr txBox="1"/>
          <p:nvPr/>
        </p:nvSpPr>
        <p:spPr>
          <a:xfrm>
            <a:off x="5989320" y="3474720"/>
            <a:ext cx="5486400" cy="310896"/>
          </a:xfrm>
          <a:prstGeom prst="rect">
            <a:avLst/>
          </a:prstGeom>
          <a:noFill/>
          <a:ln/>
        </p:spPr>
        <p:txBody>
          <a:bodyPr wrap="square" lIns="0" tIns="0" rIns="0" bIns="0" rtlCol="0" anchor="ctr"/>
          <a:lstStyle/>
          <a:p>
            <a:pPr indent="0" marL="0">
              <a:buNone/>
            </a:pPr>
            <a:r>
              <a:rPr lang="en-US" sz="1300" b="1" dirty="0">
                <a:solidFill>
                  <a:srgbClr val="8A5A06"/>
                </a:solidFill>
                <a:latin typeface="Calibri" pitchFamily="34" charset="0"/>
                <a:ea typeface="Calibri" pitchFamily="34" charset="-122"/>
                <a:cs typeface="Calibri" pitchFamily="34" charset="-120"/>
              </a:rPr>
              <a:t>Plan (10-mark template)</a:t>
            </a:r>
            <a:endParaRPr lang="en-US" sz="1300" dirty="0"/>
          </a:p>
        </p:txBody>
      </p:sp>
      <p:sp>
        <p:nvSpPr>
          <p:cNvPr id="12" name="Text 10"/>
          <p:cNvSpPr txBox="1"/>
          <p:nvPr/>
        </p:nvSpPr>
        <p:spPr>
          <a:xfrm>
            <a:off x="5989320" y="3840480"/>
            <a:ext cx="544068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¶1 (benefit): flexible patterns attract a wider, more diverse talent pool → PwC accesses skills it would otherwise miss → better-quality work &amp; client service.</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¶2 (benefit): flexibility improves retention &amp; work-life balance → lower recruitment/turnover costs for a professional-services firm reliant on skilled staff.</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Limit: harder to manage/coordinate flexible staff; not all roles suit it.</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Conclusion (4Ws): highly beneficial for a skills-based firm like PwC, but depends on managing the flexibility well.</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7000" b="1" dirty="0">
                <a:solidFill>
                  <a:srgbClr val="FFFFFF"/>
                </a:solidFill>
                <a:latin typeface="Cambria" pitchFamily="34" charset="0"/>
                <a:ea typeface="Cambria" pitchFamily="34" charset="-122"/>
                <a:cs typeface="Cambria" pitchFamily="34" charset="-120"/>
              </a:rPr>
              <a:t>C</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PART C</a:t>
            </a:r>
            <a:endParaRPr lang="en-US" sz="1300" dirty="0"/>
          </a:p>
        </p:txBody>
      </p:sp>
      <p:sp>
        <p:nvSpPr>
          <p:cNvPr id="5" name="Text 3"/>
          <p:cNvSpPr txBox="1"/>
          <p:nvPr/>
        </p:nvSpPr>
        <p:spPr>
          <a:xfrm>
            <a:off x="2834640" y="2487168"/>
            <a:ext cx="8686800" cy="1143000"/>
          </a:xfrm>
          <a:prstGeom prst="rect">
            <a:avLst/>
          </a:prstGeom>
          <a:noFill/>
          <a:ln/>
        </p:spPr>
        <p:txBody>
          <a:bodyPr wrap="square" lIns="0" tIns="0" rIns="0" bIns="0" rtlCol="0" anchor="t"/>
          <a:lstStyle/>
          <a:p>
            <a:pPr indent="0" marL="0">
              <a:buNone/>
            </a:pPr>
            <a:r>
              <a:rPr lang="en-US" sz="3100" b="1" dirty="0">
                <a:solidFill>
                  <a:srgbClr val="FFFFFF"/>
                </a:solidFill>
                <a:latin typeface="Cambria" pitchFamily="34" charset="0"/>
                <a:ea typeface="Cambria" pitchFamily="34" charset="-122"/>
                <a:cs typeface="Cambria" pitchFamily="34" charset="-120"/>
              </a:rPr>
              <a:t>Dismissal, redundancy &amp; employee relations</a:t>
            </a:r>
            <a:endParaRPr lang="en-US" sz="31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part:  </a:t>
            </a:r>
            <a:pPr indent="0" marL="0">
              <a:buNone/>
            </a:pPr>
            <a:r>
              <a:rPr lang="en-US" sz="1350" dirty="0">
                <a:solidFill>
                  <a:srgbClr val="D7E6E8"/>
                </a:solidFill>
                <a:latin typeface="Calibri" pitchFamily="34" charset="0"/>
                <a:ea typeface="Calibri" pitchFamily="34" charset="-122"/>
                <a:cs typeface="Calibri" pitchFamily="34" charset="-120"/>
              </a:rPr>
              <a:t>the difference between dismissal and redundancy  ·  individual approach vs collective bargaining  ·  trade unions &amp; employee representation</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C · ENDING EMPLOYMENT</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Dismissal vs redundancy — the key distinction</a:t>
            </a:r>
            <a:endParaRPr lang="en-US" sz="2600" dirty="0"/>
          </a:p>
        </p:txBody>
      </p:sp>
      <p:sp>
        <p:nvSpPr>
          <p:cNvPr id="4" name="Shape 2"/>
          <p:cNvSpPr/>
          <p:nvPr/>
        </p:nvSpPr>
        <p:spPr>
          <a:xfrm>
            <a:off x="548640" y="1417320"/>
            <a:ext cx="5440680" cy="3291840"/>
          </a:xfrm>
          <a:prstGeom prst="roundRect">
            <a:avLst>
              <a:gd name="adj" fmla="val 2222"/>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5" name="Shape 3"/>
          <p:cNvSpPr/>
          <p:nvPr/>
        </p:nvSpPr>
        <p:spPr>
          <a:xfrm>
            <a:off x="777240" y="1581912"/>
            <a:ext cx="2286000" cy="310896"/>
          </a:xfrm>
          <a:prstGeom prst="roundRect">
            <a:avLst>
              <a:gd name="adj" fmla="val 50000"/>
            </a:avLst>
          </a:prstGeom>
          <a:solidFill>
            <a:srgbClr val="C14B37"/>
          </a:solidFill>
          <a:ln/>
        </p:spPr>
      </p:sp>
      <p:sp>
        <p:nvSpPr>
          <p:cNvPr id="6" name="Text 4"/>
          <p:cNvSpPr txBox="1"/>
          <p:nvPr/>
        </p:nvSpPr>
        <p:spPr>
          <a:xfrm>
            <a:off x="777240" y="1581912"/>
            <a:ext cx="22860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DISMISSAL</a:t>
            </a:r>
            <a:endParaRPr lang="en-US" sz="1050" dirty="0"/>
          </a:p>
        </p:txBody>
      </p:sp>
      <p:sp>
        <p:nvSpPr>
          <p:cNvPr id="7" name="Text 5"/>
          <p:cNvSpPr txBox="1"/>
          <p:nvPr/>
        </p:nvSpPr>
        <p:spPr>
          <a:xfrm>
            <a:off x="777240" y="2011680"/>
            <a:ext cx="4983480" cy="640080"/>
          </a:xfrm>
          <a:prstGeom prst="rect">
            <a:avLst/>
          </a:prstGeom>
          <a:noFill/>
          <a:ln/>
        </p:spPr>
        <p:txBody>
          <a:bodyPr wrap="square" lIns="0" tIns="0" rIns="0" bIns="0" rtlCol="0" anchor="t"/>
          <a:lstStyle/>
          <a:p>
            <a:pPr indent="0" marL="0">
              <a:buNone/>
            </a:pPr>
            <a:r>
              <a:rPr lang="en-US" sz="1350" dirty="0">
                <a:solidFill>
                  <a:srgbClr val="1F2A33"/>
                </a:solidFill>
                <a:latin typeface="Calibri" pitchFamily="34" charset="0"/>
                <a:ea typeface="Calibri" pitchFamily="34" charset="-122"/>
                <a:cs typeface="Calibri" pitchFamily="34" charset="-120"/>
              </a:rPr>
              <a:t>Ending employment because of the EMPLOYEE — their conduct or capability.</a:t>
            </a:r>
            <a:endParaRPr lang="en-US" sz="1350" dirty="0"/>
          </a:p>
        </p:txBody>
      </p:sp>
      <p:sp>
        <p:nvSpPr>
          <p:cNvPr id="8" name="Text 6"/>
          <p:cNvSpPr txBox="1"/>
          <p:nvPr/>
        </p:nvSpPr>
        <p:spPr>
          <a:xfrm>
            <a:off x="777240" y="2697480"/>
            <a:ext cx="4983480" cy="192024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Reasons: misconduct, poor performance, breaking contract terms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It is about the PERSON — their behaviour or ability</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Must follow a fair, lawful process (warnings, right of appeal)</a:t>
            </a:r>
            <a:endParaRPr lang="en-US" sz="1250" dirty="0"/>
          </a:p>
        </p:txBody>
      </p:sp>
      <p:sp>
        <p:nvSpPr>
          <p:cNvPr id="9" name="Shape 7"/>
          <p:cNvSpPr/>
          <p:nvPr/>
        </p:nvSpPr>
        <p:spPr>
          <a:xfrm>
            <a:off x="6199632" y="1417320"/>
            <a:ext cx="5440680" cy="3291840"/>
          </a:xfrm>
          <a:prstGeom prst="roundRect">
            <a:avLst>
              <a:gd name="adj" fmla="val 2222"/>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0" name="Shape 8"/>
          <p:cNvSpPr/>
          <p:nvPr/>
        </p:nvSpPr>
        <p:spPr>
          <a:xfrm>
            <a:off x="6428232" y="1581912"/>
            <a:ext cx="2651760" cy="310896"/>
          </a:xfrm>
          <a:prstGeom prst="roundRect">
            <a:avLst>
              <a:gd name="adj" fmla="val 50000"/>
            </a:avLst>
          </a:prstGeom>
          <a:solidFill>
            <a:srgbClr val="0E7C86"/>
          </a:solidFill>
          <a:ln/>
        </p:spPr>
      </p:sp>
      <p:sp>
        <p:nvSpPr>
          <p:cNvPr id="11" name="Text 9"/>
          <p:cNvSpPr txBox="1"/>
          <p:nvPr/>
        </p:nvSpPr>
        <p:spPr>
          <a:xfrm>
            <a:off x="6428232" y="1581912"/>
            <a:ext cx="26517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REDUNDANCY</a:t>
            </a:r>
            <a:endParaRPr lang="en-US" sz="1050" dirty="0"/>
          </a:p>
        </p:txBody>
      </p:sp>
      <p:sp>
        <p:nvSpPr>
          <p:cNvPr id="12" name="Text 10"/>
          <p:cNvSpPr txBox="1"/>
          <p:nvPr/>
        </p:nvSpPr>
        <p:spPr>
          <a:xfrm>
            <a:off x="6428232" y="2011680"/>
            <a:ext cx="4983480" cy="640080"/>
          </a:xfrm>
          <a:prstGeom prst="rect">
            <a:avLst/>
          </a:prstGeom>
          <a:noFill/>
          <a:ln/>
        </p:spPr>
        <p:txBody>
          <a:bodyPr wrap="square" lIns="0" tIns="0" rIns="0" bIns="0" rtlCol="0" anchor="t"/>
          <a:lstStyle/>
          <a:p>
            <a:pPr indent="0" marL="0">
              <a:buNone/>
            </a:pPr>
            <a:r>
              <a:rPr lang="en-US" sz="1350" dirty="0">
                <a:solidFill>
                  <a:srgbClr val="1F2A33"/>
                </a:solidFill>
                <a:latin typeface="Calibri" pitchFamily="34" charset="0"/>
                <a:ea typeface="Calibri" pitchFamily="34" charset="-122"/>
                <a:cs typeface="Calibri" pitchFamily="34" charset="-120"/>
              </a:rPr>
              <a:t>Ending employment because the JOB no longer exists — not the employee's fault.</a:t>
            </a:r>
            <a:endParaRPr lang="en-US" sz="1350" dirty="0"/>
          </a:p>
        </p:txBody>
      </p:sp>
      <p:sp>
        <p:nvSpPr>
          <p:cNvPr id="13" name="Text 11"/>
          <p:cNvSpPr txBox="1"/>
          <p:nvPr/>
        </p:nvSpPr>
        <p:spPr>
          <a:xfrm>
            <a:off x="6428232" y="2697480"/>
            <a:ext cx="4983480" cy="192024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Reasons: restructuring, closure, automation, falling demand</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It is about the JOB disappearing, not the worker</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Employees are usually entitled to redundancy pay</a:t>
            </a:r>
            <a:endParaRPr lang="en-US" sz="1250" dirty="0"/>
          </a:p>
        </p:txBody>
      </p:sp>
      <p:sp>
        <p:nvSpPr>
          <p:cNvPr id="14" name="Shape 12"/>
          <p:cNvSpPr/>
          <p:nvPr/>
        </p:nvSpPr>
        <p:spPr>
          <a:xfrm>
            <a:off x="548640" y="4892040"/>
            <a:ext cx="11091672" cy="1280160"/>
          </a:xfrm>
          <a:prstGeom prst="roundRect">
            <a:avLst>
              <a:gd name="adj" fmla="val 5714"/>
            </a:avLst>
          </a:prstGeom>
          <a:solidFill>
            <a:srgbClr val="FBF0D8"/>
          </a:solidFill>
          <a:ln/>
          <a:effectLst>
            <a:outerShdw sx="100000" sy="100000" kx="0" ky="0" algn="bl" rotWithShape="0" blurRad="76200" dist="25400" dir="5400000">
              <a:srgbClr val="9AAAB0">
                <a:alpha val="28000"/>
              </a:srgbClr>
            </a:outerShdw>
          </a:effectLst>
        </p:spPr>
      </p:sp>
      <p:sp>
        <p:nvSpPr>
          <p:cNvPr id="15" name="Text 13"/>
          <p:cNvSpPr txBox="1"/>
          <p:nvPr/>
        </p:nvSpPr>
        <p:spPr>
          <a:xfrm>
            <a:off x="777240" y="5029200"/>
            <a:ext cx="10698480" cy="1005840"/>
          </a:xfrm>
          <a:prstGeom prst="rect">
            <a:avLst/>
          </a:prstGeom>
          <a:noFill/>
          <a:ln/>
        </p:spPr>
        <p:txBody>
          <a:bodyPr wrap="square" lIns="0" tIns="0" rIns="0" bIns="0" rtlCol="0" anchor="ctr"/>
          <a:lstStyle/>
          <a:p>
            <a:pPr indent="0" marL="0">
              <a:buNone/>
            </a:pPr>
            <a:r>
              <a:rPr lang="en-US" sz="1300" b="1" dirty="0">
                <a:solidFill>
                  <a:srgbClr val="8A5A06"/>
                </a:solidFill>
                <a:latin typeface="Calibri" pitchFamily="34" charset="0"/>
                <a:ea typeface="Calibri" pitchFamily="34" charset="-122"/>
                <a:cs typeface="Calibri" pitchFamily="34" charset="-120"/>
              </a:rPr>
              <a:t>In one line:  </a:t>
            </a:r>
            <a:pPr indent="0" marL="0">
              <a:buNone/>
            </a:pPr>
            <a:r>
              <a:rPr lang="en-US" sz="1300" dirty="0">
                <a:solidFill>
                  <a:srgbClr val="1F2A33"/>
                </a:solidFill>
                <a:latin typeface="Calibri" pitchFamily="34" charset="0"/>
                <a:ea typeface="Calibri" pitchFamily="34" charset="-122"/>
                <a:cs typeface="Calibri" pitchFamily="34" charset="-120"/>
              </a:rPr>
              <a:t>dismissal is about the PERSON (what they did or how they performed); redundancy is about the JOB (it no longer exists). Mixing them up is a common exam error — and getting dismissal wrong legally can lead to an unfair-dismissal claim.</a:t>
            </a:r>
            <a:endParaRPr lang="en-US" sz="13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C · EMPLOYEE RELATIONS</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Individual approach vs collective bargaining</a:t>
            </a:r>
            <a:endParaRPr lang="en-US" sz="2600" dirty="0"/>
          </a:p>
        </p:txBody>
      </p:sp>
      <p:sp>
        <p:nvSpPr>
          <p:cNvPr id="4" name="Shape 2"/>
          <p:cNvSpPr/>
          <p:nvPr/>
        </p:nvSpPr>
        <p:spPr>
          <a:xfrm>
            <a:off x="548640" y="1371600"/>
            <a:ext cx="11091672" cy="658368"/>
          </a:xfrm>
          <a:prstGeom prst="roundRect">
            <a:avLst>
              <a:gd name="adj" fmla="val 11111"/>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44752"/>
            <a:ext cx="10698480" cy="512064"/>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Employer/employee relations  </a:t>
            </a:r>
            <a:pPr indent="0" marL="0">
              <a:buNone/>
            </a:pPr>
            <a:r>
              <a:rPr lang="en-US" sz="1300" dirty="0">
                <a:solidFill>
                  <a:srgbClr val="1F2A33"/>
                </a:solidFill>
                <a:latin typeface="Calibri" pitchFamily="34" charset="0"/>
                <a:ea typeface="Calibri" pitchFamily="34" charset="-122"/>
                <a:cs typeface="Calibri" pitchFamily="34" charset="-120"/>
              </a:rPr>
              <a:t>= how pay and conditions are negotiated. There are two approaches — negotiating with each worker, or with workers as a group.</a:t>
            </a:r>
            <a:endParaRPr lang="en-US" sz="1300" dirty="0"/>
          </a:p>
        </p:txBody>
      </p:sp>
      <p:sp>
        <p:nvSpPr>
          <p:cNvPr id="6" name="Shape 4"/>
          <p:cNvSpPr/>
          <p:nvPr/>
        </p:nvSpPr>
        <p:spPr>
          <a:xfrm>
            <a:off x="548640" y="2194560"/>
            <a:ext cx="5440680" cy="2834640"/>
          </a:xfrm>
          <a:prstGeom prst="roundRect">
            <a:avLst>
              <a:gd name="adj" fmla="val 2581"/>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7" name="Shape 5"/>
          <p:cNvSpPr/>
          <p:nvPr/>
        </p:nvSpPr>
        <p:spPr>
          <a:xfrm>
            <a:off x="777240" y="2340864"/>
            <a:ext cx="2926080" cy="310896"/>
          </a:xfrm>
          <a:prstGeom prst="roundRect">
            <a:avLst>
              <a:gd name="adj" fmla="val 50000"/>
            </a:avLst>
          </a:prstGeom>
          <a:solidFill>
            <a:srgbClr val="E0940F"/>
          </a:solidFill>
          <a:ln/>
        </p:spPr>
      </p:sp>
      <p:sp>
        <p:nvSpPr>
          <p:cNvPr id="8" name="Text 6"/>
          <p:cNvSpPr txBox="1"/>
          <p:nvPr/>
        </p:nvSpPr>
        <p:spPr>
          <a:xfrm>
            <a:off x="777240" y="2340864"/>
            <a:ext cx="292608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INDIVIDUAL APPROACH</a:t>
            </a:r>
            <a:endParaRPr lang="en-US" sz="1050" dirty="0"/>
          </a:p>
        </p:txBody>
      </p:sp>
      <p:sp>
        <p:nvSpPr>
          <p:cNvPr id="9" name="Text 7"/>
          <p:cNvSpPr txBox="1"/>
          <p:nvPr/>
        </p:nvSpPr>
        <p:spPr>
          <a:xfrm>
            <a:off x="777240" y="2761488"/>
            <a:ext cx="4983480" cy="54864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Terms &amp; disputes settled between an individual employee and the employer.</a:t>
            </a:r>
            <a:endParaRPr lang="en-US" sz="1250" dirty="0"/>
          </a:p>
        </p:txBody>
      </p:sp>
      <p:sp>
        <p:nvSpPr>
          <p:cNvPr id="10" name="Text 8"/>
          <p:cNvSpPr txBox="1"/>
          <p:nvPr/>
        </p:nvSpPr>
        <p:spPr>
          <a:xfrm>
            <a:off x="777240" y="3310128"/>
            <a:ext cx="4983480" cy="1645920"/>
          </a:xfrm>
          <a:prstGeom prst="rect">
            <a:avLst/>
          </a:prstGeom>
          <a:noFill/>
          <a:ln/>
        </p:spPr>
        <p:txBody>
          <a:bodyPr wrap="square" lIns="0" tIns="0" rIns="0" bIns="0" rtlCol="0" anchor="t"/>
          <a:lstStyle/>
          <a:p>
            <a:pPr indent="0" marL="0">
              <a:spcAft>
                <a:spcPts val="600"/>
              </a:spcAft>
              <a:buNone/>
            </a:pPr>
            <a:r>
              <a:rPr lang="en-US" sz="1200" b="1" dirty="0">
                <a:solidFill>
                  <a:srgbClr val="2F8A5B"/>
                </a:solidFill>
                <a:latin typeface="Calibri" pitchFamily="34" charset="0"/>
                <a:ea typeface="Calibri" pitchFamily="34" charset="-122"/>
                <a:cs typeface="Calibri" pitchFamily="34" charset="-120"/>
              </a:rPr>
              <a:t>✓ </a:t>
            </a:r>
            <a:pPr indent="0" marL="0">
              <a:spcAft>
                <a:spcPts val="600"/>
              </a:spcAft>
              <a:buNone/>
            </a:pPr>
            <a:r>
              <a:rPr lang="en-US" sz="1200" dirty="0">
                <a:solidFill>
                  <a:srgbClr val="1F2A33"/>
                </a:solidFill>
                <a:latin typeface="Calibri" pitchFamily="34" charset="0"/>
                <a:ea typeface="Calibri" pitchFamily="34" charset="-122"/>
                <a:cs typeface="Calibri" pitchFamily="34" charset="-120"/>
              </a:rPr>
              <a:t>tailored to the person; skilled staff can negotiate their own worth; flexible for the firm.
</a:t>
            </a:r>
            <a:pPr indent="0" marL="0">
              <a:spcAft>
                <a:spcPts val="600"/>
              </a:spcAft>
              <a:buNone/>
            </a:pPr>
            <a:r>
              <a:rPr lang="en-US" sz="1200" b="1" dirty="0">
                <a:solidFill>
                  <a:srgbClr val="C14B37"/>
                </a:solidFill>
                <a:latin typeface="Calibri" pitchFamily="34" charset="0"/>
                <a:ea typeface="Calibri" pitchFamily="34" charset="-122"/>
                <a:cs typeface="Calibri" pitchFamily="34" charset="-120"/>
              </a:rPr>
              <a:t>✗ </a:t>
            </a:r>
            <a:pPr indent="0" marL="0">
              <a:spcAft>
                <a:spcPts val="600"/>
              </a:spcAft>
              <a:buNone/>
            </a:pPr>
            <a:r>
              <a:rPr lang="en-US" sz="1200" dirty="0">
                <a:solidFill>
                  <a:srgbClr val="1F2A33"/>
                </a:solidFill>
                <a:latin typeface="Calibri" pitchFamily="34" charset="0"/>
                <a:ea typeface="Calibri" pitchFamily="34" charset="-122"/>
                <a:cs typeface="Calibri" pitchFamily="34" charset="-120"/>
              </a:rPr>
              <a:t>weaker bargaining power for most workers; time-consuming for the firm if many staff.</a:t>
            </a:r>
            <a:endParaRPr lang="en-US" sz="1200" dirty="0"/>
          </a:p>
        </p:txBody>
      </p:sp>
      <p:sp>
        <p:nvSpPr>
          <p:cNvPr id="11" name="Shape 9"/>
          <p:cNvSpPr/>
          <p:nvPr/>
        </p:nvSpPr>
        <p:spPr>
          <a:xfrm>
            <a:off x="6199632" y="2194560"/>
            <a:ext cx="5440680" cy="2834640"/>
          </a:xfrm>
          <a:prstGeom prst="roundRect">
            <a:avLst>
              <a:gd name="adj" fmla="val 2581"/>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2" name="Shape 10"/>
          <p:cNvSpPr/>
          <p:nvPr/>
        </p:nvSpPr>
        <p:spPr>
          <a:xfrm>
            <a:off x="6428232" y="2340864"/>
            <a:ext cx="3108960" cy="310896"/>
          </a:xfrm>
          <a:prstGeom prst="roundRect">
            <a:avLst>
              <a:gd name="adj" fmla="val 50000"/>
            </a:avLst>
          </a:prstGeom>
          <a:solidFill>
            <a:srgbClr val="0E7C86"/>
          </a:solidFill>
          <a:ln/>
        </p:spPr>
      </p:sp>
      <p:sp>
        <p:nvSpPr>
          <p:cNvPr id="13" name="Text 11"/>
          <p:cNvSpPr txBox="1"/>
          <p:nvPr/>
        </p:nvSpPr>
        <p:spPr>
          <a:xfrm>
            <a:off x="6428232" y="2340864"/>
            <a:ext cx="31089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COLLECTIVE BARGAINING</a:t>
            </a:r>
            <a:endParaRPr lang="en-US" sz="1050" dirty="0"/>
          </a:p>
        </p:txBody>
      </p:sp>
      <p:sp>
        <p:nvSpPr>
          <p:cNvPr id="14" name="Text 12"/>
          <p:cNvSpPr txBox="1"/>
          <p:nvPr/>
        </p:nvSpPr>
        <p:spPr>
          <a:xfrm>
            <a:off x="6428232" y="2761488"/>
            <a:ext cx="4983480" cy="54864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Terms negotiated between the employer and a GROUP of employees, usually via a trade union.</a:t>
            </a:r>
            <a:endParaRPr lang="en-US" sz="1250" dirty="0"/>
          </a:p>
        </p:txBody>
      </p:sp>
      <p:sp>
        <p:nvSpPr>
          <p:cNvPr id="15" name="Text 13"/>
          <p:cNvSpPr txBox="1"/>
          <p:nvPr/>
        </p:nvSpPr>
        <p:spPr>
          <a:xfrm>
            <a:off x="6428232" y="3310128"/>
            <a:ext cx="4983480" cy="1645920"/>
          </a:xfrm>
          <a:prstGeom prst="rect">
            <a:avLst/>
          </a:prstGeom>
          <a:noFill/>
          <a:ln/>
        </p:spPr>
        <p:txBody>
          <a:bodyPr wrap="square" lIns="0" tIns="0" rIns="0" bIns="0" rtlCol="0" anchor="t"/>
          <a:lstStyle/>
          <a:p>
            <a:pPr indent="0" marL="0">
              <a:spcAft>
                <a:spcPts val="600"/>
              </a:spcAft>
              <a:buNone/>
            </a:pPr>
            <a:r>
              <a:rPr lang="en-US" sz="1200" b="1" dirty="0">
                <a:solidFill>
                  <a:srgbClr val="2F8A5B"/>
                </a:solidFill>
                <a:latin typeface="Calibri" pitchFamily="34" charset="0"/>
                <a:ea typeface="Calibri" pitchFamily="34" charset="-122"/>
                <a:cs typeface="Calibri" pitchFamily="34" charset="-120"/>
              </a:rPr>
              <a:t>✓ </a:t>
            </a:r>
            <a:pPr indent="0" marL="0">
              <a:spcAft>
                <a:spcPts val="600"/>
              </a:spcAft>
              <a:buNone/>
            </a:pPr>
            <a:r>
              <a:rPr lang="en-US" sz="1200" dirty="0">
                <a:solidFill>
                  <a:srgbClr val="1F2A33"/>
                </a:solidFill>
                <a:latin typeface="Calibri" pitchFamily="34" charset="0"/>
                <a:ea typeface="Calibri" pitchFamily="34" charset="-122"/>
                <a:cs typeface="Calibri" pitchFamily="34" charset="-120"/>
              </a:rPr>
              <a:t>stronger worker bargaining power; one negotiation covers many; lower dispute risk if fair.
</a:t>
            </a:r>
            <a:pPr indent="0" marL="0">
              <a:spcAft>
                <a:spcPts val="600"/>
              </a:spcAft>
              <a:buNone/>
            </a:pPr>
            <a:r>
              <a:rPr lang="en-US" sz="1200" b="1" dirty="0">
                <a:solidFill>
                  <a:srgbClr val="C14B37"/>
                </a:solidFill>
                <a:latin typeface="Calibri" pitchFamily="34" charset="0"/>
                <a:ea typeface="Calibri" pitchFamily="34" charset="-122"/>
                <a:cs typeface="Calibri" pitchFamily="34" charset="-120"/>
              </a:rPr>
              <a:t>✗ </a:t>
            </a:r>
            <a:pPr indent="0" marL="0">
              <a:spcAft>
                <a:spcPts val="600"/>
              </a:spcAft>
              <a:buNone/>
            </a:pPr>
            <a:r>
              <a:rPr lang="en-US" sz="1200" dirty="0">
                <a:solidFill>
                  <a:srgbClr val="1F2A33"/>
                </a:solidFill>
                <a:latin typeface="Calibri" pitchFamily="34" charset="0"/>
                <a:ea typeface="Calibri" pitchFamily="34" charset="-122"/>
                <a:cs typeface="Calibri" pitchFamily="34" charset="-120"/>
              </a:rPr>
              <a:t>can slow decisions; risk of industrial action; employer authority challenged.</a:t>
            </a:r>
            <a:endParaRPr lang="en-US" sz="1200" dirty="0"/>
          </a:p>
        </p:txBody>
      </p:sp>
      <p:sp>
        <p:nvSpPr>
          <p:cNvPr id="16" name="Shape 14"/>
          <p:cNvSpPr/>
          <p:nvPr/>
        </p:nvSpPr>
        <p:spPr>
          <a:xfrm>
            <a:off x="548640" y="5166360"/>
            <a:ext cx="11091672" cy="1005840"/>
          </a:xfrm>
          <a:prstGeom prst="roundRect">
            <a:avLst>
              <a:gd name="adj" fmla="val 7273"/>
            </a:avLst>
          </a:prstGeom>
          <a:solidFill>
            <a:srgbClr val="E8F3EC"/>
          </a:solidFill>
          <a:ln/>
          <a:effectLst>
            <a:outerShdw sx="100000" sy="100000" kx="0" ky="0" algn="bl" rotWithShape="0" blurRad="76200" dist="25400" dir="5400000">
              <a:srgbClr val="9AAAB0">
                <a:alpha val="28000"/>
              </a:srgbClr>
            </a:outerShdw>
          </a:effectLst>
        </p:spPr>
      </p:sp>
      <p:sp>
        <p:nvSpPr>
          <p:cNvPr id="17" name="Text 15"/>
          <p:cNvSpPr txBox="1"/>
          <p:nvPr/>
        </p:nvSpPr>
        <p:spPr>
          <a:xfrm>
            <a:off x="777240" y="5266944"/>
            <a:ext cx="10698480" cy="822960"/>
          </a:xfrm>
          <a:prstGeom prst="rect">
            <a:avLst/>
          </a:prstGeom>
          <a:noFill/>
          <a:ln/>
        </p:spPr>
        <p:txBody>
          <a:bodyPr wrap="square" lIns="0" tIns="0" rIns="0" bIns="0" rtlCol="0" anchor="ctr"/>
          <a:lstStyle/>
          <a:p>
            <a:pPr indent="0" marL="0">
              <a:buNone/>
            </a:pPr>
            <a:r>
              <a:rPr lang="en-US" sz="1250" b="1" dirty="0">
                <a:solidFill>
                  <a:srgbClr val="2F8A5B"/>
                </a:solidFill>
                <a:latin typeface="Calibri" pitchFamily="34" charset="0"/>
                <a:ea typeface="Calibri" pitchFamily="34" charset="-122"/>
                <a:cs typeface="Calibri" pitchFamily="34" charset="-120"/>
              </a:rPr>
              <a:t>Trade union:  </a:t>
            </a:r>
            <a:pPr indent="0" marL="0">
              <a:buNone/>
            </a:pPr>
            <a:r>
              <a:rPr lang="en-US" sz="1250" dirty="0">
                <a:solidFill>
                  <a:srgbClr val="1F2A33"/>
                </a:solidFill>
                <a:latin typeface="Calibri" pitchFamily="34" charset="0"/>
                <a:ea typeface="Calibri" pitchFamily="34" charset="-122"/>
                <a:cs typeface="Calibri" pitchFamily="34" charset="-120"/>
              </a:rPr>
              <a:t>an organisation of workers that protects &amp; promotes members' common interests. Collective bargaining needs a recognised union and a willing employer. Good employee representation can raise motivation, commitment and decision quality — but may slow change and challenge managers' authority.</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C · EXAM PRACTICE</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Exam practice: employee relations (Sports Direct)</a:t>
            </a:r>
            <a:endParaRPr lang="en-US" sz="2600" dirty="0"/>
          </a:p>
        </p:txBody>
      </p:sp>
      <p:sp>
        <p:nvSpPr>
          <p:cNvPr id="4" name="Shape 2"/>
          <p:cNvSpPr/>
          <p:nvPr/>
        </p:nvSpPr>
        <p:spPr>
          <a:xfrm>
            <a:off x="548640" y="1371600"/>
            <a:ext cx="11091672" cy="1874520"/>
          </a:xfrm>
          <a:prstGeom prst="roundRect">
            <a:avLst>
              <a:gd name="adj" fmla="val 3902"/>
            </a:avLst>
          </a:prstGeom>
          <a:solidFill>
            <a:srgbClr val="0E3A43"/>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5486400" cy="274320"/>
          </a:xfrm>
          <a:prstGeom prst="rect">
            <a:avLst/>
          </a:prstGeom>
          <a:noFill/>
          <a:ln/>
        </p:spPr>
        <p:txBody>
          <a:bodyPr wrap="square" lIns="0" tIns="0" rIns="0" bIns="0" rtlCol="0" anchor="ctr"/>
          <a:lstStyle/>
          <a:p>
            <a:pPr indent="0" marL="0">
              <a:buNone/>
            </a:pPr>
            <a:r>
              <a:rPr lang="en-US" sz="1100" b="1" spc="150" kern="0" dirty="0">
                <a:solidFill>
                  <a:srgbClr val="7FC4CB"/>
                </a:solidFill>
                <a:latin typeface="Calibri" pitchFamily="34" charset="0"/>
                <a:ea typeface="Calibri" pitchFamily="34" charset="-122"/>
                <a:cs typeface="Calibri" pitchFamily="34" charset="-120"/>
              </a:rPr>
              <a:t>EXAM QUESTIONS</a:t>
            </a:r>
            <a:endParaRPr lang="en-US" sz="1100" dirty="0"/>
          </a:p>
        </p:txBody>
      </p:sp>
      <p:sp>
        <p:nvSpPr>
          <p:cNvPr id="6" name="Text 4"/>
          <p:cNvSpPr txBox="1"/>
          <p:nvPr/>
        </p:nvSpPr>
        <p:spPr>
          <a:xfrm>
            <a:off x="777240" y="1792224"/>
            <a:ext cx="10607040" cy="13258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Discuss the usefulness to Sports Direct of having active trade union membership within its business.  </a:t>
            </a:r>
            <a:pPr indent="0" marL="0">
              <a:spcAft>
                <a:spcPts val="600"/>
              </a:spcAft>
              <a:buNone/>
            </a:pPr>
            <a:r>
              <a:rPr lang="en-US" sz="1300" b="1" dirty="0">
                <a:solidFill>
                  <a:srgbClr val="E0940F"/>
                </a:solidFill>
                <a:latin typeface="Calibri" pitchFamily="34" charset="0"/>
                <a:ea typeface="Calibri" pitchFamily="34" charset="-122"/>
                <a:cs typeface="Calibri" pitchFamily="34" charset="-120"/>
              </a:rPr>
              <a:t>[8]</a:t>
            </a:r>
            <a:endParaRPr lang="en-US" sz="1300" dirty="0"/>
          </a:p>
        </p:txBody>
      </p:sp>
      <p:sp>
        <p:nvSpPr>
          <p:cNvPr id="7" name="Shape 5"/>
          <p:cNvSpPr/>
          <p:nvPr/>
        </p:nvSpPr>
        <p:spPr>
          <a:xfrm>
            <a:off x="548640" y="3364992"/>
            <a:ext cx="5029200" cy="2834640"/>
          </a:xfrm>
          <a:prstGeom prst="roundRect">
            <a:avLst>
              <a:gd name="adj" fmla="val 2581"/>
            </a:avLst>
          </a:prstGeom>
          <a:solidFill>
            <a:srgbClr val="EAF3F4"/>
          </a:solidFill>
          <a:ln/>
          <a:effectLst>
            <a:outerShdw sx="100000" sy="100000" kx="0" ky="0" algn="bl" rotWithShape="0" blurRad="76200" dist="25400" dir="5400000">
              <a:srgbClr val="9AAAB0">
                <a:alpha val="28000"/>
              </a:srgbClr>
            </a:outerShdw>
          </a:effectLst>
        </p:spPr>
      </p:sp>
      <p:sp>
        <p:nvSpPr>
          <p:cNvPr id="8" name="Text 6"/>
          <p:cNvSpPr txBox="1"/>
          <p:nvPr/>
        </p:nvSpPr>
        <p:spPr>
          <a:xfrm>
            <a:off x="749808" y="3474720"/>
            <a:ext cx="4663440" cy="310896"/>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What the question is testing</a:t>
            </a:r>
            <a:endParaRPr lang="en-US" sz="1300" dirty="0"/>
          </a:p>
        </p:txBody>
      </p:sp>
      <p:sp>
        <p:nvSpPr>
          <p:cNvPr id="9" name="Text 7"/>
          <p:cNvSpPr txBox="1"/>
          <p:nvPr/>
        </p:nvSpPr>
        <p:spPr>
          <a:xfrm>
            <a:off x="749808" y="3840480"/>
            <a:ext cx="461772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8-mark Discuss: one way a union helps Sports Direct + one ‘However’ it may not, applied.</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A separate conclusion is not required; stay balanced and applied to Sports Direct.</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Remember Sports Direct's context: low margins, zero-hours, past criticism of working practices.</a:t>
            </a:r>
            <a:endParaRPr lang="en-US" sz="1250" dirty="0"/>
          </a:p>
        </p:txBody>
      </p:sp>
      <p:sp>
        <p:nvSpPr>
          <p:cNvPr id="10" name="Shape 8"/>
          <p:cNvSpPr/>
          <p:nvPr/>
        </p:nvSpPr>
        <p:spPr>
          <a:xfrm>
            <a:off x="5788152" y="3364992"/>
            <a:ext cx="5852160" cy="2834640"/>
          </a:xfrm>
          <a:prstGeom prst="roundRect">
            <a:avLst>
              <a:gd name="adj" fmla="val 2581"/>
            </a:avLst>
          </a:prstGeom>
          <a:solidFill>
            <a:srgbClr val="FBF0D8"/>
          </a:solidFill>
          <a:ln/>
          <a:effectLst>
            <a:outerShdw sx="100000" sy="100000" kx="0" ky="0" algn="bl" rotWithShape="0" blurRad="76200" dist="25400" dir="5400000">
              <a:srgbClr val="9AAAB0">
                <a:alpha val="28000"/>
              </a:srgbClr>
            </a:outerShdw>
          </a:effectLst>
        </p:spPr>
      </p:sp>
      <p:sp>
        <p:nvSpPr>
          <p:cNvPr id="11" name="Text 9"/>
          <p:cNvSpPr txBox="1"/>
          <p:nvPr/>
        </p:nvSpPr>
        <p:spPr>
          <a:xfrm>
            <a:off x="5989320" y="3474720"/>
            <a:ext cx="5486400" cy="310896"/>
          </a:xfrm>
          <a:prstGeom prst="rect">
            <a:avLst/>
          </a:prstGeom>
          <a:noFill/>
          <a:ln/>
        </p:spPr>
        <p:txBody>
          <a:bodyPr wrap="square" lIns="0" tIns="0" rIns="0" bIns="0" rtlCol="0" anchor="ctr"/>
          <a:lstStyle/>
          <a:p>
            <a:pPr indent="0" marL="0">
              <a:buNone/>
            </a:pPr>
            <a:r>
              <a:rPr lang="en-US" sz="1300" b="1" dirty="0">
                <a:solidFill>
                  <a:srgbClr val="8A5A06"/>
                </a:solidFill>
                <a:latin typeface="Calibri" pitchFamily="34" charset="0"/>
                <a:ea typeface="Calibri" pitchFamily="34" charset="-122"/>
                <a:cs typeface="Calibri" pitchFamily="34" charset="-120"/>
              </a:rPr>
              <a:t>Plan (one side, then However)</a:t>
            </a:r>
            <a:endParaRPr lang="en-US" sz="1300" dirty="0"/>
          </a:p>
        </p:txBody>
      </p:sp>
      <p:sp>
        <p:nvSpPr>
          <p:cNvPr id="12" name="Text 10"/>
          <p:cNvSpPr txBox="1"/>
          <p:nvPr/>
        </p:nvSpPr>
        <p:spPr>
          <a:xfrm>
            <a:off x="5989320" y="3840480"/>
            <a:ext cx="544068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FOR: a union gives staff a voice → better dialogue &amp; fairer treatment → higher morale, lower turnover, and improved reputation after past criticism → protects sales &amp; recruitment.</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HOWEVER: collective bargaining may push up wage costs in a low-margin business, slow decisions, and risk industrial action.</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Develop each with a chain and Sports Direct context.</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Judgement (if asked): useful for repairing reputation &amp; morale, but depends on cost and how adversarial relations become.</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7000" b="1" dirty="0">
                <a:solidFill>
                  <a:srgbClr val="FFFFFF"/>
                </a:solidFill>
                <a:latin typeface="Cambria" pitchFamily="34" charset="0"/>
                <a:ea typeface="Cambria" pitchFamily="34" charset="-122"/>
                <a:cs typeface="Cambria" pitchFamily="34" charset="-120"/>
              </a:rPr>
              <a:t>D</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PART D</a:t>
            </a:r>
            <a:endParaRPr lang="en-US" sz="1300" dirty="0"/>
          </a:p>
        </p:txBody>
      </p:sp>
      <p:sp>
        <p:nvSpPr>
          <p:cNvPr id="5" name="Text 3"/>
          <p:cNvSpPr txBox="1"/>
          <p:nvPr/>
        </p:nvSpPr>
        <p:spPr>
          <a:xfrm>
            <a:off x="2834640" y="2487168"/>
            <a:ext cx="8686800" cy="1143000"/>
          </a:xfrm>
          <a:prstGeom prst="rect">
            <a:avLst/>
          </a:prstGeom>
          <a:noFill/>
          <a:ln/>
        </p:spPr>
        <p:txBody>
          <a:bodyPr wrap="square" lIns="0" tIns="0" rIns="0" bIns="0" rtlCol="0" anchor="t"/>
          <a:lstStyle/>
          <a:p>
            <a:pPr indent="0" marL="0">
              <a:buNone/>
            </a:pPr>
            <a:r>
              <a:rPr lang="en-US" sz="3100" b="1" dirty="0">
                <a:solidFill>
                  <a:srgbClr val="FFFFFF"/>
                </a:solidFill>
                <a:latin typeface="Cambria" pitchFamily="34" charset="0"/>
                <a:ea typeface="Cambria" pitchFamily="34" charset="-122"/>
                <a:cs typeface="Cambria" pitchFamily="34" charset="-120"/>
              </a:rPr>
              <a:t>A-grade exam skills</a:t>
            </a:r>
            <a:endParaRPr lang="en-US" sz="31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part:  </a:t>
            </a:r>
            <a:pPr indent="0" marL="0">
              <a:buNone/>
            </a:pPr>
            <a:r>
              <a:rPr lang="en-US" sz="1350" dirty="0">
                <a:solidFill>
                  <a:srgbClr val="D7E6E8"/>
                </a:solidFill>
                <a:latin typeface="Calibri" pitchFamily="34" charset="0"/>
                <a:ea typeface="Calibri" pitchFamily="34" charset="-122"/>
                <a:cs typeface="Calibri" pitchFamily="34" charset="-120"/>
              </a:rPr>
              <a:t>the Sports Direct 20-marker — zero-hours vs part-time  ·  decode, plan, model answer and how to reach the top band</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D · EXAM MASTERY</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The 20-mark: decode it, then plan with 5×5</a:t>
            </a:r>
            <a:endParaRPr lang="en-US" sz="2600" dirty="0"/>
          </a:p>
        </p:txBody>
      </p:sp>
      <p:sp>
        <p:nvSpPr>
          <p:cNvPr id="4" name="Shape 2"/>
          <p:cNvSpPr/>
          <p:nvPr/>
        </p:nvSpPr>
        <p:spPr>
          <a:xfrm>
            <a:off x="548640" y="1371600"/>
            <a:ext cx="11091672" cy="1005840"/>
          </a:xfrm>
          <a:prstGeom prst="roundRect">
            <a:avLst>
              <a:gd name="adj" fmla="val 7273"/>
            </a:avLst>
          </a:prstGeom>
          <a:solidFill>
            <a:srgbClr val="0E3A43"/>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63040"/>
            <a:ext cx="5486400" cy="274320"/>
          </a:xfrm>
          <a:prstGeom prst="rect">
            <a:avLst/>
          </a:prstGeom>
          <a:noFill/>
          <a:ln/>
        </p:spPr>
        <p:txBody>
          <a:bodyPr wrap="square" lIns="0" tIns="0" rIns="0" bIns="0" rtlCol="0" anchor="ctr"/>
          <a:lstStyle/>
          <a:p>
            <a:pPr indent="0" marL="0">
              <a:buNone/>
            </a:pPr>
            <a:r>
              <a:rPr lang="en-US" sz="1050" b="1" spc="150" kern="0" dirty="0">
                <a:solidFill>
                  <a:srgbClr val="7FC4CB"/>
                </a:solidFill>
                <a:latin typeface="Calibri" pitchFamily="34" charset="0"/>
                <a:ea typeface="Calibri" pitchFamily="34" charset="-122"/>
                <a:cs typeface="Calibri" pitchFamily="34" charset="-120"/>
              </a:rPr>
              <a:t>THE QUESTION</a:t>
            </a:r>
            <a:endParaRPr lang="en-US" sz="1050" dirty="0"/>
          </a:p>
        </p:txBody>
      </p:sp>
      <p:sp>
        <p:nvSpPr>
          <p:cNvPr id="6" name="Text 4"/>
          <p:cNvSpPr txBox="1"/>
          <p:nvPr/>
        </p:nvSpPr>
        <p:spPr>
          <a:xfrm>
            <a:off x="777240" y="1755648"/>
            <a:ext cx="1060704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Sports Direct uses zero-hour contracts and part-time employment in its staffing. Evaluate which of these methods is likely to be the most effective for Sports Direct.  </a:t>
            </a:r>
            <a:pPr indent="0" marL="0">
              <a:buNone/>
            </a:pPr>
            <a:r>
              <a:rPr lang="en-US" sz="1300" b="1" dirty="0">
                <a:solidFill>
                  <a:srgbClr val="E0940F"/>
                </a:solidFill>
                <a:latin typeface="Calibri" pitchFamily="34" charset="0"/>
                <a:ea typeface="Calibri" pitchFamily="34" charset="-122"/>
                <a:cs typeface="Calibri" pitchFamily="34" charset="-120"/>
              </a:rPr>
              <a:t>[20]</a:t>
            </a:r>
            <a:endParaRPr lang="en-US" sz="1300" dirty="0"/>
          </a:p>
        </p:txBody>
      </p:sp>
      <p:sp>
        <p:nvSpPr>
          <p:cNvPr id="7" name="Shape 5"/>
          <p:cNvSpPr/>
          <p:nvPr/>
        </p:nvSpPr>
        <p:spPr>
          <a:xfrm>
            <a:off x="548640" y="2514600"/>
            <a:ext cx="5029200" cy="3685032"/>
          </a:xfrm>
          <a:prstGeom prst="roundRect">
            <a:avLst>
              <a:gd name="adj" fmla="val 1985"/>
            </a:avLst>
          </a:prstGeom>
          <a:solidFill>
            <a:srgbClr val="EAF3F4"/>
          </a:solidFill>
          <a:ln/>
          <a:effectLst>
            <a:outerShdw sx="100000" sy="100000" kx="0" ky="0" algn="bl" rotWithShape="0" blurRad="76200" dist="25400" dir="5400000">
              <a:srgbClr val="9AAAB0">
                <a:alpha val="28000"/>
              </a:srgbClr>
            </a:outerShdw>
          </a:effectLst>
        </p:spPr>
      </p:sp>
      <p:sp>
        <p:nvSpPr>
          <p:cNvPr id="8" name="Text 6"/>
          <p:cNvSpPr txBox="1"/>
          <p:nvPr/>
        </p:nvSpPr>
        <p:spPr>
          <a:xfrm>
            <a:off x="749808" y="2624328"/>
            <a:ext cx="4663440" cy="310896"/>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Decode the command</a:t>
            </a:r>
            <a:endParaRPr lang="en-US" sz="1300" dirty="0"/>
          </a:p>
        </p:txBody>
      </p:sp>
      <p:sp>
        <p:nvSpPr>
          <p:cNvPr id="9" name="Text 7"/>
          <p:cNvSpPr txBox="1"/>
          <p:nvPr/>
        </p:nvSpPr>
        <p:spPr>
          <a:xfrm>
            <a:off x="749808" y="2990088"/>
            <a:ext cx="4617720" cy="3108960"/>
          </a:xfrm>
          <a:prstGeom prst="rect">
            <a:avLst/>
          </a:prstGeom>
          <a:noFill/>
          <a:ln/>
        </p:spPr>
        <p:txBody>
          <a:bodyPr wrap="square" lIns="0" tIns="0" rIns="0" bIns="0" rtlCol="0" anchor="t"/>
          <a:lstStyle/>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Evaluate = argue BOTH methods, then judge which is most effective — with a reason</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‘Effective’ for whom/what? Define it: cost, flexibility, service, reputation</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Apply Sports Direct: low margins, ~670 stores, variable retail demand, past criticism</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Level 4 (16–20): balanced, applied, competing arguments, supported judgement</a:t>
            </a:r>
            <a:endParaRPr lang="en-US" sz="1180" dirty="0"/>
          </a:p>
        </p:txBody>
      </p:sp>
      <p:sp>
        <p:nvSpPr>
          <p:cNvPr id="10" name="Shape 8"/>
          <p:cNvSpPr/>
          <p:nvPr/>
        </p:nvSpPr>
        <p:spPr>
          <a:xfrm>
            <a:off x="5788152" y="2514600"/>
            <a:ext cx="5852160" cy="3685032"/>
          </a:xfrm>
          <a:prstGeom prst="roundRect">
            <a:avLst>
              <a:gd name="adj" fmla="val 1985"/>
            </a:avLst>
          </a:prstGeom>
          <a:solidFill>
            <a:srgbClr val="FBF0D8"/>
          </a:solidFill>
          <a:ln/>
          <a:effectLst>
            <a:outerShdw sx="100000" sy="100000" kx="0" ky="0" algn="bl" rotWithShape="0" blurRad="76200" dist="25400" dir="5400000">
              <a:srgbClr val="9AAAB0">
                <a:alpha val="28000"/>
              </a:srgbClr>
            </a:outerShdw>
          </a:effectLst>
        </p:spPr>
      </p:sp>
      <p:sp>
        <p:nvSpPr>
          <p:cNvPr id="11" name="Text 9"/>
          <p:cNvSpPr txBox="1"/>
          <p:nvPr/>
        </p:nvSpPr>
        <p:spPr>
          <a:xfrm>
            <a:off x="5989320" y="2624328"/>
            <a:ext cx="5486400" cy="310896"/>
          </a:xfrm>
          <a:prstGeom prst="rect">
            <a:avLst/>
          </a:prstGeom>
          <a:noFill/>
          <a:ln/>
        </p:spPr>
        <p:txBody>
          <a:bodyPr wrap="square" lIns="0" tIns="0" rIns="0" bIns="0" rtlCol="0" anchor="ctr"/>
          <a:lstStyle/>
          <a:p>
            <a:pPr indent="0" marL="0">
              <a:buNone/>
            </a:pPr>
            <a:r>
              <a:rPr lang="en-US" sz="1300" b="1" dirty="0">
                <a:solidFill>
                  <a:srgbClr val="8A5A06"/>
                </a:solidFill>
                <a:latin typeface="Calibri" pitchFamily="34" charset="0"/>
                <a:ea typeface="Calibri" pitchFamily="34" charset="-122"/>
                <a:cs typeface="Calibri" pitchFamily="34" charset="-120"/>
              </a:rPr>
              <a:t>Plan — essay framework (5×5)</a:t>
            </a:r>
            <a:endParaRPr lang="en-US" sz="1300" dirty="0"/>
          </a:p>
        </p:txBody>
      </p:sp>
      <p:sp>
        <p:nvSpPr>
          <p:cNvPr id="12" name="Text 10"/>
          <p:cNvSpPr txBox="1"/>
          <p:nvPr/>
        </p:nvSpPr>
        <p:spPr>
          <a:xfrm>
            <a:off x="5989320" y="2990088"/>
            <a:ext cx="5440680" cy="3108960"/>
          </a:xfrm>
          <a:prstGeom prst="rect">
            <a:avLst/>
          </a:prstGeom>
          <a:noFill/>
          <a:ln/>
        </p:spPr>
        <p:txBody>
          <a:bodyPr wrap="square" lIns="0" tIns="0" rIns="0" bIns="0" rtlCol="0" anchor="t"/>
          <a:lstStyle/>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Intro: define both; say ‘effective’ = balancing cost/flexibility with service &amp; reputation</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 Part-time FOR → counter (still guaranteed hours = cost)</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 Zero-hours FOR (max flexibility, lowest cost) → counter (insecurity → turnover &amp; reputation)</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Conclusion: a MIX is best; if forced to choose, judge which suits a low-margin retailer — and what it depends on</a:t>
            </a:r>
            <a:endParaRPr lang="en-US" sz="118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D · MODEL ANSWER</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A model 20-mark answer (Sports Direct) — the body</a:t>
            </a:r>
            <a:endParaRPr lang="en-US" sz="2600" dirty="0"/>
          </a:p>
        </p:txBody>
      </p:sp>
      <p:sp>
        <p:nvSpPr>
          <p:cNvPr id="4" name="Shape 2"/>
          <p:cNvSpPr/>
          <p:nvPr/>
        </p:nvSpPr>
        <p:spPr>
          <a:xfrm>
            <a:off x="548640" y="1371600"/>
            <a:ext cx="11091672" cy="1572768"/>
          </a:xfrm>
          <a:prstGeom prst="roundRect">
            <a:avLst>
              <a:gd name="adj" fmla="val 4651"/>
            </a:avLst>
          </a:prstGeom>
          <a:solidFill>
            <a:srgbClr val="E8F3EC"/>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10607040" cy="1371600"/>
          </a:xfrm>
          <a:prstGeom prst="rect">
            <a:avLst/>
          </a:prstGeom>
          <a:noFill/>
          <a:ln/>
        </p:spPr>
        <p:txBody>
          <a:bodyPr wrap="square" lIns="0" tIns="0" rIns="0" bIns="0" rtlCol="0" anchor="t"/>
          <a:lstStyle/>
          <a:p>
            <a:pPr indent="0" marL="0">
              <a:buNone/>
            </a:pPr>
            <a:r>
              <a:rPr lang="en-US" sz="1180" b="1" dirty="0">
                <a:solidFill>
                  <a:srgbClr val="2F8A5B"/>
                </a:solidFill>
                <a:latin typeface="Calibri" pitchFamily="34" charset="0"/>
                <a:ea typeface="Calibri" pitchFamily="34" charset="-122"/>
                <a:cs typeface="Calibri" pitchFamily="34" charset="-120"/>
              </a:rPr>
              <a:t>¶ Part-time (for, then counter).  </a:t>
            </a:r>
            <a:pPr indent="0" marL="0">
              <a:buNone/>
            </a:pPr>
            <a:r>
              <a:rPr lang="en-US" sz="1180" dirty="0">
                <a:solidFill>
                  <a:srgbClr val="1F2A33"/>
                </a:solidFill>
                <a:latin typeface="Calibri" pitchFamily="34" charset="0"/>
                <a:ea typeface="Calibri" pitchFamily="34" charset="-122"/>
                <a:cs typeface="Calibri" pitchFamily="34" charset="-120"/>
              </a:rPr>
              <a:t>Part-time employment gives Sports Direct flexibility to match staffing to busy periods such as weekends and sales, while still offering workers guaranteed hours. This means part-time staff are likely to feel more secure and committed than zero-hours staff, so they stay longer and give better customer service — important for protecting sales in a low-margin retailer. However, because their hours are guaranteed, Sports Direct must pay them even in quiet periods, so part-time is a higher fixed cost than zero-hours.</a:t>
            </a:r>
            <a:endParaRPr lang="en-US" sz="1180" dirty="0"/>
          </a:p>
        </p:txBody>
      </p:sp>
      <p:sp>
        <p:nvSpPr>
          <p:cNvPr id="6" name="Shape 4"/>
          <p:cNvSpPr/>
          <p:nvPr/>
        </p:nvSpPr>
        <p:spPr>
          <a:xfrm>
            <a:off x="548640" y="3017520"/>
            <a:ext cx="11091672" cy="1572768"/>
          </a:xfrm>
          <a:prstGeom prst="roundRect">
            <a:avLst>
              <a:gd name="adj" fmla="val 4651"/>
            </a:avLst>
          </a:prstGeom>
          <a:solidFill>
            <a:srgbClr val="F9EAE6"/>
          </a:solidFill>
          <a:ln/>
          <a:effectLst>
            <a:outerShdw sx="100000" sy="100000" kx="0" ky="0" algn="bl" rotWithShape="0" blurRad="76200" dist="25400" dir="5400000">
              <a:srgbClr val="9AAAB0">
                <a:alpha val="28000"/>
              </a:srgbClr>
            </a:outerShdw>
          </a:effectLst>
        </p:spPr>
      </p:sp>
      <p:sp>
        <p:nvSpPr>
          <p:cNvPr id="7" name="Text 5"/>
          <p:cNvSpPr txBox="1"/>
          <p:nvPr/>
        </p:nvSpPr>
        <p:spPr>
          <a:xfrm>
            <a:off x="777240" y="3127248"/>
            <a:ext cx="10607040" cy="1371600"/>
          </a:xfrm>
          <a:prstGeom prst="rect">
            <a:avLst/>
          </a:prstGeom>
          <a:noFill/>
          <a:ln/>
        </p:spPr>
        <p:txBody>
          <a:bodyPr wrap="square" lIns="0" tIns="0" rIns="0" bIns="0" rtlCol="0" anchor="t"/>
          <a:lstStyle/>
          <a:p>
            <a:pPr indent="0" marL="0">
              <a:buNone/>
            </a:pPr>
            <a:r>
              <a:rPr lang="en-US" sz="1180" b="1" dirty="0">
                <a:solidFill>
                  <a:srgbClr val="C14B37"/>
                </a:solidFill>
                <a:latin typeface="Calibri" pitchFamily="34" charset="0"/>
                <a:ea typeface="Calibri" pitchFamily="34" charset="-122"/>
                <a:cs typeface="Calibri" pitchFamily="34" charset="-120"/>
              </a:rPr>
              <a:t>¶ Zero-hours (for, then counter).  </a:t>
            </a:r>
            <a:pPr indent="0" marL="0">
              <a:buNone/>
            </a:pPr>
            <a:r>
              <a:rPr lang="en-US" sz="1180" dirty="0">
                <a:solidFill>
                  <a:srgbClr val="1F2A33"/>
                </a:solidFill>
                <a:latin typeface="Calibri" pitchFamily="34" charset="0"/>
                <a:ea typeface="Calibri" pitchFamily="34" charset="-122"/>
                <a:cs typeface="Calibri" pitchFamily="34" charset="-120"/>
              </a:rPr>
              <a:t>Zero-hour contracts give Sports Direct maximum flexibility and the lowest wage cost, because it pays only for the hours it actually needs and can scale staff to footfall. In a low-margin business this cost control is valuable. However, the insecurity of zero-hours harms morale and loyalty, raising staff turnover and weakening customer service; it also damaged Sports Direct's reputation when its working practices were criticised, which could deter customers and recruits.</a:t>
            </a:r>
            <a:endParaRPr lang="en-US" sz="1180" dirty="0"/>
          </a:p>
        </p:txBody>
      </p:sp>
      <p:sp>
        <p:nvSpPr>
          <p:cNvPr id="8" name="Shape 6"/>
          <p:cNvSpPr/>
          <p:nvPr/>
        </p:nvSpPr>
        <p:spPr>
          <a:xfrm>
            <a:off x="548640" y="4663440"/>
            <a:ext cx="11091672" cy="1517904"/>
          </a:xfrm>
          <a:prstGeom prst="roundRect">
            <a:avLst>
              <a:gd name="adj" fmla="val 4819"/>
            </a:avLst>
          </a:prstGeom>
          <a:solidFill>
            <a:srgbClr val="0E3A43"/>
          </a:solidFill>
          <a:ln/>
          <a:effectLst>
            <a:outerShdw sx="100000" sy="100000" kx="0" ky="0" algn="bl" rotWithShape="0" blurRad="76200" dist="25400" dir="5400000">
              <a:srgbClr val="9AAAB0">
                <a:alpha val="28000"/>
              </a:srgbClr>
            </a:outerShdw>
          </a:effectLst>
        </p:spPr>
      </p:sp>
      <p:sp>
        <p:nvSpPr>
          <p:cNvPr id="9" name="Text 7"/>
          <p:cNvSpPr txBox="1"/>
          <p:nvPr/>
        </p:nvSpPr>
        <p:spPr>
          <a:xfrm>
            <a:off x="777240" y="4773168"/>
            <a:ext cx="10607040" cy="1316736"/>
          </a:xfrm>
          <a:prstGeom prst="rect">
            <a:avLst/>
          </a:prstGeom>
          <a:noFill/>
          <a:ln/>
        </p:spPr>
        <p:txBody>
          <a:bodyPr wrap="square" lIns="0" tIns="0" rIns="0" bIns="0" rtlCol="0" anchor="t"/>
          <a:lstStyle/>
          <a:p>
            <a:pPr indent="0" marL="0">
              <a:buNone/>
            </a:pPr>
            <a:r>
              <a:rPr lang="en-US" sz="1180" b="1" dirty="0">
                <a:solidFill>
                  <a:srgbClr val="E0940F"/>
                </a:solidFill>
                <a:latin typeface="Calibri" pitchFamily="34" charset="0"/>
                <a:ea typeface="Calibri" pitchFamily="34" charset="-122"/>
                <a:cs typeface="Calibri" pitchFamily="34" charset="-120"/>
              </a:rPr>
              <a:t>Conclusion (4Ws).  </a:t>
            </a:r>
            <a:pPr indent="0" marL="0">
              <a:buNone/>
            </a:pPr>
            <a:r>
              <a:rPr lang="en-US" sz="1180" dirty="0">
                <a:solidFill>
                  <a:srgbClr val="FFFFFF"/>
                </a:solidFill>
                <a:latin typeface="Calibri" pitchFamily="34" charset="0"/>
                <a:ea typeface="Calibri" pitchFamily="34" charset="-122"/>
                <a:cs typeface="Calibri" pitchFamily="34" charset="-120"/>
              </a:rPr>
              <a:t>Overall, the most effective approach for Sports Direct is a MIX — a core of part-time staff for reliable service, plus zero-hours to cover peaks. If forced to choose, part-time is likely more effective in the long term, because the loyalty and service it buys protect sales and reputation, which matter even in a low-margin business. But this depends on how variable demand is and how much Sports Direct values its brand image over short-term wage savings.</a:t>
            </a:r>
            <a:endParaRPr lang="en-US" sz="118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D · REACHING THE TOP BAND</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How to turn this into a Level 4 answer</a:t>
            </a:r>
            <a:endParaRPr lang="en-US" sz="2600" dirty="0"/>
          </a:p>
        </p:txBody>
      </p:sp>
      <p:sp>
        <p:nvSpPr>
          <p:cNvPr id="4" name="Shape 2"/>
          <p:cNvSpPr/>
          <p:nvPr/>
        </p:nvSpPr>
        <p:spPr>
          <a:xfrm>
            <a:off x="548640" y="1463040"/>
            <a:ext cx="5440680" cy="4663440"/>
          </a:xfrm>
          <a:prstGeom prst="roundRect">
            <a:avLst>
              <a:gd name="adj" fmla="val 1569"/>
            </a:avLst>
          </a:prstGeom>
          <a:solidFill>
            <a:srgbClr val="E8F3EC"/>
          </a:solidFill>
          <a:ln/>
          <a:effectLst>
            <a:outerShdw sx="100000" sy="100000" kx="0" ky="0" algn="bl" rotWithShape="0" blurRad="76200" dist="25400" dir="5400000">
              <a:srgbClr val="9AAAB0">
                <a:alpha val="28000"/>
              </a:srgbClr>
            </a:outerShdw>
          </a:effectLst>
        </p:spPr>
      </p:sp>
      <p:sp>
        <p:nvSpPr>
          <p:cNvPr id="5" name="Shape 3"/>
          <p:cNvSpPr/>
          <p:nvPr/>
        </p:nvSpPr>
        <p:spPr>
          <a:xfrm>
            <a:off x="777240" y="1627632"/>
            <a:ext cx="3291840" cy="310896"/>
          </a:xfrm>
          <a:prstGeom prst="roundRect">
            <a:avLst>
              <a:gd name="adj" fmla="val 50000"/>
            </a:avLst>
          </a:prstGeom>
          <a:solidFill>
            <a:srgbClr val="2F8A5B"/>
          </a:solidFill>
          <a:ln/>
        </p:spPr>
      </p:sp>
      <p:sp>
        <p:nvSpPr>
          <p:cNvPr id="6" name="Text 4"/>
          <p:cNvSpPr txBox="1"/>
          <p:nvPr/>
        </p:nvSpPr>
        <p:spPr>
          <a:xfrm>
            <a:off x="777240" y="1627632"/>
            <a:ext cx="329184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TO REACH LEVEL 4</a:t>
            </a:r>
            <a:endParaRPr lang="en-US" sz="1050" dirty="0"/>
          </a:p>
        </p:txBody>
      </p:sp>
      <p:sp>
        <p:nvSpPr>
          <p:cNvPr id="7" name="Text 5"/>
          <p:cNvSpPr txBox="1"/>
          <p:nvPr/>
        </p:nvSpPr>
        <p:spPr>
          <a:xfrm>
            <a:off x="777240" y="2103120"/>
            <a:ext cx="4983480" cy="393192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DEFINE ‘effective’ early (cost, flexibility, service, reputation) — then judge against it</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Argue BOTH methods with a point AND a counter each</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Apply Sports Direct throughout — low margins, variable demand, past criticism</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Build 2+ step chains with connectives (this means… as a result… however…)</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Commit to a judgement AND say what it depends on</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A realistic ‘mix’ conclusion shows maturity — but still answer ‘which’</a:t>
            </a:r>
            <a:endParaRPr lang="en-US" sz="1250" dirty="0"/>
          </a:p>
        </p:txBody>
      </p:sp>
      <p:sp>
        <p:nvSpPr>
          <p:cNvPr id="8" name="Shape 6"/>
          <p:cNvSpPr/>
          <p:nvPr/>
        </p:nvSpPr>
        <p:spPr>
          <a:xfrm>
            <a:off x="6199632" y="1463040"/>
            <a:ext cx="5440680" cy="4663440"/>
          </a:xfrm>
          <a:prstGeom prst="roundRect">
            <a:avLst>
              <a:gd name="adj" fmla="val 1569"/>
            </a:avLst>
          </a:prstGeom>
          <a:solidFill>
            <a:srgbClr val="F9EAE6"/>
          </a:solidFill>
          <a:ln/>
          <a:effectLst>
            <a:outerShdw sx="100000" sy="100000" kx="0" ky="0" algn="bl" rotWithShape="0" blurRad="76200" dist="25400" dir="5400000">
              <a:srgbClr val="9AAAB0">
                <a:alpha val="28000"/>
              </a:srgbClr>
            </a:outerShdw>
          </a:effectLst>
        </p:spPr>
      </p:sp>
      <p:sp>
        <p:nvSpPr>
          <p:cNvPr id="9" name="Shape 7"/>
          <p:cNvSpPr/>
          <p:nvPr/>
        </p:nvSpPr>
        <p:spPr>
          <a:xfrm>
            <a:off x="6428232" y="1627632"/>
            <a:ext cx="3840480" cy="310896"/>
          </a:xfrm>
          <a:prstGeom prst="roundRect">
            <a:avLst>
              <a:gd name="adj" fmla="val 50000"/>
            </a:avLst>
          </a:prstGeom>
          <a:solidFill>
            <a:srgbClr val="C14B37"/>
          </a:solidFill>
          <a:ln/>
        </p:spPr>
      </p:sp>
      <p:sp>
        <p:nvSpPr>
          <p:cNvPr id="10" name="Text 8"/>
          <p:cNvSpPr txBox="1"/>
          <p:nvPr/>
        </p:nvSpPr>
        <p:spPr>
          <a:xfrm>
            <a:off x="6428232" y="1627632"/>
            <a:ext cx="384048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WHAT DROPS TO LEVEL 2–3</a:t>
            </a:r>
            <a:endParaRPr lang="en-US" sz="1050" dirty="0"/>
          </a:p>
        </p:txBody>
      </p:sp>
      <p:sp>
        <p:nvSpPr>
          <p:cNvPr id="11" name="Text 9"/>
          <p:cNvSpPr txBox="1"/>
          <p:nvPr/>
        </p:nvSpPr>
        <p:spPr>
          <a:xfrm>
            <a:off x="6428232" y="2103120"/>
            <a:ext cx="4983480" cy="393192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Describing zero-hours &amp; part-time with no Sports Direct context</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Only arguing one method, or listing pros/cons with no chains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No definition of ‘effective’ — so no basis to judge</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Chains that stop at ‘it saves money’ or ‘staff are unhappy’</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No judgement, or a judgement with no ‘depends on’</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Ignoring the low-margin / reputation context that makes this case distinctive</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822960" y="640080"/>
            <a:ext cx="10515600" cy="365760"/>
          </a:xfrm>
          <a:prstGeom prst="rect">
            <a:avLst/>
          </a:prstGeom>
          <a:noFill/>
          <a:ln/>
        </p:spPr>
        <p:txBody>
          <a:bodyPr wrap="square" lIns="0" tIns="0" rIns="0" bIns="0" rtlCol="0" anchor="ctr"/>
          <a:lstStyle/>
          <a:p>
            <a:pPr indent="0" marL="0">
              <a:buNone/>
            </a:pPr>
            <a:r>
              <a:rPr lang="en-US" sz="1300" b="1" spc="200" kern="0" dirty="0">
                <a:solidFill>
                  <a:srgbClr val="E0940F"/>
                </a:solidFill>
                <a:latin typeface="Calibri" pitchFamily="34" charset="0"/>
                <a:ea typeface="Calibri" pitchFamily="34" charset="-122"/>
                <a:cs typeface="Calibri" pitchFamily="34" charset="-120"/>
              </a:rPr>
              <a:t>PUTTING IT TOGETHER</a:t>
            </a:r>
            <a:endParaRPr lang="en-US" sz="1300" dirty="0"/>
          </a:p>
        </p:txBody>
      </p:sp>
      <p:sp>
        <p:nvSpPr>
          <p:cNvPr id="3" name="Text 1"/>
          <p:cNvSpPr txBox="1"/>
          <p:nvPr/>
        </p:nvSpPr>
        <p:spPr>
          <a:xfrm>
            <a:off x="822960" y="1005840"/>
            <a:ext cx="10515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Answering staffing questions</a:t>
            </a:r>
            <a:endParaRPr lang="en-US" sz="3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822960" y="1828800"/>
          <a:ext cx="10543032" cy="914400"/>
        </p:xfrm>
        <a:graphic>
          <a:graphicData uri="http://schemas.openxmlformats.org/drawingml/2006/table">
            <a:tbl>
              <a:tblPr/>
              <a:tblGrid>
                <a:gridCol w="1188720"/>
                <a:gridCol w="2651760"/>
                <a:gridCol w="6702552"/>
              </a:tblGrid>
              <a:tr h="457200">
                <a:tc>
                  <a:txBody>
                    <a:bodyPr/>
                    <a:lstStyle/>
                    <a:p>
                      <a:pPr algn="l" indent="0" marL="0">
                        <a:buNone/>
                      </a:pPr>
                      <a:r>
                        <a:rPr lang="en-US" sz="1350" b="1" dirty="0">
                          <a:solidFill>
                            <a:srgbClr val="0E3A43"/>
                          </a:solidFill>
                          <a:latin typeface="Calibri" pitchFamily="34" charset="0"/>
                          <a:ea typeface="Calibri" pitchFamily="34" charset="-122"/>
                          <a:cs typeface="Calibri" pitchFamily="34" charset="-120"/>
                        </a:rPr>
                        <a:t>Marks</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E0940F"/>
                    </a:solidFill>
                  </a:tcPr>
                </a:tc>
                <a:tc>
                  <a:txBody>
                    <a:bodyPr/>
                    <a:lstStyle/>
                    <a:p>
                      <a:pPr algn="l" indent="0" marL="0">
                        <a:buNone/>
                      </a:pPr>
                      <a:r>
                        <a:rPr lang="en-US" sz="1350" b="1" dirty="0">
                          <a:solidFill>
                            <a:srgbClr val="0E3A43"/>
                          </a:solidFill>
                          <a:latin typeface="Calibri" pitchFamily="34" charset="0"/>
                          <a:ea typeface="Calibri" pitchFamily="34" charset="-122"/>
                          <a:cs typeface="Calibri" pitchFamily="34" charset="-120"/>
                        </a:rPr>
                        <a:t>Command</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E0940F"/>
                    </a:solidFill>
                  </a:tcPr>
                </a:tc>
                <a:tc>
                  <a:txBody>
                    <a:bodyPr/>
                    <a:lstStyle/>
                    <a:p>
                      <a:pPr algn="l" indent="0" marL="0">
                        <a:buNone/>
                      </a:pPr>
                      <a:r>
                        <a:rPr lang="en-US" sz="1350" b="1" dirty="0">
                          <a:solidFill>
                            <a:srgbClr val="0E3A43"/>
                          </a:solidFill>
                          <a:latin typeface="Calibri" pitchFamily="34" charset="0"/>
                          <a:ea typeface="Calibri" pitchFamily="34" charset="-122"/>
                          <a:cs typeface="Calibri" pitchFamily="34" charset="-120"/>
                        </a:rPr>
                        <a:t>What to do</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E0940F"/>
                    </a:solidFill>
                  </a:tcPr>
                </a:tc>
              </a:tr>
              <a:tr h="621792">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2</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Define</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Meaning + an example (zero-hours, staff as asset, redundancy…).</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658368">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4</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Explain</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Knowledge + two pieces of business evidence + one consequence.</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658368">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6</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Analyse</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Two points, each applied, each with a developed chain. No judgement.</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658368">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8 / 10</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Discuss / Assess</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Both sides, applied, + a supported judgement (4Ws).</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749808">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20</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Evaluate</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Essay framework / 5×5: both sides, applied, + a supported ‘it depends’ judgement.</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bl>
          </a:graphicData>
        </a:graphic>
      </p:graphicFrame>
      <p:sp>
        <p:nvSpPr>
          <p:cNvPr id="5" name="Text 2"/>
          <p:cNvSpPr txBox="1"/>
          <p:nvPr/>
        </p:nvSpPr>
        <p:spPr>
          <a:xfrm>
            <a:off x="822960" y="5715000"/>
            <a:ext cx="10515600" cy="457200"/>
          </a:xfrm>
          <a:prstGeom prst="rect">
            <a:avLst/>
          </a:prstGeom>
          <a:noFill/>
          <a:ln/>
        </p:spPr>
        <p:txBody>
          <a:bodyPr wrap="square" lIns="0" tIns="0" rIns="0" bIns="0" rtlCol="0" anchor="ctr"/>
          <a:lstStyle/>
          <a:p>
            <a:pPr indent="0" marL="0">
              <a:buNone/>
            </a:pPr>
            <a:r>
              <a:rPr lang="en-US" sz="1250" i="1" dirty="0">
                <a:solidFill>
                  <a:srgbClr val="9FBCC0"/>
                </a:solidFill>
                <a:latin typeface="Calibri" pitchFamily="34" charset="0"/>
                <a:ea typeface="Calibri" pitchFamily="34" charset="-122"/>
                <a:cs typeface="Calibri" pitchFamily="34" charset="-120"/>
              </a:rPr>
              <a:t>Golden thread: flexibility &amp; low cost help the business, but can cost loyalty, service and reputation — the best staffing choice balances the two for that firm.</a:t>
            </a:r>
            <a:endParaRPr lang="en-US" sz="1250" dirty="0"/>
          </a:p>
        </p:txBody>
      </p:sp>
      <p:sp>
        <p:nvSpPr>
          <p:cNvPr id="6" name="Text 3"/>
          <p:cNvSpPr txBox="1"/>
          <p:nvPr/>
        </p:nvSpPr>
        <p:spPr>
          <a:xfrm>
            <a:off x="822960" y="6172200"/>
            <a:ext cx="10515600" cy="320040"/>
          </a:xfrm>
          <a:prstGeom prst="rect">
            <a:avLst/>
          </a:prstGeom>
          <a:noFill/>
          <a:ln/>
        </p:spPr>
        <p:txBody>
          <a:bodyPr wrap="square" lIns="0" tIns="0" rIns="0" bIns="0" rtlCol="0" anchor="ctr"/>
          <a:lstStyle/>
          <a:p>
            <a:pPr indent="0" marL="0">
              <a:buNone/>
            </a:pPr>
            <a:r>
              <a:rPr lang="en-US" sz="1250" b="1" dirty="0">
                <a:solidFill>
                  <a:srgbClr val="7FC4CB"/>
                </a:solidFill>
                <a:latin typeface="Calibri" pitchFamily="34" charset="0"/>
                <a:ea typeface="Calibri" pitchFamily="34" charset="-122"/>
                <a:cs typeface="Calibri" pitchFamily="34" charset="-120"/>
              </a:rPr>
              <a:t>Next in 1.3.4: Recruitment, selection &amp; training.</a:t>
            </a:r>
            <a:endParaRPr lang="en-US" sz="1250" dirty="0"/>
          </a:p>
        </p:txBody>
      </p:sp>
    </p:spTree>
  </p:cSld>
  <p:clrMapOvr>
    <a:masterClrMapping/>
  </p:clrMapOvr>
</p:sld>
</file>

<file path=ppt/theme/theme1.xml><?xml version="1.0" encoding="utf-8"?>
<a:theme xmlns:a="http://schemas.openxmlformats.org/drawingml/2006/main" name="IAL Marketing">
  <a:themeElements>
    <a:clrScheme name="IAL Marketing">
      <a:dk1>
        <a:srgbClr val="1F2A33"/>
      </a:dk1>
      <a:lt1>
        <a:srgbClr val="FFFFFF"/>
      </a:lt1>
      <a:dk2>
        <a:srgbClr val="0E3A43"/>
      </a:dk2>
      <a:lt2>
        <a:srgbClr val="EAF3F4"/>
      </a:lt2>
      <a:accent1>
        <a:srgbClr val="0E7C86"/>
      </a:accent1>
      <a:accent2>
        <a:srgbClr val="E0940F"/>
      </a:accent2>
      <a:accent3>
        <a:srgbClr val="2F8A5B"/>
      </a:accent3>
      <a:accent4>
        <a:srgbClr val="C14B37"/>
      </a:accent4>
      <a:accent5>
        <a:srgbClr val="5B6B73"/>
      </a:accent5>
      <a:accent6>
        <a:srgbClr val="6B4FA0"/>
      </a:accent6>
      <a:hlink>
        <a:srgbClr val="0E7C86"/>
      </a:hlink>
      <a:folHlink>
        <a:srgbClr val="0B5E66"/>
      </a:folHlink>
    </a:clrScheme>
    <a:fontScheme name="IAL Market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GEMS Metropole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Mr. Akram</dc:creator>
  <cp:lastModifiedBy>Mr. Akram</cp:lastModifiedBy>
  <cp:revision>1</cp:revision>
  <dcterms:created xsi:type="dcterms:W3CDTF">2026-10-20T12:04:46Z</dcterms:created>
  <dcterms:modified xsi:type="dcterms:W3CDTF">2026-10-20T12:04:46Z</dcterms:modified>
</cp:coreProperties>
</file>