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Structure" id="{d826ee8f-5c62-bd36-84a5-b5d3f7b55b8c}">
          <p14:sldIdLst>
            <p14:sldId id="259"/>
            <p14:sldId id="260"/>
            <p14:sldId id="261"/>
            <p14:sldId id="262"/>
            <p14:sldId id="263"/>
          </p14:sldIdLst>
        </p14:section>
        <p14:section name="B · Types of structure" id="{fb8ef78f-c074-eea7-457a-670274b0cf2f}">
          <p14:sldIdLst>
            <p14:sldId id="264"/>
            <p14:sldId id="265"/>
            <p14:sldId id="266"/>
          </p14:sldIdLst>
        </p14:section>
        <p14:section name="C · Impact" id="{fc78ef3e-0ce5-1774-a5c3-1f34b3571420}">
          <p14:sldIdLst>
            <p14:sldId id="267"/>
            <p14:sldId id="268"/>
          </p14:sldIdLst>
        </p14:section>
        <p14:section name="D · A-grade exam skills" id="{fa10e471-7cc7-0a69-335a-1bed576cd091}">
          <p14:sldIdLst>
            <p14:sldId id="269"/>
            <p14:sldId id="270"/>
            <p14:sldId id="271"/>
            <p14:sldId id="272"/>
          </p14:sldIdLst>
        </p14:section>
        <p14:section name="Default-1" id="{93d052c8-0785-4493-a906-93831d1ab532}">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organisational design (spec 1.3.4 'Managing people', section 3 of 5), pitched for A-grade students. Same house style. Covers ALL spec parts: structure (hierarchy, chain of command, span of control, centralised vs decentralised), the three types of structure (tall, flat, matrix), and the impact on efficiency and motivation. Cases: McDonald's and Indian Food Company Ltd. Third of five decks for 1.3.4. NOTE: the student calls Managing people '1.4'; in the spec it is 1.3.4.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tags map each part to the spec so nothing is missed: 3a structure, 3b types, 3c impact. Organisational design = how a business arranges its people, roles and reporting lines. The recurring evaluation theme is control &amp; consistency vs speed &amp; motivation - taller/centralised gives control; flatter/decentralised gives responsiveness and empowerment.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of 5 in Managing people. Structure shapes how fast a firm decides, how much it costs to run, how consistent it is, and how motivated staff feel - so it connects forward to motivation and leadership and feeds Unit 3's growth and change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chart to anchor all four terms at once. Hierarchy = the ranking/levels; chain of command = the vertical line authority flows down; span of control = how many people one manager directly oversees. A long chain of command + narrow spans = a TALL structure (next part). Span of control: 'think the wing-span of a bird' - how wide a manager reaches.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Narrow span = few reports each (tight control, taller structure); wide span = many reports each (more delegation, flatter structure). The two are linked: narrow spans force more layers; wide spans allow fewer. The trade-off: control &amp; supervision (narrow) vs empowerment, speed &amp; lower cost (wide).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Centralised = control stays at the top (consistency, brand, economies of scale, but slow &amp; can demotivate). Decentralised = power delegated locally (fast, responsive, motivating, but less consistent &amp; possible diseconomies). McDonald's is the anchor: centralised core menu &amp; brand for consistency and scale, with selective local decentralisation - the hybrid most big chains use. This is the 20-marker.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Tall = many layers + narrow spans + long chain of command (control &amp; progression, but slow &amp; costly). Flat = few layers + wide spans + short chain (fast, cheap, empowering, but managers stretched). Delayering = removing layers to go flatter - cuts cost and speeds decisions but widens spans and removes promotion rungs. Which is better depends on size, market speed and leadership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Matrix = organised by function AND project at once, so staff have two managers. Good for cross-functional, project-driven work (shares expertise, flexible, motivating) but the dual reporting causes conflicting demands and accountability confusion. Examples: aerospace (Boeing), construction, consultancies, big tech projects. The 'two bosses' tension is the examinable drawback.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point 3(c) - the impact, which is what evaluation questions reward. Efficiency: flatter/decentralised = faster &amp; cheaper but less control; taller/centralised = controlled &amp; consistent but slow &amp; costly. Motivation: delegation &amp; autonomy motivate (link to Maslow esteem, Herzberg motivators - previewing section 4); close supervision can demotivate, though promotion rungs in a tall structure can motivate. Always conclude 'it depends' on size, market, leadership and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your McDonald's essay plan. Key facts: 36,900 outlets, 100+ countries, standardised global core menu (Big Mac, fries), franchise model, economies of scale. The A-grade judgement is a HYBRID: McDonald's brand consistency and scale are its competitive advantage, so full decentralisation is too risky - but selective local decentralisation (menu, marketing) captures responsiveness without losing the core. Weave in Maslow/Herzberg (motivation) for synoptic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applied paragraphs weaving in the case facts and motivation theory. The synoptic links (Maslow/Herzberg) lift it, and the counter-arguments are specific to McDonald's (brand consistency, economies of scale, promotional costs). Note the structure: for centralised → for decentralised → against decentralised, building towards the hybrid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hybrid conclusion is the Level 4 move: it commits (don't fully decentralise; adopt a hybrid) while staying conditional (depends on how distinct and dynamic the market is). Students who argue only one side, or give a blunt yes/no, cap at Level 2-3. The synoptic use of Maslow/Herzberg and McDonald's-specific facts (economies of scale, brand consistency) are what examiners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completes section 3 of 5 in Managing people, with every spec part covered: structure terms (3a), tall/flat/matrix (3b), impact on efficiency &amp; motivation (3c). Students should be able to read/draw an org chart, define the key terms, weigh centralised vs decentralised and tall/flat/matrix, and argue a structure 20-marker towards a hybrid judgement. Motivation is the next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100584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1.3.4 Managing people  (Organisational design)</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88136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Organisational Design</a:t>
            </a:r>
            <a:endParaRPr lang="en-US" sz="4400" dirty="0"/>
          </a:p>
        </p:txBody>
      </p:sp>
      <p:sp>
        <p:nvSpPr>
          <p:cNvPr id="4" name="Text 2"/>
          <p:cNvSpPr txBox="1"/>
          <p:nvPr/>
        </p:nvSpPr>
        <p:spPr>
          <a:xfrm>
            <a:off x="822960" y="2697480"/>
            <a:ext cx="10515600" cy="457200"/>
          </a:xfrm>
          <a:prstGeom prst="rect">
            <a:avLst/>
          </a:prstGeom>
          <a:noFill/>
          <a:ln/>
        </p:spPr>
        <p:txBody>
          <a:bodyPr wrap="square" lIns="0" tIns="0" rIns="0" bIns="0" rtlCol="0" anchor="ctr"/>
          <a:lstStyle/>
          <a:p>
            <a:pPr indent="0" marL="0">
              <a:buNone/>
            </a:pPr>
            <a:r>
              <a:rPr lang="en-US" sz="1500" i="1" dirty="0">
                <a:solidFill>
                  <a:srgbClr val="D7E6E8"/>
                </a:solidFill>
                <a:latin typeface="Calibri" pitchFamily="34" charset="0"/>
                <a:ea typeface="Calibri" pitchFamily="34" charset="-122"/>
                <a:cs typeface="Calibri" pitchFamily="34" charset="-120"/>
              </a:rPr>
              <a:t>Spec 1.3.4 Managing people (section 3 of 5)  —  a tutoring guide: structures, the trade-offs, and A-grade exam practice</a:t>
            </a:r>
            <a:endParaRPr lang="en-US" sz="1500" dirty="0"/>
          </a:p>
        </p:txBody>
      </p:sp>
      <p:sp>
        <p:nvSpPr>
          <p:cNvPr id="5" name="Shape 3"/>
          <p:cNvSpPr/>
          <p:nvPr/>
        </p:nvSpPr>
        <p:spPr>
          <a:xfrm>
            <a:off x="822960" y="3794760"/>
            <a:ext cx="1894637"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794760"/>
            <a:ext cx="1894637"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Hierarchy &amp; span</a:t>
            </a:r>
            <a:endParaRPr lang="en-US" sz="1250" dirty="0"/>
          </a:p>
        </p:txBody>
      </p:sp>
      <p:sp>
        <p:nvSpPr>
          <p:cNvPr id="7" name="Shape 5"/>
          <p:cNvSpPr/>
          <p:nvPr/>
        </p:nvSpPr>
        <p:spPr>
          <a:xfrm>
            <a:off x="2900477" y="3794760"/>
            <a:ext cx="2816352"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2900477" y="3794760"/>
            <a:ext cx="2816352"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Centralised/decentralised</a:t>
            </a:r>
            <a:endParaRPr lang="en-US" sz="1250" dirty="0"/>
          </a:p>
        </p:txBody>
      </p:sp>
      <p:sp>
        <p:nvSpPr>
          <p:cNvPr id="9" name="Shape 7"/>
          <p:cNvSpPr/>
          <p:nvPr/>
        </p:nvSpPr>
        <p:spPr>
          <a:xfrm>
            <a:off x="5899709" y="3794760"/>
            <a:ext cx="2304288"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5899709" y="3794760"/>
            <a:ext cx="230428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Tall · flat · matrix</a:t>
            </a:r>
            <a:endParaRPr lang="en-US" sz="1250" dirty="0"/>
          </a:p>
        </p:txBody>
      </p:sp>
      <p:sp>
        <p:nvSpPr>
          <p:cNvPr id="11" name="Shape 9"/>
          <p:cNvSpPr/>
          <p:nvPr/>
        </p:nvSpPr>
        <p:spPr>
          <a:xfrm>
            <a:off x="8386877" y="3794760"/>
            <a:ext cx="2611526"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8386877" y="3794760"/>
            <a:ext cx="261152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Efficiency &amp; motivation</a:t>
            </a:r>
            <a:endParaRPr lang="en-US" sz="1250" dirty="0"/>
          </a:p>
        </p:txBody>
      </p:sp>
      <p:sp>
        <p:nvSpPr>
          <p:cNvPr id="13" name="Text 11"/>
          <p:cNvSpPr txBox="1"/>
          <p:nvPr/>
        </p:nvSpPr>
        <p:spPr>
          <a:xfrm>
            <a:off x="822960" y="598932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McDonald's · Indian Food Company Ltd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What this lesson covers — the full spec</a:t>
            </a:r>
            <a:endParaRPr lang="en-US" sz="2600" dirty="0"/>
          </a:p>
        </p:txBody>
      </p:sp>
      <p:sp>
        <p:nvSpPr>
          <p:cNvPr id="4" name="Shape 2"/>
          <p:cNvSpPr/>
          <p:nvPr/>
        </p:nvSpPr>
        <p:spPr>
          <a:xfrm>
            <a:off x="548640" y="1508760"/>
            <a:ext cx="11091672" cy="960120"/>
          </a:xfrm>
          <a:prstGeom prst="roundRect">
            <a:avLst>
              <a:gd name="adj" fmla="val 7619"/>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31520" y="1764792"/>
            <a:ext cx="493776" cy="493776"/>
          </a:xfrm>
          <a:prstGeom prst="roundRect">
            <a:avLst>
              <a:gd name="adj" fmla="val 18519"/>
            </a:avLst>
          </a:prstGeom>
          <a:solidFill>
            <a:srgbClr val="0E7C86"/>
          </a:solidFill>
          <a:ln/>
        </p:spPr>
      </p:sp>
      <p:sp>
        <p:nvSpPr>
          <p:cNvPr id="6" name="Text 4"/>
          <p:cNvSpPr txBox="1"/>
          <p:nvPr/>
        </p:nvSpPr>
        <p:spPr>
          <a:xfrm>
            <a:off x="731520" y="1764792"/>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Text 5"/>
          <p:cNvSpPr txBox="1"/>
          <p:nvPr/>
        </p:nvSpPr>
        <p:spPr>
          <a:xfrm>
            <a:off x="1417320" y="1691640"/>
            <a:ext cx="4480560" cy="59436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Structure: the key terms</a:t>
            </a:r>
            <a:endParaRPr lang="en-US" sz="1500" dirty="0"/>
          </a:p>
        </p:txBody>
      </p:sp>
      <p:sp>
        <p:nvSpPr>
          <p:cNvPr id="8" name="Text 6"/>
          <p:cNvSpPr txBox="1"/>
          <p:nvPr/>
        </p:nvSpPr>
        <p:spPr>
          <a:xfrm>
            <a:off x="5989320" y="1691640"/>
            <a:ext cx="4663440" cy="59436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Hierarchy · chain of command · span of control · centralised vs decentralised</a:t>
            </a:r>
            <a:endParaRPr lang="en-US" sz="1200" dirty="0"/>
          </a:p>
        </p:txBody>
      </p:sp>
      <p:sp>
        <p:nvSpPr>
          <p:cNvPr id="9" name="Shape 7"/>
          <p:cNvSpPr/>
          <p:nvPr/>
        </p:nvSpPr>
        <p:spPr>
          <a:xfrm>
            <a:off x="10698480" y="1819656"/>
            <a:ext cx="822960" cy="365760"/>
          </a:xfrm>
          <a:prstGeom prst="roundRect">
            <a:avLst>
              <a:gd name="adj" fmla="val 25000"/>
            </a:avLst>
          </a:prstGeom>
          <a:solidFill>
            <a:srgbClr val="FBF0D8"/>
          </a:solidFill>
          <a:ln/>
        </p:spPr>
      </p:sp>
      <p:sp>
        <p:nvSpPr>
          <p:cNvPr id="10" name="Text 8"/>
          <p:cNvSpPr txBox="1"/>
          <p:nvPr/>
        </p:nvSpPr>
        <p:spPr>
          <a:xfrm>
            <a:off x="10698480" y="1819656"/>
            <a:ext cx="822960" cy="365760"/>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1.3.4 (3a)</a:t>
            </a:r>
            <a:endParaRPr lang="en-US" sz="950" dirty="0"/>
          </a:p>
        </p:txBody>
      </p:sp>
      <p:sp>
        <p:nvSpPr>
          <p:cNvPr id="11" name="Shape 9"/>
          <p:cNvSpPr/>
          <p:nvPr/>
        </p:nvSpPr>
        <p:spPr>
          <a:xfrm>
            <a:off x="548640" y="2578608"/>
            <a:ext cx="11091672" cy="960120"/>
          </a:xfrm>
          <a:prstGeom prst="roundRect">
            <a:avLst>
              <a:gd name="adj" fmla="val 761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731520" y="2834640"/>
            <a:ext cx="493776" cy="493776"/>
          </a:xfrm>
          <a:prstGeom prst="roundRect">
            <a:avLst>
              <a:gd name="adj" fmla="val 18519"/>
            </a:avLst>
          </a:prstGeom>
          <a:solidFill>
            <a:srgbClr val="0E7C86"/>
          </a:solidFill>
          <a:ln/>
        </p:spPr>
      </p:sp>
      <p:sp>
        <p:nvSpPr>
          <p:cNvPr id="13" name="Text 11"/>
          <p:cNvSpPr txBox="1"/>
          <p:nvPr/>
        </p:nvSpPr>
        <p:spPr>
          <a:xfrm>
            <a:off x="731520" y="283464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4" name="Text 12"/>
          <p:cNvSpPr txBox="1"/>
          <p:nvPr/>
        </p:nvSpPr>
        <p:spPr>
          <a:xfrm>
            <a:off x="1417320" y="2761488"/>
            <a:ext cx="4480560" cy="59436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Types of structure</a:t>
            </a:r>
            <a:endParaRPr lang="en-US" sz="1500" dirty="0"/>
          </a:p>
        </p:txBody>
      </p:sp>
      <p:sp>
        <p:nvSpPr>
          <p:cNvPr id="15" name="Text 13"/>
          <p:cNvSpPr txBox="1"/>
          <p:nvPr/>
        </p:nvSpPr>
        <p:spPr>
          <a:xfrm>
            <a:off x="5989320" y="2761488"/>
            <a:ext cx="4663440" cy="59436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Tall · flat · matrix — with diagrams</a:t>
            </a:r>
            <a:endParaRPr lang="en-US" sz="1200" dirty="0"/>
          </a:p>
        </p:txBody>
      </p:sp>
      <p:sp>
        <p:nvSpPr>
          <p:cNvPr id="16" name="Shape 14"/>
          <p:cNvSpPr/>
          <p:nvPr/>
        </p:nvSpPr>
        <p:spPr>
          <a:xfrm>
            <a:off x="10698480" y="2889504"/>
            <a:ext cx="822960" cy="365760"/>
          </a:xfrm>
          <a:prstGeom prst="roundRect">
            <a:avLst>
              <a:gd name="adj" fmla="val 25000"/>
            </a:avLst>
          </a:prstGeom>
          <a:solidFill>
            <a:srgbClr val="FBF0D8"/>
          </a:solidFill>
          <a:ln/>
        </p:spPr>
      </p:sp>
      <p:sp>
        <p:nvSpPr>
          <p:cNvPr id="17" name="Text 15"/>
          <p:cNvSpPr txBox="1"/>
          <p:nvPr/>
        </p:nvSpPr>
        <p:spPr>
          <a:xfrm>
            <a:off x="10698480" y="2889504"/>
            <a:ext cx="822960" cy="365760"/>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1.3.4 (3b)</a:t>
            </a:r>
            <a:endParaRPr lang="en-US" sz="950" dirty="0"/>
          </a:p>
        </p:txBody>
      </p:sp>
      <p:sp>
        <p:nvSpPr>
          <p:cNvPr id="18" name="Shape 16"/>
          <p:cNvSpPr/>
          <p:nvPr/>
        </p:nvSpPr>
        <p:spPr>
          <a:xfrm>
            <a:off x="548640" y="3648456"/>
            <a:ext cx="11091672" cy="960120"/>
          </a:xfrm>
          <a:prstGeom prst="roundRect">
            <a:avLst>
              <a:gd name="adj" fmla="val 761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9" name="Shape 17"/>
          <p:cNvSpPr/>
          <p:nvPr/>
        </p:nvSpPr>
        <p:spPr>
          <a:xfrm>
            <a:off x="731520" y="3904488"/>
            <a:ext cx="493776" cy="493776"/>
          </a:xfrm>
          <a:prstGeom prst="roundRect">
            <a:avLst>
              <a:gd name="adj" fmla="val 18519"/>
            </a:avLst>
          </a:prstGeom>
          <a:solidFill>
            <a:srgbClr val="0E7C86"/>
          </a:solidFill>
          <a:ln/>
        </p:spPr>
      </p:sp>
      <p:sp>
        <p:nvSpPr>
          <p:cNvPr id="20" name="Text 18"/>
          <p:cNvSpPr txBox="1"/>
          <p:nvPr/>
        </p:nvSpPr>
        <p:spPr>
          <a:xfrm>
            <a:off x="731520" y="3904488"/>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21" name="Text 19"/>
          <p:cNvSpPr txBox="1"/>
          <p:nvPr/>
        </p:nvSpPr>
        <p:spPr>
          <a:xfrm>
            <a:off x="1417320" y="3831336"/>
            <a:ext cx="4480560" cy="59436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Impact on efficiency &amp; motivation</a:t>
            </a:r>
            <a:endParaRPr lang="en-US" sz="1500" dirty="0"/>
          </a:p>
        </p:txBody>
      </p:sp>
      <p:sp>
        <p:nvSpPr>
          <p:cNvPr id="22" name="Text 20"/>
          <p:cNvSpPr txBox="1"/>
          <p:nvPr/>
        </p:nvSpPr>
        <p:spPr>
          <a:xfrm>
            <a:off x="5989320" y="3831336"/>
            <a:ext cx="4663440" cy="59436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How structure affects decisions, cost, control and how motivated staff feel</a:t>
            </a:r>
            <a:endParaRPr lang="en-US" sz="1200" dirty="0"/>
          </a:p>
        </p:txBody>
      </p:sp>
      <p:sp>
        <p:nvSpPr>
          <p:cNvPr id="23" name="Shape 21"/>
          <p:cNvSpPr/>
          <p:nvPr/>
        </p:nvSpPr>
        <p:spPr>
          <a:xfrm>
            <a:off x="10698480" y="3959352"/>
            <a:ext cx="822960" cy="365760"/>
          </a:xfrm>
          <a:prstGeom prst="roundRect">
            <a:avLst>
              <a:gd name="adj" fmla="val 25000"/>
            </a:avLst>
          </a:prstGeom>
          <a:solidFill>
            <a:srgbClr val="FBF0D8"/>
          </a:solidFill>
          <a:ln/>
        </p:spPr>
      </p:sp>
      <p:sp>
        <p:nvSpPr>
          <p:cNvPr id="24" name="Text 22"/>
          <p:cNvSpPr txBox="1"/>
          <p:nvPr/>
        </p:nvSpPr>
        <p:spPr>
          <a:xfrm>
            <a:off x="10698480" y="3959352"/>
            <a:ext cx="822960" cy="365760"/>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1.3.4 (3c)</a:t>
            </a:r>
            <a:endParaRPr lang="en-US" sz="950" dirty="0"/>
          </a:p>
        </p:txBody>
      </p:sp>
      <p:sp>
        <p:nvSpPr>
          <p:cNvPr id="25" name="Shape 23"/>
          <p:cNvSpPr/>
          <p:nvPr/>
        </p:nvSpPr>
        <p:spPr>
          <a:xfrm>
            <a:off x="548640" y="4718304"/>
            <a:ext cx="11091672" cy="960120"/>
          </a:xfrm>
          <a:prstGeom prst="roundRect">
            <a:avLst>
              <a:gd name="adj" fmla="val 761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6" name="Shape 24"/>
          <p:cNvSpPr/>
          <p:nvPr/>
        </p:nvSpPr>
        <p:spPr>
          <a:xfrm>
            <a:off x="731520" y="4974336"/>
            <a:ext cx="493776" cy="493776"/>
          </a:xfrm>
          <a:prstGeom prst="roundRect">
            <a:avLst>
              <a:gd name="adj" fmla="val 18519"/>
            </a:avLst>
          </a:prstGeom>
          <a:solidFill>
            <a:srgbClr val="0E7C86"/>
          </a:solidFill>
          <a:ln/>
        </p:spPr>
      </p:sp>
      <p:sp>
        <p:nvSpPr>
          <p:cNvPr id="27" name="Text 25"/>
          <p:cNvSpPr txBox="1"/>
          <p:nvPr/>
        </p:nvSpPr>
        <p:spPr>
          <a:xfrm>
            <a:off x="731520" y="4974336"/>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8" name="Text 26"/>
          <p:cNvSpPr txBox="1"/>
          <p:nvPr/>
        </p:nvSpPr>
        <p:spPr>
          <a:xfrm>
            <a:off x="1417320" y="4901184"/>
            <a:ext cx="4480560" cy="59436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A-grade exam skills</a:t>
            </a:r>
            <a:endParaRPr lang="en-US" sz="1500" dirty="0"/>
          </a:p>
        </p:txBody>
      </p:sp>
      <p:sp>
        <p:nvSpPr>
          <p:cNvPr id="29" name="Text 27"/>
          <p:cNvSpPr txBox="1"/>
          <p:nvPr/>
        </p:nvSpPr>
        <p:spPr>
          <a:xfrm>
            <a:off x="5989320" y="4901184"/>
            <a:ext cx="4663440" cy="59436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The McDonald's centralised vs decentralised 20-marker</a:t>
            </a:r>
            <a:endParaRPr lang="en-US" sz="1200" dirty="0"/>
          </a:p>
        </p:txBody>
      </p:sp>
      <p:sp>
        <p:nvSpPr>
          <p:cNvPr id="30" name="Shape 28"/>
          <p:cNvSpPr/>
          <p:nvPr/>
        </p:nvSpPr>
        <p:spPr>
          <a:xfrm>
            <a:off x="10698480" y="5029200"/>
            <a:ext cx="822960" cy="365760"/>
          </a:xfrm>
          <a:prstGeom prst="roundRect">
            <a:avLst>
              <a:gd name="adj" fmla="val 25000"/>
            </a:avLst>
          </a:prstGeom>
          <a:solidFill>
            <a:srgbClr val="FBF0D8"/>
          </a:solidFill>
          <a:ln/>
        </p:spPr>
      </p:sp>
      <p:sp>
        <p:nvSpPr>
          <p:cNvPr id="31" name="Text 29"/>
          <p:cNvSpPr txBox="1"/>
          <p:nvPr/>
        </p:nvSpPr>
        <p:spPr>
          <a:xfrm>
            <a:off x="10698480" y="5029200"/>
            <a:ext cx="822960" cy="365760"/>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a:t>
            </a:r>
            <a:endParaRPr lang="en-US" sz="950" dirty="0"/>
          </a:p>
        </p:txBody>
      </p:sp>
      <p:sp>
        <p:nvSpPr>
          <p:cNvPr id="32" name="Text 30"/>
          <p:cNvSpPr txBox="1"/>
          <p:nvPr/>
        </p:nvSpPr>
        <p:spPr>
          <a:xfrm>
            <a:off x="548640" y="5897880"/>
            <a:ext cx="11091672" cy="320040"/>
          </a:xfrm>
          <a:prstGeom prst="rect">
            <a:avLst/>
          </a:prstGeom>
          <a:noFill/>
          <a:ln/>
        </p:spPr>
        <p:txBody>
          <a:bodyPr wrap="square" lIns="0" tIns="0" rIns="0" bIns="0" rtlCol="0" anchor="ctr"/>
          <a:lstStyle/>
          <a:p>
            <a:pPr indent="0" marL="0">
              <a:buNone/>
            </a:pPr>
            <a:r>
              <a:rPr lang="en-US" sz="1200" i="1" dirty="0">
                <a:solidFill>
                  <a:srgbClr val="5B6B73"/>
                </a:solidFill>
                <a:latin typeface="Calibri" pitchFamily="34" charset="0"/>
                <a:ea typeface="Calibri" pitchFamily="34" charset="-122"/>
                <a:cs typeface="Calibri" pitchFamily="34" charset="-120"/>
              </a:rPr>
              <a:t>Every part of spec 1.3.4 (3) — structure (3a), types (3b) and impact (3c) — is covered in this deck.</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Where this sits in Managing people (1.3.4)</a:t>
            </a:r>
            <a:endParaRPr lang="en-US" sz="26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Section 1.3.4  Managing people</a:t>
            </a:r>
            <a:endParaRPr lang="en-US" sz="1350" dirty="0"/>
          </a:p>
        </p:txBody>
      </p:sp>
      <p:sp>
        <p:nvSpPr>
          <p:cNvPr id="6" name="Shape 4"/>
          <p:cNvSpPr/>
          <p:nvPr/>
        </p:nvSpPr>
        <p:spPr>
          <a:xfrm>
            <a:off x="749808" y="1901952"/>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084832"/>
            <a:ext cx="457200" cy="457200"/>
          </a:xfrm>
          <a:prstGeom prst="roundRect">
            <a:avLst>
              <a:gd name="adj" fmla="val 20000"/>
            </a:avLst>
          </a:prstGeom>
          <a:solidFill>
            <a:srgbClr val="0E7C86"/>
          </a:solidFill>
          <a:ln/>
        </p:spPr>
      </p:sp>
      <p:sp>
        <p:nvSpPr>
          <p:cNvPr id="8" name="Text 6"/>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11680"/>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Approaches to staffing</a:t>
            </a:r>
            <a:endParaRPr lang="en-US" sz="1250" dirty="0"/>
          </a:p>
        </p:txBody>
      </p:sp>
      <p:sp>
        <p:nvSpPr>
          <p:cNvPr id="10" name="Text 8"/>
          <p:cNvSpPr txBox="1"/>
          <p:nvPr/>
        </p:nvSpPr>
        <p:spPr>
          <a:xfrm>
            <a:off x="1508760" y="2313432"/>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asset vs cost, flexible workforce, employee relations — done</a:t>
            </a:r>
            <a:endParaRPr lang="en-US" sz="1030" dirty="0"/>
          </a:p>
        </p:txBody>
      </p:sp>
      <p:sp>
        <p:nvSpPr>
          <p:cNvPr id="11" name="Shape 9"/>
          <p:cNvSpPr/>
          <p:nvPr/>
        </p:nvSpPr>
        <p:spPr>
          <a:xfrm>
            <a:off x="749808" y="2761488"/>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2" name="Shape 10"/>
          <p:cNvSpPr/>
          <p:nvPr/>
        </p:nvSpPr>
        <p:spPr>
          <a:xfrm>
            <a:off x="914400" y="2944368"/>
            <a:ext cx="457200" cy="457200"/>
          </a:xfrm>
          <a:prstGeom prst="roundRect">
            <a:avLst>
              <a:gd name="adj" fmla="val 20000"/>
            </a:avLst>
          </a:prstGeom>
          <a:solidFill>
            <a:srgbClr val="0E7C86"/>
          </a:solidFill>
          <a:ln/>
        </p:spPr>
      </p:sp>
      <p:sp>
        <p:nvSpPr>
          <p:cNvPr id="13" name="Text 11"/>
          <p:cNvSpPr txBox="1"/>
          <p:nvPr/>
        </p:nvSpPr>
        <p:spPr>
          <a:xfrm>
            <a:off x="91440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1508760" y="2871216"/>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Recruitment, selection &amp; training</a:t>
            </a:r>
            <a:endParaRPr lang="en-US" sz="1250" dirty="0"/>
          </a:p>
        </p:txBody>
      </p:sp>
      <p:sp>
        <p:nvSpPr>
          <p:cNvPr id="15" name="Text 13"/>
          <p:cNvSpPr txBox="1"/>
          <p:nvPr/>
        </p:nvSpPr>
        <p:spPr>
          <a:xfrm>
            <a:off x="1508760" y="3172968"/>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internal vs external, costs, training types — done</a:t>
            </a:r>
            <a:endParaRPr lang="en-US" sz="1030" dirty="0"/>
          </a:p>
        </p:txBody>
      </p:sp>
      <p:sp>
        <p:nvSpPr>
          <p:cNvPr id="16" name="Shape 14"/>
          <p:cNvSpPr/>
          <p:nvPr/>
        </p:nvSpPr>
        <p:spPr>
          <a:xfrm>
            <a:off x="749808" y="3621024"/>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17" name="Shape 15"/>
          <p:cNvSpPr/>
          <p:nvPr/>
        </p:nvSpPr>
        <p:spPr>
          <a:xfrm>
            <a:off x="749808" y="3621024"/>
            <a:ext cx="91440" cy="841248"/>
          </a:xfrm>
          <a:prstGeom prst="roundRect">
            <a:avLst/>
          </a:prstGeom>
          <a:solidFill>
            <a:srgbClr val="E0940F"/>
          </a:solidFill>
          <a:ln/>
        </p:spPr>
      </p:sp>
      <p:sp>
        <p:nvSpPr>
          <p:cNvPr id="18" name="Shape 16"/>
          <p:cNvSpPr/>
          <p:nvPr/>
        </p:nvSpPr>
        <p:spPr>
          <a:xfrm>
            <a:off x="914400" y="3803904"/>
            <a:ext cx="457200" cy="457200"/>
          </a:xfrm>
          <a:prstGeom prst="roundRect">
            <a:avLst>
              <a:gd name="adj" fmla="val 20000"/>
            </a:avLst>
          </a:prstGeom>
          <a:solidFill>
            <a:srgbClr val="E0940F"/>
          </a:solidFill>
          <a:ln/>
        </p:spPr>
      </p:sp>
      <p:sp>
        <p:nvSpPr>
          <p:cNvPr id="19" name="Text 17"/>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txBox="1"/>
          <p:nvPr/>
        </p:nvSpPr>
        <p:spPr>
          <a:xfrm>
            <a:off x="1508760" y="3730752"/>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Organisational design   ← this lesson</a:t>
            </a:r>
            <a:endParaRPr lang="en-US" sz="1250" dirty="0"/>
          </a:p>
        </p:txBody>
      </p:sp>
      <p:sp>
        <p:nvSpPr>
          <p:cNvPr id="21" name="Text 19"/>
          <p:cNvSpPr txBox="1"/>
          <p:nvPr/>
        </p:nvSpPr>
        <p:spPr>
          <a:xfrm>
            <a:off x="1508760" y="4032504"/>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hierarchy, span of control, tall/flat/matrix, centralised/decentralised</a:t>
            </a:r>
            <a:endParaRPr lang="en-US" sz="1030" dirty="0"/>
          </a:p>
        </p:txBody>
      </p:sp>
      <p:sp>
        <p:nvSpPr>
          <p:cNvPr id="22" name="Shape 20"/>
          <p:cNvSpPr/>
          <p:nvPr/>
        </p:nvSpPr>
        <p:spPr>
          <a:xfrm>
            <a:off x="749808" y="4480560"/>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3" name="Shape 21"/>
          <p:cNvSpPr/>
          <p:nvPr/>
        </p:nvSpPr>
        <p:spPr>
          <a:xfrm>
            <a:off x="914400" y="4663440"/>
            <a:ext cx="457200" cy="457200"/>
          </a:xfrm>
          <a:prstGeom prst="roundRect">
            <a:avLst>
              <a:gd name="adj" fmla="val 20000"/>
            </a:avLst>
          </a:prstGeom>
          <a:solidFill>
            <a:srgbClr val="0E7C86"/>
          </a:solidFill>
          <a:ln/>
        </p:spPr>
      </p:sp>
      <p:sp>
        <p:nvSpPr>
          <p:cNvPr id="24" name="Text 22"/>
          <p:cNvSpPr txBox="1"/>
          <p:nvPr/>
        </p:nvSpPr>
        <p:spPr>
          <a:xfrm>
            <a:off x="914400" y="46634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5" name="Text 23"/>
          <p:cNvSpPr txBox="1"/>
          <p:nvPr/>
        </p:nvSpPr>
        <p:spPr>
          <a:xfrm>
            <a:off x="1508760" y="4590288"/>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Motivation in theory &amp; practice</a:t>
            </a:r>
            <a:endParaRPr lang="en-US" sz="1250" dirty="0"/>
          </a:p>
        </p:txBody>
      </p:sp>
      <p:sp>
        <p:nvSpPr>
          <p:cNvPr id="26" name="Text 24"/>
          <p:cNvSpPr txBox="1"/>
          <p:nvPr/>
        </p:nvSpPr>
        <p:spPr>
          <a:xfrm>
            <a:off x="1508760" y="4892040"/>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Taylor, Mayo, Maslow, Herzberg; financial &amp; non-financial — next</a:t>
            </a:r>
            <a:endParaRPr lang="en-US" sz="1030" dirty="0"/>
          </a:p>
        </p:txBody>
      </p:sp>
      <p:sp>
        <p:nvSpPr>
          <p:cNvPr id="27" name="Shape 25"/>
          <p:cNvSpPr/>
          <p:nvPr/>
        </p:nvSpPr>
        <p:spPr>
          <a:xfrm>
            <a:off x="749808" y="5340096"/>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8" name="Shape 26"/>
          <p:cNvSpPr/>
          <p:nvPr/>
        </p:nvSpPr>
        <p:spPr>
          <a:xfrm>
            <a:off x="914400" y="5522976"/>
            <a:ext cx="457200" cy="457200"/>
          </a:xfrm>
          <a:prstGeom prst="roundRect">
            <a:avLst>
              <a:gd name="adj" fmla="val 20000"/>
            </a:avLst>
          </a:prstGeom>
          <a:solidFill>
            <a:srgbClr val="0E7C86"/>
          </a:solidFill>
          <a:ln/>
        </p:spPr>
      </p:sp>
      <p:sp>
        <p:nvSpPr>
          <p:cNvPr id="29" name="Text 27"/>
          <p:cNvSpPr txBox="1"/>
          <p:nvPr/>
        </p:nvSpPr>
        <p:spPr>
          <a:xfrm>
            <a:off x="914400" y="55229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0" name="Text 28"/>
          <p:cNvSpPr txBox="1"/>
          <p:nvPr/>
        </p:nvSpPr>
        <p:spPr>
          <a:xfrm>
            <a:off x="1508760" y="5449824"/>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Leadership</a:t>
            </a:r>
            <a:endParaRPr lang="en-US" sz="1250" dirty="0"/>
          </a:p>
        </p:txBody>
      </p:sp>
      <p:sp>
        <p:nvSpPr>
          <p:cNvPr id="31" name="Text 29"/>
          <p:cNvSpPr txBox="1"/>
          <p:nvPr/>
        </p:nvSpPr>
        <p:spPr>
          <a:xfrm>
            <a:off x="1508760" y="575157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management vs leadership; autocratic → laissez-faire — next</a:t>
            </a:r>
            <a:endParaRPr lang="en-US" sz="1030" dirty="0"/>
          </a:p>
        </p:txBody>
      </p:sp>
      <p:sp>
        <p:nvSpPr>
          <p:cNvPr id="32" name="Shape 30"/>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33" name="Text 3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34" name="Text 32"/>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Delegation &amp; empowerment link to motivation (section 4)</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Structure reflects leadership style (section 5)</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Decentralisation suits a dynamic market (1.3.1)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More layers = higher management cost → profit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In Unit 3, structure is central to managing growth &amp; change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Structure: the key terms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what an org structure shows  ·  hierarchy, chain of command &amp; span of control  ·  centralised vs decentralised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KEY TERMS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Hierarchy, chain of command &amp; span of control</a:t>
            </a:r>
            <a:endParaRPr lang="en-US" sz="2600" dirty="0"/>
          </a:p>
        </p:txBody>
      </p:sp>
      <p:sp>
        <p:nvSpPr>
          <p:cNvPr id="4" name="Shape 2"/>
          <p:cNvSpPr/>
          <p:nvPr/>
        </p:nvSpPr>
        <p:spPr>
          <a:xfrm>
            <a:off x="2112264" y="2103120"/>
            <a:ext cx="713232" cy="274320"/>
          </a:xfrm>
          <a:prstGeom prst="roundRect">
            <a:avLst>
              <a:gd name="adj" fmla="val 16667"/>
            </a:avLst>
          </a:prstGeom>
          <a:solidFill>
            <a:srgbClr val="0E3A43"/>
          </a:solidFill>
          <a:ln/>
        </p:spPr>
      </p:sp>
      <p:sp>
        <p:nvSpPr>
          <p:cNvPr id="5" name="Shape 3"/>
          <p:cNvSpPr/>
          <p:nvPr/>
        </p:nvSpPr>
        <p:spPr>
          <a:xfrm>
            <a:off x="1289304" y="2697480"/>
            <a:ext cx="713232" cy="274320"/>
          </a:xfrm>
          <a:prstGeom prst="roundRect">
            <a:avLst>
              <a:gd name="adj" fmla="val 16667"/>
            </a:avLst>
          </a:prstGeom>
          <a:solidFill>
            <a:srgbClr val="0E7C86"/>
          </a:solidFill>
          <a:ln/>
        </p:spPr>
      </p:sp>
      <p:sp>
        <p:nvSpPr>
          <p:cNvPr id="6" name="Shape 4"/>
          <p:cNvSpPr/>
          <p:nvPr/>
        </p:nvSpPr>
        <p:spPr>
          <a:xfrm>
            <a:off x="2935224" y="2697480"/>
            <a:ext cx="713232" cy="274320"/>
          </a:xfrm>
          <a:prstGeom prst="roundRect">
            <a:avLst>
              <a:gd name="adj" fmla="val 16667"/>
            </a:avLst>
          </a:prstGeom>
          <a:solidFill>
            <a:srgbClr val="0E7C86"/>
          </a:solidFill>
          <a:ln/>
        </p:spPr>
      </p:sp>
      <p:sp>
        <p:nvSpPr>
          <p:cNvPr id="7" name="Shape 5"/>
          <p:cNvSpPr/>
          <p:nvPr/>
        </p:nvSpPr>
        <p:spPr>
          <a:xfrm>
            <a:off x="877824" y="3291840"/>
            <a:ext cx="713232" cy="274320"/>
          </a:xfrm>
          <a:prstGeom prst="roundRect">
            <a:avLst>
              <a:gd name="adj" fmla="val 16667"/>
            </a:avLst>
          </a:prstGeom>
          <a:solidFill>
            <a:srgbClr val="8FB9BD"/>
          </a:solidFill>
          <a:ln/>
        </p:spPr>
      </p:sp>
      <p:sp>
        <p:nvSpPr>
          <p:cNvPr id="8" name="Shape 6"/>
          <p:cNvSpPr/>
          <p:nvPr/>
        </p:nvSpPr>
        <p:spPr>
          <a:xfrm>
            <a:off x="1700784" y="3291840"/>
            <a:ext cx="713232" cy="274320"/>
          </a:xfrm>
          <a:prstGeom prst="roundRect">
            <a:avLst>
              <a:gd name="adj" fmla="val 16667"/>
            </a:avLst>
          </a:prstGeom>
          <a:solidFill>
            <a:srgbClr val="8FB9BD"/>
          </a:solidFill>
          <a:ln/>
        </p:spPr>
      </p:sp>
      <p:sp>
        <p:nvSpPr>
          <p:cNvPr id="9" name="Shape 7"/>
          <p:cNvSpPr/>
          <p:nvPr/>
        </p:nvSpPr>
        <p:spPr>
          <a:xfrm>
            <a:off x="2523744" y="3291840"/>
            <a:ext cx="713232" cy="274320"/>
          </a:xfrm>
          <a:prstGeom prst="roundRect">
            <a:avLst>
              <a:gd name="adj" fmla="val 16667"/>
            </a:avLst>
          </a:prstGeom>
          <a:solidFill>
            <a:srgbClr val="8FB9BD"/>
          </a:solidFill>
          <a:ln/>
        </p:spPr>
      </p:sp>
      <p:sp>
        <p:nvSpPr>
          <p:cNvPr id="10" name="Shape 8"/>
          <p:cNvSpPr/>
          <p:nvPr/>
        </p:nvSpPr>
        <p:spPr>
          <a:xfrm>
            <a:off x="3346704" y="3291840"/>
            <a:ext cx="713232" cy="274320"/>
          </a:xfrm>
          <a:prstGeom prst="roundRect">
            <a:avLst>
              <a:gd name="adj" fmla="val 16667"/>
            </a:avLst>
          </a:prstGeom>
          <a:solidFill>
            <a:srgbClr val="8FB9BD"/>
          </a:solidFill>
          <a:ln/>
        </p:spPr>
      </p:sp>
      <p:sp>
        <p:nvSpPr>
          <p:cNvPr id="11" name="Shape 9"/>
          <p:cNvSpPr/>
          <p:nvPr/>
        </p:nvSpPr>
        <p:spPr>
          <a:xfrm flipV="1">
            <a:off x="1645920" y="2377440"/>
            <a:ext cx="822960" cy="320040"/>
          </a:xfrm>
          <a:prstGeom prst="line">
            <a:avLst/>
          </a:prstGeom>
          <a:noFill/>
          <a:ln w="15875">
            <a:solidFill>
              <a:srgbClr val="5B6B73"/>
            </a:solidFill>
            <a:prstDash val="solid"/>
          </a:ln>
        </p:spPr>
      </p:sp>
      <p:sp>
        <p:nvSpPr>
          <p:cNvPr id="12" name="Shape 10"/>
          <p:cNvSpPr/>
          <p:nvPr/>
        </p:nvSpPr>
        <p:spPr>
          <a:xfrm>
            <a:off x="2468880" y="2377440"/>
            <a:ext cx="822960" cy="320040"/>
          </a:xfrm>
          <a:prstGeom prst="line">
            <a:avLst/>
          </a:prstGeom>
          <a:noFill/>
          <a:ln w="15875">
            <a:solidFill>
              <a:srgbClr val="5B6B73"/>
            </a:solidFill>
            <a:prstDash val="solid"/>
          </a:ln>
        </p:spPr>
      </p:sp>
      <p:sp>
        <p:nvSpPr>
          <p:cNvPr id="13" name="Shape 11"/>
          <p:cNvSpPr/>
          <p:nvPr/>
        </p:nvSpPr>
        <p:spPr>
          <a:xfrm flipV="1">
            <a:off x="1234440" y="2971800"/>
            <a:ext cx="411480" cy="320040"/>
          </a:xfrm>
          <a:prstGeom prst="line">
            <a:avLst/>
          </a:prstGeom>
          <a:noFill/>
          <a:ln w="15875">
            <a:solidFill>
              <a:srgbClr val="5B6B73"/>
            </a:solidFill>
            <a:prstDash val="solid"/>
          </a:ln>
        </p:spPr>
      </p:sp>
      <p:sp>
        <p:nvSpPr>
          <p:cNvPr id="14" name="Shape 12"/>
          <p:cNvSpPr/>
          <p:nvPr/>
        </p:nvSpPr>
        <p:spPr>
          <a:xfrm>
            <a:off x="1645920" y="2971800"/>
            <a:ext cx="411480" cy="320040"/>
          </a:xfrm>
          <a:prstGeom prst="line">
            <a:avLst/>
          </a:prstGeom>
          <a:noFill/>
          <a:ln w="15875">
            <a:solidFill>
              <a:srgbClr val="5B6B73"/>
            </a:solidFill>
            <a:prstDash val="solid"/>
          </a:ln>
        </p:spPr>
      </p:sp>
      <p:sp>
        <p:nvSpPr>
          <p:cNvPr id="15" name="Shape 13"/>
          <p:cNvSpPr/>
          <p:nvPr/>
        </p:nvSpPr>
        <p:spPr>
          <a:xfrm flipV="1">
            <a:off x="2880360" y="2971800"/>
            <a:ext cx="411480" cy="320040"/>
          </a:xfrm>
          <a:prstGeom prst="line">
            <a:avLst/>
          </a:prstGeom>
          <a:noFill/>
          <a:ln w="15875">
            <a:solidFill>
              <a:srgbClr val="5B6B73"/>
            </a:solidFill>
            <a:prstDash val="solid"/>
          </a:ln>
        </p:spPr>
      </p:sp>
      <p:sp>
        <p:nvSpPr>
          <p:cNvPr id="16" name="Shape 14"/>
          <p:cNvSpPr/>
          <p:nvPr/>
        </p:nvSpPr>
        <p:spPr>
          <a:xfrm>
            <a:off x="3291840" y="2971800"/>
            <a:ext cx="411480" cy="320040"/>
          </a:xfrm>
          <a:prstGeom prst="line">
            <a:avLst/>
          </a:prstGeom>
          <a:noFill/>
          <a:ln w="15875">
            <a:solidFill>
              <a:srgbClr val="5B6B73"/>
            </a:solidFill>
            <a:prstDash val="solid"/>
          </a:ln>
        </p:spPr>
      </p:sp>
      <p:sp>
        <p:nvSpPr>
          <p:cNvPr id="17" name="Text 15"/>
          <p:cNvSpPr txBox="1"/>
          <p:nvPr/>
        </p:nvSpPr>
        <p:spPr>
          <a:xfrm>
            <a:off x="731520" y="1600200"/>
            <a:ext cx="3931920" cy="274320"/>
          </a:xfrm>
          <a:prstGeom prst="rect">
            <a:avLst/>
          </a:prstGeom>
          <a:noFill/>
          <a:ln/>
        </p:spPr>
        <p:txBody>
          <a:bodyPr wrap="square" lIns="0" tIns="0" rIns="0" bIns="0" rtlCol="0" anchor="ctr"/>
          <a:lstStyle/>
          <a:p>
            <a:pPr algn="ctr" indent="0" marL="0">
              <a:buNone/>
            </a:pPr>
            <a:r>
              <a:rPr lang="en-US" sz="1250" b="1" dirty="0">
                <a:solidFill>
                  <a:srgbClr val="0E3A43"/>
                </a:solidFill>
                <a:latin typeface="Calibri" pitchFamily="34" charset="0"/>
                <a:ea typeface="Calibri" pitchFamily="34" charset="-122"/>
                <a:cs typeface="Calibri" pitchFamily="34" charset="-120"/>
              </a:rPr>
              <a:t>An organisation chart</a:t>
            </a:r>
            <a:endParaRPr lang="en-US" sz="1250" dirty="0"/>
          </a:p>
        </p:txBody>
      </p:sp>
      <p:sp>
        <p:nvSpPr>
          <p:cNvPr id="18" name="Shape 16"/>
          <p:cNvSpPr/>
          <p:nvPr/>
        </p:nvSpPr>
        <p:spPr>
          <a:xfrm>
            <a:off x="502920" y="2148840"/>
            <a:ext cx="0" cy="1143000"/>
          </a:xfrm>
          <a:prstGeom prst="line">
            <a:avLst/>
          </a:prstGeom>
          <a:noFill/>
          <a:ln w="25400">
            <a:solidFill>
              <a:srgbClr val="E0940F"/>
            </a:solidFill>
            <a:prstDash val="solid"/>
          </a:ln>
        </p:spPr>
      </p:sp>
      <p:sp>
        <p:nvSpPr>
          <p:cNvPr id="19" name="Text 17"/>
          <p:cNvSpPr txBox="1"/>
          <p:nvPr/>
        </p:nvSpPr>
        <p:spPr>
          <a:xfrm>
            <a:off x="0" y="2468880"/>
            <a:ext cx="548640" cy="548640"/>
          </a:xfrm>
          <a:prstGeom prst="rect">
            <a:avLst/>
          </a:prstGeom>
          <a:noFill/>
          <a:ln/>
        </p:spPr>
        <p:txBody>
          <a:bodyPr wrap="square" lIns="0" tIns="0" rIns="0" bIns="0" rtlCol="0" anchor="ctr"/>
          <a:lstStyle/>
          <a:p>
            <a:pPr algn="ctr" indent="0" marL="0">
              <a:buNone/>
            </a:pPr>
            <a:r>
              <a:rPr lang="en-US" sz="900" b="1" i="1" dirty="0">
                <a:solidFill>
                  <a:srgbClr val="8A5A06"/>
                </a:solidFill>
                <a:latin typeface="Calibri" pitchFamily="34" charset="0"/>
                <a:ea typeface="Calibri" pitchFamily="34" charset="-122"/>
                <a:cs typeface="Calibri" pitchFamily="34" charset="-120"/>
              </a:rPr>
              <a:t>Chain of</a:t>
            </a:r>
            <a:endParaRPr lang="en-US" sz="900" dirty="0"/>
          </a:p>
          <a:p>
            <a:pPr algn="ctr" indent="0" marL="0">
              <a:buNone/>
            </a:pPr>
            <a:r>
              <a:rPr lang="en-US" sz="900" b="1" i="1" dirty="0">
                <a:solidFill>
                  <a:srgbClr val="8A5A06"/>
                </a:solidFill>
                <a:latin typeface="Calibri" pitchFamily="34" charset="0"/>
                <a:ea typeface="Calibri" pitchFamily="34" charset="-122"/>
                <a:cs typeface="Calibri" pitchFamily="34" charset="-120"/>
              </a:rPr>
              <a:t>command</a:t>
            </a:r>
            <a:endParaRPr lang="en-US" sz="900" dirty="0"/>
          </a:p>
        </p:txBody>
      </p:sp>
      <p:sp>
        <p:nvSpPr>
          <p:cNvPr id="20" name="Shape 18"/>
          <p:cNvSpPr/>
          <p:nvPr/>
        </p:nvSpPr>
        <p:spPr>
          <a:xfrm>
            <a:off x="914400" y="3611880"/>
            <a:ext cx="822960" cy="0"/>
          </a:xfrm>
          <a:prstGeom prst="line">
            <a:avLst/>
          </a:prstGeom>
          <a:noFill/>
          <a:ln w="25400">
            <a:solidFill>
              <a:srgbClr val="0E7C86"/>
            </a:solidFill>
            <a:prstDash val="solid"/>
          </a:ln>
        </p:spPr>
      </p:sp>
      <p:sp>
        <p:nvSpPr>
          <p:cNvPr id="21" name="Text 19"/>
          <p:cNvSpPr txBox="1"/>
          <p:nvPr/>
        </p:nvSpPr>
        <p:spPr>
          <a:xfrm>
            <a:off x="731520" y="3675888"/>
            <a:ext cx="1188720" cy="274320"/>
          </a:xfrm>
          <a:prstGeom prst="rect">
            <a:avLst/>
          </a:prstGeom>
          <a:noFill/>
          <a:ln/>
        </p:spPr>
        <p:txBody>
          <a:bodyPr wrap="square" lIns="0" tIns="0" rIns="0" bIns="0" rtlCol="0" anchor="ctr"/>
          <a:lstStyle/>
          <a:p>
            <a:pPr algn="ctr" indent="0" marL="0">
              <a:buNone/>
            </a:pPr>
            <a:r>
              <a:rPr lang="en-US" sz="900" b="1" i="1" dirty="0">
                <a:solidFill>
                  <a:srgbClr val="0B5E66"/>
                </a:solidFill>
                <a:latin typeface="Calibri" pitchFamily="34" charset="0"/>
                <a:ea typeface="Calibri" pitchFamily="34" charset="-122"/>
                <a:cs typeface="Calibri" pitchFamily="34" charset="-120"/>
              </a:rPr>
              <a:t>span = 2</a:t>
            </a:r>
            <a:endParaRPr lang="en-US" sz="900" dirty="0"/>
          </a:p>
        </p:txBody>
      </p:sp>
      <p:sp>
        <p:nvSpPr>
          <p:cNvPr id="22" name="Shape 20"/>
          <p:cNvSpPr/>
          <p:nvPr/>
        </p:nvSpPr>
        <p:spPr>
          <a:xfrm>
            <a:off x="4937760" y="1463040"/>
            <a:ext cx="6702552" cy="1097280"/>
          </a:xfrm>
          <a:prstGeom prst="roundRect">
            <a:avLst>
              <a:gd name="adj" fmla="val 6667"/>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3" name="Shape 21"/>
          <p:cNvSpPr/>
          <p:nvPr/>
        </p:nvSpPr>
        <p:spPr>
          <a:xfrm>
            <a:off x="4937760" y="1463040"/>
            <a:ext cx="91440" cy="1097280"/>
          </a:xfrm>
          <a:prstGeom prst="roundRect">
            <a:avLst/>
          </a:prstGeom>
          <a:solidFill>
            <a:srgbClr val="0E7C86"/>
          </a:solidFill>
          <a:ln/>
        </p:spPr>
      </p:sp>
      <p:sp>
        <p:nvSpPr>
          <p:cNvPr id="24" name="Text 22"/>
          <p:cNvSpPr txBox="1"/>
          <p:nvPr/>
        </p:nvSpPr>
        <p:spPr>
          <a:xfrm>
            <a:off x="5166360" y="1591056"/>
            <a:ext cx="6309360" cy="32004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Hierarchy</a:t>
            </a:r>
            <a:endParaRPr lang="en-US" sz="1400" dirty="0"/>
          </a:p>
        </p:txBody>
      </p:sp>
      <p:sp>
        <p:nvSpPr>
          <p:cNvPr id="25" name="Text 23"/>
          <p:cNvSpPr txBox="1"/>
          <p:nvPr/>
        </p:nvSpPr>
        <p:spPr>
          <a:xfrm>
            <a:off x="5166360" y="1920240"/>
            <a:ext cx="630936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The levels of rank &amp; authority in a business — who is senior to whom (the layers on the chart).</a:t>
            </a:r>
            <a:endParaRPr lang="en-US" sz="1250" dirty="0"/>
          </a:p>
        </p:txBody>
      </p:sp>
      <p:sp>
        <p:nvSpPr>
          <p:cNvPr id="26" name="Shape 24"/>
          <p:cNvSpPr/>
          <p:nvPr/>
        </p:nvSpPr>
        <p:spPr>
          <a:xfrm>
            <a:off x="4937760" y="2651760"/>
            <a:ext cx="6702552" cy="1097280"/>
          </a:xfrm>
          <a:prstGeom prst="roundRect">
            <a:avLst>
              <a:gd name="adj" fmla="val 6667"/>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7" name="Shape 25"/>
          <p:cNvSpPr/>
          <p:nvPr/>
        </p:nvSpPr>
        <p:spPr>
          <a:xfrm>
            <a:off x="4937760" y="2651760"/>
            <a:ext cx="91440" cy="1097280"/>
          </a:xfrm>
          <a:prstGeom prst="roundRect">
            <a:avLst/>
          </a:prstGeom>
          <a:solidFill>
            <a:srgbClr val="E0940F"/>
          </a:solidFill>
          <a:ln/>
        </p:spPr>
      </p:sp>
      <p:sp>
        <p:nvSpPr>
          <p:cNvPr id="28" name="Text 26"/>
          <p:cNvSpPr txBox="1"/>
          <p:nvPr/>
        </p:nvSpPr>
        <p:spPr>
          <a:xfrm>
            <a:off x="5166360" y="2779776"/>
            <a:ext cx="6309360" cy="320040"/>
          </a:xfrm>
          <a:prstGeom prst="rect">
            <a:avLst/>
          </a:prstGeom>
          <a:noFill/>
          <a:ln/>
        </p:spPr>
        <p:txBody>
          <a:bodyPr wrap="square" lIns="0" tIns="0" rIns="0" bIns="0" rtlCol="0" anchor="ctr"/>
          <a:lstStyle/>
          <a:p>
            <a:pPr indent="0" marL="0">
              <a:buNone/>
            </a:pPr>
            <a:r>
              <a:rPr lang="en-US" sz="1400" b="1" dirty="0">
                <a:solidFill>
                  <a:srgbClr val="E0940F"/>
                </a:solidFill>
                <a:latin typeface="Calibri" pitchFamily="34" charset="0"/>
                <a:ea typeface="Calibri" pitchFamily="34" charset="-122"/>
                <a:cs typeface="Calibri" pitchFamily="34" charset="-120"/>
              </a:rPr>
              <a:t>Chain of command</a:t>
            </a:r>
            <a:endParaRPr lang="en-US" sz="1400" dirty="0"/>
          </a:p>
        </p:txBody>
      </p:sp>
      <p:sp>
        <p:nvSpPr>
          <p:cNvPr id="29" name="Text 27"/>
          <p:cNvSpPr txBox="1"/>
          <p:nvPr/>
        </p:nvSpPr>
        <p:spPr>
          <a:xfrm>
            <a:off x="5166360" y="3108960"/>
            <a:ext cx="630936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The line of authority down which instructions pass — from the top to the bottom.</a:t>
            </a:r>
            <a:endParaRPr lang="en-US" sz="1250" dirty="0"/>
          </a:p>
        </p:txBody>
      </p:sp>
      <p:sp>
        <p:nvSpPr>
          <p:cNvPr id="30" name="Shape 28"/>
          <p:cNvSpPr/>
          <p:nvPr/>
        </p:nvSpPr>
        <p:spPr>
          <a:xfrm>
            <a:off x="4937760" y="3840480"/>
            <a:ext cx="6702552" cy="1097280"/>
          </a:xfrm>
          <a:prstGeom prst="roundRect">
            <a:avLst>
              <a:gd name="adj" fmla="val 6667"/>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31" name="Shape 29"/>
          <p:cNvSpPr/>
          <p:nvPr/>
        </p:nvSpPr>
        <p:spPr>
          <a:xfrm>
            <a:off x="4937760" y="3840480"/>
            <a:ext cx="91440" cy="1097280"/>
          </a:xfrm>
          <a:prstGeom prst="roundRect">
            <a:avLst/>
          </a:prstGeom>
          <a:solidFill>
            <a:srgbClr val="2F8A5B"/>
          </a:solidFill>
          <a:ln/>
        </p:spPr>
      </p:sp>
      <p:sp>
        <p:nvSpPr>
          <p:cNvPr id="32" name="Text 30"/>
          <p:cNvSpPr txBox="1"/>
          <p:nvPr/>
        </p:nvSpPr>
        <p:spPr>
          <a:xfrm>
            <a:off x="5166360" y="3968496"/>
            <a:ext cx="6309360" cy="320040"/>
          </a:xfrm>
          <a:prstGeom prst="rect">
            <a:avLst/>
          </a:prstGeom>
          <a:noFill/>
          <a:ln/>
        </p:spPr>
        <p:txBody>
          <a:bodyPr wrap="square" lIns="0" tIns="0" rIns="0" bIns="0" rtlCol="0" anchor="ctr"/>
          <a:lstStyle/>
          <a:p>
            <a:pPr indent="0" marL="0">
              <a:buNone/>
            </a:pPr>
            <a:r>
              <a:rPr lang="en-US" sz="1400" b="1" dirty="0">
                <a:solidFill>
                  <a:srgbClr val="2F8A5B"/>
                </a:solidFill>
                <a:latin typeface="Calibri" pitchFamily="34" charset="0"/>
                <a:ea typeface="Calibri" pitchFamily="34" charset="-122"/>
                <a:cs typeface="Calibri" pitchFamily="34" charset="-120"/>
              </a:rPr>
              <a:t>Span of control</a:t>
            </a:r>
            <a:endParaRPr lang="en-US" sz="1400" dirty="0"/>
          </a:p>
        </p:txBody>
      </p:sp>
      <p:sp>
        <p:nvSpPr>
          <p:cNvPr id="33" name="Text 31"/>
          <p:cNvSpPr txBox="1"/>
          <p:nvPr/>
        </p:nvSpPr>
        <p:spPr>
          <a:xfrm>
            <a:off x="5166360" y="4297680"/>
            <a:ext cx="630936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The number of employees a manager is directly responsible for (here, 2).</a:t>
            </a:r>
            <a:endParaRPr lang="en-US" sz="1250" dirty="0"/>
          </a:p>
        </p:txBody>
      </p:sp>
      <p:sp>
        <p:nvSpPr>
          <p:cNvPr id="34" name="Shape 32"/>
          <p:cNvSpPr/>
          <p:nvPr/>
        </p:nvSpPr>
        <p:spPr>
          <a:xfrm>
            <a:off x="4937760" y="5029200"/>
            <a:ext cx="6702552" cy="1097280"/>
          </a:xfrm>
          <a:prstGeom prst="roundRect">
            <a:avLst>
              <a:gd name="adj" fmla="val 6667"/>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35" name="Shape 33"/>
          <p:cNvSpPr/>
          <p:nvPr/>
        </p:nvSpPr>
        <p:spPr>
          <a:xfrm>
            <a:off x="4937760" y="5029200"/>
            <a:ext cx="91440" cy="1097280"/>
          </a:xfrm>
          <a:prstGeom prst="roundRect">
            <a:avLst/>
          </a:prstGeom>
          <a:solidFill>
            <a:srgbClr val="6B4FA0"/>
          </a:solidFill>
          <a:ln/>
        </p:spPr>
      </p:sp>
      <p:sp>
        <p:nvSpPr>
          <p:cNvPr id="36" name="Text 34"/>
          <p:cNvSpPr txBox="1"/>
          <p:nvPr/>
        </p:nvSpPr>
        <p:spPr>
          <a:xfrm>
            <a:off x="5166360" y="5157216"/>
            <a:ext cx="6309360" cy="320040"/>
          </a:xfrm>
          <a:prstGeom prst="rect">
            <a:avLst/>
          </a:prstGeom>
          <a:noFill/>
          <a:ln/>
        </p:spPr>
        <p:txBody>
          <a:bodyPr wrap="square" lIns="0" tIns="0" rIns="0" bIns="0" rtlCol="0" anchor="ctr"/>
          <a:lstStyle/>
          <a:p>
            <a:pPr indent="0" marL="0">
              <a:buNone/>
            </a:pPr>
            <a:r>
              <a:rPr lang="en-US" sz="1400" b="1" dirty="0">
                <a:solidFill>
                  <a:srgbClr val="6B4FA0"/>
                </a:solidFill>
                <a:latin typeface="Calibri" pitchFamily="34" charset="0"/>
                <a:ea typeface="Calibri" pitchFamily="34" charset="-122"/>
                <a:cs typeface="Calibri" pitchFamily="34" charset="-120"/>
              </a:rPr>
              <a:t>Levels of hierarchy</a:t>
            </a:r>
            <a:endParaRPr lang="en-US" sz="1400" dirty="0"/>
          </a:p>
        </p:txBody>
      </p:sp>
      <p:sp>
        <p:nvSpPr>
          <p:cNvPr id="37" name="Text 35"/>
          <p:cNvSpPr txBox="1"/>
          <p:nvPr/>
        </p:nvSpPr>
        <p:spPr>
          <a:xfrm>
            <a:off x="5166360" y="5486400"/>
            <a:ext cx="630936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The number of layers from top to bottom — more layers = a ‘taller’ structure.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SPAN OF CONTROL</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Span of control: narrow vs wide</a:t>
            </a:r>
            <a:endParaRPr lang="en-US" sz="2600" dirty="0"/>
          </a:p>
        </p:txBody>
      </p:sp>
      <p:sp>
        <p:nvSpPr>
          <p:cNvPr id="4" name="Shape 2"/>
          <p:cNvSpPr/>
          <p:nvPr/>
        </p:nvSpPr>
        <p:spPr>
          <a:xfrm>
            <a:off x="548640" y="1463040"/>
            <a:ext cx="5440680" cy="2194560"/>
          </a:xfrm>
          <a:prstGeom prst="roundRect">
            <a:avLst>
              <a:gd name="adj" fmla="val 33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572768"/>
            <a:ext cx="5029200" cy="32004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NARROW span</a:t>
            </a:r>
            <a:endParaRPr lang="en-US" sz="1400" dirty="0"/>
          </a:p>
        </p:txBody>
      </p:sp>
      <p:sp>
        <p:nvSpPr>
          <p:cNvPr id="6" name="Shape 4"/>
          <p:cNvSpPr/>
          <p:nvPr/>
        </p:nvSpPr>
        <p:spPr>
          <a:xfrm>
            <a:off x="1746504" y="2103120"/>
            <a:ext cx="713232" cy="274320"/>
          </a:xfrm>
          <a:prstGeom prst="roundRect">
            <a:avLst>
              <a:gd name="adj" fmla="val 16667"/>
            </a:avLst>
          </a:prstGeom>
          <a:solidFill>
            <a:srgbClr val="0E3A43"/>
          </a:solidFill>
          <a:ln/>
        </p:spPr>
      </p:sp>
      <p:sp>
        <p:nvSpPr>
          <p:cNvPr id="7" name="Shape 5"/>
          <p:cNvSpPr/>
          <p:nvPr/>
        </p:nvSpPr>
        <p:spPr>
          <a:xfrm>
            <a:off x="1106424" y="2651760"/>
            <a:ext cx="713232" cy="274320"/>
          </a:xfrm>
          <a:prstGeom prst="roundRect">
            <a:avLst>
              <a:gd name="adj" fmla="val 16667"/>
            </a:avLst>
          </a:prstGeom>
          <a:solidFill>
            <a:srgbClr val="8FB9BD"/>
          </a:solidFill>
          <a:ln/>
        </p:spPr>
      </p:sp>
      <p:sp>
        <p:nvSpPr>
          <p:cNvPr id="8" name="Shape 6"/>
          <p:cNvSpPr/>
          <p:nvPr/>
        </p:nvSpPr>
        <p:spPr>
          <a:xfrm>
            <a:off x="2386584" y="2651760"/>
            <a:ext cx="713232" cy="274320"/>
          </a:xfrm>
          <a:prstGeom prst="roundRect">
            <a:avLst>
              <a:gd name="adj" fmla="val 16667"/>
            </a:avLst>
          </a:prstGeom>
          <a:solidFill>
            <a:srgbClr val="8FB9BD"/>
          </a:solidFill>
          <a:ln/>
        </p:spPr>
      </p:sp>
      <p:sp>
        <p:nvSpPr>
          <p:cNvPr id="9" name="Shape 7"/>
          <p:cNvSpPr/>
          <p:nvPr/>
        </p:nvSpPr>
        <p:spPr>
          <a:xfrm flipV="1">
            <a:off x="1463040" y="2377440"/>
            <a:ext cx="640080" cy="274320"/>
          </a:xfrm>
          <a:prstGeom prst="line">
            <a:avLst/>
          </a:prstGeom>
          <a:noFill/>
          <a:ln w="15875">
            <a:solidFill>
              <a:srgbClr val="5B6B73"/>
            </a:solidFill>
            <a:prstDash val="solid"/>
          </a:ln>
        </p:spPr>
      </p:sp>
      <p:sp>
        <p:nvSpPr>
          <p:cNvPr id="10" name="Shape 8"/>
          <p:cNvSpPr/>
          <p:nvPr/>
        </p:nvSpPr>
        <p:spPr>
          <a:xfrm>
            <a:off x="2103120" y="2377440"/>
            <a:ext cx="640080" cy="274320"/>
          </a:xfrm>
          <a:prstGeom prst="line">
            <a:avLst/>
          </a:prstGeom>
          <a:noFill/>
          <a:ln w="15875">
            <a:solidFill>
              <a:srgbClr val="5B6B73"/>
            </a:solidFill>
            <a:prstDash val="solid"/>
          </a:ln>
        </p:spPr>
      </p:sp>
      <p:sp>
        <p:nvSpPr>
          <p:cNvPr id="11" name="Text 9"/>
          <p:cNvSpPr txBox="1"/>
          <p:nvPr/>
        </p:nvSpPr>
        <p:spPr>
          <a:xfrm>
            <a:off x="3657600" y="2194560"/>
            <a:ext cx="2194560" cy="109728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Few subordinates per manager → close supervision, more layers (taller).</a:t>
            </a:r>
            <a:endParaRPr lang="en-US" sz="1100" dirty="0"/>
          </a:p>
        </p:txBody>
      </p:sp>
      <p:sp>
        <p:nvSpPr>
          <p:cNvPr id="12" name="Shape 10"/>
          <p:cNvSpPr/>
          <p:nvPr/>
        </p:nvSpPr>
        <p:spPr>
          <a:xfrm>
            <a:off x="6199632" y="1463040"/>
            <a:ext cx="5440680" cy="2194560"/>
          </a:xfrm>
          <a:prstGeom prst="roundRect">
            <a:avLst>
              <a:gd name="adj" fmla="val 33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Text 11"/>
          <p:cNvSpPr txBox="1"/>
          <p:nvPr/>
        </p:nvSpPr>
        <p:spPr>
          <a:xfrm>
            <a:off x="6428232" y="1572768"/>
            <a:ext cx="5029200" cy="320040"/>
          </a:xfrm>
          <a:prstGeom prst="rect">
            <a:avLst/>
          </a:prstGeom>
          <a:noFill/>
          <a:ln/>
        </p:spPr>
        <p:txBody>
          <a:bodyPr wrap="square" lIns="0" tIns="0" rIns="0" bIns="0" rtlCol="0" anchor="ctr"/>
          <a:lstStyle/>
          <a:p>
            <a:pPr indent="0" marL="0">
              <a:buNone/>
            </a:pPr>
            <a:r>
              <a:rPr lang="en-US" sz="1400" b="1" dirty="0">
                <a:solidFill>
                  <a:srgbClr val="E0940F"/>
                </a:solidFill>
                <a:latin typeface="Calibri" pitchFamily="34" charset="0"/>
                <a:ea typeface="Calibri" pitchFamily="34" charset="-122"/>
                <a:cs typeface="Calibri" pitchFamily="34" charset="-120"/>
              </a:rPr>
              <a:t>WIDE span</a:t>
            </a:r>
            <a:endParaRPr lang="en-US" sz="1400" dirty="0"/>
          </a:p>
        </p:txBody>
      </p:sp>
      <p:sp>
        <p:nvSpPr>
          <p:cNvPr id="14" name="Shape 12"/>
          <p:cNvSpPr/>
          <p:nvPr/>
        </p:nvSpPr>
        <p:spPr>
          <a:xfrm>
            <a:off x="7872984" y="2103120"/>
            <a:ext cx="713232" cy="274320"/>
          </a:xfrm>
          <a:prstGeom prst="roundRect">
            <a:avLst>
              <a:gd name="adj" fmla="val 16667"/>
            </a:avLst>
          </a:prstGeom>
          <a:solidFill>
            <a:srgbClr val="0E3A43"/>
          </a:solidFill>
          <a:ln/>
        </p:spPr>
      </p:sp>
      <p:sp>
        <p:nvSpPr>
          <p:cNvPr id="15" name="Shape 13"/>
          <p:cNvSpPr/>
          <p:nvPr/>
        </p:nvSpPr>
        <p:spPr>
          <a:xfrm>
            <a:off x="6423660" y="2697480"/>
            <a:ext cx="502920" cy="274320"/>
          </a:xfrm>
          <a:prstGeom prst="roundRect">
            <a:avLst>
              <a:gd name="adj" fmla="val 16667"/>
            </a:avLst>
          </a:prstGeom>
          <a:solidFill>
            <a:srgbClr val="8FB9BD"/>
          </a:solidFill>
          <a:ln/>
        </p:spPr>
      </p:sp>
      <p:sp>
        <p:nvSpPr>
          <p:cNvPr id="16" name="Shape 14"/>
          <p:cNvSpPr/>
          <p:nvPr/>
        </p:nvSpPr>
        <p:spPr>
          <a:xfrm flipV="1">
            <a:off x="6675120" y="2377440"/>
            <a:ext cx="1554480" cy="320040"/>
          </a:xfrm>
          <a:prstGeom prst="line">
            <a:avLst/>
          </a:prstGeom>
          <a:noFill/>
          <a:ln w="15875">
            <a:solidFill>
              <a:srgbClr val="5B6B73"/>
            </a:solidFill>
            <a:prstDash val="solid"/>
          </a:ln>
        </p:spPr>
      </p:sp>
      <p:sp>
        <p:nvSpPr>
          <p:cNvPr id="17" name="Shape 15"/>
          <p:cNvSpPr/>
          <p:nvPr/>
        </p:nvSpPr>
        <p:spPr>
          <a:xfrm>
            <a:off x="7018020" y="2697480"/>
            <a:ext cx="502920" cy="274320"/>
          </a:xfrm>
          <a:prstGeom prst="roundRect">
            <a:avLst>
              <a:gd name="adj" fmla="val 16667"/>
            </a:avLst>
          </a:prstGeom>
          <a:solidFill>
            <a:srgbClr val="8FB9BD"/>
          </a:solidFill>
          <a:ln/>
        </p:spPr>
      </p:sp>
      <p:sp>
        <p:nvSpPr>
          <p:cNvPr id="18" name="Shape 16"/>
          <p:cNvSpPr/>
          <p:nvPr/>
        </p:nvSpPr>
        <p:spPr>
          <a:xfrm flipV="1">
            <a:off x="7269480" y="2377440"/>
            <a:ext cx="960120" cy="320040"/>
          </a:xfrm>
          <a:prstGeom prst="line">
            <a:avLst/>
          </a:prstGeom>
          <a:noFill/>
          <a:ln w="15875">
            <a:solidFill>
              <a:srgbClr val="5B6B73"/>
            </a:solidFill>
            <a:prstDash val="solid"/>
          </a:ln>
        </p:spPr>
      </p:sp>
      <p:sp>
        <p:nvSpPr>
          <p:cNvPr id="19" name="Shape 17"/>
          <p:cNvSpPr/>
          <p:nvPr/>
        </p:nvSpPr>
        <p:spPr>
          <a:xfrm>
            <a:off x="7612380" y="2697480"/>
            <a:ext cx="502920" cy="274320"/>
          </a:xfrm>
          <a:prstGeom prst="roundRect">
            <a:avLst>
              <a:gd name="adj" fmla="val 16667"/>
            </a:avLst>
          </a:prstGeom>
          <a:solidFill>
            <a:srgbClr val="8FB9BD"/>
          </a:solidFill>
          <a:ln/>
        </p:spPr>
      </p:sp>
      <p:sp>
        <p:nvSpPr>
          <p:cNvPr id="20" name="Shape 18"/>
          <p:cNvSpPr/>
          <p:nvPr/>
        </p:nvSpPr>
        <p:spPr>
          <a:xfrm flipV="1">
            <a:off x="7863840" y="2377440"/>
            <a:ext cx="365760" cy="320040"/>
          </a:xfrm>
          <a:prstGeom prst="line">
            <a:avLst/>
          </a:prstGeom>
          <a:noFill/>
          <a:ln w="15875">
            <a:solidFill>
              <a:srgbClr val="5B6B73"/>
            </a:solidFill>
            <a:prstDash val="solid"/>
          </a:ln>
        </p:spPr>
      </p:sp>
      <p:sp>
        <p:nvSpPr>
          <p:cNvPr id="21" name="Shape 19"/>
          <p:cNvSpPr/>
          <p:nvPr/>
        </p:nvSpPr>
        <p:spPr>
          <a:xfrm>
            <a:off x="8206740" y="2697480"/>
            <a:ext cx="502920" cy="274320"/>
          </a:xfrm>
          <a:prstGeom prst="roundRect">
            <a:avLst>
              <a:gd name="adj" fmla="val 16667"/>
            </a:avLst>
          </a:prstGeom>
          <a:solidFill>
            <a:srgbClr val="8FB9BD"/>
          </a:solidFill>
          <a:ln/>
        </p:spPr>
      </p:sp>
      <p:sp>
        <p:nvSpPr>
          <p:cNvPr id="22" name="Shape 20"/>
          <p:cNvSpPr/>
          <p:nvPr/>
        </p:nvSpPr>
        <p:spPr>
          <a:xfrm>
            <a:off x="8229600" y="2377440"/>
            <a:ext cx="228600" cy="320040"/>
          </a:xfrm>
          <a:prstGeom prst="line">
            <a:avLst/>
          </a:prstGeom>
          <a:noFill/>
          <a:ln w="15875">
            <a:solidFill>
              <a:srgbClr val="5B6B73"/>
            </a:solidFill>
            <a:prstDash val="solid"/>
          </a:ln>
        </p:spPr>
      </p:sp>
      <p:sp>
        <p:nvSpPr>
          <p:cNvPr id="23" name="Shape 21"/>
          <p:cNvSpPr/>
          <p:nvPr/>
        </p:nvSpPr>
        <p:spPr>
          <a:xfrm>
            <a:off x="8801100" y="2697480"/>
            <a:ext cx="502920" cy="274320"/>
          </a:xfrm>
          <a:prstGeom prst="roundRect">
            <a:avLst>
              <a:gd name="adj" fmla="val 16667"/>
            </a:avLst>
          </a:prstGeom>
          <a:solidFill>
            <a:srgbClr val="8FB9BD"/>
          </a:solidFill>
          <a:ln/>
        </p:spPr>
      </p:sp>
      <p:sp>
        <p:nvSpPr>
          <p:cNvPr id="24" name="Shape 22"/>
          <p:cNvSpPr/>
          <p:nvPr/>
        </p:nvSpPr>
        <p:spPr>
          <a:xfrm>
            <a:off x="8229600" y="2377440"/>
            <a:ext cx="822960" cy="320040"/>
          </a:xfrm>
          <a:prstGeom prst="line">
            <a:avLst/>
          </a:prstGeom>
          <a:noFill/>
          <a:ln w="15875">
            <a:solidFill>
              <a:srgbClr val="5B6B73"/>
            </a:solidFill>
            <a:prstDash val="solid"/>
          </a:ln>
        </p:spPr>
      </p:sp>
      <p:sp>
        <p:nvSpPr>
          <p:cNvPr id="25" name="Shape 23"/>
          <p:cNvSpPr/>
          <p:nvPr/>
        </p:nvSpPr>
        <p:spPr>
          <a:xfrm>
            <a:off x="9395460" y="2697480"/>
            <a:ext cx="502920" cy="274320"/>
          </a:xfrm>
          <a:prstGeom prst="roundRect">
            <a:avLst>
              <a:gd name="adj" fmla="val 16667"/>
            </a:avLst>
          </a:prstGeom>
          <a:solidFill>
            <a:srgbClr val="8FB9BD"/>
          </a:solidFill>
          <a:ln/>
        </p:spPr>
      </p:sp>
      <p:sp>
        <p:nvSpPr>
          <p:cNvPr id="26" name="Shape 24"/>
          <p:cNvSpPr/>
          <p:nvPr/>
        </p:nvSpPr>
        <p:spPr>
          <a:xfrm>
            <a:off x="8229600" y="2377440"/>
            <a:ext cx="1417320" cy="320040"/>
          </a:xfrm>
          <a:prstGeom prst="line">
            <a:avLst/>
          </a:prstGeom>
          <a:noFill/>
          <a:ln w="15875">
            <a:solidFill>
              <a:srgbClr val="5B6B73"/>
            </a:solidFill>
            <a:prstDash val="solid"/>
          </a:ln>
        </p:spPr>
      </p:sp>
      <p:sp>
        <p:nvSpPr>
          <p:cNvPr id="27" name="Text 25"/>
          <p:cNvSpPr txBox="1"/>
          <p:nvPr/>
        </p:nvSpPr>
        <p:spPr>
          <a:xfrm>
            <a:off x="10378440" y="2194560"/>
            <a:ext cx="1234440" cy="128016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Many subordinates → more delegation, fewer layers (flatter), less supervision.</a:t>
            </a:r>
            <a:endParaRPr lang="en-US" sz="1000" dirty="0"/>
          </a:p>
        </p:txBody>
      </p:sp>
      <p:sp>
        <p:nvSpPr>
          <p:cNvPr id="28" name="Shape 26"/>
          <p:cNvSpPr/>
          <p:nvPr/>
        </p:nvSpPr>
        <p:spPr>
          <a:xfrm>
            <a:off x="548640" y="3840480"/>
            <a:ext cx="5440680" cy="2331720"/>
          </a:xfrm>
          <a:prstGeom prst="roundRect">
            <a:avLst>
              <a:gd name="adj" fmla="val 3137"/>
            </a:avLst>
          </a:prstGeom>
          <a:solidFill>
            <a:srgbClr val="E8F3EC"/>
          </a:solidFill>
          <a:ln/>
          <a:effectLst>
            <a:outerShdw sx="100000" sy="100000" kx="0" ky="0" algn="bl" rotWithShape="0" blurRad="76200" dist="25400" dir="5400000">
              <a:srgbClr val="9AAAB0">
                <a:alpha val="28000"/>
              </a:srgbClr>
            </a:outerShdw>
          </a:effectLst>
        </p:spPr>
      </p:sp>
      <p:sp>
        <p:nvSpPr>
          <p:cNvPr id="29" name="Text 27"/>
          <p:cNvSpPr txBox="1"/>
          <p:nvPr/>
        </p:nvSpPr>
        <p:spPr>
          <a:xfrm>
            <a:off x="777240" y="3959352"/>
            <a:ext cx="5029200" cy="320040"/>
          </a:xfrm>
          <a:prstGeom prst="rect">
            <a:avLst/>
          </a:prstGeom>
          <a:noFill/>
          <a:ln/>
        </p:spPr>
        <p:txBody>
          <a:bodyPr wrap="square" lIns="0" tIns="0" rIns="0" bIns="0" rtlCol="0" anchor="ctr"/>
          <a:lstStyle/>
          <a:p>
            <a:pPr indent="0" marL="0">
              <a:buNone/>
            </a:pPr>
            <a:r>
              <a:rPr lang="en-US" sz="1350" b="1" dirty="0">
                <a:solidFill>
                  <a:srgbClr val="2F8A5B"/>
                </a:solidFill>
                <a:latin typeface="Calibri" pitchFamily="34" charset="0"/>
                <a:ea typeface="Calibri" pitchFamily="34" charset="-122"/>
                <a:cs typeface="Calibri" pitchFamily="34" charset="-120"/>
              </a:rPr>
              <a:t>Narrow span →</a:t>
            </a:r>
            <a:endParaRPr lang="en-US" sz="1350" dirty="0"/>
          </a:p>
        </p:txBody>
      </p:sp>
      <p:sp>
        <p:nvSpPr>
          <p:cNvPr id="30" name="Text 28"/>
          <p:cNvSpPr txBox="1"/>
          <p:nvPr/>
        </p:nvSpPr>
        <p:spPr>
          <a:xfrm>
            <a:off x="777240" y="4315968"/>
            <a:ext cx="4983480" cy="178308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Tight control &amp; close supervision</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More layers of hierarchy (taller)</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Clear progression / promotion rungs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But: slower communication; more managers = costly; staff may feel micromanaged</a:t>
            </a:r>
            <a:endParaRPr lang="en-US" sz="1200" dirty="0"/>
          </a:p>
        </p:txBody>
      </p:sp>
      <p:sp>
        <p:nvSpPr>
          <p:cNvPr id="31" name="Shape 29"/>
          <p:cNvSpPr/>
          <p:nvPr/>
        </p:nvSpPr>
        <p:spPr>
          <a:xfrm>
            <a:off x="6199632" y="3840480"/>
            <a:ext cx="5440680" cy="2331720"/>
          </a:xfrm>
          <a:prstGeom prst="roundRect">
            <a:avLst>
              <a:gd name="adj" fmla="val 3137"/>
            </a:avLst>
          </a:prstGeom>
          <a:solidFill>
            <a:srgbClr val="FBF0D8"/>
          </a:solidFill>
          <a:ln/>
          <a:effectLst>
            <a:outerShdw sx="100000" sy="100000" kx="0" ky="0" algn="bl" rotWithShape="0" blurRad="76200" dist="25400" dir="5400000">
              <a:srgbClr val="9AAAB0">
                <a:alpha val="28000"/>
              </a:srgbClr>
            </a:outerShdw>
          </a:effectLst>
        </p:spPr>
      </p:sp>
      <p:sp>
        <p:nvSpPr>
          <p:cNvPr id="32" name="Text 30"/>
          <p:cNvSpPr txBox="1"/>
          <p:nvPr/>
        </p:nvSpPr>
        <p:spPr>
          <a:xfrm>
            <a:off x="6428232" y="3959352"/>
            <a:ext cx="5029200" cy="320040"/>
          </a:xfrm>
          <a:prstGeom prst="rect">
            <a:avLst/>
          </a:prstGeom>
          <a:noFill/>
          <a:ln/>
        </p:spPr>
        <p:txBody>
          <a:bodyPr wrap="square" lIns="0" tIns="0" rIns="0" bIns="0" rtlCol="0" anchor="ctr"/>
          <a:lstStyle/>
          <a:p>
            <a:pPr indent="0" marL="0">
              <a:buNone/>
            </a:pPr>
            <a:r>
              <a:rPr lang="en-US" sz="1350" b="1" dirty="0">
                <a:solidFill>
                  <a:srgbClr val="8A5A06"/>
                </a:solidFill>
                <a:latin typeface="Calibri" pitchFamily="34" charset="0"/>
                <a:ea typeface="Calibri" pitchFamily="34" charset="-122"/>
                <a:cs typeface="Calibri" pitchFamily="34" charset="-120"/>
              </a:rPr>
              <a:t>Wide span →</a:t>
            </a:r>
            <a:endParaRPr lang="en-US" sz="1350" dirty="0"/>
          </a:p>
        </p:txBody>
      </p:sp>
      <p:sp>
        <p:nvSpPr>
          <p:cNvPr id="33" name="Text 31"/>
          <p:cNvSpPr txBox="1"/>
          <p:nvPr/>
        </p:nvSpPr>
        <p:spPr>
          <a:xfrm>
            <a:off x="6428232" y="4315968"/>
            <a:ext cx="4983480" cy="178308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More delegation &amp; empowerment → motivation</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Fewer layers (flatter), faster communication</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Lower management cost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But: managers can be overstretched; less close supervision of each worker</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DECISION-MAKING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Centralised vs decentralised</a:t>
            </a:r>
            <a:endParaRPr lang="en-US" sz="2600" dirty="0"/>
          </a:p>
        </p:txBody>
      </p:sp>
      <p:sp>
        <p:nvSpPr>
          <p:cNvPr id="4" name="Shape 2"/>
          <p:cNvSpPr/>
          <p:nvPr/>
        </p:nvSpPr>
        <p:spPr>
          <a:xfrm>
            <a:off x="548640" y="1371600"/>
            <a:ext cx="5440680" cy="3794760"/>
          </a:xfrm>
          <a:prstGeom prst="roundRect">
            <a:avLst>
              <a:gd name="adj" fmla="val 1928"/>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77240" y="1536192"/>
            <a:ext cx="2651760" cy="310896"/>
          </a:xfrm>
          <a:prstGeom prst="roundRect">
            <a:avLst>
              <a:gd name="adj" fmla="val 50000"/>
            </a:avLst>
          </a:prstGeom>
          <a:solidFill>
            <a:srgbClr val="0E7C86"/>
          </a:solidFill>
          <a:ln/>
        </p:spPr>
      </p:sp>
      <p:sp>
        <p:nvSpPr>
          <p:cNvPr id="6" name="Text 4"/>
          <p:cNvSpPr txBox="1"/>
          <p:nvPr/>
        </p:nvSpPr>
        <p:spPr>
          <a:xfrm>
            <a:off x="777240" y="1536192"/>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CENTRALISED</a:t>
            </a:r>
            <a:endParaRPr lang="en-US" sz="1050" dirty="0"/>
          </a:p>
        </p:txBody>
      </p:sp>
      <p:sp>
        <p:nvSpPr>
          <p:cNvPr id="7" name="Text 5"/>
          <p:cNvSpPr txBox="1"/>
          <p:nvPr/>
        </p:nvSpPr>
        <p:spPr>
          <a:xfrm>
            <a:off x="777240" y="1965960"/>
            <a:ext cx="4983480" cy="4114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Decision-making kept at the TOP / head office.</a:t>
            </a:r>
            <a:endParaRPr lang="en-US" sz="1250" dirty="0"/>
          </a:p>
        </p:txBody>
      </p:sp>
      <p:sp>
        <p:nvSpPr>
          <p:cNvPr id="8" name="Text 6"/>
          <p:cNvSpPr txBox="1"/>
          <p:nvPr/>
        </p:nvSpPr>
        <p:spPr>
          <a:xfrm>
            <a:off x="777240" y="2423160"/>
            <a:ext cx="4983480" cy="2651760"/>
          </a:xfrm>
          <a:prstGeom prst="rect">
            <a:avLst/>
          </a:prstGeom>
          <a:noFill/>
          <a:ln/>
        </p:spPr>
        <p:txBody>
          <a:bodyPr wrap="square" lIns="0" tIns="0" rIns="0" bIns="0" rtlCol="0" anchor="t"/>
          <a:lstStyle/>
          <a:p>
            <a:pPr indent="0" marL="0">
              <a:spcAft>
                <a:spcPts val="600"/>
              </a:spcAft>
              <a:buNone/>
            </a:pPr>
            <a:r>
              <a:rPr lang="en-US" sz="1200" b="1" dirty="0">
                <a:solidFill>
                  <a:srgbClr val="2F8A5B"/>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consistent decisions &amp; brand control; economies of scale (bulk buying); clear direction; senior experience used.
</a:t>
            </a:r>
            <a:pPr indent="0" marL="0">
              <a:spcAft>
                <a:spcPts val="600"/>
              </a:spcAft>
              <a:buNone/>
            </a:pPr>
            <a:r>
              <a:rPr lang="en-US" sz="1200" b="1" dirty="0">
                <a:solidFill>
                  <a:srgbClr val="C14B37"/>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slower decisions; less responsive to local needs; can demotivate staff who have no say.</a:t>
            </a:r>
            <a:endParaRPr lang="en-US" sz="1200" dirty="0"/>
          </a:p>
        </p:txBody>
      </p:sp>
      <p:sp>
        <p:nvSpPr>
          <p:cNvPr id="9" name="Shape 7"/>
          <p:cNvSpPr/>
          <p:nvPr/>
        </p:nvSpPr>
        <p:spPr>
          <a:xfrm>
            <a:off x="6199632" y="1371600"/>
            <a:ext cx="5440680" cy="3794760"/>
          </a:xfrm>
          <a:prstGeom prst="roundRect">
            <a:avLst>
              <a:gd name="adj" fmla="val 1928"/>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6428232" y="1536192"/>
            <a:ext cx="2743200" cy="310896"/>
          </a:xfrm>
          <a:prstGeom prst="roundRect">
            <a:avLst>
              <a:gd name="adj" fmla="val 50000"/>
            </a:avLst>
          </a:prstGeom>
          <a:solidFill>
            <a:srgbClr val="E0940F"/>
          </a:solidFill>
          <a:ln/>
        </p:spPr>
      </p:sp>
      <p:sp>
        <p:nvSpPr>
          <p:cNvPr id="11" name="Text 9"/>
          <p:cNvSpPr txBox="1"/>
          <p:nvPr/>
        </p:nvSpPr>
        <p:spPr>
          <a:xfrm>
            <a:off x="6428232" y="1536192"/>
            <a:ext cx="2743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DECENTRALISED</a:t>
            </a:r>
            <a:endParaRPr lang="en-US" sz="1050" dirty="0"/>
          </a:p>
        </p:txBody>
      </p:sp>
      <p:sp>
        <p:nvSpPr>
          <p:cNvPr id="12" name="Text 10"/>
          <p:cNvSpPr txBox="1"/>
          <p:nvPr/>
        </p:nvSpPr>
        <p:spPr>
          <a:xfrm>
            <a:off x="6428232" y="1965960"/>
            <a:ext cx="4983480" cy="4114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Decision-making DELEGATED to local branches/divisions.</a:t>
            </a:r>
            <a:endParaRPr lang="en-US" sz="1250" dirty="0"/>
          </a:p>
        </p:txBody>
      </p:sp>
      <p:sp>
        <p:nvSpPr>
          <p:cNvPr id="13" name="Text 11"/>
          <p:cNvSpPr txBox="1"/>
          <p:nvPr/>
        </p:nvSpPr>
        <p:spPr>
          <a:xfrm>
            <a:off x="6428232" y="2423160"/>
            <a:ext cx="4983480" cy="2651760"/>
          </a:xfrm>
          <a:prstGeom prst="rect">
            <a:avLst/>
          </a:prstGeom>
          <a:noFill/>
          <a:ln/>
        </p:spPr>
        <p:txBody>
          <a:bodyPr wrap="square" lIns="0" tIns="0" rIns="0" bIns="0" rtlCol="0" anchor="t"/>
          <a:lstStyle/>
          <a:p>
            <a:pPr indent="0" marL="0">
              <a:spcAft>
                <a:spcPts val="600"/>
              </a:spcAft>
              <a:buNone/>
            </a:pPr>
            <a:r>
              <a:rPr lang="en-US" sz="1200" b="1" dirty="0">
                <a:solidFill>
                  <a:srgbClr val="2F8A5B"/>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faster decisions; responsive to local customers; empowers &amp; motivates staff; frees senior managers for strategy.
</a:t>
            </a:r>
            <a:pPr indent="0" marL="0">
              <a:spcAft>
                <a:spcPts val="600"/>
              </a:spcAft>
              <a:buNone/>
            </a:pPr>
            <a:r>
              <a:rPr lang="en-US" sz="1200" b="1" dirty="0">
                <a:solidFill>
                  <a:srgbClr val="C14B37"/>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less consistency &amp; brand control; duplication/diseconomies; local managers may lack experience; harder to coordinate.</a:t>
            </a:r>
            <a:endParaRPr lang="en-US" sz="1200" dirty="0"/>
          </a:p>
        </p:txBody>
      </p:sp>
      <p:sp>
        <p:nvSpPr>
          <p:cNvPr id="14" name="Shape 12"/>
          <p:cNvSpPr/>
          <p:nvPr/>
        </p:nvSpPr>
        <p:spPr>
          <a:xfrm>
            <a:off x="548640" y="5257800"/>
            <a:ext cx="11091672" cy="914400"/>
          </a:xfrm>
          <a:prstGeom prst="roundRect">
            <a:avLst>
              <a:gd name="adj" fmla="val 8000"/>
            </a:avLst>
          </a:prstGeom>
          <a:solidFill>
            <a:srgbClr val="FBF0D8"/>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5349240"/>
            <a:ext cx="10698480" cy="73152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Case — McDonald's:  </a:t>
            </a:r>
            <a:pPr indent="0" marL="0">
              <a:buNone/>
            </a:pPr>
            <a:r>
              <a:rPr lang="en-US" sz="1250" dirty="0">
                <a:solidFill>
                  <a:srgbClr val="1F2A33"/>
                </a:solidFill>
                <a:latin typeface="Calibri" pitchFamily="34" charset="0"/>
                <a:ea typeface="Calibri" pitchFamily="34" charset="-122"/>
                <a:cs typeface="Calibri" pitchFamily="34" charset="-120"/>
              </a:rPr>
              <a:t>largely CENTRALISED — a standardised global menu (Big Mac, fries) gives strong brand identity and economies of scale, with the CEO leading decisions. But it DECENTRALISES selectively, letting local markets add items (salads, regional dishes) to suit tastes — a hybrid.</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Exam practice: decision-making (Indian Food Company)</a:t>
            </a:r>
            <a:endParaRPr lang="en-US" sz="26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Assess whether the Indian Food Company should decentralise its decision-making in developing a new vegetarian curry range.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[10]</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Assess: weigh decentralising against keeping control, with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the case: small firm, sales fell 1.5m → 500k units, needs to adapt; Adnan wants control, Sarah wants to adapt.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Level 4 (8–10): balanced, applied, competing arguments, clear judgement.</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(10-mark template)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 (for): giving a specialist vegetarian team authority → faster, more expert decisions → products that meet changing tastes → could reverse the sales decline &amp; motivate the team.</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 (against): in a small firm the owners hold the expertise and cash is tight; decentralising adds cost and loses Adnan's control &amp; consistency.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Conclusion (4Ws): a specialist team could help it adapt, but full decentralisation may be unnecessary for a small firm — depends on whether the owners have the expertise themselves and can afford to lose central control.</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Types of structure</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three structures in the spec — tall, flat and matrix  ·  what each looks like, with advantages and disadvantages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TALL VS FLAT</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Tall vs flat structures</a:t>
            </a:r>
            <a:endParaRPr lang="en-US" sz="2600" dirty="0"/>
          </a:p>
        </p:txBody>
      </p:sp>
      <p:sp>
        <p:nvSpPr>
          <p:cNvPr id="4" name="Text 2"/>
          <p:cNvSpPr txBox="1"/>
          <p:nvPr/>
        </p:nvSpPr>
        <p:spPr>
          <a:xfrm>
            <a:off x="548640" y="1371600"/>
            <a:ext cx="5440680" cy="27432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TALL</a:t>
            </a:r>
            <a:endParaRPr lang="en-US" sz="1300" dirty="0"/>
          </a:p>
        </p:txBody>
      </p:sp>
      <p:sp>
        <p:nvSpPr>
          <p:cNvPr id="5" name="Shape 3"/>
          <p:cNvSpPr/>
          <p:nvPr/>
        </p:nvSpPr>
        <p:spPr>
          <a:xfrm>
            <a:off x="2660904" y="1783080"/>
            <a:ext cx="713232" cy="274320"/>
          </a:xfrm>
          <a:prstGeom prst="roundRect">
            <a:avLst>
              <a:gd name="adj" fmla="val 16667"/>
            </a:avLst>
          </a:prstGeom>
          <a:solidFill>
            <a:srgbClr val="0E3A43"/>
          </a:solidFill>
          <a:ln/>
        </p:spPr>
      </p:sp>
      <p:sp>
        <p:nvSpPr>
          <p:cNvPr id="6" name="Shape 4"/>
          <p:cNvSpPr/>
          <p:nvPr/>
        </p:nvSpPr>
        <p:spPr>
          <a:xfrm>
            <a:off x="1837944" y="2377440"/>
            <a:ext cx="713232" cy="274320"/>
          </a:xfrm>
          <a:prstGeom prst="roundRect">
            <a:avLst>
              <a:gd name="adj" fmla="val 16667"/>
            </a:avLst>
          </a:prstGeom>
          <a:solidFill>
            <a:srgbClr val="0E7C86"/>
          </a:solidFill>
          <a:ln/>
        </p:spPr>
      </p:sp>
      <p:sp>
        <p:nvSpPr>
          <p:cNvPr id="7" name="Shape 5"/>
          <p:cNvSpPr/>
          <p:nvPr/>
        </p:nvSpPr>
        <p:spPr>
          <a:xfrm>
            <a:off x="3483864" y="2377440"/>
            <a:ext cx="713232" cy="274320"/>
          </a:xfrm>
          <a:prstGeom prst="roundRect">
            <a:avLst>
              <a:gd name="adj" fmla="val 16667"/>
            </a:avLst>
          </a:prstGeom>
          <a:solidFill>
            <a:srgbClr val="0E7C86"/>
          </a:solidFill>
          <a:ln/>
        </p:spPr>
      </p:sp>
      <p:sp>
        <p:nvSpPr>
          <p:cNvPr id="8" name="Shape 6"/>
          <p:cNvSpPr/>
          <p:nvPr/>
        </p:nvSpPr>
        <p:spPr>
          <a:xfrm>
            <a:off x="1426464" y="2971800"/>
            <a:ext cx="713232" cy="274320"/>
          </a:xfrm>
          <a:prstGeom prst="roundRect">
            <a:avLst>
              <a:gd name="adj" fmla="val 16667"/>
            </a:avLst>
          </a:prstGeom>
          <a:solidFill>
            <a:srgbClr val="8FB9BD"/>
          </a:solidFill>
          <a:ln/>
        </p:spPr>
      </p:sp>
      <p:sp>
        <p:nvSpPr>
          <p:cNvPr id="9" name="Shape 7"/>
          <p:cNvSpPr/>
          <p:nvPr/>
        </p:nvSpPr>
        <p:spPr>
          <a:xfrm>
            <a:off x="2249424" y="2971800"/>
            <a:ext cx="713232" cy="274320"/>
          </a:xfrm>
          <a:prstGeom prst="roundRect">
            <a:avLst>
              <a:gd name="adj" fmla="val 16667"/>
            </a:avLst>
          </a:prstGeom>
          <a:solidFill>
            <a:srgbClr val="8FB9BD"/>
          </a:solidFill>
          <a:ln/>
        </p:spPr>
      </p:sp>
      <p:sp>
        <p:nvSpPr>
          <p:cNvPr id="10" name="Shape 8"/>
          <p:cNvSpPr/>
          <p:nvPr/>
        </p:nvSpPr>
        <p:spPr>
          <a:xfrm>
            <a:off x="3072384" y="2971800"/>
            <a:ext cx="713232" cy="274320"/>
          </a:xfrm>
          <a:prstGeom prst="roundRect">
            <a:avLst>
              <a:gd name="adj" fmla="val 16667"/>
            </a:avLst>
          </a:prstGeom>
          <a:solidFill>
            <a:srgbClr val="8FB9BD"/>
          </a:solidFill>
          <a:ln/>
        </p:spPr>
      </p:sp>
      <p:sp>
        <p:nvSpPr>
          <p:cNvPr id="11" name="Shape 9"/>
          <p:cNvSpPr/>
          <p:nvPr/>
        </p:nvSpPr>
        <p:spPr>
          <a:xfrm>
            <a:off x="3895344" y="2971800"/>
            <a:ext cx="713232" cy="274320"/>
          </a:xfrm>
          <a:prstGeom prst="roundRect">
            <a:avLst>
              <a:gd name="adj" fmla="val 16667"/>
            </a:avLst>
          </a:prstGeom>
          <a:solidFill>
            <a:srgbClr val="8FB9BD"/>
          </a:solidFill>
          <a:ln/>
        </p:spPr>
      </p:sp>
      <p:sp>
        <p:nvSpPr>
          <p:cNvPr id="12" name="Shape 10"/>
          <p:cNvSpPr/>
          <p:nvPr/>
        </p:nvSpPr>
        <p:spPr>
          <a:xfrm flipV="1">
            <a:off x="2194560" y="2057400"/>
            <a:ext cx="822960" cy="320040"/>
          </a:xfrm>
          <a:prstGeom prst="line">
            <a:avLst/>
          </a:prstGeom>
          <a:noFill/>
          <a:ln w="15875">
            <a:solidFill>
              <a:srgbClr val="5B6B73"/>
            </a:solidFill>
            <a:prstDash val="solid"/>
          </a:ln>
        </p:spPr>
      </p:sp>
      <p:sp>
        <p:nvSpPr>
          <p:cNvPr id="13" name="Shape 11"/>
          <p:cNvSpPr/>
          <p:nvPr/>
        </p:nvSpPr>
        <p:spPr>
          <a:xfrm>
            <a:off x="3017520" y="2057400"/>
            <a:ext cx="822960" cy="320040"/>
          </a:xfrm>
          <a:prstGeom prst="line">
            <a:avLst/>
          </a:prstGeom>
          <a:noFill/>
          <a:ln w="15875">
            <a:solidFill>
              <a:srgbClr val="5B6B73"/>
            </a:solidFill>
            <a:prstDash val="solid"/>
          </a:ln>
        </p:spPr>
      </p:sp>
      <p:sp>
        <p:nvSpPr>
          <p:cNvPr id="14" name="Shape 12"/>
          <p:cNvSpPr/>
          <p:nvPr/>
        </p:nvSpPr>
        <p:spPr>
          <a:xfrm flipV="1">
            <a:off x="1783080" y="2651760"/>
            <a:ext cx="411480" cy="320040"/>
          </a:xfrm>
          <a:prstGeom prst="line">
            <a:avLst/>
          </a:prstGeom>
          <a:noFill/>
          <a:ln w="15875">
            <a:solidFill>
              <a:srgbClr val="5B6B73"/>
            </a:solidFill>
            <a:prstDash val="solid"/>
          </a:ln>
        </p:spPr>
      </p:sp>
      <p:sp>
        <p:nvSpPr>
          <p:cNvPr id="15" name="Shape 13"/>
          <p:cNvSpPr/>
          <p:nvPr/>
        </p:nvSpPr>
        <p:spPr>
          <a:xfrm>
            <a:off x="2194560" y="2651760"/>
            <a:ext cx="411480" cy="320040"/>
          </a:xfrm>
          <a:prstGeom prst="line">
            <a:avLst/>
          </a:prstGeom>
          <a:noFill/>
          <a:ln w="15875">
            <a:solidFill>
              <a:srgbClr val="5B6B73"/>
            </a:solidFill>
            <a:prstDash val="solid"/>
          </a:ln>
        </p:spPr>
      </p:sp>
      <p:sp>
        <p:nvSpPr>
          <p:cNvPr id="16" name="Shape 14"/>
          <p:cNvSpPr/>
          <p:nvPr/>
        </p:nvSpPr>
        <p:spPr>
          <a:xfrm flipV="1">
            <a:off x="3429000" y="2651760"/>
            <a:ext cx="411480" cy="320040"/>
          </a:xfrm>
          <a:prstGeom prst="line">
            <a:avLst/>
          </a:prstGeom>
          <a:noFill/>
          <a:ln w="15875">
            <a:solidFill>
              <a:srgbClr val="5B6B73"/>
            </a:solidFill>
            <a:prstDash val="solid"/>
          </a:ln>
        </p:spPr>
      </p:sp>
      <p:sp>
        <p:nvSpPr>
          <p:cNvPr id="17" name="Shape 15"/>
          <p:cNvSpPr/>
          <p:nvPr/>
        </p:nvSpPr>
        <p:spPr>
          <a:xfrm>
            <a:off x="3840480" y="2651760"/>
            <a:ext cx="411480" cy="320040"/>
          </a:xfrm>
          <a:prstGeom prst="line">
            <a:avLst/>
          </a:prstGeom>
          <a:noFill/>
          <a:ln w="15875">
            <a:solidFill>
              <a:srgbClr val="5B6B73"/>
            </a:solidFill>
            <a:prstDash val="solid"/>
          </a:ln>
        </p:spPr>
      </p:sp>
      <p:sp>
        <p:nvSpPr>
          <p:cNvPr id="18" name="Text 16"/>
          <p:cNvSpPr txBox="1"/>
          <p:nvPr/>
        </p:nvSpPr>
        <p:spPr>
          <a:xfrm>
            <a:off x="548640" y="3200400"/>
            <a:ext cx="5440680" cy="274320"/>
          </a:xfrm>
          <a:prstGeom prst="rect">
            <a:avLst/>
          </a:prstGeom>
          <a:noFill/>
          <a:ln/>
        </p:spPr>
        <p:txBody>
          <a:bodyPr wrap="square" lIns="0" tIns="0" rIns="0" bIns="0" rtlCol="0" anchor="ctr"/>
          <a:lstStyle/>
          <a:p>
            <a:pPr algn="ctr" indent="0" marL="0">
              <a:buNone/>
            </a:pPr>
            <a:r>
              <a:rPr lang="en-US" sz="1050" i="1" dirty="0">
                <a:solidFill>
                  <a:srgbClr val="5B6B73"/>
                </a:solidFill>
                <a:latin typeface="Calibri" pitchFamily="34" charset="0"/>
                <a:ea typeface="Calibri" pitchFamily="34" charset="-122"/>
                <a:cs typeface="Calibri" pitchFamily="34" charset="-120"/>
              </a:rPr>
              <a:t>Many layers · narrow spans · long chain of command</a:t>
            </a:r>
            <a:endParaRPr lang="en-US" sz="1050" dirty="0"/>
          </a:p>
        </p:txBody>
      </p:sp>
      <p:sp>
        <p:nvSpPr>
          <p:cNvPr id="19" name="Text 17"/>
          <p:cNvSpPr txBox="1"/>
          <p:nvPr/>
        </p:nvSpPr>
        <p:spPr>
          <a:xfrm>
            <a:off x="6199632" y="1371600"/>
            <a:ext cx="5440680" cy="274320"/>
          </a:xfrm>
          <a:prstGeom prst="rect">
            <a:avLst/>
          </a:prstGeom>
          <a:noFill/>
          <a:ln/>
        </p:spPr>
        <p:txBody>
          <a:bodyPr wrap="square" lIns="0" tIns="0" rIns="0" bIns="0" rtlCol="0" anchor="ctr"/>
          <a:lstStyle/>
          <a:p>
            <a:pPr algn="ctr" indent="0" marL="0">
              <a:buNone/>
            </a:pPr>
            <a:r>
              <a:rPr lang="en-US" sz="1300" b="1" dirty="0">
                <a:solidFill>
                  <a:srgbClr val="E0940F"/>
                </a:solidFill>
                <a:latin typeface="Calibri" pitchFamily="34" charset="0"/>
                <a:ea typeface="Calibri" pitchFamily="34" charset="-122"/>
                <a:cs typeface="Calibri" pitchFamily="34" charset="-120"/>
              </a:rPr>
              <a:t>FLAT</a:t>
            </a:r>
            <a:endParaRPr lang="en-US" sz="1300" dirty="0"/>
          </a:p>
        </p:txBody>
      </p:sp>
      <p:sp>
        <p:nvSpPr>
          <p:cNvPr id="20" name="Shape 18"/>
          <p:cNvSpPr/>
          <p:nvPr/>
        </p:nvSpPr>
        <p:spPr>
          <a:xfrm>
            <a:off x="8421624" y="1874520"/>
            <a:ext cx="713232" cy="274320"/>
          </a:xfrm>
          <a:prstGeom prst="roundRect">
            <a:avLst>
              <a:gd name="adj" fmla="val 16667"/>
            </a:avLst>
          </a:prstGeom>
          <a:solidFill>
            <a:srgbClr val="0E3A43"/>
          </a:solidFill>
          <a:ln/>
        </p:spPr>
      </p:sp>
      <p:sp>
        <p:nvSpPr>
          <p:cNvPr id="21" name="Shape 19"/>
          <p:cNvSpPr/>
          <p:nvPr/>
        </p:nvSpPr>
        <p:spPr>
          <a:xfrm>
            <a:off x="7031736" y="2606040"/>
            <a:ext cx="566928" cy="274320"/>
          </a:xfrm>
          <a:prstGeom prst="roundRect">
            <a:avLst>
              <a:gd name="adj" fmla="val 16667"/>
            </a:avLst>
          </a:prstGeom>
          <a:solidFill>
            <a:srgbClr val="8FB9BD"/>
          </a:solidFill>
          <a:ln/>
        </p:spPr>
      </p:sp>
      <p:sp>
        <p:nvSpPr>
          <p:cNvPr id="22" name="Shape 20"/>
          <p:cNvSpPr/>
          <p:nvPr/>
        </p:nvSpPr>
        <p:spPr>
          <a:xfrm flipV="1">
            <a:off x="7315200" y="2148840"/>
            <a:ext cx="1463040" cy="457200"/>
          </a:xfrm>
          <a:prstGeom prst="line">
            <a:avLst/>
          </a:prstGeom>
          <a:noFill/>
          <a:ln w="15875">
            <a:solidFill>
              <a:srgbClr val="5B6B73"/>
            </a:solidFill>
            <a:prstDash val="solid"/>
          </a:ln>
        </p:spPr>
      </p:sp>
      <p:sp>
        <p:nvSpPr>
          <p:cNvPr id="23" name="Shape 21"/>
          <p:cNvSpPr/>
          <p:nvPr/>
        </p:nvSpPr>
        <p:spPr>
          <a:xfrm>
            <a:off x="7626096" y="2606040"/>
            <a:ext cx="566928" cy="274320"/>
          </a:xfrm>
          <a:prstGeom prst="roundRect">
            <a:avLst>
              <a:gd name="adj" fmla="val 16667"/>
            </a:avLst>
          </a:prstGeom>
          <a:solidFill>
            <a:srgbClr val="8FB9BD"/>
          </a:solidFill>
          <a:ln/>
        </p:spPr>
      </p:sp>
      <p:sp>
        <p:nvSpPr>
          <p:cNvPr id="24" name="Shape 22"/>
          <p:cNvSpPr/>
          <p:nvPr/>
        </p:nvSpPr>
        <p:spPr>
          <a:xfrm flipV="1">
            <a:off x="7909560" y="2148840"/>
            <a:ext cx="868680" cy="457200"/>
          </a:xfrm>
          <a:prstGeom prst="line">
            <a:avLst/>
          </a:prstGeom>
          <a:noFill/>
          <a:ln w="15875">
            <a:solidFill>
              <a:srgbClr val="5B6B73"/>
            </a:solidFill>
            <a:prstDash val="solid"/>
          </a:ln>
        </p:spPr>
      </p:sp>
      <p:sp>
        <p:nvSpPr>
          <p:cNvPr id="25" name="Shape 23"/>
          <p:cNvSpPr/>
          <p:nvPr/>
        </p:nvSpPr>
        <p:spPr>
          <a:xfrm>
            <a:off x="8220456" y="2606040"/>
            <a:ext cx="566928" cy="274320"/>
          </a:xfrm>
          <a:prstGeom prst="roundRect">
            <a:avLst>
              <a:gd name="adj" fmla="val 16667"/>
            </a:avLst>
          </a:prstGeom>
          <a:solidFill>
            <a:srgbClr val="8FB9BD"/>
          </a:solidFill>
          <a:ln/>
        </p:spPr>
      </p:sp>
      <p:sp>
        <p:nvSpPr>
          <p:cNvPr id="26" name="Shape 24"/>
          <p:cNvSpPr/>
          <p:nvPr/>
        </p:nvSpPr>
        <p:spPr>
          <a:xfrm flipV="1">
            <a:off x="8503920" y="2148840"/>
            <a:ext cx="274320" cy="457200"/>
          </a:xfrm>
          <a:prstGeom prst="line">
            <a:avLst/>
          </a:prstGeom>
          <a:noFill/>
          <a:ln w="15875">
            <a:solidFill>
              <a:srgbClr val="5B6B73"/>
            </a:solidFill>
            <a:prstDash val="solid"/>
          </a:ln>
        </p:spPr>
      </p:sp>
      <p:sp>
        <p:nvSpPr>
          <p:cNvPr id="27" name="Shape 25"/>
          <p:cNvSpPr/>
          <p:nvPr/>
        </p:nvSpPr>
        <p:spPr>
          <a:xfrm>
            <a:off x="8814816" y="2606040"/>
            <a:ext cx="566928" cy="274320"/>
          </a:xfrm>
          <a:prstGeom prst="roundRect">
            <a:avLst>
              <a:gd name="adj" fmla="val 16667"/>
            </a:avLst>
          </a:prstGeom>
          <a:solidFill>
            <a:srgbClr val="8FB9BD"/>
          </a:solidFill>
          <a:ln/>
        </p:spPr>
      </p:sp>
      <p:sp>
        <p:nvSpPr>
          <p:cNvPr id="28" name="Shape 26"/>
          <p:cNvSpPr/>
          <p:nvPr/>
        </p:nvSpPr>
        <p:spPr>
          <a:xfrm>
            <a:off x="8778240" y="2148840"/>
            <a:ext cx="320040" cy="457200"/>
          </a:xfrm>
          <a:prstGeom prst="line">
            <a:avLst/>
          </a:prstGeom>
          <a:noFill/>
          <a:ln w="15875">
            <a:solidFill>
              <a:srgbClr val="5B6B73"/>
            </a:solidFill>
            <a:prstDash val="solid"/>
          </a:ln>
        </p:spPr>
      </p:sp>
      <p:sp>
        <p:nvSpPr>
          <p:cNvPr id="29" name="Shape 27"/>
          <p:cNvSpPr/>
          <p:nvPr/>
        </p:nvSpPr>
        <p:spPr>
          <a:xfrm>
            <a:off x="9409176" y="2606040"/>
            <a:ext cx="566928" cy="274320"/>
          </a:xfrm>
          <a:prstGeom prst="roundRect">
            <a:avLst>
              <a:gd name="adj" fmla="val 16667"/>
            </a:avLst>
          </a:prstGeom>
          <a:solidFill>
            <a:srgbClr val="8FB9BD"/>
          </a:solidFill>
          <a:ln/>
        </p:spPr>
      </p:sp>
      <p:sp>
        <p:nvSpPr>
          <p:cNvPr id="30" name="Shape 28"/>
          <p:cNvSpPr/>
          <p:nvPr/>
        </p:nvSpPr>
        <p:spPr>
          <a:xfrm>
            <a:off x="8778240" y="2148840"/>
            <a:ext cx="914400" cy="457200"/>
          </a:xfrm>
          <a:prstGeom prst="line">
            <a:avLst/>
          </a:prstGeom>
          <a:noFill/>
          <a:ln w="15875">
            <a:solidFill>
              <a:srgbClr val="5B6B73"/>
            </a:solidFill>
            <a:prstDash val="solid"/>
          </a:ln>
        </p:spPr>
      </p:sp>
      <p:sp>
        <p:nvSpPr>
          <p:cNvPr id="31" name="Shape 29"/>
          <p:cNvSpPr/>
          <p:nvPr/>
        </p:nvSpPr>
        <p:spPr>
          <a:xfrm>
            <a:off x="10003536" y="2606040"/>
            <a:ext cx="566928" cy="274320"/>
          </a:xfrm>
          <a:prstGeom prst="roundRect">
            <a:avLst>
              <a:gd name="adj" fmla="val 16667"/>
            </a:avLst>
          </a:prstGeom>
          <a:solidFill>
            <a:srgbClr val="8FB9BD"/>
          </a:solidFill>
          <a:ln/>
        </p:spPr>
      </p:sp>
      <p:sp>
        <p:nvSpPr>
          <p:cNvPr id="32" name="Shape 30"/>
          <p:cNvSpPr/>
          <p:nvPr/>
        </p:nvSpPr>
        <p:spPr>
          <a:xfrm>
            <a:off x="8778240" y="2148840"/>
            <a:ext cx="1508760" cy="457200"/>
          </a:xfrm>
          <a:prstGeom prst="line">
            <a:avLst/>
          </a:prstGeom>
          <a:noFill/>
          <a:ln w="15875">
            <a:solidFill>
              <a:srgbClr val="5B6B73"/>
            </a:solidFill>
            <a:prstDash val="solid"/>
          </a:ln>
        </p:spPr>
      </p:sp>
      <p:sp>
        <p:nvSpPr>
          <p:cNvPr id="33" name="Text 31"/>
          <p:cNvSpPr txBox="1"/>
          <p:nvPr/>
        </p:nvSpPr>
        <p:spPr>
          <a:xfrm>
            <a:off x="6199632" y="3200400"/>
            <a:ext cx="5440680" cy="274320"/>
          </a:xfrm>
          <a:prstGeom prst="rect">
            <a:avLst/>
          </a:prstGeom>
          <a:noFill/>
          <a:ln/>
        </p:spPr>
        <p:txBody>
          <a:bodyPr wrap="square" lIns="0" tIns="0" rIns="0" bIns="0" rtlCol="0" anchor="ctr"/>
          <a:lstStyle/>
          <a:p>
            <a:pPr algn="ctr" indent="0" marL="0">
              <a:buNone/>
            </a:pPr>
            <a:r>
              <a:rPr lang="en-US" sz="1050" i="1" dirty="0">
                <a:solidFill>
                  <a:srgbClr val="5B6B73"/>
                </a:solidFill>
                <a:latin typeface="Calibri" pitchFamily="34" charset="0"/>
                <a:ea typeface="Calibri" pitchFamily="34" charset="-122"/>
                <a:cs typeface="Calibri" pitchFamily="34" charset="-120"/>
              </a:rPr>
              <a:t>Few layers · wide spans · short chain of command</a:t>
            </a:r>
            <a:endParaRPr lang="en-US" sz="1050" dirty="0"/>
          </a:p>
        </p:txBody>
      </p:sp>
      <p:sp>
        <p:nvSpPr>
          <p:cNvPr id="34" name="Shape 32"/>
          <p:cNvSpPr/>
          <p:nvPr/>
        </p:nvSpPr>
        <p:spPr>
          <a:xfrm>
            <a:off x="548640" y="3611880"/>
            <a:ext cx="5440680" cy="2560320"/>
          </a:xfrm>
          <a:prstGeom prst="roundRect">
            <a:avLst>
              <a:gd name="adj" fmla="val 2857"/>
            </a:avLst>
          </a:prstGeom>
          <a:solidFill>
            <a:srgbClr val="EAF3F4"/>
          </a:solidFill>
          <a:ln/>
          <a:effectLst>
            <a:outerShdw sx="100000" sy="100000" kx="0" ky="0" algn="bl" rotWithShape="0" blurRad="76200" dist="25400" dir="5400000">
              <a:srgbClr val="9AAAB0">
                <a:alpha val="28000"/>
              </a:srgbClr>
            </a:outerShdw>
          </a:effectLst>
        </p:spPr>
      </p:sp>
      <p:sp>
        <p:nvSpPr>
          <p:cNvPr id="35" name="Text 33"/>
          <p:cNvSpPr txBox="1"/>
          <p:nvPr/>
        </p:nvSpPr>
        <p:spPr>
          <a:xfrm>
            <a:off x="777240" y="3721608"/>
            <a:ext cx="5029200" cy="292608"/>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Tall structure</a:t>
            </a:r>
            <a:endParaRPr lang="en-US" sz="1300" dirty="0"/>
          </a:p>
        </p:txBody>
      </p:sp>
      <p:sp>
        <p:nvSpPr>
          <p:cNvPr id="36" name="Text 34"/>
          <p:cNvSpPr txBox="1"/>
          <p:nvPr/>
        </p:nvSpPr>
        <p:spPr>
          <a:xfrm>
            <a:off x="777240" y="4041648"/>
            <a:ext cx="4983480" cy="2057400"/>
          </a:xfrm>
          <a:prstGeom prst="rect">
            <a:avLst/>
          </a:prstGeom>
          <a:noFill/>
          <a:ln/>
        </p:spPr>
        <p:txBody>
          <a:bodyPr wrap="square" lIns="0" tIns="0" rIns="0" bIns="0" rtlCol="0" anchor="t"/>
          <a:lstStyle/>
          <a:p>
            <a:pPr indent="0" marL="0">
              <a:spcAft>
                <a:spcPts val="600"/>
              </a:spcAft>
              <a:buNone/>
            </a:pPr>
            <a:r>
              <a:rPr lang="en-US" sz="1200" b="1" dirty="0">
                <a:solidFill>
                  <a:srgbClr val="2F8A5B"/>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clear authority &amp; accountability; close supervision; many promotion rungs.
</a:t>
            </a:r>
            <a:pPr indent="0" marL="0">
              <a:spcAft>
                <a:spcPts val="600"/>
              </a:spcAft>
              <a:buNone/>
            </a:pPr>
            <a:r>
              <a:rPr lang="en-US" sz="1200" b="1" dirty="0">
                <a:solidFill>
                  <a:srgbClr val="C14B37"/>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slow communication &amp; decisions (many layers); costly (more managers); staff feel distant &amp; less autonomous.</a:t>
            </a:r>
            <a:endParaRPr lang="en-US" sz="1200" dirty="0"/>
          </a:p>
        </p:txBody>
      </p:sp>
      <p:sp>
        <p:nvSpPr>
          <p:cNvPr id="37" name="Shape 35"/>
          <p:cNvSpPr/>
          <p:nvPr/>
        </p:nvSpPr>
        <p:spPr>
          <a:xfrm>
            <a:off x="6199632" y="3611880"/>
            <a:ext cx="5440680" cy="2560320"/>
          </a:xfrm>
          <a:prstGeom prst="roundRect">
            <a:avLst>
              <a:gd name="adj" fmla="val 2857"/>
            </a:avLst>
          </a:prstGeom>
          <a:solidFill>
            <a:srgbClr val="FBF0D8"/>
          </a:solidFill>
          <a:ln/>
          <a:effectLst>
            <a:outerShdw sx="100000" sy="100000" kx="0" ky="0" algn="bl" rotWithShape="0" blurRad="76200" dist="25400" dir="5400000">
              <a:srgbClr val="9AAAB0">
                <a:alpha val="28000"/>
              </a:srgbClr>
            </a:outerShdw>
          </a:effectLst>
        </p:spPr>
      </p:sp>
      <p:sp>
        <p:nvSpPr>
          <p:cNvPr id="38" name="Text 36"/>
          <p:cNvSpPr txBox="1"/>
          <p:nvPr/>
        </p:nvSpPr>
        <p:spPr>
          <a:xfrm>
            <a:off x="6428232" y="3721608"/>
            <a:ext cx="5029200" cy="292608"/>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Flat structure</a:t>
            </a:r>
            <a:endParaRPr lang="en-US" sz="1300" dirty="0"/>
          </a:p>
        </p:txBody>
      </p:sp>
      <p:sp>
        <p:nvSpPr>
          <p:cNvPr id="39" name="Text 37"/>
          <p:cNvSpPr txBox="1"/>
          <p:nvPr/>
        </p:nvSpPr>
        <p:spPr>
          <a:xfrm>
            <a:off x="6428232" y="4041648"/>
            <a:ext cx="4983480" cy="2057400"/>
          </a:xfrm>
          <a:prstGeom prst="rect">
            <a:avLst/>
          </a:prstGeom>
          <a:noFill/>
          <a:ln/>
        </p:spPr>
        <p:txBody>
          <a:bodyPr wrap="square" lIns="0" tIns="0" rIns="0" bIns="0" rtlCol="0" anchor="t"/>
          <a:lstStyle/>
          <a:p>
            <a:pPr indent="0" marL="0">
              <a:spcAft>
                <a:spcPts val="600"/>
              </a:spcAft>
              <a:buNone/>
            </a:pPr>
            <a:r>
              <a:rPr lang="en-US" sz="1200" b="1" dirty="0">
                <a:solidFill>
                  <a:srgbClr val="2F8A5B"/>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faster communication &amp; decisions; cheaper (fewer managers); more delegation → motivation.
</a:t>
            </a:r>
            <a:pPr indent="0" marL="0">
              <a:spcAft>
                <a:spcPts val="600"/>
              </a:spcAft>
              <a:buNone/>
            </a:pPr>
            <a:r>
              <a:rPr lang="en-US" sz="1200" b="1" dirty="0">
                <a:solidFill>
                  <a:srgbClr val="C14B37"/>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managers overstretched (wide span); less supervision; fewer promotions; roles can overlap.</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MATRIX</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Matrix structure</a:t>
            </a:r>
            <a:endParaRPr lang="en-US" sz="2600" dirty="0"/>
          </a:p>
        </p:txBody>
      </p:sp>
      <p:sp>
        <p:nvSpPr>
          <p:cNvPr id="4" name="Shape 2"/>
          <p:cNvSpPr/>
          <p:nvPr/>
        </p:nvSpPr>
        <p:spPr>
          <a:xfrm>
            <a:off x="548640" y="1371600"/>
            <a:ext cx="11091672" cy="749808"/>
          </a:xfrm>
          <a:prstGeom prst="roundRect">
            <a:avLst>
              <a:gd name="adj" fmla="val 97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48640"/>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Definition:  </a:t>
            </a:r>
            <a:pPr indent="0" marL="0">
              <a:buNone/>
            </a:pPr>
            <a:r>
              <a:rPr lang="en-US" sz="1300" dirty="0">
                <a:solidFill>
                  <a:srgbClr val="1F2A33"/>
                </a:solidFill>
                <a:latin typeface="Calibri" pitchFamily="34" charset="0"/>
                <a:ea typeface="Calibri" pitchFamily="34" charset="-122"/>
                <a:cs typeface="Calibri" pitchFamily="34" charset="-120"/>
              </a:rPr>
              <a:t>staff are grouped by BOTH function and project/product, so they report to TWO managers — a functional manager (e.g. Head of Finance) and a project manager. Teams are built across departments.</a:t>
            </a:r>
            <a:endParaRPr lang="en-US" sz="1300" dirty="0"/>
          </a:p>
        </p:txBody>
      </p:sp>
      <p:sp>
        <p:nvSpPr>
          <p:cNvPr id="6" name="Text 4"/>
          <p:cNvSpPr txBox="1"/>
          <p:nvPr/>
        </p:nvSpPr>
        <p:spPr>
          <a:xfrm>
            <a:off x="1920240" y="2423160"/>
            <a:ext cx="1188720" cy="502920"/>
          </a:xfrm>
          <a:prstGeom prst="rect">
            <a:avLst/>
          </a:prstGeom>
          <a:noFill/>
          <a:ln/>
        </p:spPr>
        <p:txBody>
          <a:bodyPr wrap="square" lIns="0" tIns="0" rIns="0" bIns="0" rtlCol="0" anchor="ctr"/>
          <a:lstStyle/>
          <a:p>
            <a:pPr algn="ctr" indent="0" marL="0">
              <a:buNone/>
            </a:pPr>
            <a:r>
              <a:rPr lang="en-US" sz="1050" b="1" dirty="0">
                <a:solidFill>
                  <a:srgbClr val="0E7C86"/>
                </a:solidFill>
                <a:latin typeface="Calibri" pitchFamily="34" charset="0"/>
                <a:ea typeface="Calibri" pitchFamily="34" charset="-122"/>
                <a:cs typeface="Calibri" pitchFamily="34" charset="-120"/>
              </a:rPr>
              <a:t>Finance</a:t>
            </a:r>
            <a:endParaRPr lang="en-US" sz="1050" dirty="0"/>
          </a:p>
        </p:txBody>
      </p:sp>
      <p:sp>
        <p:nvSpPr>
          <p:cNvPr id="7" name="Text 5"/>
          <p:cNvSpPr txBox="1"/>
          <p:nvPr/>
        </p:nvSpPr>
        <p:spPr>
          <a:xfrm>
            <a:off x="3108960" y="2423160"/>
            <a:ext cx="1188720" cy="502920"/>
          </a:xfrm>
          <a:prstGeom prst="rect">
            <a:avLst/>
          </a:prstGeom>
          <a:noFill/>
          <a:ln/>
        </p:spPr>
        <p:txBody>
          <a:bodyPr wrap="square" lIns="0" tIns="0" rIns="0" bIns="0" rtlCol="0" anchor="ctr"/>
          <a:lstStyle/>
          <a:p>
            <a:pPr algn="ctr" indent="0" marL="0">
              <a:buNone/>
            </a:pPr>
            <a:r>
              <a:rPr lang="en-US" sz="1050" b="1" dirty="0">
                <a:solidFill>
                  <a:srgbClr val="0E7C86"/>
                </a:solidFill>
                <a:latin typeface="Calibri" pitchFamily="34" charset="0"/>
                <a:ea typeface="Calibri" pitchFamily="34" charset="-122"/>
                <a:cs typeface="Calibri" pitchFamily="34" charset="-120"/>
              </a:rPr>
              <a:t>Marketing</a:t>
            </a:r>
            <a:endParaRPr lang="en-US" sz="1050" dirty="0"/>
          </a:p>
        </p:txBody>
      </p:sp>
      <p:sp>
        <p:nvSpPr>
          <p:cNvPr id="8" name="Text 6"/>
          <p:cNvSpPr txBox="1"/>
          <p:nvPr/>
        </p:nvSpPr>
        <p:spPr>
          <a:xfrm>
            <a:off x="4297680" y="2423160"/>
            <a:ext cx="1188720" cy="502920"/>
          </a:xfrm>
          <a:prstGeom prst="rect">
            <a:avLst/>
          </a:prstGeom>
          <a:noFill/>
          <a:ln/>
        </p:spPr>
        <p:txBody>
          <a:bodyPr wrap="square" lIns="0" tIns="0" rIns="0" bIns="0" rtlCol="0" anchor="ctr"/>
          <a:lstStyle/>
          <a:p>
            <a:pPr algn="ctr" indent="0" marL="0">
              <a:buNone/>
            </a:pPr>
            <a:r>
              <a:rPr lang="en-US" sz="1050" b="1" dirty="0">
                <a:solidFill>
                  <a:srgbClr val="0E7C86"/>
                </a:solidFill>
                <a:latin typeface="Calibri" pitchFamily="34" charset="0"/>
                <a:ea typeface="Calibri" pitchFamily="34" charset="-122"/>
                <a:cs typeface="Calibri" pitchFamily="34" charset="-120"/>
              </a:rPr>
              <a:t>Production</a:t>
            </a:r>
            <a:endParaRPr lang="en-US" sz="1050" dirty="0"/>
          </a:p>
        </p:txBody>
      </p:sp>
      <p:sp>
        <p:nvSpPr>
          <p:cNvPr id="9" name="Text 7"/>
          <p:cNvSpPr txBox="1"/>
          <p:nvPr/>
        </p:nvSpPr>
        <p:spPr>
          <a:xfrm>
            <a:off x="594360" y="2926080"/>
            <a:ext cx="1280160" cy="502920"/>
          </a:xfrm>
          <a:prstGeom prst="rect">
            <a:avLst/>
          </a:prstGeom>
          <a:noFill/>
          <a:ln/>
        </p:spPr>
        <p:txBody>
          <a:bodyPr wrap="square" lIns="0" tIns="0" rIns="0" bIns="0" rtlCol="0" anchor="ctr"/>
          <a:lstStyle/>
          <a:p>
            <a:pPr algn="r" indent="0" marL="0">
              <a:buNone/>
            </a:pPr>
            <a:r>
              <a:rPr lang="en-US" sz="1050" b="1" dirty="0">
                <a:solidFill>
                  <a:srgbClr val="E0940F"/>
                </a:solidFill>
                <a:latin typeface="Calibri" pitchFamily="34" charset="0"/>
                <a:ea typeface="Calibri" pitchFamily="34" charset="-122"/>
                <a:cs typeface="Calibri" pitchFamily="34" charset="-120"/>
              </a:rPr>
              <a:t>Project A</a:t>
            </a:r>
            <a:endParaRPr lang="en-US" sz="1050" dirty="0"/>
          </a:p>
        </p:txBody>
      </p:sp>
      <p:sp>
        <p:nvSpPr>
          <p:cNvPr id="10" name="Shape 8"/>
          <p:cNvSpPr/>
          <p:nvPr/>
        </p:nvSpPr>
        <p:spPr>
          <a:xfrm>
            <a:off x="2020824" y="2971800"/>
            <a:ext cx="987552" cy="384048"/>
          </a:xfrm>
          <a:prstGeom prst="roundRect">
            <a:avLst>
              <a:gd name="adj" fmla="val 11905"/>
            </a:avLst>
          </a:prstGeom>
          <a:solidFill>
            <a:srgbClr val="8FB9BD"/>
          </a:solidFill>
          <a:ln/>
        </p:spPr>
      </p:sp>
      <p:sp>
        <p:nvSpPr>
          <p:cNvPr id="11" name="Text 9"/>
          <p:cNvSpPr txBox="1"/>
          <p:nvPr/>
        </p:nvSpPr>
        <p:spPr>
          <a:xfrm>
            <a:off x="2020824" y="2971800"/>
            <a:ext cx="987552" cy="384048"/>
          </a:xfrm>
          <a:prstGeom prst="rect">
            <a:avLst/>
          </a:prstGeom>
          <a:noFill/>
          <a:ln/>
        </p:spPr>
        <p:txBody>
          <a:bodyPr wrap="square" lIns="0" tIns="0" rIns="0" bIns="0" rtlCol="0" anchor="ctr"/>
          <a:lstStyle/>
          <a:p>
            <a:pPr algn="ctr" indent="0" marL="0">
              <a:buNone/>
            </a:pPr>
            <a:r>
              <a:rPr lang="en-US" sz="900" b="1" dirty="0">
                <a:solidFill>
                  <a:srgbClr val="1F2A33"/>
                </a:solidFill>
                <a:latin typeface="Calibri" pitchFamily="34" charset="0"/>
                <a:ea typeface="Calibri" pitchFamily="34" charset="-122"/>
                <a:cs typeface="Calibri" pitchFamily="34" charset="-120"/>
              </a:rPr>
              <a:t>staff</a:t>
            </a:r>
            <a:endParaRPr lang="en-US" sz="900" dirty="0"/>
          </a:p>
        </p:txBody>
      </p:sp>
      <p:sp>
        <p:nvSpPr>
          <p:cNvPr id="12" name="Shape 10"/>
          <p:cNvSpPr/>
          <p:nvPr/>
        </p:nvSpPr>
        <p:spPr>
          <a:xfrm>
            <a:off x="3209544" y="2971800"/>
            <a:ext cx="987552" cy="384048"/>
          </a:xfrm>
          <a:prstGeom prst="roundRect">
            <a:avLst>
              <a:gd name="adj" fmla="val 11905"/>
            </a:avLst>
          </a:prstGeom>
          <a:solidFill>
            <a:srgbClr val="8FB9BD"/>
          </a:solidFill>
          <a:ln/>
        </p:spPr>
      </p:sp>
      <p:sp>
        <p:nvSpPr>
          <p:cNvPr id="13" name="Text 11"/>
          <p:cNvSpPr txBox="1"/>
          <p:nvPr/>
        </p:nvSpPr>
        <p:spPr>
          <a:xfrm>
            <a:off x="3209544" y="2971800"/>
            <a:ext cx="987552" cy="384048"/>
          </a:xfrm>
          <a:prstGeom prst="rect">
            <a:avLst/>
          </a:prstGeom>
          <a:noFill/>
          <a:ln/>
        </p:spPr>
        <p:txBody>
          <a:bodyPr wrap="square" lIns="0" tIns="0" rIns="0" bIns="0" rtlCol="0" anchor="ctr"/>
          <a:lstStyle/>
          <a:p>
            <a:pPr algn="ctr" indent="0" marL="0">
              <a:buNone/>
            </a:pPr>
            <a:r>
              <a:rPr lang="en-US" sz="900" b="1" dirty="0">
                <a:solidFill>
                  <a:srgbClr val="1F2A33"/>
                </a:solidFill>
                <a:latin typeface="Calibri" pitchFamily="34" charset="0"/>
                <a:ea typeface="Calibri" pitchFamily="34" charset="-122"/>
                <a:cs typeface="Calibri" pitchFamily="34" charset="-120"/>
              </a:rPr>
              <a:t>staff</a:t>
            </a:r>
            <a:endParaRPr lang="en-US" sz="900" dirty="0"/>
          </a:p>
        </p:txBody>
      </p:sp>
      <p:sp>
        <p:nvSpPr>
          <p:cNvPr id="14" name="Shape 12"/>
          <p:cNvSpPr/>
          <p:nvPr/>
        </p:nvSpPr>
        <p:spPr>
          <a:xfrm>
            <a:off x="4398264" y="2971800"/>
            <a:ext cx="987552" cy="384048"/>
          </a:xfrm>
          <a:prstGeom prst="roundRect">
            <a:avLst>
              <a:gd name="adj" fmla="val 11905"/>
            </a:avLst>
          </a:prstGeom>
          <a:solidFill>
            <a:srgbClr val="8FB9BD"/>
          </a:solidFill>
          <a:ln/>
        </p:spPr>
      </p:sp>
      <p:sp>
        <p:nvSpPr>
          <p:cNvPr id="15" name="Text 13"/>
          <p:cNvSpPr txBox="1"/>
          <p:nvPr/>
        </p:nvSpPr>
        <p:spPr>
          <a:xfrm>
            <a:off x="4398264" y="2971800"/>
            <a:ext cx="987552" cy="384048"/>
          </a:xfrm>
          <a:prstGeom prst="rect">
            <a:avLst/>
          </a:prstGeom>
          <a:noFill/>
          <a:ln/>
        </p:spPr>
        <p:txBody>
          <a:bodyPr wrap="square" lIns="0" tIns="0" rIns="0" bIns="0" rtlCol="0" anchor="ctr"/>
          <a:lstStyle/>
          <a:p>
            <a:pPr algn="ctr" indent="0" marL="0">
              <a:buNone/>
            </a:pPr>
            <a:r>
              <a:rPr lang="en-US" sz="900" b="1" dirty="0">
                <a:solidFill>
                  <a:srgbClr val="1F2A33"/>
                </a:solidFill>
                <a:latin typeface="Calibri" pitchFamily="34" charset="0"/>
                <a:ea typeface="Calibri" pitchFamily="34" charset="-122"/>
                <a:cs typeface="Calibri" pitchFamily="34" charset="-120"/>
              </a:rPr>
              <a:t>staff</a:t>
            </a:r>
            <a:endParaRPr lang="en-US" sz="900" dirty="0"/>
          </a:p>
        </p:txBody>
      </p:sp>
      <p:sp>
        <p:nvSpPr>
          <p:cNvPr id="16" name="Text 14"/>
          <p:cNvSpPr txBox="1"/>
          <p:nvPr/>
        </p:nvSpPr>
        <p:spPr>
          <a:xfrm>
            <a:off x="594360" y="3611880"/>
            <a:ext cx="1280160" cy="502920"/>
          </a:xfrm>
          <a:prstGeom prst="rect">
            <a:avLst/>
          </a:prstGeom>
          <a:noFill/>
          <a:ln/>
        </p:spPr>
        <p:txBody>
          <a:bodyPr wrap="square" lIns="0" tIns="0" rIns="0" bIns="0" rtlCol="0" anchor="ctr"/>
          <a:lstStyle/>
          <a:p>
            <a:pPr algn="r" indent="0" marL="0">
              <a:buNone/>
            </a:pPr>
            <a:r>
              <a:rPr lang="en-US" sz="1050" b="1" dirty="0">
                <a:solidFill>
                  <a:srgbClr val="E0940F"/>
                </a:solidFill>
                <a:latin typeface="Calibri" pitchFamily="34" charset="0"/>
                <a:ea typeface="Calibri" pitchFamily="34" charset="-122"/>
                <a:cs typeface="Calibri" pitchFamily="34" charset="-120"/>
              </a:rPr>
              <a:t>Project B</a:t>
            </a:r>
            <a:endParaRPr lang="en-US" sz="1050" dirty="0"/>
          </a:p>
        </p:txBody>
      </p:sp>
      <p:sp>
        <p:nvSpPr>
          <p:cNvPr id="17" name="Shape 15"/>
          <p:cNvSpPr/>
          <p:nvPr/>
        </p:nvSpPr>
        <p:spPr>
          <a:xfrm>
            <a:off x="2020824" y="3657600"/>
            <a:ext cx="987552" cy="384048"/>
          </a:xfrm>
          <a:prstGeom prst="roundRect">
            <a:avLst>
              <a:gd name="adj" fmla="val 11905"/>
            </a:avLst>
          </a:prstGeom>
          <a:solidFill>
            <a:srgbClr val="8FB9BD"/>
          </a:solidFill>
          <a:ln/>
        </p:spPr>
      </p:sp>
      <p:sp>
        <p:nvSpPr>
          <p:cNvPr id="18" name="Text 16"/>
          <p:cNvSpPr txBox="1"/>
          <p:nvPr/>
        </p:nvSpPr>
        <p:spPr>
          <a:xfrm>
            <a:off x="2020824" y="3657600"/>
            <a:ext cx="987552" cy="384048"/>
          </a:xfrm>
          <a:prstGeom prst="rect">
            <a:avLst/>
          </a:prstGeom>
          <a:noFill/>
          <a:ln/>
        </p:spPr>
        <p:txBody>
          <a:bodyPr wrap="square" lIns="0" tIns="0" rIns="0" bIns="0" rtlCol="0" anchor="ctr"/>
          <a:lstStyle/>
          <a:p>
            <a:pPr algn="ctr" indent="0" marL="0">
              <a:buNone/>
            </a:pPr>
            <a:r>
              <a:rPr lang="en-US" sz="900" b="1" dirty="0">
                <a:solidFill>
                  <a:srgbClr val="1F2A33"/>
                </a:solidFill>
                <a:latin typeface="Calibri" pitchFamily="34" charset="0"/>
                <a:ea typeface="Calibri" pitchFamily="34" charset="-122"/>
                <a:cs typeface="Calibri" pitchFamily="34" charset="-120"/>
              </a:rPr>
              <a:t>staff</a:t>
            </a:r>
            <a:endParaRPr lang="en-US" sz="900" dirty="0"/>
          </a:p>
        </p:txBody>
      </p:sp>
      <p:sp>
        <p:nvSpPr>
          <p:cNvPr id="19" name="Shape 17"/>
          <p:cNvSpPr/>
          <p:nvPr/>
        </p:nvSpPr>
        <p:spPr>
          <a:xfrm>
            <a:off x="3209544" y="3657600"/>
            <a:ext cx="987552" cy="384048"/>
          </a:xfrm>
          <a:prstGeom prst="roundRect">
            <a:avLst>
              <a:gd name="adj" fmla="val 11905"/>
            </a:avLst>
          </a:prstGeom>
          <a:solidFill>
            <a:srgbClr val="8FB9BD"/>
          </a:solidFill>
          <a:ln/>
        </p:spPr>
      </p:sp>
      <p:sp>
        <p:nvSpPr>
          <p:cNvPr id="20" name="Text 18"/>
          <p:cNvSpPr txBox="1"/>
          <p:nvPr/>
        </p:nvSpPr>
        <p:spPr>
          <a:xfrm>
            <a:off x="3209544" y="3657600"/>
            <a:ext cx="987552" cy="384048"/>
          </a:xfrm>
          <a:prstGeom prst="rect">
            <a:avLst/>
          </a:prstGeom>
          <a:noFill/>
          <a:ln/>
        </p:spPr>
        <p:txBody>
          <a:bodyPr wrap="square" lIns="0" tIns="0" rIns="0" bIns="0" rtlCol="0" anchor="ctr"/>
          <a:lstStyle/>
          <a:p>
            <a:pPr algn="ctr" indent="0" marL="0">
              <a:buNone/>
            </a:pPr>
            <a:r>
              <a:rPr lang="en-US" sz="900" b="1" dirty="0">
                <a:solidFill>
                  <a:srgbClr val="1F2A33"/>
                </a:solidFill>
                <a:latin typeface="Calibri" pitchFamily="34" charset="0"/>
                <a:ea typeface="Calibri" pitchFamily="34" charset="-122"/>
                <a:cs typeface="Calibri" pitchFamily="34" charset="-120"/>
              </a:rPr>
              <a:t>staff</a:t>
            </a:r>
            <a:endParaRPr lang="en-US" sz="900" dirty="0"/>
          </a:p>
        </p:txBody>
      </p:sp>
      <p:sp>
        <p:nvSpPr>
          <p:cNvPr id="21" name="Shape 19"/>
          <p:cNvSpPr/>
          <p:nvPr/>
        </p:nvSpPr>
        <p:spPr>
          <a:xfrm>
            <a:off x="4398264" y="3657600"/>
            <a:ext cx="987552" cy="384048"/>
          </a:xfrm>
          <a:prstGeom prst="roundRect">
            <a:avLst>
              <a:gd name="adj" fmla="val 11905"/>
            </a:avLst>
          </a:prstGeom>
          <a:solidFill>
            <a:srgbClr val="8FB9BD"/>
          </a:solidFill>
          <a:ln/>
        </p:spPr>
      </p:sp>
      <p:sp>
        <p:nvSpPr>
          <p:cNvPr id="22" name="Text 20"/>
          <p:cNvSpPr txBox="1"/>
          <p:nvPr/>
        </p:nvSpPr>
        <p:spPr>
          <a:xfrm>
            <a:off x="4398264" y="3657600"/>
            <a:ext cx="987552" cy="384048"/>
          </a:xfrm>
          <a:prstGeom prst="rect">
            <a:avLst/>
          </a:prstGeom>
          <a:noFill/>
          <a:ln/>
        </p:spPr>
        <p:txBody>
          <a:bodyPr wrap="square" lIns="0" tIns="0" rIns="0" bIns="0" rtlCol="0" anchor="ctr"/>
          <a:lstStyle/>
          <a:p>
            <a:pPr algn="ctr" indent="0" marL="0">
              <a:buNone/>
            </a:pPr>
            <a:r>
              <a:rPr lang="en-US" sz="900" b="1" dirty="0">
                <a:solidFill>
                  <a:srgbClr val="1F2A33"/>
                </a:solidFill>
                <a:latin typeface="Calibri" pitchFamily="34" charset="0"/>
                <a:ea typeface="Calibri" pitchFamily="34" charset="-122"/>
                <a:cs typeface="Calibri" pitchFamily="34" charset="-120"/>
              </a:rPr>
              <a:t>staff</a:t>
            </a:r>
            <a:endParaRPr lang="en-US" sz="900" dirty="0"/>
          </a:p>
        </p:txBody>
      </p:sp>
      <p:sp>
        <p:nvSpPr>
          <p:cNvPr id="23" name="Text 21"/>
          <p:cNvSpPr txBox="1"/>
          <p:nvPr/>
        </p:nvSpPr>
        <p:spPr>
          <a:xfrm>
            <a:off x="594360" y="4343400"/>
            <a:ext cx="4937760" cy="457200"/>
          </a:xfrm>
          <a:prstGeom prst="rect">
            <a:avLst/>
          </a:prstGeom>
          <a:noFill/>
          <a:ln/>
        </p:spPr>
        <p:txBody>
          <a:bodyPr wrap="square" lIns="0" tIns="0" rIns="0" bIns="0" rtlCol="0" anchor="ctr"/>
          <a:lstStyle/>
          <a:p>
            <a:pPr indent="0" marL="0">
              <a:buNone/>
            </a:pPr>
            <a:r>
              <a:rPr lang="en-US" sz="1050" i="1" dirty="0">
                <a:solidFill>
                  <a:srgbClr val="5B6B73"/>
                </a:solidFill>
                <a:latin typeface="Calibri" pitchFamily="34" charset="0"/>
                <a:ea typeface="Calibri" pitchFamily="34" charset="-122"/>
                <a:cs typeface="Calibri" pitchFamily="34" charset="-120"/>
              </a:rPr>
              <a:t>Each person answers to a function (column) AND a project (row).</a:t>
            </a:r>
            <a:endParaRPr lang="en-US" sz="1050" dirty="0"/>
          </a:p>
        </p:txBody>
      </p:sp>
      <p:sp>
        <p:nvSpPr>
          <p:cNvPr id="24" name="Shape 22"/>
          <p:cNvSpPr/>
          <p:nvPr/>
        </p:nvSpPr>
        <p:spPr>
          <a:xfrm>
            <a:off x="6035040" y="2286000"/>
            <a:ext cx="2743200" cy="2651760"/>
          </a:xfrm>
          <a:prstGeom prst="roundRect">
            <a:avLst>
              <a:gd name="adj" fmla="val 2759"/>
            </a:avLst>
          </a:prstGeom>
          <a:solidFill>
            <a:srgbClr val="E8F3EC"/>
          </a:solidFill>
          <a:ln/>
          <a:effectLst>
            <a:outerShdw sx="100000" sy="100000" kx="0" ky="0" algn="bl" rotWithShape="0" blurRad="76200" dist="25400" dir="5400000">
              <a:srgbClr val="9AAAB0">
                <a:alpha val="28000"/>
              </a:srgbClr>
            </a:outerShdw>
          </a:effectLst>
        </p:spPr>
      </p:sp>
      <p:sp>
        <p:nvSpPr>
          <p:cNvPr id="25" name="Text 23"/>
          <p:cNvSpPr txBox="1"/>
          <p:nvPr/>
        </p:nvSpPr>
        <p:spPr>
          <a:xfrm>
            <a:off x="6236208" y="2395728"/>
            <a:ext cx="2377440" cy="274320"/>
          </a:xfrm>
          <a:prstGeom prst="rect">
            <a:avLst/>
          </a:prstGeom>
          <a:noFill/>
          <a:ln/>
        </p:spPr>
        <p:txBody>
          <a:bodyPr wrap="square" lIns="0" tIns="0" rIns="0" bIns="0" rtlCol="0" anchor="ctr"/>
          <a:lstStyle/>
          <a:p>
            <a:pPr indent="0" marL="0">
              <a:buNone/>
            </a:pPr>
            <a:r>
              <a:rPr lang="en-US" sz="1250" b="1" dirty="0">
                <a:solidFill>
                  <a:srgbClr val="2F8A5B"/>
                </a:solidFill>
                <a:latin typeface="Calibri" pitchFamily="34" charset="0"/>
                <a:ea typeface="Calibri" pitchFamily="34" charset="-122"/>
                <a:cs typeface="Calibri" pitchFamily="34" charset="-120"/>
              </a:rPr>
              <a:t>Advantages</a:t>
            </a:r>
            <a:endParaRPr lang="en-US" sz="1250" dirty="0"/>
          </a:p>
        </p:txBody>
      </p:sp>
      <p:sp>
        <p:nvSpPr>
          <p:cNvPr id="26" name="Text 24"/>
          <p:cNvSpPr txBox="1"/>
          <p:nvPr/>
        </p:nvSpPr>
        <p:spPr>
          <a:xfrm>
            <a:off x="6236208" y="2724912"/>
            <a:ext cx="2377440" cy="210312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Flexible, cross-functional teamwork</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Shares expertise across departments</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Responsive to projects</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Varied, motivating work</a:t>
            </a:r>
            <a:endParaRPr lang="en-US" sz="1150" dirty="0"/>
          </a:p>
        </p:txBody>
      </p:sp>
      <p:sp>
        <p:nvSpPr>
          <p:cNvPr id="27" name="Shape 25"/>
          <p:cNvSpPr/>
          <p:nvPr/>
        </p:nvSpPr>
        <p:spPr>
          <a:xfrm>
            <a:off x="8897112" y="2286000"/>
            <a:ext cx="2743200" cy="2651760"/>
          </a:xfrm>
          <a:prstGeom prst="roundRect">
            <a:avLst>
              <a:gd name="adj" fmla="val 2759"/>
            </a:avLst>
          </a:prstGeom>
          <a:solidFill>
            <a:srgbClr val="F9EAE6"/>
          </a:solidFill>
          <a:ln/>
          <a:effectLst>
            <a:outerShdw sx="100000" sy="100000" kx="0" ky="0" algn="bl" rotWithShape="0" blurRad="76200" dist="25400" dir="5400000">
              <a:srgbClr val="9AAAB0">
                <a:alpha val="28000"/>
              </a:srgbClr>
            </a:outerShdw>
          </a:effectLst>
        </p:spPr>
      </p:sp>
      <p:sp>
        <p:nvSpPr>
          <p:cNvPr id="28" name="Text 26"/>
          <p:cNvSpPr txBox="1"/>
          <p:nvPr/>
        </p:nvSpPr>
        <p:spPr>
          <a:xfrm>
            <a:off x="9098280" y="2395728"/>
            <a:ext cx="2377440" cy="274320"/>
          </a:xfrm>
          <a:prstGeom prst="rect">
            <a:avLst/>
          </a:prstGeom>
          <a:noFill/>
          <a:ln/>
        </p:spPr>
        <p:txBody>
          <a:bodyPr wrap="square" lIns="0" tIns="0" rIns="0" bIns="0" rtlCol="0" anchor="ctr"/>
          <a:lstStyle/>
          <a:p>
            <a:pPr indent="0" marL="0">
              <a:buNone/>
            </a:pPr>
            <a:r>
              <a:rPr lang="en-US" sz="1250" b="1" dirty="0">
                <a:solidFill>
                  <a:srgbClr val="C14B37"/>
                </a:solidFill>
                <a:latin typeface="Calibri" pitchFamily="34" charset="0"/>
                <a:ea typeface="Calibri" pitchFamily="34" charset="-122"/>
                <a:cs typeface="Calibri" pitchFamily="34" charset="-120"/>
              </a:rPr>
              <a:t>Disadvantages</a:t>
            </a:r>
            <a:endParaRPr lang="en-US" sz="1250" dirty="0"/>
          </a:p>
        </p:txBody>
      </p:sp>
      <p:sp>
        <p:nvSpPr>
          <p:cNvPr id="29" name="Text 27"/>
          <p:cNvSpPr txBox="1"/>
          <p:nvPr/>
        </p:nvSpPr>
        <p:spPr>
          <a:xfrm>
            <a:off x="9098280" y="2724912"/>
            <a:ext cx="2377440" cy="210312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Two bosses → conflicting demands</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Confusion over accountability</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Harder to coordinate; can be slow</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Possible power struggles</a:t>
            </a:r>
            <a:endParaRPr lang="en-US" sz="1150" dirty="0"/>
          </a:p>
        </p:txBody>
      </p:sp>
      <p:sp>
        <p:nvSpPr>
          <p:cNvPr id="30" name="Shape 28"/>
          <p:cNvSpPr/>
          <p:nvPr/>
        </p:nvSpPr>
        <p:spPr>
          <a:xfrm>
            <a:off x="548640" y="5074920"/>
            <a:ext cx="11091672" cy="1097280"/>
          </a:xfrm>
          <a:prstGeom prst="roundRect">
            <a:avLst>
              <a:gd name="adj" fmla="val 6667"/>
            </a:avLst>
          </a:prstGeom>
          <a:solidFill>
            <a:srgbClr val="FBF0D8"/>
          </a:solidFill>
          <a:ln/>
          <a:effectLst>
            <a:outerShdw sx="100000" sy="100000" kx="0" ky="0" algn="bl" rotWithShape="0" blurRad="76200" dist="25400" dir="5400000">
              <a:srgbClr val="9AAAB0">
                <a:alpha val="28000"/>
              </a:srgbClr>
            </a:outerShdw>
          </a:effectLst>
        </p:spPr>
      </p:sp>
      <p:sp>
        <p:nvSpPr>
          <p:cNvPr id="31" name="Text 29"/>
          <p:cNvSpPr txBox="1"/>
          <p:nvPr/>
        </p:nvSpPr>
        <p:spPr>
          <a:xfrm>
            <a:off x="777240" y="5184648"/>
            <a:ext cx="10698480" cy="91440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When it suits:  </a:t>
            </a:r>
            <a:pPr indent="0" marL="0">
              <a:buNone/>
            </a:pPr>
            <a:r>
              <a:rPr lang="en-US" sz="1250" dirty="0">
                <a:solidFill>
                  <a:srgbClr val="1F2A33"/>
                </a:solidFill>
                <a:latin typeface="Calibri" pitchFamily="34" charset="0"/>
                <a:ea typeface="Calibri" pitchFamily="34" charset="-122"/>
                <a:cs typeface="Calibri" pitchFamily="34" charset="-120"/>
              </a:rPr>
              <a:t>project-based, innovative organisations (e.g. tech, construction, consultancy, aerospace) that need to pull specialists from different functions into one team. The ‘two bosses’ problem is the classic drawback — clear roles and good communication are essential to make it work.</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Impact on efficiency &amp; motivation</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how structure affects business efficiency (speed, cost, control)  ·  and how it affects employee motivation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IMPACT</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How structure affects efficiency &amp; motivation</a:t>
            </a:r>
            <a:endParaRPr lang="en-US" sz="2600" dirty="0"/>
          </a:p>
        </p:txBody>
      </p:sp>
      <p:sp>
        <p:nvSpPr>
          <p:cNvPr id="4" name="Shape 2"/>
          <p:cNvSpPr/>
          <p:nvPr/>
        </p:nvSpPr>
        <p:spPr>
          <a:xfrm>
            <a:off x="548640" y="1371600"/>
            <a:ext cx="5440680" cy="4160520"/>
          </a:xfrm>
          <a:prstGeom prst="roundRect">
            <a:avLst>
              <a:gd name="adj" fmla="val 1758"/>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02920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Impact on EFFICIENCY</a:t>
            </a:r>
            <a:endParaRPr lang="en-US" sz="1400" dirty="0"/>
          </a:p>
        </p:txBody>
      </p:sp>
      <p:sp>
        <p:nvSpPr>
          <p:cNvPr id="6" name="Text 4"/>
          <p:cNvSpPr txBox="1"/>
          <p:nvPr/>
        </p:nvSpPr>
        <p:spPr>
          <a:xfrm>
            <a:off x="777240" y="1874520"/>
            <a:ext cx="4983480" cy="3566160"/>
          </a:xfrm>
          <a:prstGeom prst="rect">
            <a:avLst/>
          </a:prstGeom>
          <a:noFill/>
          <a:ln/>
        </p:spPr>
        <p:txBody>
          <a:bodyPr wrap="square" lIns="0" tIns="0" rIns="0" bIns="0" rtlCol="0" anchor="t"/>
          <a:lstStyle/>
          <a:p>
            <a:pPr indent="0" marL="0">
              <a:spcAft>
                <a:spcPts val="500"/>
              </a:spcAft>
              <a:buNone/>
            </a:pPr>
            <a:r>
              <a:rPr lang="en-US" sz="1250" b="1" dirty="0">
                <a:solidFill>
                  <a:srgbClr val="2F8A5B"/>
                </a:solidFill>
                <a:latin typeface="Calibri" pitchFamily="34" charset="0"/>
                <a:ea typeface="Calibri" pitchFamily="34" charset="-122"/>
                <a:cs typeface="Calibri" pitchFamily="34" charset="-120"/>
              </a:rPr>
              <a:t>Flat / decentralised → </a:t>
            </a:r>
            <a:pPr indent="0" marL="0">
              <a:spcAft>
                <a:spcPts val="500"/>
              </a:spcAft>
              <a:buNone/>
            </a:pPr>
            <a:r>
              <a:rPr lang="en-US" sz="1250" dirty="0">
                <a:solidFill>
                  <a:srgbClr val="1F2A33"/>
                </a:solidFill>
                <a:latin typeface="Calibri" pitchFamily="34" charset="0"/>
                <a:ea typeface="Calibri" pitchFamily="34" charset="-122"/>
                <a:cs typeface="Calibri" pitchFamily="34" charset="-120"/>
              </a:rPr>
              <a:t>faster decisions, lower management cost, responsive to customers.
</a:t>
            </a:r>
            <a:pPr indent="0" marL="0">
              <a:spcAft>
                <a:spcPts val="500"/>
              </a:spcAft>
              <a:buNone/>
            </a:pPr>
            <a:r>
              <a:rPr lang="en-US" sz="1250" b="1" dirty="0">
                <a:solidFill>
                  <a:srgbClr val="C14B37"/>
                </a:solidFill>
                <a:latin typeface="Calibri" pitchFamily="34" charset="0"/>
                <a:ea typeface="Calibri" pitchFamily="34" charset="-122"/>
                <a:cs typeface="Calibri" pitchFamily="34" charset="-120"/>
              </a:rPr>
              <a:t>…but → </a:t>
            </a:r>
            <a:pPr indent="0" marL="0">
              <a:spcAft>
                <a:spcPts val="500"/>
              </a:spcAft>
              <a:buNone/>
            </a:pPr>
            <a:r>
              <a:rPr lang="en-US" sz="1250" dirty="0">
                <a:solidFill>
                  <a:srgbClr val="1F2A33"/>
                </a:solidFill>
                <a:latin typeface="Calibri" pitchFamily="34" charset="0"/>
                <a:ea typeface="Calibri" pitchFamily="34" charset="-122"/>
                <a:cs typeface="Calibri" pitchFamily="34" charset="-120"/>
              </a:rPr>
              <a:t>can lose control &amp; consistency.
</a:t>
            </a:r>
            <a:pPr indent="0" marL="0">
              <a:spcAft>
                <a:spcPts val="500"/>
              </a:spcAft>
              <a:buNone/>
            </a:pPr>
            <a:r>
              <a:rPr lang="en-US" sz="1250" b="1" dirty="0">
                <a:solidFill>
                  <a:srgbClr val="2F8A5B"/>
                </a:solidFill>
                <a:latin typeface="Calibri" pitchFamily="34" charset="0"/>
                <a:ea typeface="Calibri" pitchFamily="34" charset="-122"/>
                <a:cs typeface="Calibri" pitchFamily="34" charset="-120"/>
              </a:rPr>
              <a:t>Tall / centralised → </a:t>
            </a:r>
            <a:pPr indent="0" marL="0">
              <a:spcAft>
                <a:spcPts val="500"/>
              </a:spcAft>
              <a:buNone/>
            </a:pPr>
            <a:r>
              <a:rPr lang="en-US" sz="1250" dirty="0">
                <a:solidFill>
                  <a:srgbClr val="1F2A33"/>
                </a:solidFill>
                <a:latin typeface="Calibri" pitchFamily="34" charset="0"/>
                <a:ea typeface="Calibri" pitchFamily="34" charset="-122"/>
                <a:cs typeface="Calibri" pitchFamily="34" charset="-120"/>
              </a:rPr>
              <a:t>tight control, consistency, economies of scale.
</a:t>
            </a:r>
            <a:pPr indent="0" marL="0">
              <a:spcAft>
                <a:spcPts val="500"/>
              </a:spcAft>
              <a:buNone/>
            </a:pPr>
            <a:r>
              <a:rPr lang="en-US" sz="1250" b="1" dirty="0">
                <a:solidFill>
                  <a:srgbClr val="C14B37"/>
                </a:solidFill>
                <a:latin typeface="Calibri" pitchFamily="34" charset="0"/>
                <a:ea typeface="Calibri" pitchFamily="34" charset="-122"/>
                <a:cs typeface="Calibri" pitchFamily="34" charset="-120"/>
              </a:rPr>
              <a:t>…but → </a:t>
            </a:r>
            <a:pPr indent="0" marL="0">
              <a:spcAft>
                <a:spcPts val="500"/>
              </a:spcAft>
              <a:buNone/>
            </a:pPr>
            <a:r>
              <a:rPr lang="en-US" sz="1250" dirty="0">
                <a:solidFill>
                  <a:srgbClr val="1F2A33"/>
                </a:solidFill>
                <a:latin typeface="Calibri" pitchFamily="34" charset="0"/>
                <a:ea typeface="Calibri" pitchFamily="34" charset="-122"/>
                <a:cs typeface="Calibri" pitchFamily="34" charset="-120"/>
              </a:rPr>
              <a:t>slower decisions and higher management costs.</a:t>
            </a:r>
            <a:endParaRPr lang="en-US" sz="1250" dirty="0"/>
          </a:p>
        </p:txBody>
      </p:sp>
      <p:sp>
        <p:nvSpPr>
          <p:cNvPr id="7" name="Shape 5"/>
          <p:cNvSpPr/>
          <p:nvPr/>
        </p:nvSpPr>
        <p:spPr>
          <a:xfrm>
            <a:off x="6199632" y="1371600"/>
            <a:ext cx="5440680" cy="4160520"/>
          </a:xfrm>
          <a:prstGeom prst="roundRect">
            <a:avLst>
              <a:gd name="adj" fmla="val 1758"/>
            </a:avLst>
          </a:prstGeom>
          <a:solidFill>
            <a:srgbClr val="E8F3EC"/>
          </a:solidFill>
          <a:ln/>
          <a:effectLst>
            <a:outerShdw sx="100000" sy="100000" kx="0" ky="0" algn="bl" rotWithShape="0" blurRad="76200" dist="25400" dir="5400000">
              <a:srgbClr val="9AAAB0">
                <a:alpha val="28000"/>
              </a:srgbClr>
            </a:outerShdw>
          </a:effectLst>
        </p:spPr>
      </p:sp>
      <p:sp>
        <p:nvSpPr>
          <p:cNvPr id="8" name="Text 6"/>
          <p:cNvSpPr txBox="1"/>
          <p:nvPr/>
        </p:nvSpPr>
        <p:spPr>
          <a:xfrm>
            <a:off x="6428232" y="1481328"/>
            <a:ext cx="5029200" cy="320040"/>
          </a:xfrm>
          <a:prstGeom prst="rect">
            <a:avLst/>
          </a:prstGeom>
          <a:noFill/>
          <a:ln/>
        </p:spPr>
        <p:txBody>
          <a:bodyPr wrap="square" lIns="0" tIns="0" rIns="0" bIns="0" rtlCol="0" anchor="ctr"/>
          <a:lstStyle/>
          <a:p>
            <a:pPr indent="0" marL="0">
              <a:buNone/>
            </a:pPr>
            <a:r>
              <a:rPr lang="en-US" sz="1400" b="1" dirty="0">
                <a:solidFill>
                  <a:srgbClr val="2F8A5B"/>
                </a:solidFill>
                <a:latin typeface="Calibri" pitchFamily="34" charset="0"/>
                <a:ea typeface="Calibri" pitchFamily="34" charset="-122"/>
                <a:cs typeface="Calibri" pitchFamily="34" charset="-120"/>
              </a:rPr>
              <a:t>Impact on MOTIVATION</a:t>
            </a:r>
            <a:endParaRPr lang="en-US" sz="1400" dirty="0"/>
          </a:p>
        </p:txBody>
      </p:sp>
      <p:sp>
        <p:nvSpPr>
          <p:cNvPr id="9" name="Text 7"/>
          <p:cNvSpPr txBox="1"/>
          <p:nvPr/>
        </p:nvSpPr>
        <p:spPr>
          <a:xfrm>
            <a:off x="6428232" y="1874520"/>
            <a:ext cx="4983480" cy="3566160"/>
          </a:xfrm>
          <a:prstGeom prst="rect">
            <a:avLst/>
          </a:prstGeom>
          <a:noFill/>
          <a:ln/>
        </p:spPr>
        <p:txBody>
          <a:bodyPr wrap="square" lIns="0" tIns="0" rIns="0" bIns="0" rtlCol="0" anchor="t"/>
          <a:lstStyle/>
          <a:p>
            <a:pPr indent="0" marL="0">
              <a:spcAft>
                <a:spcPts val="500"/>
              </a:spcAft>
              <a:buNone/>
            </a:pPr>
            <a:r>
              <a:rPr lang="en-US" sz="1250" b="1" dirty="0">
                <a:solidFill>
                  <a:srgbClr val="2F8A5B"/>
                </a:solidFill>
                <a:latin typeface="Calibri" pitchFamily="34" charset="0"/>
                <a:ea typeface="Calibri" pitchFamily="34" charset="-122"/>
                <a:cs typeface="Calibri" pitchFamily="34" charset="-120"/>
              </a:rPr>
              <a:t>Flat / decentralised / wide delegation → </a:t>
            </a:r>
            <a:pPr indent="0" marL="0">
              <a:spcAft>
                <a:spcPts val="500"/>
              </a:spcAft>
              <a:buNone/>
            </a:pPr>
            <a:r>
              <a:rPr lang="en-US" sz="1250" dirty="0">
                <a:solidFill>
                  <a:srgbClr val="1F2A33"/>
                </a:solidFill>
                <a:latin typeface="Calibri" pitchFamily="34" charset="0"/>
                <a:ea typeface="Calibri" pitchFamily="34" charset="-122"/>
                <a:cs typeface="Calibri" pitchFamily="34" charset="-120"/>
              </a:rPr>
              <a:t>empowerment &amp; autonomy raise motivation (Maslow's esteem; Herzberg's motivators).
</a:t>
            </a:r>
            <a:pPr indent="0" marL="0">
              <a:spcAft>
                <a:spcPts val="500"/>
              </a:spcAft>
              <a:buNone/>
            </a:pPr>
            <a:r>
              <a:rPr lang="en-US" sz="1250" b="1" dirty="0">
                <a:solidFill>
                  <a:srgbClr val="C14B37"/>
                </a:solidFill>
                <a:latin typeface="Calibri" pitchFamily="34" charset="0"/>
                <a:ea typeface="Calibri" pitchFamily="34" charset="-122"/>
                <a:cs typeface="Calibri" pitchFamily="34" charset="-120"/>
              </a:rPr>
              <a:t>Tall / centralised → </a:t>
            </a:r>
            <a:pPr indent="0" marL="0">
              <a:spcAft>
                <a:spcPts val="500"/>
              </a:spcAft>
              <a:buNone/>
            </a:pPr>
            <a:r>
              <a:rPr lang="en-US" sz="1250" dirty="0">
                <a:solidFill>
                  <a:srgbClr val="1F2A33"/>
                </a:solidFill>
                <a:latin typeface="Calibri" pitchFamily="34" charset="0"/>
                <a:ea typeface="Calibri" pitchFamily="34" charset="-122"/>
                <a:cs typeface="Calibri" pitchFamily="34" charset="-120"/>
              </a:rPr>
              <a:t>close supervision and little say can demotivate…
</a:t>
            </a:r>
            <a:pPr indent="0" marL="0">
              <a:spcAft>
                <a:spcPts val="500"/>
              </a:spcAft>
              <a:buNone/>
            </a:pPr>
            <a:r>
              <a:rPr lang="en-US" sz="1250" b="1" dirty="0">
                <a:solidFill>
                  <a:srgbClr val="2F8A5B"/>
                </a:solidFill>
                <a:latin typeface="Calibri" pitchFamily="34" charset="0"/>
                <a:ea typeface="Calibri" pitchFamily="34" charset="-122"/>
                <a:cs typeface="Calibri" pitchFamily="34" charset="-120"/>
              </a:rPr>
              <a:t>…but → </a:t>
            </a:r>
            <a:pPr indent="0" marL="0">
              <a:spcAft>
                <a:spcPts val="500"/>
              </a:spcAft>
              <a:buNone/>
            </a:pPr>
            <a:r>
              <a:rPr lang="en-US" sz="1250" dirty="0">
                <a:solidFill>
                  <a:srgbClr val="1F2A33"/>
                </a:solidFill>
                <a:latin typeface="Calibri" pitchFamily="34" charset="0"/>
                <a:ea typeface="Calibri" pitchFamily="34" charset="-122"/>
                <a:cs typeface="Calibri" pitchFamily="34" charset="-120"/>
              </a:rPr>
              <a:t>clear promotion rungs give progression, which can motivate.</a:t>
            </a:r>
            <a:endParaRPr lang="en-US" sz="1250" dirty="0"/>
          </a:p>
        </p:txBody>
      </p:sp>
      <p:sp>
        <p:nvSpPr>
          <p:cNvPr id="10" name="Shape 8"/>
          <p:cNvSpPr/>
          <p:nvPr/>
        </p:nvSpPr>
        <p:spPr>
          <a:xfrm>
            <a:off x="548640" y="5623560"/>
            <a:ext cx="11091672" cy="548640"/>
          </a:xfrm>
          <a:prstGeom prst="roundRect">
            <a:avLst>
              <a:gd name="adj" fmla="val 13333"/>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777240" y="5669280"/>
            <a:ext cx="10698480" cy="457200"/>
          </a:xfrm>
          <a:prstGeom prst="rect">
            <a:avLst/>
          </a:prstGeom>
          <a:noFill/>
          <a:ln/>
        </p:spPr>
        <p:txBody>
          <a:bodyPr wrap="square" lIns="0" tIns="0" rIns="0" bIns="0" rtlCol="0" anchor="ctr"/>
          <a:lstStyle/>
          <a:p>
            <a:pPr indent="0" marL="0">
              <a:buNone/>
            </a:pPr>
            <a:r>
              <a:rPr lang="en-US" sz="1200" b="1" dirty="0">
                <a:solidFill>
                  <a:srgbClr val="8A5A06"/>
                </a:solidFill>
                <a:latin typeface="Calibri" pitchFamily="34" charset="0"/>
                <a:ea typeface="Calibri" pitchFamily="34" charset="-122"/>
                <a:cs typeface="Calibri" pitchFamily="34" charset="-120"/>
              </a:rPr>
              <a:t>The judgement:  </a:t>
            </a:r>
            <a:pPr indent="0" marL="0">
              <a:buNone/>
            </a:pPr>
            <a:r>
              <a:rPr lang="en-US" sz="1200" dirty="0">
                <a:solidFill>
                  <a:srgbClr val="1F2A33"/>
                </a:solidFill>
                <a:latin typeface="Calibri" pitchFamily="34" charset="0"/>
                <a:ea typeface="Calibri" pitchFamily="34" charset="-122"/>
                <a:cs typeface="Calibri" pitchFamily="34" charset="-120"/>
              </a:rPr>
              <a:t>there is no ‘best’ structure — it depends on the firm's size, how fast its market moves, its leadership style and its product. Efficiency and motivation can pull in different directions.</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A-grade exam skills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McDonald's centralised vs decentralised 20-marker  ·  decode, plan, model answer and how to reach the top band</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20-mark: decode it, then plan with 5×5</a:t>
            </a:r>
            <a:endParaRPr lang="en-US" sz="2600" dirty="0"/>
          </a:p>
        </p:txBody>
      </p:sp>
      <p:sp>
        <p:nvSpPr>
          <p:cNvPr id="4" name="Shape 2"/>
          <p:cNvSpPr/>
          <p:nvPr/>
        </p:nvSpPr>
        <p:spPr>
          <a:xfrm>
            <a:off x="548640" y="1371600"/>
            <a:ext cx="11091672" cy="1005840"/>
          </a:xfrm>
          <a:prstGeom prst="roundRect">
            <a:avLst>
              <a:gd name="adj" fmla="val 7273"/>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73936"/>
            <a:ext cx="10607040" cy="5486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Evaluate whether McDonald's should change its structure to a decentralised decision-making approach.  </a:t>
            </a:r>
            <a:pPr indent="0" marL="0">
              <a:buNone/>
            </a:pPr>
            <a:r>
              <a:rPr lang="en-US" sz="1350" b="1" dirty="0">
                <a:solidFill>
                  <a:srgbClr val="E0940F"/>
                </a:solidFill>
                <a:latin typeface="Calibri" pitchFamily="34" charset="0"/>
                <a:ea typeface="Calibri" pitchFamily="34" charset="-122"/>
                <a:cs typeface="Calibri" pitchFamily="34" charset="-120"/>
              </a:rPr>
              <a:t>[20]</a:t>
            </a:r>
            <a:endParaRPr lang="en-US" sz="1350" dirty="0"/>
          </a:p>
        </p:txBody>
      </p:sp>
      <p:sp>
        <p:nvSpPr>
          <p:cNvPr id="7" name="Shape 5"/>
          <p:cNvSpPr/>
          <p:nvPr/>
        </p:nvSpPr>
        <p:spPr>
          <a:xfrm>
            <a:off x="548640" y="2514600"/>
            <a:ext cx="5029200" cy="3685032"/>
          </a:xfrm>
          <a:prstGeom prst="roundRect">
            <a:avLst>
              <a:gd name="adj" fmla="val 1985"/>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62432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2990088"/>
            <a:ext cx="4617720" cy="310896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Evaluate = argue both approaches, then a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Apply McDonald's: global brand, standardised menu, 36,900 outlets, economies of scale, franchises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Weigh consistency &amp; scale (centralised) vs local responsiveness &amp; motivation (decentralised)</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Level 4 (16–20): balanced, well-applied, competing arguments, supported judgement</a:t>
            </a:r>
            <a:endParaRPr lang="en-US" sz="1180" dirty="0"/>
          </a:p>
        </p:txBody>
      </p:sp>
      <p:sp>
        <p:nvSpPr>
          <p:cNvPr id="10" name="Shape 8"/>
          <p:cNvSpPr/>
          <p:nvPr/>
        </p:nvSpPr>
        <p:spPr>
          <a:xfrm>
            <a:off x="5788152" y="2514600"/>
            <a:ext cx="5852160" cy="3685032"/>
          </a:xfrm>
          <a:prstGeom prst="roundRect">
            <a:avLst>
              <a:gd name="adj" fmla="val 1985"/>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62432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 5×5, 5 paragraphs</a:t>
            </a:r>
            <a:endParaRPr lang="en-US" sz="1300" dirty="0"/>
          </a:p>
        </p:txBody>
      </p:sp>
      <p:sp>
        <p:nvSpPr>
          <p:cNvPr id="12" name="Text 10"/>
          <p:cNvSpPr txBox="1"/>
          <p:nvPr/>
        </p:nvSpPr>
        <p:spPr>
          <a:xfrm>
            <a:off x="5989320" y="2990088"/>
            <a:ext cx="5440680" cy="3108960"/>
          </a:xfrm>
          <a:prstGeom prst="rect">
            <a:avLst/>
          </a:prstGeom>
          <a:noFill/>
          <a:ln/>
        </p:spPr>
        <p:txBody>
          <a:bodyPr wrap="square" lIns="0" tIns="0" rIns="0" bIns="0" rtlCol="0" anchor="t"/>
          <a:lstStyle/>
          <a:p>
            <a:pPr marL="177800" indent="-177800">
              <a:spcAft>
                <a:spcPts val="700"/>
              </a:spcAft>
              <a:buSzPct val="100000"/>
              <a:buChar char="•"/>
            </a:pPr>
            <a:r>
              <a:rPr lang="en-US" sz="1130" dirty="0">
                <a:solidFill>
                  <a:srgbClr val="1F2A33"/>
                </a:solidFill>
                <a:latin typeface="Calibri" pitchFamily="34" charset="0"/>
                <a:ea typeface="Calibri" pitchFamily="34" charset="-122"/>
                <a:cs typeface="Calibri" pitchFamily="34" charset="-120"/>
              </a:rPr>
              <a:t>¶1 Keep centralised: standardised menu → brand identity, consistency, economies of scale → profit</a:t>
            </a:r>
            <a:endParaRPr lang="en-US" sz="1130" dirty="0"/>
          </a:p>
          <a:p>
            <a:pPr marL="177800" indent="-177800">
              <a:spcAft>
                <a:spcPts val="700"/>
              </a:spcAft>
              <a:buSzPct val="100000"/>
              <a:buChar char="•"/>
            </a:pPr>
            <a:r>
              <a:rPr lang="en-US" sz="1130" dirty="0">
                <a:solidFill>
                  <a:srgbClr val="1F2A33"/>
                </a:solidFill>
                <a:latin typeface="Calibri" pitchFamily="34" charset="0"/>
                <a:ea typeface="Calibri" pitchFamily="34" charset="-122"/>
                <a:cs typeface="Calibri" pitchFamily="34" charset="-120"/>
              </a:rPr>
              <a:t>¶2 However: bureaucracy → slow decisions; little say → low motivation (Maslow) &amp; turnover</a:t>
            </a:r>
            <a:endParaRPr lang="en-US" sz="1130" dirty="0"/>
          </a:p>
          <a:p>
            <a:pPr marL="177800" indent="-177800">
              <a:spcAft>
                <a:spcPts val="700"/>
              </a:spcAft>
              <a:buSzPct val="100000"/>
              <a:buChar char="•"/>
            </a:pPr>
            <a:r>
              <a:rPr lang="en-US" sz="1130" dirty="0">
                <a:solidFill>
                  <a:srgbClr val="1F2A33"/>
                </a:solidFill>
                <a:latin typeface="Calibri" pitchFamily="34" charset="0"/>
                <a:ea typeface="Calibri" pitchFamily="34" charset="-122"/>
                <a:cs typeface="Calibri" pitchFamily="34" charset="-120"/>
              </a:rPr>
              <a:t>¶3 Go decentralised: adapt to local tastes &amp; social trends (healthier menus) → higher local sales &amp; motivation (Herzberg)</a:t>
            </a:r>
            <a:endParaRPr lang="en-US" sz="1130" dirty="0"/>
          </a:p>
          <a:p>
            <a:pPr marL="177800" indent="-177800">
              <a:spcAft>
                <a:spcPts val="700"/>
              </a:spcAft>
              <a:buSzPct val="100000"/>
              <a:buChar char="•"/>
            </a:pPr>
            <a:r>
              <a:rPr lang="en-US" sz="1130" dirty="0">
                <a:solidFill>
                  <a:srgbClr val="1F2A33"/>
                </a:solidFill>
                <a:latin typeface="Calibri" pitchFamily="34" charset="0"/>
                <a:ea typeface="Calibri" pitchFamily="34" charset="-122"/>
                <a:cs typeface="Calibri" pitchFamily="34" charset="-120"/>
              </a:rPr>
              <a:t>¶4 However: loss of brand consistency; higher promo costs; diseconomies of scale; costs less controlled</a:t>
            </a:r>
            <a:endParaRPr lang="en-US" sz="1130" dirty="0"/>
          </a:p>
          <a:p>
            <a:pPr marL="177800" indent="-177800">
              <a:spcAft>
                <a:spcPts val="700"/>
              </a:spcAft>
              <a:buSzPct val="100000"/>
              <a:buChar char="•"/>
            </a:pPr>
            <a:r>
              <a:rPr lang="en-US" sz="1130" dirty="0">
                <a:solidFill>
                  <a:srgbClr val="1F2A33"/>
                </a:solidFill>
                <a:latin typeface="Calibri" pitchFamily="34" charset="0"/>
                <a:ea typeface="Calibri" pitchFamily="34" charset="-122"/>
                <a:cs typeface="Calibri" pitchFamily="34" charset="-120"/>
              </a:rPr>
              <a:t>¶5 Conclusion (4Ws): stay mainly centralised but selectively decentralise menu/marketing — a hybrid; depends on the market</a:t>
            </a:r>
            <a:endParaRPr lang="en-US" sz="113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A model 20-mark answer (McDonald's) — the body</a:t>
            </a:r>
            <a:endParaRPr lang="en-US" sz="26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37160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Keep centralised (for).  </a:t>
            </a:r>
            <a:pPr indent="0" marL="0">
              <a:buNone/>
            </a:pPr>
            <a:r>
              <a:rPr lang="en-US" sz="1180" dirty="0">
                <a:solidFill>
                  <a:srgbClr val="1F2A33"/>
                </a:solidFill>
                <a:latin typeface="Calibri" pitchFamily="34" charset="0"/>
                <a:ea typeface="Calibri" pitchFamily="34" charset="-122"/>
                <a:cs typeface="Calibri" pitchFamily="34" charset="-120"/>
              </a:rPr>
              <a:t>McDonald's current centralised structure is a major strength. A standardised global menu — the Big Mac and fries are the same worldwide — gives a consistent brand identity customers trust across 100+ countries, and central bulk-buying delivers huge economies of scale that keep costs and prices low. This means centralisation directly supports the profitability and brand consistency on which McDonald's success is built, so moving fully to decentralisation could put that advantage at risk.</a:t>
            </a:r>
            <a:endParaRPr lang="en-US" sz="1180" dirty="0"/>
          </a:p>
        </p:txBody>
      </p:sp>
      <p:sp>
        <p:nvSpPr>
          <p:cNvPr id="6" name="Shape 4"/>
          <p:cNvSpPr/>
          <p:nvPr/>
        </p:nvSpPr>
        <p:spPr>
          <a:xfrm>
            <a:off x="548640" y="3017520"/>
            <a:ext cx="11091672" cy="1572768"/>
          </a:xfrm>
          <a:prstGeom prst="roundRect">
            <a:avLst>
              <a:gd name="adj" fmla="val 4651"/>
            </a:avLst>
          </a:prstGeom>
          <a:solidFill>
            <a:srgbClr val="EAF3F4"/>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127248"/>
            <a:ext cx="10607040" cy="1371600"/>
          </a:xfrm>
          <a:prstGeom prst="rect">
            <a:avLst/>
          </a:prstGeom>
          <a:noFill/>
          <a:ln/>
        </p:spPr>
        <p:txBody>
          <a:bodyPr wrap="square" lIns="0" tIns="0" rIns="0" bIns="0" rtlCol="0" anchor="t"/>
          <a:lstStyle/>
          <a:p>
            <a:pPr indent="0" marL="0">
              <a:buNone/>
            </a:pPr>
            <a:r>
              <a:rPr lang="en-US" sz="1180" b="1" dirty="0">
                <a:solidFill>
                  <a:srgbClr val="0B5E66"/>
                </a:solidFill>
                <a:latin typeface="Calibri" pitchFamily="34" charset="0"/>
                <a:ea typeface="Calibri" pitchFamily="34" charset="-122"/>
                <a:cs typeface="Calibri" pitchFamily="34" charset="-120"/>
              </a:rPr>
              <a:t>¶ Decentralise (against).  </a:t>
            </a:r>
            <a:pPr indent="0" marL="0">
              <a:buNone/>
            </a:pPr>
            <a:r>
              <a:rPr lang="en-US" sz="1180" dirty="0">
                <a:solidFill>
                  <a:srgbClr val="1F2A33"/>
                </a:solidFill>
                <a:latin typeface="Calibri" pitchFamily="34" charset="0"/>
                <a:ea typeface="Calibri" pitchFamily="34" charset="-122"/>
                <a:cs typeface="Calibri" pitchFamily="34" charset="-120"/>
              </a:rPr>
              <a:t>However, decentralising decisions would let local managers adapt to local tastes and social trends, such as adding healthier options or regional dishes. This could raise sales in each market and, by giving managers more authority, improve motivation (Maslow's esteem needs; Herzberg's motivators), reducing the turnover that a slow, bureaucratic central structure can cause. Many of McDonald's international markets already lead on menu changes, showing local responsiveness works.</a:t>
            </a:r>
            <a:endParaRPr lang="en-US" sz="1180" dirty="0"/>
          </a:p>
        </p:txBody>
      </p:sp>
      <p:sp>
        <p:nvSpPr>
          <p:cNvPr id="8" name="Shape 6"/>
          <p:cNvSpPr/>
          <p:nvPr/>
        </p:nvSpPr>
        <p:spPr>
          <a:xfrm>
            <a:off x="548640" y="4663440"/>
            <a:ext cx="11091672" cy="1517904"/>
          </a:xfrm>
          <a:prstGeom prst="roundRect">
            <a:avLst>
              <a:gd name="adj" fmla="val 4819"/>
            </a:avLst>
          </a:prstGeom>
          <a:solidFill>
            <a:srgbClr val="F9EAE6"/>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773168"/>
            <a:ext cx="10607040" cy="1316736"/>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But decentralising has costs (however).  </a:t>
            </a:r>
            <a:pPr indent="0" marL="0">
              <a:buNone/>
            </a:pPr>
            <a:r>
              <a:rPr lang="en-US" sz="1180" dirty="0">
                <a:solidFill>
                  <a:srgbClr val="1F2A33"/>
                </a:solidFill>
                <a:latin typeface="Calibri" pitchFamily="34" charset="0"/>
                <a:ea typeface="Calibri" pitchFamily="34" charset="-122"/>
                <a:cs typeface="Calibri" pitchFamily="34" charset="-120"/>
              </a:rPr>
              <a:t>However, full decentralisation risks losing the brand consistency that defines McDonald's, raises promotional costs if each area advertises separately, and causes diseconomies of scale as central bulk-buying weakens. Decisions made locally may also not be strategically controlled, so costs could rise.</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conclusion — and how to reach the top band</a:t>
            </a:r>
            <a:endParaRPr lang="en-US" sz="26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CONCLUSION (4Ws)</a:t>
            </a:r>
            <a:endParaRPr lang="en-US" sz="1050" dirty="0"/>
          </a:p>
        </p:txBody>
      </p:sp>
      <p:sp>
        <p:nvSpPr>
          <p:cNvPr id="6" name="Text 4"/>
          <p:cNvSpPr txBox="1"/>
          <p:nvPr/>
        </p:nvSpPr>
        <p:spPr>
          <a:xfrm>
            <a:off x="777240" y="1773936"/>
            <a:ext cx="10607040" cy="141732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Overall, McDonald's should NOT fully decentralise, but should adopt a hybrid: keep its core menu, branding and bulk-buying centralised to protect consistency and economies of scale, while decentralising menu and marketing decisions to local markets. This captures local responsiveness and better staff motivation without sacrificing the global brand and scale that are McDonald's main competitive advantages. The right balance depends on how different local tastes are and how fast each market is changing — the more dynamic and distinct the market, the more decentralisation is justified.</a:t>
            </a:r>
            <a:endParaRPr lang="en-US" sz="1250" dirty="0"/>
          </a:p>
        </p:txBody>
      </p:sp>
      <p:sp>
        <p:nvSpPr>
          <p:cNvPr id="7" name="Shape 5"/>
          <p:cNvSpPr/>
          <p:nvPr/>
        </p:nvSpPr>
        <p:spPr>
          <a:xfrm>
            <a:off x="548640" y="3474720"/>
            <a:ext cx="5440680" cy="2697480"/>
          </a:xfrm>
          <a:prstGeom prst="roundRect">
            <a:avLst>
              <a:gd name="adj" fmla="val 2712"/>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3630168"/>
            <a:ext cx="3291840" cy="310896"/>
          </a:xfrm>
          <a:prstGeom prst="roundRect">
            <a:avLst>
              <a:gd name="adj" fmla="val 50000"/>
            </a:avLst>
          </a:prstGeom>
          <a:solidFill>
            <a:srgbClr val="2F8A5B"/>
          </a:solidFill>
          <a:ln/>
        </p:spPr>
      </p:sp>
      <p:sp>
        <p:nvSpPr>
          <p:cNvPr id="9" name="Text 7"/>
          <p:cNvSpPr txBox="1"/>
          <p:nvPr/>
        </p:nvSpPr>
        <p:spPr>
          <a:xfrm>
            <a:off x="777240" y="3630168"/>
            <a:ext cx="3291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TO REACH LEVEL 4</a:t>
            </a:r>
            <a:endParaRPr lang="en-US" sz="1050" dirty="0"/>
          </a:p>
        </p:txBody>
      </p:sp>
      <p:sp>
        <p:nvSpPr>
          <p:cNvPr id="10" name="Text 8"/>
          <p:cNvSpPr txBox="1"/>
          <p:nvPr/>
        </p:nvSpPr>
        <p:spPr>
          <a:xfrm>
            <a:off x="777240"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Argue BOTH centralised and decentralised</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Apply McDonald's facts (menu, scale, outlets)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Weave in motivation theory (Maslow/Herzberg)</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Build 2+ step chains with connectives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Reach a HYBRID judgement + what it depends on</a:t>
            </a:r>
            <a:endParaRPr lang="en-US" sz="1200" dirty="0"/>
          </a:p>
        </p:txBody>
      </p:sp>
      <p:sp>
        <p:nvSpPr>
          <p:cNvPr id="11" name="Shape 9"/>
          <p:cNvSpPr/>
          <p:nvPr/>
        </p:nvSpPr>
        <p:spPr>
          <a:xfrm>
            <a:off x="6199632" y="3474720"/>
            <a:ext cx="5440680" cy="2697480"/>
          </a:xfrm>
          <a:prstGeom prst="roundRect">
            <a:avLst>
              <a:gd name="adj" fmla="val 2712"/>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3630168"/>
            <a:ext cx="3840480" cy="310896"/>
          </a:xfrm>
          <a:prstGeom prst="roundRect">
            <a:avLst>
              <a:gd name="adj" fmla="val 50000"/>
            </a:avLst>
          </a:prstGeom>
          <a:solidFill>
            <a:srgbClr val="C14B37"/>
          </a:solidFill>
          <a:ln/>
        </p:spPr>
      </p:sp>
      <p:sp>
        <p:nvSpPr>
          <p:cNvPr id="13" name="Text 11"/>
          <p:cNvSpPr txBox="1"/>
          <p:nvPr/>
        </p:nvSpPr>
        <p:spPr>
          <a:xfrm>
            <a:off x="6428232" y="3630168"/>
            <a:ext cx="38404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WHAT DROPS TO LEVEL 2–3</a:t>
            </a:r>
            <a:endParaRPr lang="en-US" sz="1050" dirty="0"/>
          </a:p>
        </p:txBody>
      </p:sp>
      <p:sp>
        <p:nvSpPr>
          <p:cNvPr id="14" name="Text 12"/>
          <p:cNvSpPr txBox="1"/>
          <p:nvPr/>
        </p:nvSpPr>
        <p:spPr>
          <a:xfrm>
            <a:off x="6428232"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Defining centralised/decentralised with no McDonald's context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Only arguing one side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Chains that stop at ‘faster decisions’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 blunt yes/no with no hybrid or nuance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No judgement, or no ‘depends on’</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Answering organisational-design questions</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651760"/>
                <a:gridCol w="670255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62179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an example (span of control, decentralisation, matrix…).</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 / Construct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 with a chain; OR interpret/draw an organisation chart.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points, each applied,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 / 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Both sides, applied, + a supported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5×5: both sides, applied, + a supported ‘it depends’ (often hybrid)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715000"/>
            <a:ext cx="10515600" cy="457200"/>
          </a:xfrm>
          <a:prstGeom prst="rect">
            <a:avLst/>
          </a:prstGeom>
          <a:noFill/>
          <a:ln/>
        </p:spPr>
        <p:txBody>
          <a:bodyPr wrap="square" lIns="0" tIns="0" rIns="0" bIns="0" rtlCol="0" anchor="ctr"/>
          <a:lstStyle/>
          <a:p>
            <a:pPr indent="0" marL="0">
              <a:buNone/>
            </a:pPr>
            <a:r>
              <a:rPr lang="en-US" sz="1250" i="1" dirty="0">
                <a:solidFill>
                  <a:srgbClr val="9FBCC0"/>
                </a:solidFill>
                <a:latin typeface="Calibri" pitchFamily="34" charset="0"/>
                <a:ea typeface="Calibri" pitchFamily="34" charset="-122"/>
                <a:cs typeface="Calibri" pitchFamily="34" charset="-120"/>
              </a:rPr>
              <a:t>Golden rule: there is no ‘best’ structure — taller/centralised buys control &amp; consistency; flatter/decentralised buys speed, lower cost &amp; motivation. The right choice depends on the business.</a:t>
            </a:r>
            <a:endParaRPr lang="en-US" sz="1250" dirty="0"/>
          </a:p>
        </p:txBody>
      </p:sp>
      <p:sp>
        <p:nvSpPr>
          <p:cNvPr id="6" name="Text 3"/>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Next in 1.3.4: Motivation in theory &amp; practice.</a:t>
            </a:r>
            <a:endParaRPr lang="en-US" sz="125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2026-10-20T12:19:41Z</dcterms:created>
  <dcterms:modified xsi:type="dcterms:W3CDTF">2026-10-20T12:19:41Z</dcterms:modified>
</cp:coreProperties>
</file>