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Mass &amp; niche" id="{84834b8e-cc30-dfca-3965-6f6b954a47b0}">
          <p14:sldIdLst>
            <p14:sldId id="259"/>
            <p14:sldId id="260"/>
            <p14:sldId id="261"/>
            <p14:sldId id="262"/>
            <p14:sldId id="263"/>
            <p14:sldId id="264"/>
          </p14:sldIdLst>
        </p14:section>
        <p14:section name="B · Dynamic markets" id="{26b1bd36-a4d2-35e2-e552-a1e881b8d6f1}">
          <p14:sldIdLst>
            <p14:sldId id="265"/>
            <p14:sldId id="266"/>
            <p14:sldId id="267"/>
            <p14:sldId id="268"/>
          </p14:sldIdLst>
        </p14:section>
        <p14:section name="C · Competition, risk &amp; uncertainty" id="{3ddac964-a400-ca18-5143-45ea7df7031c}">
          <p14:sldIdLst>
            <p14:sldId id="269"/>
            <p14:sldId id="270"/>
            <p14:sldId id="271"/>
            <p14:sldId id="272"/>
          </p14:sldIdLst>
        </p14:section>
        <p14:section name="D · A-grade exam skills" id="{c62ecdc6-4d25-b920-7481-2ec7ac86c8b0}">
          <p14:sldIdLst>
            <p14:sldId id="273"/>
            <p14:sldId id="274"/>
            <p14:sldId id="275"/>
          </p14:sldIdLst>
        </p14:section>
        <p14:section name="Default-1" id="{d1a52746-fde2-94c5-6d1f-f1e50c89772e}">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on 'The market' (spec 1.3.1 'Meeting customer needs', section 1 of 3), pitched for A-grade students. Same house style as the 1.3.2 / 1.3.3 decks. Covers mass vs niche markets, market size/share/growth (with calculations), brands, dynamic markets &amp; online retailing, competition, and risk vs uncertainty. Market research (section 2) and market positioning incl. segmentation (section 3) follow. NOTE: the student calls this '1.1'; in the spec it is 1.3.1.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foundation of Unit 1: understanding the market a business operates in. The examinable NEW skill here is the calculations - market share, market size and market growth. Everything else (mass/niche, competition, dynamic markets) is understood and applied to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1 of three in topic 1.3.1. Segmentation is examined under section 3 (Market positioning) but builds directly on mass vs niche markets, so it is worth flagging the link now. Market research is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Mass = broad, high-volume, low-margin, competitive; niche = narrow, specialised, high-margin, loyal but risky. This foundational distinction leads into segmentation (section 3) and into marketing strategy (1.3.3). The next slides add the quantitative side: how we MEASURE a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calculations in 1.3.1. Market share uses total market as the denominator; market growth uses LAST year's value as the denominator (like all % changes). A shrinking market gives a NEGATIVE growth figure. Watch the difference between a % change in share and a change in PERCENTAGE POINTS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your confectionery and PDA practice sheets. The percentage-points vs percentage-change distinction is a classic exam trap: Palm losing 11.8 percentage points of share is an ~23% relative fall (11.8/50.4). Brand totals from the sheet: Nestle ~27%, Mars ~40%, Cadbury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Brands are listed under 'the market' in the spec because they are a source of market power - they build share and loyalty. The full 'benefits of strong branding' (added value, premium prices, reduced PED) are examined in 1.3.3; here the focus is how brands help a firm compete FOR a market. Coca-Cola is the anchor for the branding exam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Dynamic = fast-changing. Link to the product life cycle (1.3.3): dynamic markets have short life cycles, so firms must innovate and extend constantly. The online shift is the headline example and sets up the next slide. Adapting to change is itself examinable - firms that fail to adapt lose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Competition mostly benefits customers (price, quality, choice, innovation) but pressures firms (margins, survival). The airline example is the exam anchor: cheaper fares and more choice, BUT added fees, cut service and the risk of carriers collapsing - so a balanced 8-mark answer notes the downsides for customers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 distinction: risk = known/measurable probabilities (can insure/plan); uncertainty = unknown/unmeasurable (can't). Students often blur them - the discriminator is whether the odds can be quantified. Link to entrepreneurs &amp; leaders (1.5): accepting uncertainty is part of enterprise.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is to keep the answer anchored to SMALL, remote producers - the advantage of online retailing is disproportionately large for them (reach they could never afford otherwise), which is exactly the point the case invites. The balance is their dependence on a platform they don't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applied advantages (reach, low cost), one developed drawback (platform dependence), and a conditional judgement. The Level 4 moves: everything is tied to a SMALL farm, the chains reach an impact (sales/revenue/survival), and the conclusion commits while naming what it depends on (fees, fulfilment).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 this completes section 1 of 1.3.1. Students should leave able to compare mass &amp; niche, calculate market share/size/growth, explain brands, discuss dynamic markets &amp; online retailing, analyse competition, and distinguish risk from uncertainty. Market research and market positioning (segmentation) are the next two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1005840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IAL Business  ·  Unit 1  ·  Spec 1.3.1 Meeting customer needs  (The market)</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280160"/>
            <a:ext cx="10515600" cy="365760"/>
          </a:xfrm>
          <a:prstGeom prst="rect">
            <a:avLst/>
          </a:prstGeom>
          <a:noFill/>
          <a:ln/>
        </p:spPr>
        <p:txBody>
          <a:bodyPr wrap="square" lIns="0" tIns="0" rIns="0" bIns="0" rtlCol="0" anchor="ctr"/>
          <a:lstStyle/>
          <a:p>
            <a:pPr indent="0" marL="0">
              <a:buNone/>
            </a:pPr>
            <a:r>
              <a:rPr lang="en-US" sz="1250" b="1" spc="150" kern="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737360"/>
            <a:ext cx="1060704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The Market</a:t>
            </a:r>
            <a:endParaRPr lang="en-US" sz="4800" dirty="0"/>
          </a:p>
        </p:txBody>
      </p:sp>
      <p:sp>
        <p:nvSpPr>
          <p:cNvPr id="4" name="Text 2"/>
          <p:cNvSpPr txBox="1"/>
          <p:nvPr/>
        </p:nvSpPr>
        <p:spPr>
          <a:xfrm>
            <a:off x="822960" y="2743200"/>
            <a:ext cx="10515600" cy="457200"/>
          </a:xfrm>
          <a:prstGeom prst="rect">
            <a:avLst/>
          </a:prstGeom>
          <a:noFill/>
          <a:ln/>
        </p:spPr>
        <p:txBody>
          <a:bodyPr wrap="square" lIns="0" tIns="0" rIns="0" bIns="0" rtlCol="0" anchor="ctr"/>
          <a:lstStyle/>
          <a:p>
            <a:pPr indent="0" marL="0">
              <a:buNone/>
            </a:pPr>
            <a:r>
              <a:rPr lang="en-US" sz="1500" i="1" dirty="0">
                <a:solidFill>
                  <a:srgbClr val="D7E6E8"/>
                </a:solidFill>
                <a:latin typeface="Calibri" pitchFamily="34" charset="0"/>
                <a:ea typeface="Calibri" pitchFamily="34" charset="-122"/>
                <a:cs typeface="Calibri" pitchFamily="34" charset="-120"/>
              </a:rPr>
              <a:t>Spec 1.3.1 Meeting customer needs (section 1 of 3)  —  a tutoring guide: the ideas, the maths, and A-grade exam practice</a:t>
            </a:r>
            <a:endParaRPr lang="en-US" sz="1500" dirty="0"/>
          </a:p>
        </p:txBody>
      </p:sp>
      <p:sp>
        <p:nvSpPr>
          <p:cNvPr id="5" name="Shape 3"/>
          <p:cNvSpPr/>
          <p:nvPr/>
        </p:nvSpPr>
        <p:spPr>
          <a:xfrm>
            <a:off x="822960" y="3794760"/>
            <a:ext cx="1484986" cy="420624"/>
          </a:xfrm>
          <a:prstGeom prst="roundRect">
            <a:avLst>
              <a:gd name="adj" fmla="val 50000"/>
            </a:avLst>
          </a:prstGeom>
          <a:solidFill>
            <a:srgbClr val="0B2E35"/>
          </a:solidFill>
          <a:ln w="12700">
            <a:solidFill>
              <a:srgbClr val="0E7C86"/>
            </a:solidFill>
            <a:prstDash val="solid"/>
          </a:ln>
        </p:spPr>
      </p:sp>
      <p:sp>
        <p:nvSpPr>
          <p:cNvPr id="6" name="Text 4"/>
          <p:cNvSpPr txBox="1"/>
          <p:nvPr/>
        </p:nvSpPr>
        <p:spPr>
          <a:xfrm>
            <a:off x="822960" y="3794760"/>
            <a:ext cx="1484986"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Mass &amp; niche</a:t>
            </a:r>
            <a:endParaRPr lang="en-US" sz="1250" dirty="0"/>
          </a:p>
        </p:txBody>
      </p:sp>
      <p:sp>
        <p:nvSpPr>
          <p:cNvPr id="7" name="Shape 5"/>
          <p:cNvSpPr/>
          <p:nvPr/>
        </p:nvSpPr>
        <p:spPr>
          <a:xfrm>
            <a:off x="2490826" y="3794760"/>
            <a:ext cx="2201875" cy="420624"/>
          </a:xfrm>
          <a:prstGeom prst="roundRect">
            <a:avLst>
              <a:gd name="adj" fmla="val 50000"/>
            </a:avLst>
          </a:prstGeom>
          <a:solidFill>
            <a:srgbClr val="0B2E35"/>
          </a:solidFill>
          <a:ln w="12700">
            <a:solidFill>
              <a:srgbClr val="0E7C86"/>
            </a:solidFill>
            <a:prstDash val="solid"/>
          </a:ln>
        </p:spPr>
      </p:sp>
      <p:sp>
        <p:nvSpPr>
          <p:cNvPr id="8" name="Text 6"/>
          <p:cNvSpPr txBox="1"/>
          <p:nvPr/>
        </p:nvSpPr>
        <p:spPr>
          <a:xfrm>
            <a:off x="2490826" y="3794760"/>
            <a:ext cx="2201875"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Market size &amp; share</a:t>
            </a:r>
            <a:endParaRPr lang="en-US" sz="1250" dirty="0"/>
          </a:p>
        </p:txBody>
      </p:sp>
      <p:sp>
        <p:nvSpPr>
          <p:cNvPr id="9" name="Shape 7"/>
          <p:cNvSpPr/>
          <p:nvPr/>
        </p:nvSpPr>
        <p:spPr>
          <a:xfrm>
            <a:off x="4875581" y="3794760"/>
            <a:ext cx="1792224" cy="420624"/>
          </a:xfrm>
          <a:prstGeom prst="roundRect">
            <a:avLst>
              <a:gd name="adj" fmla="val 50000"/>
            </a:avLst>
          </a:prstGeom>
          <a:solidFill>
            <a:srgbClr val="0B2E35"/>
          </a:solidFill>
          <a:ln w="12700">
            <a:solidFill>
              <a:srgbClr val="0E7C86"/>
            </a:solidFill>
            <a:prstDash val="solid"/>
          </a:ln>
        </p:spPr>
      </p:sp>
      <p:sp>
        <p:nvSpPr>
          <p:cNvPr id="10" name="Text 8"/>
          <p:cNvSpPr txBox="1"/>
          <p:nvPr/>
        </p:nvSpPr>
        <p:spPr>
          <a:xfrm>
            <a:off x="4875581" y="3794760"/>
            <a:ext cx="1792224"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Dynamic markets</a:t>
            </a:r>
            <a:endParaRPr lang="en-US" sz="1250" dirty="0"/>
          </a:p>
        </p:txBody>
      </p:sp>
      <p:sp>
        <p:nvSpPr>
          <p:cNvPr id="11" name="Shape 9"/>
          <p:cNvSpPr/>
          <p:nvPr/>
        </p:nvSpPr>
        <p:spPr>
          <a:xfrm>
            <a:off x="6850685" y="3794760"/>
            <a:ext cx="1382573" cy="420624"/>
          </a:xfrm>
          <a:prstGeom prst="roundRect">
            <a:avLst>
              <a:gd name="adj" fmla="val 50000"/>
            </a:avLst>
          </a:prstGeom>
          <a:solidFill>
            <a:srgbClr val="0B2E35"/>
          </a:solidFill>
          <a:ln w="12700">
            <a:solidFill>
              <a:srgbClr val="0E7C86"/>
            </a:solidFill>
            <a:prstDash val="solid"/>
          </a:ln>
        </p:spPr>
      </p:sp>
      <p:sp>
        <p:nvSpPr>
          <p:cNvPr id="12" name="Text 10"/>
          <p:cNvSpPr txBox="1"/>
          <p:nvPr/>
        </p:nvSpPr>
        <p:spPr>
          <a:xfrm>
            <a:off x="6850685" y="3794760"/>
            <a:ext cx="1382573"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Competition</a:t>
            </a:r>
            <a:endParaRPr lang="en-US" sz="1250" dirty="0"/>
          </a:p>
        </p:txBody>
      </p:sp>
      <p:sp>
        <p:nvSpPr>
          <p:cNvPr id="13" name="Shape 11"/>
          <p:cNvSpPr/>
          <p:nvPr/>
        </p:nvSpPr>
        <p:spPr>
          <a:xfrm>
            <a:off x="8416138" y="3794760"/>
            <a:ext cx="2201875" cy="420624"/>
          </a:xfrm>
          <a:prstGeom prst="roundRect">
            <a:avLst>
              <a:gd name="adj" fmla="val 50000"/>
            </a:avLst>
          </a:prstGeom>
          <a:solidFill>
            <a:srgbClr val="0B2E35"/>
          </a:solidFill>
          <a:ln w="12700">
            <a:solidFill>
              <a:srgbClr val="0E7C86"/>
            </a:solidFill>
            <a:prstDash val="solid"/>
          </a:ln>
        </p:spPr>
      </p:sp>
      <p:sp>
        <p:nvSpPr>
          <p:cNvPr id="14" name="Text 12"/>
          <p:cNvSpPr txBox="1"/>
          <p:nvPr/>
        </p:nvSpPr>
        <p:spPr>
          <a:xfrm>
            <a:off x="8416138" y="3794760"/>
            <a:ext cx="2201875"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Risk vs uncertainty</a:t>
            </a:r>
            <a:endParaRPr lang="en-US" sz="1250" dirty="0"/>
          </a:p>
        </p:txBody>
      </p:sp>
      <p:sp>
        <p:nvSpPr>
          <p:cNvPr id="15" name="Text 13"/>
          <p:cNvSpPr txBox="1"/>
          <p:nvPr/>
        </p:nvSpPr>
        <p:spPr>
          <a:xfrm>
            <a:off x="822960" y="5989320"/>
            <a:ext cx="10607040" cy="365760"/>
          </a:xfrm>
          <a:prstGeom prst="rect">
            <a:avLst/>
          </a:prstGeom>
          <a:noFill/>
          <a:ln/>
        </p:spPr>
        <p:txBody>
          <a:bodyPr wrap="square" lIns="0" tIns="0" rIns="0" bIns="0" rtlCol="0" anchor="ctr"/>
          <a:lstStyle/>
          <a:p>
            <a:pPr indent="0" marL="0">
              <a:buNone/>
            </a:pPr>
            <a:r>
              <a:rPr lang="en-US" sz="1300" dirty="0">
                <a:solidFill>
                  <a:srgbClr val="9FBCC0"/>
                </a:solidFill>
                <a:latin typeface="Calibri" pitchFamily="34" charset="0"/>
                <a:ea typeface="Calibri" pitchFamily="34" charset="-122"/>
                <a:cs typeface="Calibri" pitchFamily="34" charset="-120"/>
              </a:rPr>
              <a:t>Mr. Akram  ·  GEMS Metropole School  ·  Cases: Primark · Coca-Cola · Ocado · airlines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What this lesson covers</a:t>
            </a:r>
            <a:endParaRPr lang="en-US" sz="2700" dirty="0"/>
          </a:p>
        </p:txBody>
      </p:sp>
      <p:sp>
        <p:nvSpPr>
          <p:cNvPr id="4" name="Shape 2"/>
          <p:cNvSpPr/>
          <p:nvPr/>
        </p:nvSpPr>
        <p:spPr>
          <a:xfrm>
            <a:off x="548640" y="1554480"/>
            <a:ext cx="11091672" cy="914400"/>
          </a:xfrm>
          <a:prstGeom prst="roundRect">
            <a:avLst>
              <a:gd name="adj" fmla="val 8000"/>
            </a:avLst>
          </a:prstGeom>
          <a:solidFill>
            <a:srgbClr val="EAF3F4"/>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31520" y="1773936"/>
            <a:ext cx="493776" cy="493776"/>
          </a:xfrm>
          <a:prstGeom prst="roundRect">
            <a:avLst>
              <a:gd name="adj" fmla="val 18519"/>
            </a:avLst>
          </a:prstGeom>
          <a:solidFill>
            <a:srgbClr val="0E7C86"/>
          </a:solidFill>
          <a:ln/>
        </p:spPr>
      </p:sp>
      <p:sp>
        <p:nvSpPr>
          <p:cNvPr id="6" name="Text 4"/>
          <p:cNvSpPr txBox="1"/>
          <p:nvPr/>
        </p:nvSpPr>
        <p:spPr>
          <a:xfrm>
            <a:off x="731520" y="1773936"/>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7" name="Text 5"/>
          <p:cNvSpPr txBox="1"/>
          <p:nvPr/>
        </p:nvSpPr>
        <p:spPr>
          <a:xfrm>
            <a:off x="1417320" y="1700784"/>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Mass &amp; niche markets</a:t>
            </a:r>
            <a:endParaRPr lang="en-US" sz="1500" dirty="0"/>
          </a:p>
        </p:txBody>
      </p:sp>
      <p:sp>
        <p:nvSpPr>
          <p:cNvPr id="8" name="Text 6"/>
          <p:cNvSpPr txBox="1"/>
          <p:nvPr/>
        </p:nvSpPr>
        <p:spPr>
          <a:xfrm>
            <a:off x="6355080" y="1700784"/>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Characteristics, market size, share &amp; growth (with calculations), and brands</a:t>
            </a:r>
            <a:endParaRPr lang="en-US" sz="1250" dirty="0"/>
          </a:p>
        </p:txBody>
      </p:sp>
      <p:sp>
        <p:nvSpPr>
          <p:cNvPr id="9" name="Shape 7"/>
          <p:cNvSpPr/>
          <p:nvPr/>
        </p:nvSpPr>
        <p:spPr>
          <a:xfrm>
            <a:off x="548640" y="2578608"/>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731520" y="2798064"/>
            <a:ext cx="493776" cy="493776"/>
          </a:xfrm>
          <a:prstGeom prst="roundRect">
            <a:avLst>
              <a:gd name="adj" fmla="val 18519"/>
            </a:avLst>
          </a:prstGeom>
          <a:solidFill>
            <a:srgbClr val="0E7C86"/>
          </a:solidFill>
          <a:ln/>
        </p:spPr>
      </p:sp>
      <p:sp>
        <p:nvSpPr>
          <p:cNvPr id="11" name="Text 9"/>
          <p:cNvSpPr txBox="1"/>
          <p:nvPr/>
        </p:nvSpPr>
        <p:spPr>
          <a:xfrm>
            <a:off x="731520" y="2798064"/>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24912"/>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Dynamic markets</a:t>
            </a:r>
            <a:endParaRPr lang="en-US" sz="1500" dirty="0"/>
          </a:p>
        </p:txBody>
      </p:sp>
      <p:sp>
        <p:nvSpPr>
          <p:cNvPr id="13" name="Text 11"/>
          <p:cNvSpPr txBox="1"/>
          <p:nvPr/>
        </p:nvSpPr>
        <p:spPr>
          <a:xfrm>
            <a:off x="6355080" y="2724912"/>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How markets change — online retailing, innovation and adapting to change</a:t>
            </a:r>
            <a:endParaRPr lang="en-US" sz="1250" dirty="0"/>
          </a:p>
        </p:txBody>
      </p:sp>
      <p:sp>
        <p:nvSpPr>
          <p:cNvPr id="14" name="Shape 12"/>
          <p:cNvSpPr/>
          <p:nvPr/>
        </p:nvSpPr>
        <p:spPr>
          <a:xfrm>
            <a:off x="548640" y="3602736"/>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731520" y="3822192"/>
            <a:ext cx="493776" cy="493776"/>
          </a:xfrm>
          <a:prstGeom prst="roundRect">
            <a:avLst>
              <a:gd name="adj" fmla="val 18519"/>
            </a:avLst>
          </a:prstGeom>
          <a:solidFill>
            <a:srgbClr val="0E7C86"/>
          </a:solidFill>
          <a:ln/>
        </p:spPr>
      </p:sp>
      <p:sp>
        <p:nvSpPr>
          <p:cNvPr id="16" name="Text 14"/>
          <p:cNvSpPr txBox="1"/>
          <p:nvPr/>
        </p:nvSpPr>
        <p:spPr>
          <a:xfrm>
            <a:off x="731520" y="3822192"/>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7" name="Text 15"/>
          <p:cNvSpPr txBox="1"/>
          <p:nvPr/>
        </p:nvSpPr>
        <p:spPr>
          <a:xfrm>
            <a:off x="1417320" y="3749040"/>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Competition, risk &amp; uncertainty</a:t>
            </a:r>
            <a:endParaRPr lang="en-US" sz="1500" dirty="0"/>
          </a:p>
        </p:txBody>
      </p:sp>
      <p:sp>
        <p:nvSpPr>
          <p:cNvPr id="18" name="Text 16"/>
          <p:cNvSpPr txBox="1"/>
          <p:nvPr/>
        </p:nvSpPr>
        <p:spPr>
          <a:xfrm>
            <a:off x="6355080" y="3749040"/>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How competition affects a market, and the difference between risk and uncertainty</a:t>
            </a:r>
            <a:endParaRPr lang="en-US" sz="1250" dirty="0"/>
          </a:p>
        </p:txBody>
      </p:sp>
      <p:sp>
        <p:nvSpPr>
          <p:cNvPr id="19" name="Shape 17"/>
          <p:cNvSpPr/>
          <p:nvPr/>
        </p:nvSpPr>
        <p:spPr>
          <a:xfrm>
            <a:off x="548640" y="4626864"/>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0" name="Shape 18"/>
          <p:cNvSpPr/>
          <p:nvPr/>
        </p:nvSpPr>
        <p:spPr>
          <a:xfrm>
            <a:off x="731520" y="4846320"/>
            <a:ext cx="493776" cy="493776"/>
          </a:xfrm>
          <a:prstGeom prst="roundRect">
            <a:avLst>
              <a:gd name="adj" fmla="val 18519"/>
            </a:avLst>
          </a:prstGeom>
          <a:solidFill>
            <a:srgbClr val="0E7C86"/>
          </a:solidFill>
          <a:ln/>
        </p:spPr>
      </p:sp>
      <p:sp>
        <p:nvSpPr>
          <p:cNvPr id="21" name="Text 19"/>
          <p:cNvSpPr txBox="1"/>
          <p:nvPr/>
        </p:nvSpPr>
        <p:spPr>
          <a:xfrm>
            <a:off x="731520" y="484632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2" name="Text 20"/>
          <p:cNvSpPr txBox="1"/>
          <p:nvPr/>
        </p:nvSpPr>
        <p:spPr>
          <a:xfrm>
            <a:off x="1417320" y="4773168"/>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A-grade exam skills</a:t>
            </a:r>
            <a:endParaRPr lang="en-US" sz="1500" dirty="0"/>
          </a:p>
        </p:txBody>
      </p:sp>
      <p:sp>
        <p:nvSpPr>
          <p:cNvPr id="23" name="Text 21"/>
          <p:cNvSpPr txBox="1"/>
          <p:nvPr/>
        </p:nvSpPr>
        <p:spPr>
          <a:xfrm>
            <a:off x="6355080" y="4773168"/>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Applying it — the online-retailing 10-marker, with structure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WHERE IT FITS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Where this sits in the specification</a:t>
            </a:r>
            <a:endParaRPr lang="en-US" sz="2700" dirty="0"/>
          </a:p>
        </p:txBody>
      </p:sp>
      <p:sp>
        <p:nvSpPr>
          <p:cNvPr id="4" name="Shape 2"/>
          <p:cNvSpPr/>
          <p:nvPr/>
        </p:nvSpPr>
        <p:spPr>
          <a:xfrm>
            <a:off x="548640" y="1371600"/>
            <a:ext cx="6675120" cy="3657600"/>
          </a:xfrm>
          <a:prstGeom prst="roundRect">
            <a:avLst>
              <a:gd name="adj" fmla="val 2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6217920" cy="329184"/>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Topic 1.3.1  Meeting customer needs</a:t>
            </a:r>
            <a:endParaRPr lang="en-US" sz="1350" dirty="0"/>
          </a:p>
        </p:txBody>
      </p:sp>
      <p:sp>
        <p:nvSpPr>
          <p:cNvPr id="6" name="Shape 4"/>
          <p:cNvSpPr/>
          <p:nvPr/>
        </p:nvSpPr>
        <p:spPr>
          <a:xfrm>
            <a:off x="749808" y="1920240"/>
            <a:ext cx="6272784" cy="914400"/>
          </a:xfrm>
          <a:prstGeom prst="roundRect">
            <a:avLst>
              <a:gd name="adj" fmla="val 8000"/>
            </a:avLst>
          </a:prstGeom>
          <a:solidFill>
            <a:srgbClr val="FBF0D8"/>
          </a:solidFill>
          <a:ln/>
          <a:effectLst>
            <a:outerShdw sx="100000" sy="100000" kx="0" ky="0" algn="bl" rotWithShape="0" blurRad="76200" dist="25400" dir="5400000">
              <a:srgbClr val="9AAAB0">
                <a:alpha val="28000"/>
              </a:srgbClr>
            </a:outerShdw>
          </a:effectLst>
        </p:spPr>
      </p:sp>
      <p:sp>
        <p:nvSpPr>
          <p:cNvPr id="7" name="Shape 5"/>
          <p:cNvSpPr/>
          <p:nvPr/>
        </p:nvSpPr>
        <p:spPr>
          <a:xfrm>
            <a:off x="749808" y="1920240"/>
            <a:ext cx="91440" cy="914400"/>
          </a:xfrm>
          <a:prstGeom prst="roundRect">
            <a:avLst/>
          </a:prstGeom>
          <a:solidFill>
            <a:srgbClr val="E0940F"/>
          </a:solidFill>
          <a:ln/>
        </p:spPr>
      </p:sp>
      <p:sp>
        <p:nvSpPr>
          <p:cNvPr id="8" name="Shape 6"/>
          <p:cNvSpPr/>
          <p:nvPr/>
        </p:nvSpPr>
        <p:spPr>
          <a:xfrm>
            <a:off x="914400" y="2139696"/>
            <a:ext cx="457200" cy="457200"/>
          </a:xfrm>
          <a:prstGeom prst="roundRect">
            <a:avLst>
              <a:gd name="adj" fmla="val 20000"/>
            </a:avLst>
          </a:prstGeom>
          <a:solidFill>
            <a:srgbClr val="E0940F"/>
          </a:solidFill>
          <a:ln/>
        </p:spPr>
      </p:sp>
      <p:sp>
        <p:nvSpPr>
          <p:cNvPr id="9" name="Text 7"/>
          <p:cNvSpPr txBox="1"/>
          <p:nvPr/>
        </p:nvSpPr>
        <p:spPr>
          <a:xfrm>
            <a:off x="914400" y="21396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10" name="Text 8"/>
          <p:cNvSpPr txBox="1"/>
          <p:nvPr/>
        </p:nvSpPr>
        <p:spPr>
          <a:xfrm>
            <a:off x="1508760" y="2066544"/>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The market   ← this lesson</a:t>
            </a:r>
            <a:endParaRPr lang="en-US" sz="1300" dirty="0"/>
          </a:p>
        </p:txBody>
      </p:sp>
      <p:sp>
        <p:nvSpPr>
          <p:cNvPr id="11" name="Text 9"/>
          <p:cNvSpPr txBox="1"/>
          <p:nvPr/>
        </p:nvSpPr>
        <p:spPr>
          <a:xfrm>
            <a:off x="1508760" y="2377440"/>
            <a:ext cx="5440680" cy="402336"/>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mass &amp; niche, size/share, brands, dynamic markets, competition, risk vs uncertainty</a:t>
            </a:r>
            <a:endParaRPr lang="en-US" sz="1050" dirty="0"/>
          </a:p>
        </p:txBody>
      </p:sp>
      <p:sp>
        <p:nvSpPr>
          <p:cNvPr id="12" name="Shape 10"/>
          <p:cNvSpPr/>
          <p:nvPr/>
        </p:nvSpPr>
        <p:spPr>
          <a:xfrm>
            <a:off x="749808" y="2889504"/>
            <a:ext cx="6272784" cy="914400"/>
          </a:xfrm>
          <a:prstGeom prst="roundRect">
            <a:avLst>
              <a:gd name="adj" fmla="val 8000"/>
            </a:avLst>
          </a:prstGeom>
          <a:solidFill>
            <a:srgbClr val="EAF3F4"/>
          </a:solidFill>
          <a:ln/>
          <a:effectLst>
            <a:outerShdw sx="100000" sy="100000" kx="0" ky="0" algn="bl" rotWithShape="0" blurRad="76200" dist="25400" dir="5400000">
              <a:srgbClr val="9AAAB0">
                <a:alpha val="28000"/>
              </a:srgbClr>
            </a:outerShdw>
          </a:effectLst>
        </p:spPr>
      </p:sp>
      <p:sp>
        <p:nvSpPr>
          <p:cNvPr id="13" name="Shape 11"/>
          <p:cNvSpPr/>
          <p:nvPr/>
        </p:nvSpPr>
        <p:spPr>
          <a:xfrm>
            <a:off x="914400" y="3108960"/>
            <a:ext cx="457200" cy="457200"/>
          </a:xfrm>
          <a:prstGeom prst="roundRect">
            <a:avLst>
              <a:gd name="adj" fmla="val 20000"/>
            </a:avLst>
          </a:prstGeom>
          <a:solidFill>
            <a:srgbClr val="0E7C86"/>
          </a:solidFill>
          <a:ln/>
        </p:spPr>
      </p:sp>
      <p:sp>
        <p:nvSpPr>
          <p:cNvPr id="14" name="Text 12"/>
          <p:cNvSpPr txBox="1"/>
          <p:nvPr/>
        </p:nvSpPr>
        <p:spPr>
          <a:xfrm>
            <a:off x="914400" y="310896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5" name="Text 13"/>
          <p:cNvSpPr txBox="1"/>
          <p:nvPr/>
        </p:nvSpPr>
        <p:spPr>
          <a:xfrm>
            <a:off x="1508760" y="3035808"/>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Market research</a:t>
            </a:r>
            <a:endParaRPr lang="en-US" sz="1300" dirty="0"/>
          </a:p>
        </p:txBody>
      </p:sp>
      <p:sp>
        <p:nvSpPr>
          <p:cNvPr id="16" name="Text 14"/>
          <p:cNvSpPr txBox="1"/>
          <p:nvPr/>
        </p:nvSpPr>
        <p:spPr>
          <a:xfrm>
            <a:off x="1508760" y="3346704"/>
            <a:ext cx="5440680" cy="402336"/>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primary &amp; secondary research, methods, sampling — next</a:t>
            </a:r>
            <a:endParaRPr lang="en-US" sz="1050" dirty="0"/>
          </a:p>
        </p:txBody>
      </p:sp>
      <p:sp>
        <p:nvSpPr>
          <p:cNvPr id="17" name="Shape 15"/>
          <p:cNvSpPr/>
          <p:nvPr/>
        </p:nvSpPr>
        <p:spPr>
          <a:xfrm>
            <a:off x="749808" y="3858768"/>
            <a:ext cx="6272784" cy="914400"/>
          </a:xfrm>
          <a:prstGeom prst="roundRect">
            <a:avLst>
              <a:gd name="adj" fmla="val 8000"/>
            </a:avLst>
          </a:prstGeom>
          <a:solidFill>
            <a:srgbClr val="EAF3F4"/>
          </a:solidFill>
          <a:ln/>
          <a:effectLst>
            <a:outerShdw sx="100000" sy="100000" kx="0" ky="0" algn="bl" rotWithShape="0" blurRad="76200" dist="25400" dir="5400000">
              <a:srgbClr val="9AAAB0">
                <a:alpha val="28000"/>
              </a:srgbClr>
            </a:outerShdw>
          </a:effectLst>
        </p:spPr>
      </p:sp>
      <p:sp>
        <p:nvSpPr>
          <p:cNvPr id="18" name="Shape 16"/>
          <p:cNvSpPr/>
          <p:nvPr/>
        </p:nvSpPr>
        <p:spPr>
          <a:xfrm>
            <a:off x="914400" y="4078224"/>
            <a:ext cx="457200" cy="457200"/>
          </a:xfrm>
          <a:prstGeom prst="roundRect">
            <a:avLst>
              <a:gd name="adj" fmla="val 20000"/>
            </a:avLst>
          </a:prstGeom>
          <a:solidFill>
            <a:srgbClr val="0E7C86"/>
          </a:solidFill>
          <a:ln/>
        </p:spPr>
      </p:sp>
      <p:sp>
        <p:nvSpPr>
          <p:cNvPr id="19" name="Text 17"/>
          <p:cNvSpPr txBox="1"/>
          <p:nvPr/>
        </p:nvSpPr>
        <p:spPr>
          <a:xfrm>
            <a:off x="914400" y="407822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0" name="Text 18"/>
          <p:cNvSpPr txBox="1"/>
          <p:nvPr/>
        </p:nvSpPr>
        <p:spPr>
          <a:xfrm>
            <a:off x="1508760" y="4005072"/>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Market positioning</a:t>
            </a:r>
            <a:endParaRPr lang="en-US" sz="1300" dirty="0"/>
          </a:p>
        </p:txBody>
      </p:sp>
      <p:sp>
        <p:nvSpPr>
          <p:cNvPr id="21" name="Text 19"/>
          <p:cNvSpPr txBox="1"/>
          <p:nvPr/>
        </p:nvSpPr>
        <p:spPr>
          <a:xfrm>
            <a:off x="1508760" y="4315968"/>
            <a:ext cx="5440680" cy="402336"/>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orientation, market mapping, segmentation, differentiation, adding value — next</a:t>
            </a:r>
            <a:endParaRPr lang="en-US" sz="1050" dirty="0"/>
          </a:p>
        </p:txBody>
      </p:sp>
      <p:sp>
        <p:nvSpPr>
          <p:cNvPr id="22" name="Shape 20"/>
          <p:cNvSpPr/>
          <p:nvPr/>
        </p:nvSpPr>
        <p:spPr>
          <a:xfrm>
            <a:off x="7360920" y="1371600"/>
            <a:ext cx="4279392" cy="3657600"/>
          </a:xfrm>
          <a:prstGeom prst="roundRect">
            <a:avLst>
              <a:gd name="adj" fmla="val 2000"/>
            </a:avLst>
          </a:prstGeom>
          <a:solidFill>
            <a:srgbClr val="EAF3F4"/>
          </a:solidFill>
          <a:ln/>
          <a:effectLst>
            <a:outerShdw sx="100000" sy="100000" kx="0" ky="0" algn="bl" rotWithShape="0" blurRad="76200" dist="25400" dir="5400000">
              <a:srgbClr val="9AAAB0">
                <a:alpha val="28000"/>
              </a:srgbClr>
            </a:outerShdw>
          </a:effectLst>
        </p:spPr>
      </p:sp>
      <p:sp>
        <p:nvSpPr>
          <p:cNvPr id="23" name="Text 21"/>
          <p:cNvSpPr txBox="1"/>
          <p:nvPr/>
        </p:nvSpPr>
        <p:spPr>
          <a:xfrm>
            <a:off x="7571232" y="1508760"/>
            <a:ext cx="3840480" cy="36576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How it links across the course</a:t>
            </a:r>
            <a:endParaRPr lang="en-US" sz="1400" dirty="0"/>
          </a:p>
        </p:txBody>
      </p:sp>
      <p:sp>
        <p:nvSpPr>
          <p:cNvPr id="24" name="Text 22"/>
          <p:cNvSpPr txBox="1"/>
          <p:nvPr/>
        </p:nvSpPr>
        <p:spPr>
          <a:xfrm>
            <a:off x="7571232" y="1965960"/>
            <a:ext cx="3886200" cy="29260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Mass vs niche feeds marketing strategy (1.3.3)</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Market share is a key marketing objective (1.3.3)</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Dynamic markets link to the product life cycle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Competition shapes pricing strategy (1.3.3)</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Risk &amp; uncertainty underpin every entrepreneurial decision</a:t>
            </a:r>
            <a:endParaRPr lang="en-US" sz="1250" dirty="0"/>
          </a:p>
        </p:txBody>
      </p:sp>
      <p:sp>
        <p:nvSpPr>
          <p:cNvPr id="25" name="Shape 23"/>
          <p:cNvSpPr/>
          <p:nvPr/>
        </p:nvSpPr>
        <p:spPr>
          <a:xfrm>
            <a:off x="548640" y="5257800"/>
            <a:ext cx="11091672" cy="914400"/>
          </a:xfrm>
          <a:prstGeom prst="roundRect">
            <a:avLst>
              <a:gd name="adj" fmla="val 8000"/>
            </a:avLst>
          </a:prstGeom>
          <a:solidFill>
            <a:srgbClr val="FBF0D8"/>
          </a:solidFill>
          <a:ln/>
          <a:effectLst>
            <a:outerShdw sx="100000" sy="100000" kx="0" ky="0" algn="bl" rotWithShape="0" blurRad="76200" dist="25400" dir="5400000">
              <a:srgbClr val="9AAAB0">
                <a:alpha val="28000"/>
              </a:srgbClr>
            </a:outerShdw>
          </a:effectLst>
        </p:spPr>
      </p:sp>
      <p:sp>
        <p:nvSpPr>
          <p:cNvPr id="26" name="Text 24"/>
          <p:cNvSpPr txBox="1"/>
          <p:nvPr/>
        </p:nvSpPr>
        <p:spPr>
          <a:xfrm>
            <a:off x="777240" y="5358384"/>
            <a:ext cx="10698480" cy="731520"/>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The three sections of 1.3.1:  </a:t>
            </a:r>
            <a:pPr indent="0" marL="0">
              <a:buNone/>
            </a:pPr>
            <a:r>
              <a:rPr lang="en-US" sz="1250" dirty="0">
                <a:solidFill>
                  <a:srgbClr val="1F2A33"/>
                </a:solidFill>
                <a:latin typeface="Calibri" pitchFamily="34" charset="0"/>
                <a:ea typeface="Calibri" pitchFamily="34" charset="-122"/>
                <a:cs typeface="Calibri" pitchFamily="34" charset="-120"/>
              </a:rPr>
              <a:t>(1) The market — this deck;  (2) Market research;  (3) Market positioning, where market SEGMENTATION sits (it builds on mass &amp; niche markets). Decks 2 and 3 to follow.</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A</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A</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Mass &amp; niche markets</a:t>
            </a:r>
            <a:endParaRPr lang="en-US" sz="32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characteristics of mass vs niche markets  ·  market size, share &amp; growth (with calculations)  ·  brands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MARKETS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Mass markets vs niche markets</a:t>
            </a:r>
            <a:endParaRPr lang="en-US" sz="2700" dirty="0"/>
          </a:p>
        </p:txBody>
      </p:sp>
      <p:sp>
        <p:nvSpPr>
          <p:cNvPr id="4" name="Shape 2"/>
          <p:cNvSpPr/>
          <p:nvPr/>
        </p:nvSpPr>
        <p:spPr>
          <a:xfrm>
            <a:off x="548640" y="1371600"/>
            <a:ext cx="11091672" cy="658368"/>
          </a:xfrm>
          <a:prstGeom prst="roundRect">
            <a:avLst>
              <a:gd name="adj" fmla="val 1111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44752"/>
            <a:ext cx="10698480" cy="512064"/>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A market  </a:t>
            </a:r>
            <a:pPr indent="0" marL="0">
              <a:buNone/>
            </a:pPr>
            <a:r>
              <a:rPr lang="en-US" sz="1300" dirty="0">
                <a:solidFill>
                  <a:srgbClr val="1F2A33"/>
                </a:solidFill>
                <a:latin typeface="Calibri" pitchFamily="34" charset="0"/>
                <a:ea typeface="Calibri" pitchFamily="34" charset="-122"/>
                <a:cs typeface="Calibri" pitchFamily="34" charset="-120"/>
              </a:rPr>
              <a:t>= anywhere buyers and sellers meet to trade. Businesses target either a mass market (broad) or a niche (a small, specialised part of it).</a:t>
            </a:r>
            <a:endParaRPr lang="en-US" sz="1300" dirty="0"/>
          </a:p>
        </p:txBody>
      </p:sp>
      <p:sp>
        <p:nvSpPr>
          <p:cNvPr id="6" name="Shape 4"/>
          <p:cNvSpPr/>
          <p:nvPr/>
        </p:nvSpPr>
        <p:spPr>
          <a:xfrm>
            <a:off x="548640" y="2286000"/>
            <a:ext cx="5440680" cy="3886200"/>
          </a:xfrm>
          <a:prstGeom prst="roundRect">
            <a:avLst>
              <a:gd name="adj" fmla="val 1882"/>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777240" y="2450592"/>
            <a:ext cx="2377440" cy="310896"/>
          </a:xfrm>
          <a:prstGeom prst="roundRect">
            <a:avLst>
              <a:gd name="adj" fmla="val 50000"/>
            </a:avLst>
          </a:prstGeom>
          <a:solidFill>
            <a:srgbClr val="0E7C86"/>
          </a:solidFill>
          <a:ln/>
        </p:spPr>
      </p:sp>
      <p:sp>
        <p:nvSpPr>
          <p:cNvPr id="8" name="Text 6"/>
          <p:cNvSpPr txBox="1"/>
          <p:nvPr/>
        </p:nvSpPr>
        <p:spPr>
          <a:xfrm>
            <a:off x="777240" y="2450592"/>
            <a:ext cx="23774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MASS MARKET</a:t>
            </a:r>
            <a:endParaRPr lang="en-US" sz="1050" dirty="0"/>
          </a:p>
        </p:txBody>
      </p:sp>
      <p:sp>
        <p:nvSpPr>
          <p:cNvPr id="9" name="Text 7"/>
          <p:cNvSpPr txBox="1"/>
          <p:nvPr/>
        </p:nvSpPr>
        <p:spPr>
          <a:xfrm>
            <a:off x="777240" y="2871216"/>
            <a:ext cx="4983480" cy="54864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A large market with broad appeal — high volume, standardised products, lower margins.</a:t>
            </a:r>
            <a:endParaRPr lang="en-US" sz="1250" dirty="0"/>
          </a:p>
        </p:txBody>
      </p:sp>
      <p:sp>
        <p:nvSpPr>
          <p:cNvPr id="10" name="Text 8"/>
          <p:cNvSpPr txBox="1"/>
          <p:nvPr/>
        </p:nvSpPr>
        <p:spPr>
          <a:xfrm>
            <a:off x="777240" y="3429000"/>
            <a:ext cx="4983480" cy="1828800"/>
          </a:xfrm>
          <a:prstGeom prst="rect">
            <a:avLst/>
          </a:prstGeom>
          <a:noFill/>
          <a:ln/>
        </p:spPr>
        <p:txBody>
          <a:bodyPr wrap="square" lIns="0" tIns="0" rIns="0" bIns="0" rtlCol="0" anchor="t"/>
          <a:lstStyle/>
          <a:p>
            <a:pPr indent="0" marL="0">
              <a:spcAft>
                <a:spcPts val="600"/>
              </a:spcAft>
              <a:buNone/>
            </a:pPr>
            <a:r>
              <a:rPr lang="en-US" sz="1250" b="1" dirty="0">
                <a:solidFill>
                  <a:srgbClr val="1F2A33"/>
                </a:solidFill>
                <a:latin typeface="Calibri" pitchFamily="34" charset="0"/>
                <a:ea typeface="Calibri" pitchFamily="34" charset="-122"/>
                <a:cs typeface="Calibri" pitchFamily="34" charset="-120"/>
              </a:rPr>
              <a:t>Characteristics:  </a:t>
            </a:r>
            <a:pPr indent="0" marL="0">
              <a:spcAft>
                <a:spcPts val="600"/>
              </a:spcAft>
              <a:buNone/>
            </a:pPr>
            <a:r>
              <a:rPr lang="en-US" sz="1250" dirty="0">
                <a:solidFill>
                  <a:srgbClr val="5B6B73"/>
                </a:solidFill>
                <a:latin typeface="Calibri" pitchFamily="34" charset="0"/>
                <a:ea typeface="Calibri" pitchFamily="34" charset="-122"/>
                <a:cs typeface="Calibri" pitchFamily="34" charset="-120"/>
              </a:rPr>
              <a:t>many customers, wide appeal, high output, economies of scale, intense competition.
</a:t>
            </a:r>
            <a:pPr indent="0" marL="0">
              <a:spcAft>
                <a:spcPts val="600"/>
              </a:spcAft>
              <a:buNone/>
            </a:pPr>
            <a:r>
              <a:rPr lang="en-US" sz="1250" b="1" dirty="0">
                <a:solidFill>
                  <a:srgbClr val="2F8A5B"/>
                </a:solidFill>
                <a:latin typeface="Calibri" pitchFamily="34" charset="0"/>
                <a:ea typeface="Calibri" pitchFamily="34" charset="-122"/>
                <a:cs typeface="Calibri" pitchFamily="34" charset="-120"/>
              </a:rPr>
              <a:t>Good: </a:t>
            </a:r>
            <a:pPr indent="0" marL="0">
              <a:spcAft>
                <a:spcPts val="600"/>
              </a:spcAft>
              <a:buNone/>
            </a:pPr>
            <a:r>
              <a:rPr lang="en-US" sz="1250" dirty="0">
                <a:solidFill>
                  <a:srgbClr val="5B6B73"/>
                </a:solidFill>
                <a:latin typeface="Calibri" pitchFamily="34" charset="0"/>
                <a:ea typeface="Calibri" pitchFamily="34" charset="-122"/>
                <a:cs typeface="Calibri" pitchFamily="34" charset="-120"/>
              </a:rPr>
              <a:t>scale &amp; large revenue.  </a:t>
            </a:r>
            <a:pPr indent="0" marL="0">
              <a:spcAft>
                <a:spcPts val="600"/>
              </a:spcAft>
              <a:buNone/>
            </a:pPr>
            <a:r>
              <a:rPr lang="en-US" sz="1250" b="1" dirty="0">
                <a:solidFill>
                  <a:srgbClr val="C14B37"/>
                </a:solidFill>
                <a:latin typeface="Calibri" pitchFamily="34" charset="0"/>
                <a:ea typeface="Calibri" pitchFamily="34" charset="-122"/>
                <a:cs typeface="Calibri" pitchFamily="34" charset="-120"/>
              </a:rPr>
              <a:t>Hard: </a:t>
            </a:r>
            <a:pPr indent="0" marL="0">
              <a:spcAft>
                <a:spcPts val="600"/>
              </a:spcAft>
              <a:buNone/>
            </a:pPr>
            <a:r>
              <a:rPr lang="en-US" sz="1250" dirty="0">
                <a:solidFill>
                  <a:srgbClr val="5B6B73"/>
                </a:solidFill>
                <a:latin typeface="Calibri" pitchFamily="34" charset="0"/>
                <a:ea typeface="Calibri" pitchFamily="34" charset="-122"/>
                <a:cs typeface="Calibri" pitchFamily="34" charset="-120"/>
              </a:rPr>
              <a:t>low margins, fierce competition.</a:t>
            </a:r>
            <a:endParaRPr lang="en-US" sz="1250" dirty="0"/>
          </a:p>
        </p:txBody>
      </p:sp>
      <p:sp>
        <p:nvSpPr>
          <p:cNvPr id="11" name="Text 9"/>
          <p:cNvSpPr txBox="1"/>
          <p:nvPr/>
        </p:nvSpPr>
        <p:spPr>
          <a:xfrm>
            <a:off x="777240" y="5669280"/>
            <a:ext cx="4983480" cy="411480"/>
          </a:xfrm>
          <a:prstGeom prst="rect">
            <a:avLst/>
          </a:prstGeom>
          <a:noFill/>
          <a:ln/>
        </p:spPr>
        <p:txBody>
          <a:bodyPr wrap="square" lIns="0" tIns="0" rIns="0" bIns="0" rtlCol="0" anchor="ctr"/>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Coca-Cola, Toyota, Primark.</a:t>
            </a:r>
            <a:endParaRPr lang="en-US" sz="1150" dirty="0"/>
          </a:p>
        </p:txBody>
      </p:sp>
      <p:sp>
        <p:nvSpPr>
          <p:cNvPr id="12" name="Shape 10"/>
          <p:cNvSpPr/>
          <p:nvPr/>
        </p:nvSpPr>
        <p:spPr>
          <a:xfrm>
            <a:off x="6199632" y="2286000"/>
            <a:ext cx="5440680" cy="3886200"/>
          </a:xfrm>
          <a:prstGeom prst="roundRect">
            <a:avLst>
              <a:gd name="adj" fmla="val 1882"/>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Shape 11"/>
          <p:cNvSpPr/>
          <p:nvPr/>
        </p:nvSpPr>
        <p:spPr>
          <a:xfrm>
            <a:off x="6428232" y="2450592"/>
            <a:ext cx="2377440" cy="310896"/>
          </a:xfrm>
          <a:prstGeom prst="roundRect">
            <a:avLst>
              <a:gd name="adj" fmla="val 50000"/>
            </a:avLst>
          </a:prstGeom>
          <a:solidFill>
            <a:srgbClr val="E0940F"/>
          </a:solidFill>
          <a:ln/>
        </p:spPr>
      </p:sp>
      <p:sp>
        <p:nvSpPr>
          <p:cNvPr id="14" name="Text 12"/>
          <p:cNvSpPr txBox="1"/>
          <p:nvPr/>
        </p:nvSpPr>
        <p:spPr>
          <a:xfrm>
            <a:off x="6428232" y="2450592"/>
            <a:ext cx="23774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NICHE MARKET</a:t>
            </a:r>
            <a:endParaRPr lang="en-US" sz="1050" dirty="0"/>
          </a:p>
        </p:txBody>
      </p:sp>
      <p:sp>
        <p:nvSpPr>
          <p:cNvPr id="15" name="Text 13"/>
          <p:cNvSpPr txBox="1"/>
          <p:nvPr/>
        </p:nvSpPr>
        <p:spPr>
          <a:xfrm>
            <a:off x="6428232" y="2871216"/>
            <a:ext cx="4983480" cy="54864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A small, specialised segment of a larger market — specific needs, lower volume, higher margins.</a:t>
            </a:r>
            <a:endParaRPr lang="en-US" sz="1250" dirty="0"/>
          </a:p>
        </p:txBody>
      </p:sp>
      <p:sp>
        <p:nvSpPr>
          <p:cNvPr id="16" name="Text 14"/>
          <p:cNvSpPr txBox="1"/>
          <p:nvPr/>
        </p:nvSpPr>
        <p:spPr>
          <a:xfrm>
            <a:off x="6428232" y="3429000"/>
            <a:ext cx="4983480" cy="1828800"/>
          </a:xfrm>
          <a:prstGeom prst="rect">
            <a:avLst/>
          </a:prstGeom>
          <a:noFill/>
          <a:ln/>
        </p:spPr>
        <p:txBody>
          <a:bodyPr wrap="square" lIns="0" tIns="0" rIns="0" bIns="0" rtlCol="0" anchor="t"/>
          <a:lstStyle/>
          <a:p>
            <a:pPr indent="0" marL="0">
              <a:spcAft>
                <a:spcPts val="600"/>
              </a:spcAft>
              <a:buNone/>
            </a:pPr>
            <a:r>
              <a:rPr lang="en-US" sz="1250" b="1" dirty="0">
                <a:solidFill>
                  <a:srgbClr val="1F2A33"/>
                </a:solidFill>
                <a:latin typeface="Calibri" pitchFamily="34" charset="0"/>
                <a:ea typeface="Calibri" pitchFamily="34" charset="-122"/>
                <a:cs typeface="Calibri" pitchFamily="34" charset="-120"/>
              </a:rPr>
              <a:t>Characteristics:  </a:t>
            </a:r>
            <a:pPr indent="0" marL="0">
              <a:spcAft>
                <a:spcPts val="600"/>
              </a:spcAft>
              <a:buNone/>
            </a:pPr>
            <a:r>
              <a:rPr lang="en-US" sz="1250" dirty="0">
                <a:solidFill>
                  <a:srgbClr val="5B6B73"/>
                </a:solidFill>
                <a:latin typeface="Calibri" pitchFamily="34" charset="0"/>
                <a:ea typeface="Calibri" pitchFamily="34" charset="-122"/>
                <a:cs typeface="Calibri" pitchFamily="34" charset="-120"/>
              </a:rPr>
              <a:t>few customers, specialist product, targeted marketing, premium prices, loyal buyers.
</a:t>
            </a:r>
            <a:pPr indent="0" marL="0">
              <a:spcAft>
                <a:spcPts val="600"/>
              </a:spcAft>
              <a:buNone/>
            </a:pPr>
            <a:r>
              <a:rPr lang="en-US" sz="1250" b="1" dirty="0">
                <a:solidFill>
                  <a:srgbClr val="2F8A5B"/>
                </a:solidFill>
                <a:latin typeface="Calibri" pitchFamily="34" charset="0"/>
                <a:ea typeface="Calibri" pitchFamily="34" charset="-122"/>
                <a:cs typeface="Calibri" pitchFamily="34" charset="-120"/>
              </a:rPr>
              <a:t>Good: </a:t>
            </a:r>
            <a:pPr indent="0" marL="0">
              <a:spcAft>
                <a:spcPts val="600"/>
              </a:spcAft>
              <a:buNone/>
            </a:pPr>
            <a:r>
              <a:rPr lang="en-US" sz="1250" dirty="0">
                <a:solidFill>
                  <a:srgbClr val="5B6B73"/>
                </a:solidFill>
                <a:latin typeface="Calibri" pitchFamily="34" charset="0"/>
                <a:ea typeface="Calibri" pitchFamily="34" charset="-122"/>
                <a:cs typeface="Calibri" pitchFamily="34" charset="-120"/>
              </a:rPr>
              <a:t>less competition, high margins.  </a:t>
            </a:r>
            <a:pPr indent="0" marL="0">
              <a:spcAft>
                <a:spcPts val="600"/>
              </a:spcAft>
              <a:buNone/>
            </a:pPr>
            <a:r>
              <a:rPr lang="en-US" sz="1250" b="1" dirty="0">
                <a:solidFill>
                  <a:srgbClr val="C14B37"/>
                </a:solidFill>
                <a:latin typeface="Calibri" pitchFamily="34" charset="0"/>
                <a:ea typeface="Calibri" pitchFamily="34" charset="-122"/>
                <a:cs typeface="Calibri" pitchFamily="34" charset="-120"/>
              </a:rPr>
              <a:t>Hard: </a:t>
            </a:r>
            <a:pPr indent="0" marL="0">
              <a:spcAft>
                <a:spcPts val="600"/>
              </a:spcAft>
              <a:buNone/>
            </a:pPr>
            <a:r>
              <a:rPr lang="en-US" sz="1250" dirty="0">
                <a:solidFill>
                  <a:srgbClr val="5B6B73"/>
                </a:solidFill>
                <a:latin typeface="Calibri" pitchFamily="34" charset="0"/>
                <a:ea typeface="Calibri" pitchFamily="34" charset="-122"/>
                <a:cs typeface="Calibri" pitchFamily="34" charset="-120"/>
              </a:rPr>
              <a:t>small market, vulnerable if tastes change.</a:t>
            </a:r>
            <a:endParaRPr lang="en-US" sz="1250" dirty="0"/>
          </a:p>
        </p:txBody>
      </p:sp>
      <p:sp>
        <p:nvSpPr>
          <p:cNvPr id="17" name="Text 15"/>
          <p:cNvSpPr txBox="1"/>
          <p:nvPr/>
        </p:nvSpPr>
        <p:spPr>
          <a:xfrm>
            <a:off x="6428232" y="5669280"/>
            <a:ext cx="4983480" cy="411480"/>
          </a:xfrm>
          <a:prstGeom prst="rect">
            <a:avLst/>
          </a:prstGeom>
          <a:noFill/>
          <a:ln/>
        </p:spPr>
        <p:txBody>
          <a:bodyPr wrap="square" lIns="0" tIns="0" rIns="0" bIns="0" rtlCol="0" anchor="ctr"/>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Rolls-Royce, organic/specialist foods, Innocent (early on).</a:t>
            </a:r>
            <a:endParaRPr lang="en-US" sz="11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MEASURING THE MARKET</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Market size, share &amp; growth — the calculations</a:t>
            </a:r>
            <a:endParaRPr lang="en-US" sz="2700" dirty="0"/>
          </a:p>
        </p:txBody>
      </p:sp>
      <p:sp>
        <p:nvSpPr>
          <p:cNvPr id="4" name="Shape 2"/>
          <p:cNvSpPr/>
          <p:nvPr/>
        </p:nvSpPr>
        <p:spPr>
          <a:xfrm>
            <a:off x="548640" y="1371600"/>
            <a:ext cx="11091672" cy="566928"/>
          </a:xfrm>
          <a:prstGeom prst="roundRect">
            <a:avLst>
              <a:gd name="adj" fmla="val 12903"/>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371600"/>
            <a:ext cx="10698480" cy="566928"/>
          </a:xfrm>
          <a:prstGeom prst="rect">
            <a:avLst/>
          </a:prstGeom>
          <a:noFill/>
          <a:ln/>
        </p:spPr>
        <p:txBody>
          <a:bodyPr wrap="square" lIns="0" tIns="0" rIns="0" bIns="0" rtlCol="0" anchor="ctr"/>
          <a:lstStyle/>
          <a:p>
            <a:pPr indent="0" marL="0">
              <a:buNone/>
            </a:pPr>
            <a:r>
              <a:rPr lang="en-US" sz="1250" b="1" dirty="0">
                <a:solidFill>
                  <a:srgbClr val="0B5E66"/>
                </a:solidFill>
                <a:latin typeface="Calibri" pitchFamily="34" charset="0"/>
                <a:ea typeface="Calibri" pitchFamily="34" charset="-122"/>
                <a:cs typeface="Calibri" pitchFamily="34" charset="-120"/>
              </a:rPr>
              <a:t>Market size:  </a:t>
            </a:r>
            <a:pPr indent="0" marL="0">
              <a:buNone/>
            </a:pPr>
            <a:r>
              <a:rPr lang="en-US" sz="1250" dirty="0">
                <a:solidFill>
                  <a:srgbClr val="1F2A33"/>
                </a:solidFill>
                <a:latin typeface="Calibri" pitchFamily="34" charset="0"/>
                <a:ea typeface="Calibri" pitchFamily="34" charset="-122"/>
                <a:cs typeface="Calibri" pitchFamily="34" charset="-120"/>
              </a:rPr>
              <a:t>The total sales in a market — in value (£) or volume (units) over a period</a:t>
            </a:r>
            <a:endParaRPr lang="en-US" sz="1250" dirty="0"/>
          </a:p>
        </p:txBody>
      </p:sp>
      <p:sp>
        <p:nvSpPr>
          <p:cNvPr id="6" name="Shape 4"/>
          <p:cNvSpPr/>
          <p:nvPr/>
        </p:nvSpPr>
        <p:spPr>
          <a:xfrm>
            <a:off x="548640" y="2029968"/>
            <a:ext cx="11091672" cy="566928"/>
          </a:xfrm>
          <a:prstGeom prst="roundRect">
            <a:avLst>
              <a:gd name="adj" fmla="val 12903"/>
            </a:avLst>
          </a:prstGeom>
          <a:solidFill>
            <a:srgbClr val="EAF3F4"/>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2029968"/>
            <a:ext cx="10698480" cy="566928"/>
          </a:xfrm>
          <a:prstGeom prst="rect">
            <a:avLst/>
          </a:prstGeom>
          <a:noFill/>
          <a:ln/>
        </p:spPr>
        <p:txBody>
          <a:bodyPr wrap="square" lIns="0" tIns="0" rIns="0" bIns="0" rtlCol="0" anchor="ctr"/>
          <a:lstStyle/>
          <a:p>
            <a:pPr indent="0" marL="0">
              <a:buNone/>
            </a:pPr>
            <a:r>
              <a:rPr lang="en-US" sz="1250" b="1" dirty="0">
                <a:solidFill>
                  <a:srgbClr val="0B5E66"/>
                </a:solidFill>
                <a:latin typeface="Calibri" pitchFamily="34" charset="0"/>
                <a:ea typeface="Calibri" pitchFamily="34" charset="-122"/>
                <a:cs typeface="Calibri" pitchFamily="34" charset="-120"/>
              </a:rPr>
              <a:t>Market share:  </a:t>
            </a:r>
            <a:pPr indent="0" marL="0">
              <a:buNone/>
            </a:pPr>
            <a:r>
              <a:rPr lang="en-US" sz="1250" dirty="0">
                <a:solidFill>
                  <a:srgbClr val="1F2A33"/>
                </a:solidFill>
                <a:latin typeface="Calibri" pitchFamily="34" charset="0"/>
                <a:ea typeface="Calibri" pitchFamily="34" charset="-122"/>
                <a:cs typeface="Calibri" pitchFamily="34" charset="-120"/>
              </a:rPr>
              <a:t>One firm's sales as a % of total market sales — shows its position vs rivals</a:t>
            </a:r>
            <a:endParaRPr lang="en-US" sz="1250" dirty="0"/>
          </a:p>
        </p:txBody>
      </p:sp>
      <p:sp>
        <p:nvSpPr>
          <p:cNvPr id="8" name="Shape 6"/>
          <p:cNvSpPr/>
          <p:nvPr/>
        </p:nvSpPr>
        <p:spPr>
          <a:xfrm>
            <a:off x="548640" y="2688336"/>
            <a:ext cx="11091672" cy="566928"/>
          </a:xfrm>
          <a:prstGeom prst="roundRect">
            <a:avLst>
              <a:gd name="adj" fmla="val 12903"/>
            </a:avLst>
          </a:prstGeom>
          <a:solidFill>
            <a:srgbClr val="EAF3F4"/>
          </a:solidFill>
          <a:ln/>
          <a:effectLst>
            <a:outerShdw sx="100000" sy="100000" kx="0" ky="0" algn="bl" rotWithShape="0" blurRad="76200" dist="25400" dir="5400000">
              <a:srgbClr val="9AAAB0">
                <a:alpha val="28000"/>
              </a:srgbClr>
            </a:outerShdw>
          </a:effectLst>
        </p:spPr>
      </p:sp>
      <p:sp>
        <p:nvSpPr>
          <p:cNvPr id="9" name="Text 7"/>
          <p:cNvSpPr txBox="1"/>
          <p:nvPr/>
        </p:nvSpPr>
        <p:spPr>
          <a:xfrm>
            <a:off x="777240" y="2688336"/>
            <a:ext cx="10698480" cy="566928"/>
          </a:xfrm>
          <a:prstGeom prst="rect">
            <a:avLst/>
          </a:prstGeom>
          <a:noFill/>
          <a:ln/>
        </p:spPr>
        <p:txBody>
          <a:bodyPr wrap="square" lIns="0" tIns="0" rIns="0" bIns="0" rtlCol="0" anchor="ctr"/>
          <a:lstStyle/>
          <a:p>
            <a:pPr indent="0" marL="0">
              <a:buNone/>
            </a:pPr>
            <a:r>
              <a:rPr lang="en-US" sz="1250" b="1" dirty="0">
                <a:solidFill>
                  <a:srgbClr val="0B5E66"/>
                </a:solidFill>
                <a:latin typeface="Calibri" pitchFamily="34" charset="0"/>
                <a:ea typeface="Calibri" pitchFamily="34" charset="-122"/>
                <a:cs typeface="Calibri" pitchFamily="34" charset="-120"/>
              </a:rPr>
              <a:t>Market growth:  </a:t>
            </a:r>
            <a:pPr indent="0" marL="0">
              <a:buNone/>
            </a:pPr>
            <a:r>
              <a:rPr lang="en-US" sz="1250" dirty="0">
                <a:solidFill>
                  <a:srgbClr val="1F2A33"/>
                </a:solidFill>
                <a:latin typeface="Calibri" pitchFamily="34" charset="0"/>
                <a:ea typeface="Calibri" pitchFamily="34" charset="-122"/>
                <a:cs typeface="Calibri" pitchFamily="34" charset="-120"/>
              </a:rPr>
              <a:t>The % change in market size over time — can be positive OR negative</a:t>
            </a:r>
            <a:endParaRPr lang="en-US" sz="1250" dirty="0"/>
          </a:p>
        </p:txBody>
      </p:sp>
      <p:sp>
        <p:nvSpPr>
          <p:cNvPr id="10" name="Shape 8"/>
          <p:cNvSpPr/>
          <p:nvPr/>
        </p:nvSpPr>
        <p:spPr>
          <a:xfrm>
            <a:off x="548640" y="3429000"/>
            <a:ext cx="5440680" cy="2697480"/>
          </a:xfrm>
          <a:prstGeom prst="roundRect">
            <a:avLst>
              <a:gd name="adj" fmla="val 2712"/>
            </a:avLst>
          </a:prstGeom>
          <a:solidFill>
            <a:srgbClr val="0E3A43"/>
          </a:solidFill>
          <a:ln/>
          <a:effectLst>
            <a:outerShdw sx="100000" sy="100000" kx="0" ky="0" algn="bl" rotWithShape="0" blurRad="76200" dist="25400" dir="5400000">
              <a:srgbClr val="9AAAB0">
                <a:alpha val="28000"/>
              </a:srgbClr>
            </a:outerShdw>
          </a:effectLst>
        </p:spPr>
      </p:sp>
      <p:sp>
        <p:nvSpPr>
          <p:cNvPr id="11" name="Text 9"/>
          <p:cNvSpPr txBox="1"/>
          <p:nvPr/>
        </p:nvSpPr>
        <p:spPr>
          <a:xfrm>
            <a:off x="777240" y="3566160"/>
            <a:ext cx="5029200" cy="320040"/>
          </a:xfrm>
          <a:prstGeom prst="rect">
            <a:avLst/>
          </a:prstGeom>
          <a:noFill/>
          <a:ln/>
        </p:spPr>
        <p:txBody>
          <a:bodyPr wrap="square" lIns="0" tIns="0" rIns="0" bIns="0" rtlCol="0" anchor="ctr"/>
          <a:lstStyle/>
          <a:p>
            <a:pPr indent="0" marL="0">
              <a:buNone/>
            </a:pPr>
            <a:r>
              <a:rPr lang="en-US" sz="1400" b="1" dirty="0">
                <a:solidFill>
                  <a:srgbClr val="7FC4CB"/>
                </a:solidFill>
                <a:latin typeface="Calibri" pitchFamily="34" charset="0"/>
                <a:ea typeface="Calibri" pitchFamily="34" charset="-122"/>
                <a:cs typeface="Calibri" pitchFamily="34" charset="-120"/>
              </a:rPr>
              <a:t>Market share</a:t>
            </a:r>
            <a:endParaRPr lang="en-US" sz="1400" dirty="0"/>
          </a:p>
        </p:txBody>
      </p:sp>
      <p:sp>
        <p:nvSpPr>
          <p:cNvPr id="12" name="Text 10"/>
          <p:cNvSpPr txBox="1"/>
          <p:nvPr/>
        </p:nvSpPr>
        <p:spPr>
          <a:xfrm>
            <a:off x="777240" y="3931920"/>
            <a:ext cx="4983480"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business sales</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 total market sales</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 100</a:t>
            </a:r>
            <a:endParaRPr lang="en-US" sz="1500" dirty="0"/>
          </a:p>
        </p:txBody>
      </p:sp>
      <p:sp>
        <p:nvSpPr>
          <p:cNvPr id="13" name="Text 11"/>
          <p:cNvSpPr txBox="1"/>
          <p:nvPr/>
        </p:nvSpPr>
        <p:spPr>
          <a:xfrm>
            <a:off x="777240" y="5074920"/>
            <a:ext cx="4983480" cy="822960"/>
          </a:xfrm>
          <a:prstGeom prst="rect">
            <a:avLst/>
          </a:prstGeom>
          <a:noFill/>
          <a:ln/>
        </p:spPr>
        <p:txBody>
          <a:bodyPr wrap="square" lIns="0" tIns="0" rIns="0" bIns="0" rtlCol="0" anchor="t"/>
          <a:lstStyle/>
          <a:p>
            <a:pPr algn="ctr" indent="0" marL="0">
              <a:buNone/>
            </a:pPr>
            <a:r>
              <a:rPr lang="en-US" sz="1300" dirty="0">
                <a:solidFill>
                  <a:srgbClr val="E0940F"/>
                </a:solidFill>
                <a:latin typeface="Calibri" pitchFamily="34" charset="0"/>
                <a:ea typeface="Calibri" pitchFamily="34" charset="-122"/>
                <a:cs typeface="Calibri" pitchFamily="34" charset="-120"/>
              </a:rPr>
              <a:t>e.g. 10,000 ÷ 120,000 × 100 = 8.33%</a:t>
            </a:r>
            <a:endParaRPr lang="en-US" sz="1300" dirty="0"/>
          </a:p>
        </p:txBody>
      </p:sp>
      <p:sp>
        <p:nvSpPr>
          <p:cNvPr id="14" name="Shape 12"/>
          <p:cNvSpPr/>
          <p:nvPr/>
        </p:nvSpPr>
        <p:spPr>
          <a:xfrm>
            <a:off x="6199632" y="3429000"/>
            <a:ext cx="5440680" cy="2697480"/>
          </a:xfrm>
          <a:prstGeom prst="roundRect">
            <a:avLst>
              <a:gd name="adj" fmla="val 2712"/>
            </a:avLst>
          </a:prstGeom>
          <a:solidFill>
            <a:srgbClr val="0B2E35"/>
          </a:solidFill>
          <a:ln/>
          <a:effectLst>
            <a:outerShdw sx="100000" sy="100000" kx="0" ky="0" algn="bl" rotWithShape="0" blurRad="76200" dist="25400" dir="5400000">
              <a:srgbClr val="9AAAB0">
                <a:alpha val="28000"/>
              </a:srgbClr>
            </a:outerShdw>
          </a:effectLst>
        </p:spPr>
      </p:sp>
      <p:sp>
        <p:nvSpPr>
          <p:cNvPr id="15" name="Text 13"/>
          <p:cNvSpPr txBox="1"/>
          <p:nvPr/>
        </p:nvSpPr>
        <p:spPr>
          <a:xfrm>
            <a:off x="6428232" y="3566160"/>
            <a:ext cx="5029200" cy="320040"/>
          </a:xfrm>
          <a:prstGeom prst="rect">
            <a:avLst/>
          </a:prstGeom>
          <a:noFill/>
          <a:ln/>
        </p:spPr>
        <p:txBody>
          <a:bodyPr wrap="square" lIns="0" tIns="0" rIns="0" bIns="0" rtlCol="0" anchor="ctr"/>
          <a:lstStyle/>
          <a:p>
            <a:pPr indent="0" marL="0">
              <a:buNone/>
            </a:pPr>
            <a:r>
              <a:rPr lang="en-US" sz="1400" b="1" dirty="0">
                <a:solidFill>
                  <a:srgbClr val="7FC4CB"/>
                </a:solidFill>
                <a:latin typeface="Calibri" pitchFamily="34" charset="0"/>
                <a:ea typeface="Calibri" pitchFamily="34" charset="-122"/>
                <a:cs typeface="Calibri" pitchFamily="34" charset="-120"/>
              </a:rPr>
              <a:t>Market growth</a:t>
            </a:r>
            <a:endParaRPr lang="en-US" sz="1400" dirty="0"/>
          </a:p>
        </p:txBody>
      </p:sp>
      <p:sp>
        <p:nvSpPr>
          <p:cNvPr id="16" name="Text 14"/>
          <p:cNvSpPr txBox="1"/>
          <p:nvPr/>
        </p:nvSpPr>
        <p:spPr>
          <a:xfrm>
            <a:off x="6428232" y="3931920"/>
            <a:ext cx="4983480"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(this year − last year)</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 last year</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 100</a:t>
            </a:r>
            <a:endParaRPr lang="en-US" sz="1500" dirty="0"/>
          </a:p>
        </p:txBody>
      </p:sp>
      <p:sp>
        <p:nvSpPr>
          <p:cNvPr id="17" name="Text 15"/>
          <p:cNvSpPr txBox="1"/>
          <p:nvPr/>
        </p:nvSpPr>
        <p:spPr>
          <a:xfrm>
            <a:off x="6428232" y="5074920"/>
            <a:ext cx="4983480" cy="822960"/>
          </a:xfrm>
          <a:prstGeom prst="rect">
            <a:avLst/>
          </a:prstGeom>
          <a:noFill/>
          <a:ln/>
        </p:spPr>
        <p:txBody>
          <a:bodyPr wrap="square" lIns="0" tIns="0" rIns="0" bIns="0" rtlCol="0" anchor="t"/>
          <a:lstStyle/>
          <a:p>
            <a:pPr algn="ctr" indent="0" marL="0">
              <a:buNone/>
            </a:pPr>
            <a:r>
              <a:rPr lang="en-US" sz="1300" dirty="0">
                <a:solidFill>
                  <a:srgbClr val="E0940F"/>
                </a:solidFill>
                <a:latin typeface="Calibri" pitchFamily="34" charset="0"/>
                <a:ea typeface="Calibri" pitchFamily="34" charset="-122"/>
                <a:cs typeface="Calibri" pitchFamily="34" charset="-120"/>
              </a:rPr>
              <a:t>e.g. (350k − 200k) ÷ 200k × 100 = +75%</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CALCULATION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Market calculation practice</a:t>
            </a:r>
            <a:endParaRPr lang="en-US" sz="2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5120640"/>
                <a:gridCol w="3959352"/>
                <a:gridCol w="2011680"/>
              </a:tblGrid>
              <a:tr h="41148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Task</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Working</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Answer</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73152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KitKat share (sales £163,200 of £1,317,300)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163,200 ÷ 1,317,300 × 100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12.4%</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3152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Mars bar share (£132,300)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132,300 ÷ 1,317,300 × 100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3152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Dairy Milk share (£99,000)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99,000 ÷ 1,317,300 × 100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7.5%</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3152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Market growth (£200k → £350k)</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(350−200) ÷ 200 × 100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+75%</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3152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Share change: Palm 50.4% → 38.6%</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38.6 − 50.4</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−11.8 pp</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806440"/>
            <a:ext cx="11091672" cy="457200"/>
          </a:xfrm>
          <a:prstGeom prst="roundRect">
            <a:avLst>
              <a:gd name="adj" fmla="val 16000"/>
            </a:avLst>
          </a:prstGeom>
          <a:solidFill>
            <a:srgbClr val="FBF0D8"/>
          </a:solidFill>
          <a:ln/>
          <a:effectLst>
            <a:outerShdw sx="100000" sy="100000" kx="0" ky="0" algn="bl" rotWithShape="0" blurRad="76200" dist="25400" dir="5400000">
              <a:srgbClr val="9AAAB0">
                <a:alpha val="28000"/>
              </a:srgbClr>
            </a:outerShdw>
          </a:effectLst>
        </p:spPr>
      </p:sp>
      <p:sp>
        <p:nvSpPr>
          <p:cNvPr id="6" name="Text 3"/>
          <p:cNvSpPr txBox="1"/>
          <p:nvPr/>
        </p:nvSpPr>
        <p:spPr>
          <a:xfrm>
            <a:off x="777240" y="5824728"/>
            <a:ext cx="10698480" cy="420624"/>
          </a:xfrm>
          <a:prstGeom prst="rect">
            <a:avLst/>
          </a:prstGeom>
          <a:noFill/>
          <a:ln/>
        </p:spPr>
        <p:txBody>
          <a:bodyPr wrap="square" lIns="0" tIns="0" rIns="0" bIns="0" rtlCol="0" anchor="ctr"/>
          <a:lstStyle/>
          <a:p>
            <a:pPr indent="0" marL="0">
              <a:buNone/>
            </a:pPr>
            <a:r>
              <a:rPr lang="en-US" sz="1200" b="1" dirty="0">
                <a:solidFill>
                  <a:srgbClr val="8A5A06"/>
                </a:solidFill>
                <a:latin typeface="Calibri" pitchFamily="34" charset="0"/>
                <a:ea typeface="Calibri" pitchFamily="34" charset="-122"/>
                <a:cs typeface="Calibri" pitchFamily="34" charset="-120"/>
              </a:rPr>
              <a:t>Watch:  </a:t>
            </a:r>
            <a:pPr indent="0" marL="0">
              <a:buNone/>
            </a:pPr>
            <a:r>
              <a:rPr lang="en-US" sz="1200" dirty="0">
                <a:solidFill>
                  <a:srgbClr val="1F2A33"/>
                </a:solidFill>
                <a:latin typeface="Calibri" pitchFamily="34" charset="0"/>
                <a:ea typeface="Calibri" pitchFamily="34" charset="-122"/>
                <a:cs typeface="Calibri" pitchFamily="34" charset="-120"/>
              </a:rPr>
              <a:t>a change in PERCENTAGE POINTS (new share − old share) is NOT the same as a % change — Palm fell 11.8 pp, but that is a ~23% fall in its share.</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BRANDS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Brands in the market</a:t>
            </a:r>
            <a:endParaRPr lang="en-US" sz="2700" dirty="0"/>
          </a:p>
        </p:txBody>
      </p:sp>
      <p:sp>
        <p:nvSpPr>
          <p:cNvPr id="4" name="Shape 2"/>
          <p:cNvSpPr/>
          <p:nvPr/>
        </p:nvSpPr>
        <p:spPr>
          <a:xfrm>
            <a:off x="548640" y="1371600"/>
            <a:ext cx="11091672" cy="749808"/>
          </a:xfrm>
          <a:prstGeom prst="roundRect">
            <a:avLst>
              <a:gd name="adj" fmla="val 975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48640"/>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A brand  </a:t>
            </a:r>
            <a:pPr indent="0" marL="0">
              <a:buNone/>
            </a:pPr>
            <a:r>
              <a:rPr lang="en-US" sz="1300" dirty="0">
                <a:solidFill>
                  <a:srgbClr val="1F2A33"/>
                </a:solidFill>
                <a:latin typeface="Calibri" pitchFamily="34" charset="0"/>
                <a:ea typeface="Calibri" pitchFamily="34" charset="-122"/>
                <a:cs typeface="Calibri" pitchFamily="34" charset="-120"/>
              </a:rPr>
              <a:t>= a name, symbol or design that identifies a product and sets it apart from rivals. In a market, strong brands win share, loyalty and premium prices.</a:t>
            </a:r>
            <a:endParaRPr lang="en-US" sz="1300" dirty="0"/>
          </a:p>
        </p:txBody>
      </p:sp>
      <p:sp>
        <p:nvSpPr>
          <p:cNvPr id="6" name="Shape 4"/>
          <p:cNvSpPr/>
          <p:nvPr/>
        </p:nvSpPr>
        <p:spPr>
          <a:xfrm>
            <a:off x="548640" y="2286000"/>
            <a:ext cx="5440680" cy="2377440"/>
          </a:xfrm>
          <a:prstGeom prst="roundRect">
            <a:avLst>
              <a:gd name="adj" fmla="val 3077"/>
            </a:avLst>
          </a:prstGeom>
          <a:solidFill>
            <a:srgbClr val="E8F3EC"/>
          </a:solidFill>
          <a:ln/>
          <a:effectLst>
            <a:outerShdw sx="100000" sy="100000" kx="0" ky="0" algn="bl" rotWithShape="0" blurRad="76200" dist="25400" dir="5400000">
              <a:srgbClr val="9AAAB0">
                <a:alpha val="28000"/>
              </a:srgbClr>
            </a:outerShdw>
          </a:effectLst>
        </p:spPr>
      </p:sp>
      <p:sp>
        <p:nvSpPr>
          <p:cNvPr id="7" name="Shape 5"/>
          <p:cNvSpPr/>
          <p:nvPr/>
        </p:nvSpPr>
        <p:spPr>
          <a:xfrm>
            <a:off x="777240" y="2450592"/>
            <a:ext cx="3108960" cy="310896"/>
          </a:xfrm>
          <a:prstGeom prst="roundRect">
            <a:avLst>
              <a:gd name="adj" fmla="val 50000"/>
            </a:avLst>
          </a:prstGeom>
          <a:solidFill>
            <a:srgbClr val="2F8A5B"/>
          </a:solidFill>
          <a:ln/>
        </p:spPr>
      </p:sp>
      <p:sp>
        <p:nvSpPr>
          <p:cNvPr id="8" name="Text 6"/>
          <p:cNvSpPr txBox="1"/>
          <p:nvPr/>
        </p:nvSpPr>
        <p:spPr>
          <a:xfrm>
            <a:off x="777240" y="2450592"/>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WHY BRANDS MATTER</a:t>
            </a:r>
            <a:endParaRPr lang="en-US" sz="1050" dirty="0"/>
          </a:p>
        </p:txBody>
      </p:sp>
      <p:sp>
        <p:nvSpPr>
          <p:cNvPr id="9" name="Text 7"/>
          <p:cNvSpPr txBox="1"/>
          <p:nvPr/>
        </p:nvSpPr>
        <p:spPr>
          <a:xfrm>
            <a:off x="777240" y="2871216"/>
            <a:ext cx="4983480" cy="1737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Build customer loyalty and repeat purchases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Command premium prices (added value)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Win and defend market share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Make demand less price-sensitive (inelastic)</a:t>
            </a:r>
            <a:endParaRPr lang="en-US" sz="1250" dirty="0"/>
          </a:p>
        </p:txBody>
      </p:sp>
      <p:sp>
        <p:nvSpPr>
          <p:cNvPr id="10" name="Shape 8"/>
          <p:cNvSpPr/>
          <p:nvPr/>
        </p:nvSpPr>
        <p:spPr>
          <a:xfrm>
            <a:off x="6199632" y="2286000"/>
            <a:ext cx="5440680" cy="2377440"/>
          </a:xfrm>
          <a:prstGeom prst="roundRect">
            <a:avLst>
              <a:gd name="adj" fmla="val 3077"/>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1" name="Text 9"/>
          <p:cNvSpPr txBox="1"/>
          <p:nvPr/>
        </p:nvSpPr>
        <p:spPr>
          <a:xfrm>
            <a:off x="6428232" y="2414016"/>
            <a:ext cx="5029200" cy="32004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Brands &amp; market type</a:t>
            </a:r>
            <a:endParaRPr lang="en-US" sz="1400" dirty="0"/>
          </a:p>
        </p:txBody>
      </p:sp>
      <p:sp>
        <p:nvSpPr>
          <p:cNvPr id="12" name="Text 10"/>
          <p:cNvSpPr txBox="1"/>
          <p:nvPr/>
        </p:nvSpPr>
        <p:spPr>
          <a:xfrm>
            <a:off x="6428232" y="2743200"/>
            <a:ext cx="4983480" cy="18288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Mass-market brands aim for wide recognition (Coca-Cola)</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Niche brands signal exclusivity and specialism (Rolls-Royce)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 strong brand is a key barrier to new competitors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Branding is studied in depth in 1.3.3 — here it shapes market position</a:t>
            </a:r>
            <a:endParaRPr lang="en-US" sz="1250" dirty="0"/>
          </a:p>
        </p:txBody>
      </p:sp>
      <p:sp>
        <p:nvSpPr>
          <p:cNvPr id="13" name="Shape 11"/>
          <p:cNvSpPr/>
          <p:nvPr/>
        </p:nvSpPr>
        <p:spPr>
          <a:xfrm>
            <a:off x="548640" y="4846320"/>
            <a:ext cx="11091672" cy="1325880"/>
          </a:xfrm>
          <a:prstGeom prst="roundRect">
            <a:avLst>
              <a:gd name="adj" fmla="val 5517"/>
            </a:avLst>
          </a:prstGeom>
          <a:solidFill>
            <a:srgbClr val="FBF0D8"/>
          </a:solidFill>
          <a:ln/>
          <a:effectLst>
            <a:outerShdw sx="100000" sy="100000" kx="0" ky="0" algn="bl" rotWithShape="0" blurRad="76200" dist="25400" dir="5400000">
              <a:srgbClr val="9AAAB0">
                <a:alpha val="28000"/>
              </a:srgbClr>
            </a:outerShdw>
          </a:effectLst>
        </p:spPr>
      </p:sp>
      <p:sp>
        <p:nvSpPr>
          <p:cNvPr id="14" name="Shape 12"/>
          <p:cNvSpPr/>
          <p:nvPr/>
        </p:nvSpPr>
        <p:spPr>
          <a:xfrm>
            <a:off x="548640" y="4846320"/>
            <a:ext cx="109728" cy="1325880"/>
          </a:xfrm>
          <a:prstGeom prst="roundRect">
            <a:avLst/>
          </a:prstGeom>
          <a:solidFill>
            <a:srgbClr val="E0940F"/>
          </a:solidFill>
          <a:ln/>
        </p:spPr>
      </p:sp>
      <p:sp>
        <p:nvSpPr>
          <p:cNvPr id="15" name="Text 13"/>
          <p:cNvSpPr txBox="1"/>
          <p:nvPr/>
        </p:nvSpPr>
        <p:spPr>
          <a:xfrm>
            <a:off x="777240" y="4956048"/>
            <a:ext cx="10698480" cy="1097280"/>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Example — Coca-Cola:  </a:t>
            </a:r>
            <a:pPr indent="0" marL="0">
              <a:buNone/>
            </a:pPr>
            <a:r>
              <a:rPr lang="en-US" sz="1300" dirty="0">
                <a:solidFill>
                  <a:srgbClr val="1F2A33"/>
                </a:solidFill>
                <a:latin typeface="Calibri" pitchFamily="34" charset="0"/>
                <a:ea typeface="Calibri" pitchFamily="34" charset="-122"/>
                <a:cs typeface="Calibri" pitchFamily="34" charset="-120"/>
              </a:rPr>
              <a:t>one of the world's most recognised brands. Its brand lets it hold a huge share of the soft-drinks market, charge more than supermarket own-brands, and keep loyal customers — a powerful advantage in a competitive mass market.</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Exam practice: markets &amp; brands</a:t>
            </a:r>
            <a:endParaRPr lang="en-US" sz="27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Define the term ‘market share’.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[2]</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Analyse two possible difficulties Primark might face from selling to a mass market.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[6]</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Analyse two benefits of strong branding for Coca-Cola.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[6]</a:t>
            </a:r>
            <a:endParaRPr lang="en-US" sz="130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2-mark Define: a firm's sales as a % of total market sales (1) + the formula or an example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6-mark Analyse (K2 A2 An2): two points, each applied to the firm, each with a developed chain.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Mass-market difficulties: intense competition, low margins, hard to stand out, vulnerable to big rivals.</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How to build the 6-markers</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Primark ¶1: fierce competition in fast fashion → pressure to keep prices low → thin margins.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Primark ¶2: hard to differentiate at the bottom of the market → reliant on price &amp; volume.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Coca-Cola ¶1: brand loyalty → repeat sales &amp; market share protected from rivals.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Coca-Cola ¶2: added value → premium prices over own-brands → higher margins.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B</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B</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Dynamic markets</a:t>
            </a:r>
            <a:endParaRPr lang="en-US" sz="32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how markets change  ·  online retailing  ·  innovation and market growth  ·  adapting to change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DYNAMIC MARKETS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Markets are dynamic — they constantly change</a:t>
            </a:r>
            <a:endParaRPr lang="en-US" sz="2700" dirty="0"/>
          </a:p>
        </p:txBody>
      </p:sp>
      <p:sp>
        <p:nvSpPr>
          <p:cNvPr id="4" name="Shape 2"/>
          <p:cNvSpPr/>
          <p:nvPr/>
        </p:nvSpPr>
        <p:spPr>
          <a:xfrm>
            <a:off x="548640" y="1371600"/>
            <a:ext cx="11091672" cy="658368"/>
          </a:xfrm>
          <a:prstGeom prst="roundRect">
            <a:avLst>
              <a:gd name="adj" fmla="val 1111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44752"/>
            <a:ext cx="10698480" cy="512064"/>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A dynamic market  </a:t>
            </a:r>
            <a:pPr indent="0" marL="0">
              <a:buNone/>
            </a:pPr>
            <a:r>
              <a:rPr lang="en-US" sz="1300" dirty="0">
                <a:solidFill>
                  <a:srgbClr val="1F2A33"/>
                </a:solidFill>
                <a:latin typeface="Calibri" pitchFamily="34" charset="0"/>
                <a:ea typeface="Calibri" pitchFamily="34" charset="-122"/>
                <a:cs typeface="Calibri" pitchFamily="34" charset="-120"/>
              </a:rPr>
              <a:t>is one that changes rapidly. Businesses must spot change early and ADAPT, or lose market share to more responsive rivals.</a:t>
            </a:r>
            <a:endParaRPr lang="en-US" sz="1300" dirty="0"/>
          </a:p>
        </p:txBody>
      </p:sp>
      <p:sp>
        <p:nvSpPr>
          <p:cNvPr id="6" name="Shape 4"/>
          <p:cNvSpPr/>
          <p:nvPr/>
        </p:nvSpPr>
        <p:spPr>
          <a:xfrm>
            <a:off x="548640" y="2240280"/>
            <a:ext cx="3575304" cy="2651760"/>
          </a:xfrm>
          <a:prstGeom prst="roundRect">
            <a:avLst>
              <a:gd name="adj" fmla="val 2759"/>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548640" y="2240280"/>
            <a:ext cx="3575304" cy="91440"/>
          </a:xfrm>
          <a:prstGeom prst="roundRect">
            <a:avLst/>
          </a:prstGeom>
          <a:solidFill>
            <a:srgbClr val="0E7C86"/>
          </a:solidFill>
          <a:ln/>
        </p:spPr>
      </p:sp>
      <p:sp>
        <p:nvSpPr>
          <p:cNvPr id="8" name="Text 6"/>
          <p:cNvSpPr txBox="1"/>
          <p:nvPr/>
        </p:nvSpPr>
        <p:spPr>
          <a:xfrm>
            <a:off x="749808" y="2450592"/>
            <a:ext cx="3172968" cy="685800"/>
          </a:xfrm>
          <a:prstGeom prst="rect">
            <a:avLst/>
          </a:prstGeom>
          <a:noFill/>
          <a:ln/>
        </p:spPr>
        <p:txBody>
          <a:bodyPr wrap="square" lIns="0" tIns="0" rIns="0" bIns="0" rtlCol="0" anchor="t"/>
          <a:lstStyle/>
          <a:p>
            <a:pPr indent="0" marL="0">
              <a:buNone/>
            </a:pPr>
            <a:r>
              <a:rPr lang="en-US" sz="1550" b="1" dirty="0">
                <a:solidFill>
                  <a:srgbClr val="0E7C86"/>
                </a:solidFill>
                <a:latin typeface="Calibri" pitchFamily="34" charset="0"/>
                <a:ea typeface="Calibri" pitchFamily="34" charset="-122"/>
                <a:cs typeface="Calibri" pitchFamily="34" charset="-120"/>
              </a:rPr>
              <a:t>How markets change</a:t>
            </a:r>
            <a:endParaRPr lang="en-US" sz="1550" dirty="0"/>
          </a:p>
        </p:txBody>
      </p:sp>
      <p:sp>
        <p:nvSpPr>
          <p:cNvPr id="9" name="Text 7"/>
          <p:cNvSpPr txBox="1"/>
          <p:nvPr/>
        </p:nvSpPr>
        <p:spPr>
          <a:xfrm>
            <a:off x="749808" y="3154680"/>
            <a:ext cx="3172968" cy="155448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New technology, changing tastes, new competitors, the shift online, regulation</a:t>
            </a:r>
            <a:endParaRPr lang="en-US" sz="1250" dirty="0"/>
          </a:p>
        </p:txBody>
      </p:sp>
      <p:sp>
        <p:nvSpPr>
          <p:cNvPr id="10" name="Shape 8"/>
          <p:cNvSpPr/>
          <p:nvPr/>
        </p:nvSpPr>
        <p:spPr>
          <a:xfrm>
            <a:off x="4306824" y="2240280"/>
            <a:ext cx="3575304" cy="2651760"/>
          </a:xfrm>
          <a:prstGeom prst="roundRect">
            <a:avLst>
              <a:gd name="adj" fmla="val 2759"/>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1" name="Shape 9"/>
          <p:cNvSpPr/>
          <p:nvPr/>
        </p:nvSpPr>
        <p:spPr>
          <a:xfrm>
            <a:off x="4306824" y="2240280"/>
            <a:ext cx="3575304" cy="91440"/>
          </a:xfrm>
          <a:prstGeom prst="roundRect">
            <a:avLst/>
          </a:prstGeom>
          <a:solidFill>
            <a:srgbClr val="E0940F"/>
          </a:solidFill>
          <a:ln/>
        </p:spPr>
      </p:sp>
      <p:sp>
        <p:nvSpPr>
          <p:cNvPr id="12" name="Text 10"/>
          <p:cNvSpPr txBox="1"/>
          <p:nvPr/>
        </p:nvSpPr>
        <p:spPr>
          <a:xfrm>
            <a:off x="4507992" y="2450592"/>
            <a:ext cx="3172968" cy="685800"/>
          </a:xfrm>
          <a:prstGeom prst="rect">
            <a:avLst/>
          </a:prstGeom>
          <a:noFill/>
          <a:ln/>
        </p:spPr>
        <p:txBody>
          <a:bodyPr wrap="square" lIns="0" tIns="0" rIns="0" bIns="0" rtlCol="0" anchor="t"/>
          <a:lstStyle/>
          <a:p>
            <a:pPr indent="0" marL="0">
              <a:buNone/>
            </a:pPr>
            <a:r>
              <a:rPr lang="en-US" sz="1550" b="1" dirty="0">
                <a:solidFill>
                  <a:srgbClr val="E0940F"/>
                </a:solidFill>
                <a:latin typeface="Calibri" pitchFamily="34" charset="0"/>
                <a:ea typeface="Calibri" pitchFamily="34" charset="-122"/>
                <a:cs typeface="Calibri" pitchFamily="34" charset="-120"/>
              </a:rPr>
              <a:t>Innovation &amp; growth</a:t>
            </a:r>
            <a:endParaRPr lang="en-US" sz="1550" dirty="0"/>
          </a:p>
        </p:txBody>
      </p:sp>
      <p:sp>
        <p:nvSpPr>
          <p:cNvPr id="13" name="Text 11"/>
          <p:cNvSpPr txBox="1"/>
          <p:nvPr/>
        </p:nvSpPr>
        <p:spPr>
          <a:xfrm>
            <a:off x="4507992" y="3154680"/>
            <a:ext cx="3172968" cy="155448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New products create new markets and grow existing ones (e.g. smartphones, EVs, streaming)</a:t>
            </a:r>
            <a:endParaRPr lang="en-US" sz="1250" dirty="0"/>
          </a:p>
        </p:txBody>
      </p:sp>
      <p:sp>
        <p:nvSpPr>
          <p:cNvPr id="14" name="Shape 12"/>
          <p:cNvSpPr/>
          <p:nvPr/>
        </p:nvSpPr>
        <p:spPr>
          <a:xfrm>
            <a:off x="8065008" y="2240280"/>
            <a:ext cx="3575304" cy="2651760"/>
          </a:xfrm>
          <a:prstGeom prst="roundRect">
            <a:avLst>
              <a:gd name="adj" fmla="val 2759"/>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8065008" y="2240280"/>
            <a:ext cx="3575304" cy="91440"/>
          </a:xfrm>
          <a:prstGeom prst="roundRect">
            <a:avLst/>
          </a:prstGeom>
          <a:solidFill>
            <a:srgbClr val="2F8A5B"/>
          </a:solidFill>
          <a:ln/>
        </p:spPr>
      </p:sp>
      <p:sp>
        <p:nvSpPr>
          <p:cNvPr id="16" name="Text 14"/>
          <p:cNvSpPr txBox="1"/>
          <p:nvPr/>
        </p:nvSpPr>
        <p:spPr>
          <a:xfrm>
            <a:off x="8266176" y="2450592"/>
            <a:ext cx="3172968" cy="685800"/>
          </a:xfrm>
          <a:prstGeom prst="rect">
            <a:avLst/>
          </a:prstGeom>
          <a:noFill/>
          <a:ln/>
        </p:spPr>
        <p:txBody>
          <a:bodyPr wrap="square" lIns="0" tIns="0" rIns="0" bIns="0" rtlCol="0" anchor="t"/>
          <a:lstStyle/>
          <a:p>
            <a:pPr indent="0" marL="0">
              <a:buNone/>
            </a:pPr>
            <a:r>
              <a:rPr lang="en-US" sz="1550" b="1" dirty="0">
                <a:solidFill>
                  <a:srgbClr val="2F8A5B"/>
                </a:solidFill>
                <a:latin typeface="Calibri" pitchFamily="34" charset="0"/>
                <a:ea typeface="Calibri" pitchFamily="34" charset="-122"/>
                <a:cs typeface="Calibri" pitchFamily="34" charset="-120"/>
              </a:rPr>
              <a:t>Adapting to change</a:t>
            </a:r>
            <a:endParaRPr lang="en-US" sz="1550" dirty="0"/>
          </a:p>
        </p:txBody>
      </p:sp>
      <p:sp>
        <p:nvSpPr>
          <p:cNvPr id="17" name="Text 15"/>
          <p:cNvSpPr txBox="1"/>
          <p:nvPr/>
        </p:nvSpPr>
        <p:spPr>
          <a:xfrm>
            <a:off x="8266176" y="3154680"/>
            <a:ext cx="3172968" cy="155448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Firms must be flexible — update products, enter new channels, change the marketing mix</a:t>
            </a:r>
            <a:endParaRPr lang="en-US" sz="1250" dirty="0"/>
          </a:p>
        </p:txBody>
      </p:sp>
      <p:sp>
        <p:nvSpPr>
          <p:cNvPr id="18" name="Shape 16"/>
          <p:cNvSpPr/>
          <p:nvPr/>
        </p:nvSpPr>
        <p:spPr>
          <a:xfrm>
            <a:off x="548640" y="5074920"/>
            <a:ext cx="11091672" cy="1097280"/>
          </a:xfrm>
          <a:prstGeom prst="roundRect">
            <a:avLst>
              <a:gd name="adj" fmla="val 6667"/>
            </a:avLst>
          </a:prstGeom>
          <a:solidFill>
            <a:srgbClr val="FBF0D8"/>
          </a:solidFill>
          <a:ln/>
          <a:effectLst>
            <a:outerShdw sx="100000" sy="100000" kx="0" ky="0" algn="bl" rotWithShape="0" blurRad="76200" dist="25400" dir="5400000">
              <a:srgbClr val="9AAAB0">
                <a:alpha val="28000"/>
              </a:srgbClr>
            </a:outerShdw>
          </a:effectLst>
        </p:spPr>
      </p:sp>
      <p:sp>
        <p:nvSpPr>
          <p:cNvPr id="19" name="Text 17"/>
          <p:cNvSpPr txBox="1"/>
          <p:nvPr/>
        </p:nvSpPr>
        <p:spPr>
          <a:xfrm>
            <a:off x="777240" y="5184648"/>
            <a:ext cx="10698480" cy="868680"/>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Why it matters:  </a:t>
            </a:r>
            <a:pPr indent="0" marL="0">
              <a:buNone/>
            </a:pPr>
            <a:r>
              <a:rPr lang="en-US" sz="1250" dirty="0">
                <a:solidFill>
                  <a:srgbClr val="1F2A33"/>
                </a:solidFill>
                <a:latin typeface="Calibri" pitchFamily="34" charset="0"/>
                <a:ea typeface="Calibri" pitchFamily="34" charset="-122"/>
                <a:cs typeface="Calibri" pitchFamily="34" charset="-120"/>
              </a:rPr>
              <a:t>the biggest driver of change in recent years is the move ONLINE. Firms that adapted (built websites, used data, offered delivery) grew; those that didn't — like many high-street chains — lost share or closed. Adapting to change is a survival skill, not an option.</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ONLINE RETAILING</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Online retailing</a:t>
            </a:r>
            <a:endParaRPr lang="en-US" sz="27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Online retailing (e-commerce) = selling goods and services through websites and apps rather than only physical stores.</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Reaches a huge, even global, market — not limited by location</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Lower overheads (no store rent) → can offer lower prices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Open 24/7; collects customer data to target marketing</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Lets small/niche producers reach customers they never could before</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Intense price competition and easy price comparison</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Delivery and returns are costly and complex</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Needs a website, tech and digital-marketing skills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Loss of the in-person experience; cyber-security risks</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Bulgarian farms &amp; Ocado</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An online retailing service lets small Bulgarian farms sell direct to customers far beyond their village, sharing the platform's reach and logistics. Ocado built an entire grocery business online with no traditional stores — online retailing reshaped the whole grocery market.</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Exam practice: dynamic markets</a:t>
            </a:r>
            <a:endParaRPr lang="en-US" sz="27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Using the data, explain one way changes in fashions, tastes or preferences have affected demand for Ocado.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[4]</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Discuss the advantages for small businesses, such as the farms in Bulgaria, of using an online retailing service to sell their products.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[10]</a:t>
            </a:r>
            <a:endParaRPr lang="en-US" sz="130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4-mark Explain (K1 A2 An1): one reason, two pieces of evidence, one consequence.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10-mark Discuss/Assess: both sides, applied, + a supported judgement.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The 10-marker is worked fully in Part D — use it as the model.</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How to approach them</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4-mark Ocado: a shift towards convenience / online grocery shopping → more demand for Ocado's model → sales rise.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10-mark (farms): advantages — reach beyond the village, lower cost than own stores, access to the platform's logistics &amp; customers.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Balance: but reliance on the platform, delivery issues, competition and fees.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Judge: valuable for reach, but depends on the platform's terms and the farm's ability to deliver.</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C</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C</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Competition, risk &amp; uncertainty</a:t>
            </a:r>
            <a:endParaRPr lang="en-US" sz="32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how competition affects a market — for customers and businesses  ·  the difference between risk and uncertainty</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COMPETITION</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How competition affects the market</a:t>
            </a:r>
            <a:endParaRPr lang="en-US" sz="2700" dirty="0"/>
          </a:p>
        </p:txBody>
      </p:sp>
      <p:sp>
        <p:nvSpPr>
          <p:cNvPr id="4" name="Shape 2"/>
          <p:cNvSpPr/>
          <p:nvPr/>
        </p:nvSpPr>
        <p:spPr>
          <a:xfrm>
            <a:off x="548640" y="1371600"/>
            <a:ext cx="11091672" cy="658368"/>
          </a:xfrm>
          <a:prstGeom prst="roundRect">
            <a:avLst>
              <a:gd name="adj" fmla="val 1111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44752"/>
            <a:ext cx="10698480" cy="512064"/>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Competition  </a:t>
            </a:r>
            <a:pPr indent="0" marL="0">
              <a:buNone/>
            </a:pPr>
            <a:r>
              <a:rPr lang="en-US" sz="1300" dirty="0">
                <a:solidFill>
                  <a:srgbClr val="1F2A33"/>
                </a:solidFill>
                <a:latin typeface="Calibri" pitchFamily="34" charset="0"/>
                <a:ea typeface="Calibri" pitchFamily="34" charset="-122"/>
                <a:cs typeface="Calibri" pitchFamily="34" charset="-120"/>
              </a:rPr>
              <a:t>= rivalry between businesses for the same customers. More competition usually helps customers but squeezes firms.</a:t>
            </a:r>
            <a:endParaRPr lang="en-US" sz="1300" dirty="0"/>
          </a:p>
        </p:txBody>
      </p:sp>
      <p:sp>
        <p:nvSpPr>
          <p:cNvPr id="6" name="Shape 4"/>
          <p:cNvSpPr/>
          <p:nvPr/>
        </p:nvSpPr>
        <p:spPr>
          <a:xfrm>
            <a:off x="548640" y="2286000"/>
            <a:ext cx="5440680" cy="2834640"/>
          </a:xfrm>
          <a:prstGeom prst="roundRect">
            <a:avLst>
              <a:gd name="adj" fmla="val 2581"/>
            </a:avLst>
          </a:prstGeom>
          <a:solidFill>
            <a:srgbClr val="E8F3EC"/>
          </a:solidFill>
          <a:ln/>
          <a:effectLst>
            <a:outerShdw sx="100000" sy="100000" kx="0" ky="0" algn="bl" rotWithShape="0" blurRad="76200" dist="25400" dir="5400000">
              <a:srgbClr val="9AAAB0">
                <a:alpha val="28000"/>
              </a:srgbClr>
            </a:outerShdw>
          </a:effectLst>
        </p:spPr>
      </p:sp>
      <p:sp>
        <p:nvSpPr>
          <p:cNvPr id="7" name="Shape 5"/>
          <p:cNvSpPr/>
          <p:nvPr/>
        </p:nvSpPr>
        <p:spPr>
          <a:xfrm>
            <a:off x="777240" y="2450592"/>
            <a:ext cx="3566160" cy="310896"/>
          </a:xfrm>
          <a:prstGeom prst="roundRect">
            <a:avLst>
              <a:gd name="adj" fmla="val 50000"/>
            </a:avLst>
          </a:prstGeom>
          <a:solidFill>
            <a:srgbClr val="2F8A5B"/>
          </a:solidFill>
          <a:ln/>
        </p:spPr>
      </p:sp>
      <p:sp>
        <p:nvSpPr>
          <p:cNvPr id="8" name="Text 6"/>
          <p:cNvSpPr txBox="1"/>
          <p:nvPr/>
        </p:nvSpPr>
        <p:spPr>
          <a:xfrm>
            <a:off x="777240" y="2450592"/>
            <a:ext cx="35661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GOOD FOR CUSTOMERS</a:t>
            </a:r>
            <a:endParaRPr lang="en-US" sz="1050" dirty="0"/>
          </a:p>
        </p:txBody>
      </p:sp>
      <p:sp>
        <p:nvSpPr>
          <p:cNvPr id="9" name="Text 7"/>
          <p:cNvSpPr txBox="1"/>
          <p:nvPr/>
        </p:nvSpPr>
        <p:spPr>
          <a:xfrm>
            <a:off x="777240" y="2871216"/>
            <a:ext cx="4983480" cy="21945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Lower prices (firms compete on price)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Better quality and service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More choice and variety</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Faster innovation and new products</a:t>
            </a:r>
            <a:endParaRPr lang="en-US" sz="1300" dirty="0"/>
          </a:p>
        </p:txBody>
      </p:sp>
      <p:sp>
        <p:nvSpPr>
          <p:cNvPr id="10" name="Shape 8"/>
          <p:cNvSpPr/>
          <p:nvPr/>
        </p:nvSpPr>
        <p:spPr>
          <a:xfrm>
            <a:off x="6199632" y="2286000"/>
            <a:ext cx="5440680" cy="2834640"/>
          </a:xfrm>
          <a:prstGeom prst="roundRect">
            <a:avLst>
              <a:gd name="adj" fmla="val 2581"/>
            </a:avLst>
          </a:prstGeom>
          <a:solidFill>
            <a:srgbClr val="F9EAE6"/>
          </a:solidFill>
          <a:ln/>
          <a:effectLst>
            <a:outerShdw sx="100000" sy="100000" kx="0" ky="0" algn="bl" rotWithShape="0" blurRad="76200" dist="25400" dir="5400000">
              <a:srgbClr val="9AAAB0">
                <a:alpha val="28000"/>
              </a:srgbClr>
            </a:outerShdw>
          </a:effectLst>
        </p:spPr>
      </p:sp>
      <p:sp>
        <p:nvSpPr>
          <p:cNvPr id="11" name="Shape 9"/>
          <p:cNvSpPr/>
          <p:nvPr/>
        </p:nvSpPr>
        <p:spPr>
          <a:xfrm>
            <a:off x="6428232" y="2450592"/>
            <a:ext cx="3749040" cy="310896"/>
          </a:xfrm>
          <a:prstGeom prst="roundRect">
            <a:avLst>
              <a:gd name="adj" fmla="val 50000"/>
            </a:avLst>
          </a:prstGeom>
          <a:solidFill>
            <a:srgbClr val="C14B37"/>
          </a:solidFill>
          <a:ln/>
        </p:spPr>
      </p:sp>
      <p:sp>
        <p:nvSpPr>
          <p:cNvPr id="12" name="Text 10"/>
          <p:cNvSpPr txBox="1"/>
          <p:nvPr/>
        </p:nvSpPr>
        <p:spPr>
          <a:xfrm>
            <a:off x="6428232" y="2450592"/>
            <a:ext cx="37490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PRESSURE ON BUSINESSES</a:t>
            </a:r>
            <a:endParaRPr lang="en-US" sz="1050" dirty="0"/>
          </a:p>
        </p:txBody>
      </p:sp>
      <p:sp>
        <p:nvSpPr>
          <p:cNvPr id="13" name="Text 11"/>
          <p:cNvSpPr txBox="1"/>
          <p:nvPr/>
        </p:nvSpPr>
        <p:spPr>
          <a:xfrm>
            <a:off x="6428232" y="2871216"/>
            <a:ext cx="4983480" cy="21945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Lower prices → thinner profit margins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Must differentiate, innovate and cut costs to survive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Risk of price wars that damage everyone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Weaker firms may lose share or exit the market</a:t>
            </a:r>
            <a:endParaRPr lang="en-US" sz="1300" dirty="0"/>
          </a:p>
        </p:txBody>
      </p:sp>
      <p:sp>
        <p:nvSpPr>
          <p:cNvPr id="14" name="Shape 12"/>
          <p:cNvSpPr/>
          <p:nvPr/>
        </p:nvSpPr>
        <p:spPr>
          <a:xfrm>
            <a:off x="548640" y="5303520"/>
            <a:ext cx="11091672" cy="868680"/>
          </a:xfrm>
          <a:prstGeom prst="roundRect">
            <a:avLst>
              <a:gd name="adj" fmla="val 842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Text 13"/>
          <p:cNvSpPr txBox="1"/>
          <p:nvPr/>
        </p:nvSpPr>
        <p:spPr>
          <a:xfrm>
            <a:off x="777240" y="5394960"/>
            <a:ext cx="10698480" cy="685800"/>
          </a:xfrm>
          <a:prstGeom prst="rect">
            <a:avLst/>
          </a:prstGeom>
          <a:noFill/>
          <a:ln/>
        </p:spPr>
        <p:txBody>
          <a:bodyPr wrap="square" lIns="0" tIns="0" rIns="0" bIns="0" rtlCol="0" anchor="ctr"/>
          <a:lstStyle/>
          <a:p>
            <a:pPr indent="0" marL="0">
              <a:buNone/>
            </a:pPr>
            <a:r>
              <a:rPr lang="en-US" sz="1250" b="1" dirty="0">
                <a:solidFill>
                  <a:srgbClr val="0B5E66"/>
                </a:solidFill>
                <a:latin typeface="Calibri" pitchFamily="34" charset="0"/>
                <a:ea typeface="Calibri" pitchFamily="34" charset="-122"/>
                <a:cs typeface="Calibri" pitchFamily="34" charset="-120"/>
              </a:rPr>
              <a:t>Example — airlines:  </a:t>
            </a:r>
            <a:pPr indent="0" marL="0">
              <a:buNone/>
            </a:pPr>
            <a:r>
              <a:rPr lang="en-US" sz="1250" dirty="0">
                <a:solidFill>
                  <a:srgbClr val="1F2A33"/>
                </a:solidFill>
                <a:latin typeface="Calibri" pitchFamily="34" charset="0"/>
                <a:ea typeface="Calibri" pitchFamily="34" charset="-122"/>
                <a:cs typeface="Calibri" pitchFamily="34" charset="-120"/>
              </a:rPr>
              <a:t>intense competition between carriers gives customers lower fares and more routes, but can also mean cuts to service, extra fees and some airlines going bust — so the effect on customers is not all positive.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RISK &amp; UNCERTAINTY</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The difference between risk and uncertainty</a:t>
            </a:r>
            <a:endParaRPr lang="en-US" sz="2700" dirty="0"/>
          </a:p>
        </p:txBody>
      </p:sp>
      <p:sp>
        <p:nvSpPr>
          <p:cNvPr id="4" name="Shape 2"/>
          <p:cNvSpPr/>
          <p:nvPr/>
        </p:nvSpPr>
        <p:spPr>
          <a:xfrm>
            <a:off x="548640" y="1417320"/>
            <a:ext cx="5440680" cy="3657600"/>
          </a:xfrm>
          <a:prstGeom prst="roundRect">
            <a:avLst>
              <a:gd name="adj" fmla="val 2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77240" y="1581912"/>
            <a:ext cx="1828800" cy="310896"/>
          </a:xfrm>
          <a:prstGeom prst="roundRect">
            <a:avLst>
              <a:gd name="adj" fmla="val 50000"/>
            </a:avLst>
          </a:prstGeom>
          <a:solidFill>
            <a:srgbClr val="0E7C86"/>
          </a:solidFill>
          <a:ln/>
        </p:spPr>
      </p:sp>
      <p:sp>
        <p:nvSpPr>
          <p:cNvPr id="6" name="Text 4"/>
          <p:cNvSpPr txBox="1"/>
          <p:nvPr/>
        </p:nvSpPr>
        <p:spPr>
          <a:xfrm>
            <a:off x="777240" y="1581912"/>
            <a:ext cx="18288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RISK</a:t>
            </a:r>
            <a:endParaRPr lang="en-US" sz="1050" dirty="0"/>
          </a:p>
        </p:txBody>
      </p:sp>
      <p:sp>
        <p:nvSpPr>
          <p:cNvPr id="7" name="Text 5"/>
          <p:cNvSpPr txBox="1"/>
          <p:nvPr/>
        </p:nvSpPr>
        <p:spPr>
          <a:xfrm>
            <a:off x="777240" y="2011680"/>
            <a:ext cx="4983480" cy="68580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A situation where the possible outcomes AND their probabilities are known or can be estimated.</a:t>
            </a:r>
            <a:endParaRPr lang="en-US" sz="1300" dirty="0"/>
          </a:p>
        </p:txBody>
      </p:sp>
      <p:sp>
        <p:nvSpPr>
          <p:cNvPr id="8" name="Text 6"/>
          <p:cNvSpPr txBox="1"/>
          <p:nvPr/>
        </p:nvSpPr>
        <p:spPr>
          <a:xfrm>
            <a:off x="777240" y="2743200"/>
            <a:ext cx="4983480" cy="21945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Quantifiable — the odds can be measured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Can be planned for and often insured against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e.g. a known product-failure rate; the chance a new store underperforms</a:t>
            </a:r>
            <a:endParaRPr lang="en-US" sz="1250" dirty="0"/>
          </a:p>
        </p:txBody>
      </p:sp>
      <p:sp>
        <p:nvSpPr>
          <p:cNvPr id="9" name="Shape 7"/>
          <p:cNvSpPr/>
          <p:nvPr/>
        </p:nvSpPr>
        <p:spPr>
          <a:xfrm>
            <a:off x="6199632" y="1417320"/>
            <a:ext cx="5440680" cy="3657600"/>
          </a:xfrm>
          <a:prstGeom prst="roundRect">
            <a:avLst>
              <a:gd name="adj" fmla="val 2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6428232" y="1581912"/>
            <a:ext cx="2743200" cy="310896"/>
          </a:xfrm>
          <a:prstGeom prst="roundRect">
            <a:avLst>
              <a:gd name="adj" fmla="val 50000"/>
            </a:avLst>
          </a:prstGeom>
          <a:solidFill>
            <a:srgbClr val="C14B37"/>
          </a:solidFill>
          <a:ln/>
        </p:spPr>
      </p:sp>
      <p:sp>
        <p:nvSpPr>
          <p:cNvPr id="11" name="Text 9"/>
          <p:cNvSpPr txBox="1"/>
          <p:nvPr/>
        </p:nvSpPr>
        <p:spPr>
          <a:xfrm>
            <a:off x="6428232" y="1581912"/>
            <a:ext cx="2743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UNCERTAINTY</a:t>
            </a:r>
            <a:endParaRPr lang="en-US" sz="1050" dirty="0"/>
          </a:p>
        </p:txBody>
      </p:sp>
      <p:sp>
        <p:nvSpPr>
          <p:cNvPr id="12" name="Text 10"/>
          <p:cNvSpPr txBox="1"/>
          <p:nvPr/>
        </p:nvSpPr>
        <p:spPr>
          <a:xfrm>
            <a:off x="6428232" y="2011680"/>
            <a:ext cx="4983480" cy="68580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A situation where the outcomes and their probabilities are unknown and cannot be predicted.</a:t>
            </a:r>
            <a:endParaRPr lang="en-US" sz="1300" dirty="0"/>
          </a:p>
        </p:txBody>
      </p:sp>
      <p:sp>
        <p:nvSpPr>
          <p:cNvPr id="13" name="Text 11"/>
          <p:cNvSpPr txBox="1"/>
          <p:nvPr/>
        </p:nvSpPr>
        <p:spPr>
          <a:xfrm>
            <a:off x="6428232" y="2743200"/>
            <a:ext cx="4983480" cy="21945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Not quantifiable — the odds cannot be measured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Hard to plan for; usually cannot be insured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e.g. a pandemic, a sudden competitor, new technology, political change</a:t>
            </a:r>
            <a:endParaRPr lang="en-US" sz="1250" dirty="0"/>
          </a:p>
        </p:txBody>
      </p:sp>
      <p:sp>
        <p:nvSpPr>
          <p:cNvPr id="14" name="Shape 12"/>
          <p:cNvSpPr/>
          <p:nvPr/>
        </p:nvSpPr>
        <p:spPr>
          <a:xfrm>
            <a:off x="548640" y="5166360"/>
            <a:ext cx="11091672" cy="1005840"/>
          </a:xfrm>
          <a:prstGeom prst="roundRect">
            <a:avLst>
              <a:gd name="adj" fmla="val 7273"/>
            </a:avLst>
          </a:prstGeom>
          <a:solidFill>
            <a:srgbClr val="FBF0D8"/>
          </a:solidFill>
          <a:ln/>
          <a:effectLst>
            <a:outerShdw sx="100000" sy="100000" kx="0" ky="0" algn="bl" rotWithShape="0" blurRad="76200" dist="25400" dir="5400000">
              <a:srgbClr val="9AAAB0">
                <a:alpha val="28000"/>
              </a:srgbClr>
            </a:outerShdw>
          </a:effectLst>
        </p:spPr>
      </p:sp>
      <p:sp>
        <p:nvSpPr>
          <p:cNvPr id="15" name="Text 13"/>
          <p:cNvSpPr txBox="1"/>
          <p:nvPr/>
        </p:nvSpPr>
        <p:spPr>
          <a:xfrm>
            <a:off x="777240" y="5266944"/>
            <a:ext cx="10698480" cy="822960"/>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The key difference:  </a:t>
            </a:r>
            <a:pPr indent="0" marL="0">
              <a:buNone/>
            </a:pPr>
            <a:r>
              <a:rPr lang="en-US" sz="1250" dirty="0">
                <a:solidFill>
                  <a:srgbClr val="1F2A33"/>
                </a:solidFill>
                <a:latin typeface="Calibri" pitchFamily="34" charset="0"/>
                <a:ea typeface="Calibri" pitchFamily="34" charset="-122"/>
                <a:cs typeface="Calibri" pitchFamily="34" charset="-120"/>
              </a:rPr>
              <a:t>RISK can be measured and managed (known probabilities); UNCERTAINTY cannot (unknown probabilities). Entrepreneurs face both — part of starting a business is accepting uncertainty that no amount of planning can remove.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Exam practice: competition &amp; uncertainty</a:t>
            </a:r>
            <a:endParaRPr lang="en-US" sz="27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Define the term ‘uncertainty’.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[2]</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Discuss how competition in the airline market may affect customers.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[8]</a:t>
            </a:r>
            <a:endParaRPr lang="en-US" sz="130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2-mark Define: outcomes/probabilities that are unknown &amp; cannot be predicted (1) + an example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8-mark Discuss: one way competition helps customers + one ‘However’ it may not, applied to airlines.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 separate conclusion is not required at 8 marks; stay balanced and applied.</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(one side, then However)</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FOR customers: competition → lower fares &amp; more routes/choice → cheaper, more convenient travel.</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HOWEVER: price competition can mean cut service, more fees, and some airlines failing → less reliability.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Develop each with a chain and airline context (budget vs full-service carriers).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Judgement (if asked): net benefit to customers, but depends on how firms compete — on price or on service.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D</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D</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A-grade exam skills</a:t>
            </a:r>
            <a:endParaRPr lang="en-US" sz="32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online-retailing 10-marker  ·  decode and plan  ·  a model answer and how to reach the top band</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EXAM MASTERY</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The 10-mark: decode it, then plan</a:t>
            </a:r>
            <a:endParaRPr lang="en-US" sz="2700" dirty="0"/>
          </a:p>
        </p:txBody>
      </p:sp>
      <p:sp>
        <p:nvSpPr>
          <p:cNvPr id="4" name="Shape 2"/>
          <p:cNvSpPr/>
          <p:nvPr/>
        </p:nvSpPr>
        <p:spPr>
          <a:xfrm>
            <a:off x="548640" y="1371600"/>
            <a:ext cx="11091672" cy="1005840"/>
          </a:xfrm>
          <a:prstGeom prst="roundRect">
            <a:avLst>
              <a:gd name="adj" fmla="val 7273"/>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THE QUESTION</a:t>
            </a:r>
            <a:endParaRPr lang="en-US" sz="1050" dirty="0"/>
          </a:p>
        </p:txBody>
      </p:sp>
      <p:sp>
        <p:nvSpPr>
          <p:cNvPr id="6" name="Text 4"/>
          <p:cNvSpPr txBox="1"/>
          <p:nvPr/>
        </p:nvSpPr>
        <p:spPr>
          <a:xfrm>
            <a:off x="777240" y="1773936"/>
            <a:ext cx="10607040" cy="6858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Discuss the advantages for small businesses, such as the farms in Bulgaria, of using an online retailing service to sell their products.  </a:t>
            </a:r>
            <a:pPr indent="0" marL="0">
              <a:buNone/>
            </a:pPr>
            <a:r>
              <a:rPr lang="en-US" sz="1350" b="1" dirty="0">
                <a:solidFill>
                  <a:srgbClr val="E0940F"/>
                </a:solidFill>
                <a:latin typeface="Calibri" pitchFamily="34" charset="0"/>
                <a:ea typeface="Calibri" pitchFamily="34" charset="-122"/>
                <a:cs typeface="Calibri" pitchFamily="34" charset="-120"/>
              </a:rPr>
              <a:t>[10]</a:t>
            </a:r>
            <a:endParaRPr lang="en-US" sz="1350" dirty="0"/>
          </a:p>
        </p:txBody>
      </p:sp>
      <p:sp>
        <p:nvSpPr>
          <p:cNvPr id="7" name="Shape 5"/>
          <p:cNvSpPr/>
          <p:nvPr/>
        </p:nvSpPr>
        <p:spPr>
          <a:xfrm>
            <a:off x="548640" y="2514600"/>
            <a:ext cx="5029200" cy="3685032"/>
          </a:xfrm>
          <a:prstGeom prst="roundRect">
            <a:avLst>
              <a:gd name="adj" fmla="val 1985"/>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2624328"/>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Decode the command</a:t>
            </a:r>
            <a:endParaRPr lang="en-US" sz="1300" dirty="0"/>
          </a:p>
        </p:txBody>
      </p:sp>
      <p:sp>
        <p:nvSpPr>
          <p:cNvPr id="9" name="Text 7"/>
          <p:cNvSpPr txBox="1"/>
          <p:nvPr/>
        </p:nvSpPr>
        <p:spPr>
          <a:xfrm>
            <a:off x="749808" y="2990088"/>
            <a:ext cx="4617720" cy="310896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Discuss / Assess = weigh advantages against drawbacks, then a supported judgement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Keep it about SMALL businesses (the Bulgarian farms), not big retailers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Use the case: small, remote producers reaching a wider market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Level 4 (8–10): balanced, applied, competing arguments, clear judgement</a:t>
            </a:r>
            <a:endParaRPr lang="en-US" sz="1200" dirty="0"/>
          </a:p>
        </p:txBody>
      </p:sp>
      <p:sp>
        <p:nvSpPr>
          <p:cNvPr id="10" name="Shape 8"/>
          <p:cNvSpPr/>
          <p:nvPr/>
        </p:nvSpPr>
        <p:spPr>
          <a:xfrm>
            <a:off x="5788152" y="2514600"/>
            <a:ext cx="5852160" cy="3685032"/>
          </a:xfrm>
          <a:prstGeom prst="roundRect">
            <a:avLst>
              <a:gd name="adj" fmla="val 1985"/>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2624328"/>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a:t>
            </a:r>
            <a:endParaRPr lang="en-US" sz="1300" dirty="0"/>
          </a:p>
        </p:txBody>
      </p:sp>
      <p:sp>
        <p:nvSpPr>
          <p:cNvPr id="12" name="Text 10"/>
          <p:cNvSpPr txBox="1"/>
          <p:nvPr/>
        </p:nvSpPr>
        <p:spPr>
          <a:xfrm>
            <a:off x="5989320" y="2990088"/>
            <a:ext cx="5440680" cy="310896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¶1 (advantage): reach far beyond the village → more customers → higher sales a small farm could never get alone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¶2 (advantage): uses the platform's website &amp; logistics → lower cost than building its own online store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¶3 (however): reliance on the platform — fees, rules, and delivery problems can hurt a small farm</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Conclusion (4Ws): very valuable for reach &amp; low cost, but depends on the platform's terms and the farm's capacity to deliver</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A model 10-mark answer (Bulgarian farms)</a:t>
            </a:r>
            <a:endParaRPr lang="en-US" sz="2700" dirty="0"/>
          </a:p>
        </p:txBody>
      </p:sp>
      <p:sp>
        <p:nvSpPr>
          <p:cNvPr id="4" name="Shape 2"/>
          <p:cNvSpPr/>
          <p:nvPr/>
        </p:nvSpPr>
        <p:spPr>
          <a:xfrm>
            <a:off x="548640" y="1371600"/>
            <a:ext cx="11091672" cy="1572768"/>
          </a:xfrm>
          <a:prstGeom prst="roundRect">
            <a:avLst>
              <a:gd name="adj" fmla="val 4651"/>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07040" cy="1371600"/>
          </a:xfrm>
          <a:prstGeom prst="rect">
            <a:avLst/>
          </a:prstGeom>
          <a:noFill/>
          <a:ln/>
        </p:spPr>
        <p:txBody>
          <a:bodyPr wrap="square" lIns="0" tIns="0" rIns="0" bIns="0" rtlCol="0" anchor="t"/>
          <a:lstStyle/>
          <a:p>
            <a:pPr indent="0" marL="0">
              <a:buNone/>
            </a:pPr>
            <a:r>
              <a:rPr lang="en-US" sz="1180" b="1" dirty="0">
                <a:solidFill>
                  <a:srgbClr val="2F8A5B"/>
                </a:solidFill>
                <a:latin typeface="Calibri" pitchFamily="34" charset="0"/>
                <a:ea typeface="Calibri" pitchFamily="34" charset="-122"/>
                <a:cs typeface="Calibri" pitchFamily="34" charset="-120"/>
              </a:rPr>
              <a:t>¶ Reach (advantage).  </a:t>
            </a:r>
            <a:pPr indent="0" marL="0">
              <a:buNone/>
            </a:pPr>
            <a:r>
              <a:rPr lang="en-US" sz="1180" dirty="0">
                <a:solidFill>
                  <a:srgbClr val="1F2A33"/>
                </a:solidFill>
                <a:latin typeface="Calibri" pitchFamily="34" charset="0"/>
                <a:ea typeface="Calibri" pitchFamily="34" charset="-122"/>
                <a:cs typeface="Calibri" pitchFamily="34" charset="-120"/>
              </a:rPr>
              <a:t>A major advantage is the huge increase in reach. A small Bulgarian farm selling only locally has very few customers, but an online retailing service lets it sell to buyers across the country or abroad. This means the farm can increase its sales volume far beyond what its village market allows, raising revenue and helping a small producer grow.</a:t>
            </a:r>
            <a:endParaRPr lang="en-US" sz="1180" dirty="0"/>
          </a:p>
        </p:txBody>
      </p:sp>
      <p:sp>
        <p:nvSpPr>
          <p:cNvPr id="6" name="Shape 4"/>
          <p:cNvSpPr/>
          <p:nvPr/>
        </p:nvSpPr>
        <p:spPr>
          <a:xfrm>
            <a:off x="548640" y="3017520"/>
            <a:ext cx="11091672" cy="1554480"/>
          </a:xfrm>
          <a:prstGeom prst="roundRect">
            <a:avLst>
              <a:gd name="adj" fmla="val 4706"/>
            </a:avLst>
          </a:prstGeom>
          <a:solidFill>
            <a:srgbClr val="EAF3F4"/>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3127248"/>
            <a:ext cx="10607040" cy="1371600"/>
          </a:xfrm>
          <a:prstGeom prst="rect">
            <a:avLst/>
          </a:prstGeom>
          <a:noFill/>
          <a:ln/>
        </p:spPr>
        <p:txBody>
          <a:bodyPr wrap="square" lIns="0" tIns="0" rIns="0" bIns="0" rtlCol="0" anchor="t"/>
          <a:lstStyle/>
          <a:p>
            <a:pPr indent="0" marL="0">
              <a:buNone/>
            </a:pPr>
            <a:r>
              <a:rPr lang="en-US" sz="1180" b="1" dirty="0">
                <a:solidFill>
                  <a:srgbClr val="0B5E66"/>
                </a:solidFill>
                <a:latin typeface="Calibri" pitchFamily="34" charset="0"/>
                <a:ea typeface="Calibri" pitchFamily="34" charset="-122"/>
                <a:cs typeface="Calibri" pitchFamily="34" charset="-120"/>
              </a:rPr>
              <a:t>¶ Low cost (advantage).  </a:t>
            </a:r>
            <a:pPr indent="0" marL="0">
              <a:buNone/>
            </a:pPr>
            <a:r>
              <a:rPr lang="en-US" sz="1180" dirty="0">
                <a:solidFill>
                  <a:srgbClr val="1F2A33"/>
                </a:solidFill>
                <a:latin typeface="Calibri" pitchFamily="34" charset="0"/>
                <a:ea typeface="Calibri" pitchFamily="34" charset="-122"/>
                <a:cs typeface="Calibri" pitchFamily="34" charset="-120"/>
              </a:rPr>
              <a:t>Using an existing platform is also far cheaper than building its own online shop or opening stores. The farm shares the service's website, payment systems and delivery network, so it avoids large set-up costs. This means even a small farm with little capital can trade online, keeping its prices competitive.</a:t>
            </a:r>
            <a:endParaRPr lang="en-US" sz="1180" dirty="0"/>
          </a:p>
        </p:txBody>
      </p:sp>
      <p:sp>
        <p:nvSpPr>
          <p:cNvPr id="8" name="Shape 6"/>
          <p:cNvSpPr/>
          <p:nvPr/>
        </p:nvSpPr>
        <p:spPr>
          <a:xfrm>
            <a:off x="548640" y="4663440"/>
            <a:ext cx="11091672" cy="1517904"/>
          </a:xfrm>
          <a:prstGeom prst="roundRect">
            <a:avLst>
              <a:gd name="adj" fmla="val 4819"/>
            </a:avLst>
          </a:prstGeom>
          <a:solidFill>
            <a:srgbClr val="0E3A43"/>
          </a:solidFill>
          <a:ln/>
          <a:effectLst>
            <a:outerShdw sx="100000" sy="100000" kx="0" ky="0" algn="bl" rotWithShape="0" blurRad="76200" dist="25400" dir="5400000">
              <a:srgbClr val="9AAAB0">
                <a:alpha val="28000"/>
              </a:srgbClr>
            </a:outerShdw>
          </a:effectLst>
        </p:spPr>
      </p:sp>
      <p:sp>
        <p:nvSpPr>
          <p:cNvPr id="9" name="Text 7"/>
          <p:cNvSpPr txBox="1"/>
          <p:nvPr/>
        </p:nvSpPr>
        <p:spPr>
          <a:xfrm>
            <a:off x="777240" y="4773168"/>
            <a:ext cx="10607040" cy="1316736"/>
          </a:xfrm>
          <a:prstGeom prst="rect">
            <a:avLst/>
          </a:prstGeom>
          <a:noFill/>
          <a:ln/>
        </p:spPr>
        <p:txBody>
          <a:bodyPr wrap="square" lIns="0" tIns="0" rIns="0" bIns="0" rtlCol="0" anchor="t"/>
          <a:lstStyle/>
          <a:p>
            <a:pPr indent="0" marL="0">
              <a:buNone/>
            </a:pPr>
            <a:r>
              <a:rPr lang="en-US" sz="1180" b="1" dirty="0">
                <a:solidFill>
                  <a:srgbClr val="E0940F"/>
                </a:solidFill>
                <a:latin typeface="Calibri" pitchFamily="34" charset="0"/>
                <a:ea typeface="Calibri" pitchFamily="34" charset="-122"/>
                <a:cs typeface="Calibri" pitchFamily="34" charset="-120"/>
              </a:rPr>
              <a:t>¶ However, + conclusion.  </a:t>
            </a:r>
            <a:pPr indent="0" marL="0">
              <a:buNone/>
            </a:pPr>
            <a:r>
              <a:rPr lang="en-US" sz="1180" dirty="0">
                <a:solidFill>
                  <a:srgbClr val="FFFFFF"/>
                </a:solidFill>
                <a:latin typeface="Calibri" pitchFamily="34" charset="0"/>
                <a:ea typeface="Calibri" pitchFamily="34" charset="-122"/>
                <a:cs typeface="Calibri" pitchFamily="34" charset="-120"/>
              </a:rPr>
              <a:t>However, the farm becomes dependent on the platform — it pays fees, must follow its rules, and can suffer if deliveries are late or the site fails. Overall, online retailing is very valuable for small, remote producers because the gain in reach and the low cost outweigh these drawbacks — but this depends on the platform's fees being affordable and the farm being able to fulfil the orders it wins.</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200" kern="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Answering ‘the market’ questions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188720"/>
                <a:gridCol w="2651760"/>
                <a:gridCol w="6702552"/>
              </a:tblGrid>
              <a:tr h="457200">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Marks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Command</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What to do</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r>
              <a:tr h="621792">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Define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Meaning + an example (market share, uncertainty, niche market…).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13232">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Explain / Calculate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Knowledge + evidence + consequence; or show the market-share / growth working.</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Analyse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Two points, each applied, each with a developed chain. No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8 / 10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Discuss / Assess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Both sides, applied, + a supported judgement (4Ws).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bl>
          </a:graphicData>
        </a:graphic>
      </p:graphicFrame>
      <p:sp>
        <p:nvSpPr>
          <p:cNvPr id="5" name="Text 2"/>
          <p:cNvSpPr txBox="1"/>
          <p:nvPr/>
        </p:nvSpPr>
        <p:spPr>
          <a:xfrm>
            <a:off x="822960" y="5669280"/>
            <a:ext cx="10515600" cy="457200"/>
          </a:xfrm>
          <a:prstGeom prst="rect">
            <a:avLst/>
          </a:prstGeom>
          <a:noFill/>
          <a:ln/>
        </p:spPr>
        <p:txBody>
          <a:bodyPr wrap="square" lIns="0" tIns="0" rIns="0" bIns="0" rtlCol="0" anchor="ctr"/>
          <a:lstStyle/>
          <a:p>
            <a:pPr indent="0" marL="0">
              <a:buNone/>
            </a:pPr>
            <a:r>
              <a:rPr lang="en-US" sz="1250" i="1" dirty="0">
                <a:solidFill>
                  <a:srgbClr val="9FBCC0"/>
                </a:solidFill>
                <a:latin typeface="Calibri" pitchFamily="34" charset="0"/>
                <a:ea typeface="Calibri" pitchFamily="34" charset="-122"/>
                <a:cs typeface="Calibri" pitchFamily="34" charset="-120"/>
              </a:rPr>
              <a:t>Calculations: market share = business ÷ total market × 100;  market growth = (new − old) ÷ old × 100.  Percentage points ≠ percentage change.</a:t>
            </a:r>
            <a:endParaRPr lang="en-US" sz="1250" dirty="0"/>
          </a:p>
        </p:txBody>
      </p:sp>
      <p:sp>
        <p:nvSpPr>
          <p:cNvPr id="6" name="Text 3"/>
          <p:cNvSpPr txBox="1"/>
          <p:nvPr/>
        </p:nvSpPr>
        <p:spPr>
          <a:xfrm>
            <a:off x="822960" y="6144768"/>
            <a:ext cx="10515600" cy="320040"/>
          </a:xfrm>
          <a:prstGeom prst="rect">
            <a:avLst/>
          </a:prstGeom>
          <a:noFill/>
          <a:ln/>
        </p:spPr>
        <p:txBody>
          <a:bodyPr wrap="square" lIns="0" tIns="0" rIns="0" bIns="0" rtlCol="0" anchor="ctr"/>
          <a:lstStyle/>
          <a:p>
            <a:pPr indent="0" marL="0">
              <a:buNone/>
            </a:pPr>
            <a:r>
              <a:rPr lang="en-US" sz="1250" b="1" dirty="0">
                <a:solidFill>
                  <a:srgbClr val="7FC4CB"/>
                </a:solidFill>
                <a:latin typeface="Calibri" pitchFamily="34" charset="0"/>
                <a:ea typeface="Calibri" pitchFamily="34" charset="-122"/>
                <a:cs typeface="Calibri" pitchFamily="34" charset="-120"/>
              </a:rPr>
              <a:t>Next in 1.3.1: Market research, then Market positioning (incl. segmentation).</a:t>
            </a:r>
            <a:endParaRPr lang="en-US" sz="1250" dirty="0"/>
          </a:p>
        </p:txBody>
      </p:sp>
    </p:spTree>
  </p:cSld>
  <p:clrMapOvr>
    <a:masterClrMapping/>
  </p:clrMapOvr>
</p:sld>
</file>

<file path=ppt/theme/theme1.xml><?xml version="1.0" encoding="utf-8"?>
<a:theme xmlns:a="http://schemas.openxmlformats.org/drawingml/2006/main" name="IAL Marketing">
  <a:themeElements>
    <a:clrScheme name="IAL Marketing">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Marke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Mr. Akram</cp:lastModifiedBy>
  <cp:revision>1</cp:revision>
  <dcterms:created xsi:type="dcterms:W3CDTF">2026-10-20T05:25:14Z</dcterms:created>
  <dcterms:modified xsi:type="dcterms:W3CDTF">2026-10-20T05:25:14Z</dcterms:modified>
</cp:coreProperties>
</file>