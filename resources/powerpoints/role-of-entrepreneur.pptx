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 · What they do" id="{cf7aa072-e755-0020-32ff-4419d0a02007}">
          <p14:sldIdLst>
            <p14:sldId id="259"/>
            <p14:sldId id="260"/>
            <p14:sldId id="261"/>
          </p14:sldIdLst>
        </p14:section>
        <p14:section name="B · Intrapreneurship" id="{1c7346e6-d4d1-a493-5a26-e41eb2d23a85}">
          <p14:sldIdLst>
            <p14:sldId id="262"/>
            <p14:sldId id="263"/>
          </p14:sldIdLst>
        </p14:section>
        <p14:section name="C · Barriers" id="{46f8cc6a-8c19-3977-878e-c8c84d08dda2}">
          <p14:sldIdLst>
            <p14:sldId id="264"/>
            <p14:sldId id="265"/>
          </p14:sldIdLst>
        </p14:section>
        <p14:section name="D · Risk &amp; uncertainty" id="{f1ca606e-a664-6a56-e760-44008661d28e}">
          <p14:sldIdLst>
            <p14:sldId id="266"/>
            <p14:sldId id="267"/>
            <p14:sldId id="268"/>
          </p14:sldIdLst>
        </p14:section>
        <p14:section name="E · A-grade exam skills" id="{2efbe302-b065-046a-8028-e3bbc4c6d8d2}">
          <p14:sldIdLst>
            <p14:sldId id="269"/>
            <p14:sldId id="270"/>
            <p14:sldId id="271"/>
            <p14:sldId id="272"/>
          </p14:sldIdLst>
        </p14:section>
        <p14:section name="Default-1" id="{fa2e6853-f6b3-c8ed-522a-039caeaf7c37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Tutoring deck on the Role of an entrepreneur (spec 1.3.5 part 1 of 4), pitched for A-grade students. Covers ALL of spec 1.3.5(1): (a) creating &amp; setting up a business, (b) running &amp; expanding/developing, (c) innovation within a business / intrapreneurship, (d) barriers to entrepreneurship, (e) anticipating risk &amp; uncertainty. Exam practice anchored on Elon Musk (perseverance [4], risk-taking [4], Tesla growth [4]) and an entrepreneurial-roles [8]. NOTE: the student calls this section '1.5'; in the spec it is 1.3.5. Parts 2-4 (characteristics &amp; motives; business objectives; business choices) follow in later 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part of spec 1.3.5(1) is covered: 1a-1b creating &amp; running, 1c intrapreneurship, 1d barriers, 1e risk &amp; uncertainty. The thread: entrepreneurs spot opportunities and act on them despite risk - and even large firms try to keep that spirit alive through intrapreneurship. Pace over the week; this is part 1 of the four-part Entrepreneurs &amp; leaders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part 1 of four in Entrepreneurs &amp; leaders - the section that pulls Unit 1 together around the enterprising individual. It connects back to Leadership (the entrepreneur-to-leader difficulty) and forward to motives, objectives and business choices. Parts 2-4 follow in their own 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1.3.5(1) opener. Nail the definition: owns + runs + takes risk + for profit/return. Then the 'why society needs entrepreneurs' grid - jobs, innovation, economic growth, problem-solving, living standards, inspiration. Do Now: 'List any entrepreneur - why do you regard them as entrepreneurs?' OneNote: students record the definition and two reasons society needs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1a-1b. Two phases of the role: CREATING (idea, research, plan, finance, register, start small / online via Etsy-eBay-Amazon) and RUNNING &amp; DEVELOPING (operations, cash flow, brand, staff, reinvest, expand). Examples: Levi Roots (Reggae Reggae Sauce, market stall → Dragons' Den → supermarket brand) and Kris Fade (Fade Fit, UAE healthy snacks). The running phase foreshadows the entrepreneur-to-leader shift from the Leadership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1c. Intrapreneurship = entrepreneurial behaviour INSIDE an existing firm. Why firms want it: innovate without the full risk of a start-up, retain talent, create new revenue and efficiency. Examples: Gmail (Google 20% time), PlayStation (Ken Kutaragi at Sony), Macintosh (Jobs' 'back in the garage but in a large company'). Discuss: why would a large firm encourage intrapreneurship rather than launch a separate start-up? OneNote: students note the definition +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1d. The five barriers the Edexcel exam expects: entrepreneurial capacity, access to finance, lack of training/know-how, fear of failure, lack of confidence. For A-grade answers students must pair each barrier with HOW to overcome it (shown in green) - that's where the analysis marks are. OneNote: students complete a barrier / definition / how-to-overcome table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1e. Key distinction: RISK can be estimated (known odds/outcomes - e.g. a product failing, financial loss, unlimited liability); UNCERTAINTY cannot (unforeseeable external shocks - pandemics, disasters, political shocks). Entrepreneurs manage risk by taking CALCULATED risks, diversifying, seeking higher returns, and persisting. Note unlimited liability for sole traders/partnerships raises the financial risk. OneNote: students write both definitions and one example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1e - the main sources of uncertainty. Exchange rates (weak pound helps exporters, hurts importers), interest rates (higher → less spending), commodity price shocks, health scares (1988 eggs/salmonella - sales fell 60%), external shocks/disasters (2011 Japan quake exposed just-in-time at Toyota; also the 2013 horse-meat scandal), and political/legal change (Brexit). These are UNPREDICTABLE - the point is entrepreneurs must stay flexible and build in resilience. Link to Unit 3 external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Musk case. Two angles: (1) PERSEVERANCE - a timeline of expensive, public failures (three straight rocket explosions, near-bankruptcy in 2008) before breakthrough; the quote reframes failure as part of innovation. (2) The EV MARKET DATA supports a 'why is Tesla likely to grow' question - fast-growing market, first-mover advantage, legacy firms slow. Figures are from the source (c.2018-19) - label as such. OneNote: students annotate the timeline and highlight the growth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[4] 'Explain' build: 1 knowledge + 1 application + 2 analysis (a developed 2-step chain). No evaluation. The model shows the tags: define perseverance (K), apply to Musk's rockets/2008 (App), then chain the consequence two steps (survived → later success → profit). The same structure answers 'why risk-taking is needed' and 'why Tesla is likely to grow' (using the market data). Students write one [4] in OneNote and self-check against K/App/chain.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[8] 'Analyse' build: TWO developed, applied points with 2-3 step chains, no overall judgement. The plan uses two clear roles - innovation (creating products the market lacked → differentiation → first-mover advantage → growth) and bearing risk/raising finance (investing his own money, surviving near-bankruptcy). Depth beats breadth: two fully developed chains in context reach the top level. Students write the [8] in OneNote, then peer-mark for application + chain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 - completes spec 1.3.5(1) in full: creating &amp; running (1a-1b), intrapreneurship (1c), barriers (1d), risk &amp; uncertainty (1e). Students should be able to explain the entrepreneur's role, define &amp; exemplify intrapreneurship, state the five barriers with ways to overcome them, distinguish risk from uncertainty, and build [4]/[8] answers. Next deck: Entrepreneurial motives &amp; characteristics (part 2), using the Cebu Home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IAL Business  ·  Unit 1  ·  Spec 1.3.5 Entrepreneurs &amp; leaders  (Role of an entrepreneur)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 ·  INTERNATIONAL A LEVEL BUSINESS  ·  UNIT 1 (WBS11)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an Entrepreneur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1.3.5 Entrepreneurs &amp; leaders (part 1 of 4)  —  what entrepreneurs do, intrapreneurship, barriers, and managing risk &amp; uncertainty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2249424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running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55264" y="3749040"/>
            <a:ext cx="2029968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55264" y="374904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Intrapreneurship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68112" y="374904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68112" y="37490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03136" y="3749040"/>
            <a:ext cx="2249424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03136" y="37490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uncertainty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Akram  ·  GEMS Metropole School  ·  Cases: Elon Musk (Tesla/SpaceX) · Levi Roots · Kris Fade · Gmail · PlayStation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lesson covers — spec 1.3.5(1)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EAF3F4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02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4533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entrepreneur does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545336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setting up, running &amp; developing a business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698480" y="1673352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98480" y="167335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1a–1b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5328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47802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Intrapreneurship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478024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within an existing business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98480" y="2606040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98480" y="260604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46557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465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41071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to entrepreneurship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410712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barriers — and how to overcome them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698480" y="3538728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698480" y="3538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21538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43982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" y="4398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34340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uncertainty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4343400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difference, and how entrepreneurs manage both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698480" y="4471416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98480" y="44714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514807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232" y="533095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5330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1371600" y="527608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A-grade exam skills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5276088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 — the [4]s and the entrepreneurial-roles [8]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698480" y="5404104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698480" y="540410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in 1.3.5 Entrepreneurs &amp; leaders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1.3.5  Entrepreneurs &amp; leaders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195681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56816"/>
            <a:ext cx="91440" cy="987552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12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94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3969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an entrepreneur   ← this lesson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5054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running, intrapreneurship, barriers, risk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49808" y="305409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310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3697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motives &amp; characteristics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60273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&amp; skills; financial &amp; non-financial motives — next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49808" y="415137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4074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33425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0001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survival, profit max, sales max, market share, social…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49808" y="524865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5046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54315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choices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7972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&amp; trade-offs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360920" y="1371600"/>
            <a:ext cx="4279392" cy="4800600"/>
          </a:xfrm>
          <a:prstGeom prst="roundRect">
            <a:avLst>
              <a:gd name="adj" fmla="val 1709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571232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links across the course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71232" y="1965960"/>
            <a:ext cx="3886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the whole of Unit 1 — markets, marketing &amp; people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entrepreneur→leader shift links to Leadership (1.3.4)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uncertainty links to the external environment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Motives &amp; objectives (parts 2–3) shape every business decision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Unit 3, growth &amp; objectives are revisited at strategic level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entrepreneur does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 ·  why society needs entrepreneurs  ·  creating &amp; setting up, then running &amp; developing a business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DEFINITION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entrepreneur — and why do they matter?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Entrepreneur:  </a:t>
            </a:r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owns and runs their own business and takes a risk to start it up, with a view to making a profit or return. They spot an opportunity, organise resources, and act on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23160"/>
            <a:ext cx="3575304" cy="91440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69748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jobs &amp; income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200400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firms employ people &amp; generate wages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6824" y="24231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6824" y="2423160"/>
            <a:ext cx="3575304" cy="91440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269748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200400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products, technology &amp; services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24231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2423160"/>
            <a:ext cx="3575304" cy="91440"/>
          </a:xfrm>
          <a:prstGeom prst="roundRect">
            <a:avLst/>
          </a:prstGeom>
          <a:solidFill>
            <a:srgbClr val="2F8A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269748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the economy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3200400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GDP, exports &amp; competition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343400"/>
            <a:ext cx="3575304" cy="91440"/>
          </a:xfrm>
          <a:prstGeom prst="roundRect">
            <a:avLst/>
          </a:prstGeom>
          <a:solidFill>
            <a:srgbClr val="6B4F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61772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problems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5120640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 social, environmental &amp; tech challenges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06824" y="434340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06824" y="4343400"/>
            <a:ext cx="3575304" cy="91440"/>
          </a:xfrm>
          <a:prstGeom prst="roundRect">
            <a:avLst/>
          </a:prstGeom>
          <a:solidFill>
            <a:srgbClr val="C14B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07992" y="461772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living standards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07992" y="5120640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choice, quality &amp; better services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65008" y="434340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65008" y="4343400"/>
            <a:ext cx="3575304" cy="91440"/>
          </a:xfrm>
          <a:prstGeom prst="roundRect">
            <a:avLst/>
          </a:prstGeom>
          <a:solidFill>
            <a:srgbClr val="0B5E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66176" y="461772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others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66176" y="5120640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models for ideas, persistence &amp; risk-taking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081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 we need entrepreneurs in society?” — a great Do Now discussion.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A–B · THE ROLE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setting up → running &amp; developing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2F8A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SETTING UP (1A)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983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gap / a good idea and do market research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— a market stall, online, a sole trader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up a business plan; raise the finance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(e.g. self-employed for tax)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routes: a website, or Etsy / eBay / Amazon third-party platforms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4630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627632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8232" y="16276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&amp; DEVELOPING (1B)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103120"/>
            <a:ext cx="4983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day-to-day operations &amp; manage cash flow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brand, win &amp; keep customers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Hire, organise &amp; motivate staff as it grows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profit; expand into new products / markets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doing everything to delegating &amp; leading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548640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examples:  </a:t>
            </a:r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 Roots turned ‘Reggae Reggae Sauce’ from a market-stall recipe into a supermarket brand after Dragons' Den. Kris Fade built Fade Fit from an idea into a growing healthy-snack business in the UAE — both show creating, then running and developing.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within a business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intrapreneurship — what it is, why firms encourage it, and famous examples (Gmail, PlayStation, the Macintosh)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INTRAPRENEURSHIP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Intrapreneurship: the entrepreneur inside the firm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Intrapreneurship:  </a:t>
            </a:r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within a business thinking and acting like entrepreneurs — creating new products, processes or even new business areas from inside an existing firm.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408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87168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2F8A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87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INTRAPRENEURS DO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risks &amp; think creatively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problems &amp; improve processes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innovation; spot trends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 adding value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3408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487168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E094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24871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FIRMS ENCOURAGE 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292608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without the risk of a new start-up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talented, entrepreneurial staff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streams &amp; efficiency gains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competitive as the firm grows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73168"/>
            <a:ext cx="11091672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773168"/>
            <a:ext cx="109728" cy="1408176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86460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120640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— </a:t>
            </a:r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out of Google's ‘20% time’, letting staff work on personal projects (launched 2004).   </a:t>
            </a:r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PlayStation — </a:t>
            </a:r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when junior Sony engineer Ken Kutaragi tinkered with a console and built a global brand.   </a:t>
            </a:r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Macintosh — </a:t>
            </a:r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Jobs called the team ‘intrapreneurs… back in the garage, but in a large company’.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Barriers to entrepreneurship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barriers the exam board expects — and, crucially, how an entrepreneur can overcome each one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BARRIERS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barriers — and how to overcome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1985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419856" cy="91440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3619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capacity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7510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 the skills, knowledge or mindset to run a business.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9008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Overcome:  </a:t>
            </a:r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education build it — it can be learned.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133088" y="1371600"/>
            <a:ext cx="341985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33088" y="1371600"/>
            <a:ext cx="3419856" cy="91440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15968" y="153619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finance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197510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savings; banks wary of lending to start-ups with no track record.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299008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Overcome:  </a:t>
            </a:r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Grants, crowdfunding, angels; government loan schemes.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7717536" y="1371600"/>
            <a:ext cx="341985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17536" y="1371600"/>
            <a:ext cx="3419856" cy="91440"/>
          </a:xfrm>
          <a:prstGeom prst="roundRect">
            <a:avLst/>
          </a:prstGeom>
          <a:solidFill>
            <a:srgbClr val="2F8A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00416" y="153619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training / know-how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00416" y="197510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 how to actually start &amp; run a business.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00416" y="299008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Overcome:  </a:t>
            </a:r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courses; eBay/Etsy guides; mentoring.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2331720" y="3749040"/>
            <a:ext cx="341985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31720" y="3749040"/>
            <a:ext cx="3419856" cy="91440"/>
          </a:xfrm>
          <a:prstGeom prst="roundRect">
            <a:avLst/>
          </a:prstGeom>
          <a:solidFill>
            <a:srgbClr val="6B4F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14600" y="39136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failure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435254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or stigma of failing deters people — especially if leaving a salaried job.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536752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Overcome:  </a:t>
            </a:r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small; a solid plan; accept failure as learning.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916168" y="3749040"/>
            <a:ext cx="341985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16168" y="3749040"/>
            <a:ext cx="3419856" cy="91440"/>
          </a:xfrm>
          <a:prstGeom prst="roundRect">
            <a:avLst/>
          </a:prstGeom>
          <a:solidFill>
            <a:srgbClr val="C14B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99048" y="39136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confidence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99048" y="435254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believing they can do it, even with a good idea.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099048" y="536752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Overcome:  </a:t>
            </a:r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the idea sells; training &amp; support build belief.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Anticipating risk &amp; uncertainty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risk and uncertainty  ·  how entrepreneurs manage risk  ·  the main sources of uncertainty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RISK VS UNCERTAINTY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and uncertainty — not the same thing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66544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that things won't go as planned — and it CAN be estimated. The odds and possible outcomes are roughly known.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money invested; unlimited liability; a new product not selling.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9EAE6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62763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C14B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162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066544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external shocks the business CANNOT foresee or measure — outcomes and odds are unknown.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2971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pandemic, a natural disaster, a sudden political or exchange-rate shock.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1422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successful entrepreneurs deal with RISK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5262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CALCULATED risks — understand them, rather than gamble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risk by diversifying — don't put all their eggs in one basket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higher returns to justify the risk taken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despite setbacks — persistence is a key quality (see Elon Musk)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SOURCES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of uncertainty in the business environment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75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575304" cy="91440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Exchange-rate changes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95728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falling pound helps exporters but raises import costs → squeezed margins.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463040"/>
            <a:ext cx="3575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06824" y="1463040"/>
            <a:ext cx="3575304" cy="91440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07992" y="173736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changes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395728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rates → less consumer borrowing &amp; spending → lower sales.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463040"/>
            <a:ext cx="3575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463040"/>
            <a:ext cx="3575304" cy="91440"/>
          </a:xfrm>
          <a:prstGeom prst="roundRect">
            <a:avLst/>
          </a:prstGeom>
          <a:solidFill>
            <a:srgbClr val="2F8A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66176" y="173736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price shocks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395728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jumps in raw materials (oil, coffee, copper) hit costs &amp; profit.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575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29000"/>
            <a:ext cx="3575304" cy="91440"/>
          </a:xfrm>
          <a:prstGeom prst="roundRect">
            <a:avLst/>
          </a:prstGeom>
          <a:solidFill>
            <a:srgbClr val="C14B3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7033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scares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361688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scare can collapse demand overnight (e.g. the 1988 egg/salmonella scare).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06824" y="3429000"/>
            <a:ext cx="3575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6824" y="3429000"/>
            <a:ext cx="3575304" cy="91440"/>
          </a:xfrm>
          <a:prstGeom prst="roundRect">
            <a:avLst/>
          </a:prstGeom>
          <a:solidFill>
            <a:srgbClr val="6B4F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07992" y="37033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shocks &amp; disasters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07992" y="4361688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Quakes, pandemics or scandals disrupt supply chains (e.g. 2011 Japan quake &amp; just-in-time).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429000"/>
            <a:ext cx="3575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429000"/>
            <a:ext cx="3575304" cy="91440"/>
          </a:xfrm>
          <a:prstGeom prst="roundRect">
            <a:avLst/>
          </a:prstGeom>
          <a:solidFill>
            <a:srgbClr val="0B5E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66176" y="37033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&amp; legal change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4361688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like Brexit or new regulation create unpredictable conditions.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A-grade exam skills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 &amp; perseverance  ·  the [4]-mark build  ·  the entrepreneurial-roles [8]-mark build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THE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case: Elon Musk — failure &amp; perseverance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355080" cy="4800600"/>
          </a:xfrm>
          <a:prstGeom prst="roundRect">
            <a:avLst>
              <a:gd name="adj" fmla="val 1524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of failures before success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South Africa 1971; made his first fortune co-founding PayPal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2002: founded SpaceX after Russia refused to sell him rockets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2006–08: first THREE SpaceX launches all explode (3rd carried NASA satellites)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2008: Tesla AND SpaceX on the brink of bankruptcy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2015–16: two more rocket explosions; Model X delayed 18 months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…yet SpaceX &amp; Tesla went on to reshape their industries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5897880" cy="1325880"/>
          </a:xfrm>
          <a:prstGeom prst="roundRect">
            <a:avLst>
              <a:gd name="adj" fmla="val 5517"/>
            </a:avLst>
          </a:prstGeom>
          <a:solidFill>
            <a:srgbClr val="0E3A43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87552" y="482803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“Failure is an option here. If things are not failing, you are not innovating enough.”
</a:t>
            </a:r>
            <a:pPr indent="0" marL="0">
              <a:buNone/>
            </a:pPr>
            <a:r>
              <a:rPr lang="en-US" sz="11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Elon Musk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14032" y="1371600"/>
            <a:ext cx="4526280" cy="4800600"/>
          </a:xfrm>
          <a:prstGeom prst="roundRect">
            <a:avLst>
              <a:gd name="adj" fmla="val 1616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0" y="14996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electric-car market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901952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stock passed 5 million in 2018 — up 63% in a year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of EVs on the road in 2018 were in China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market valued at $162bn (2019), projected ~$803bn by 2027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(founded 2003) now outsells some BMW &amp; Mercedes models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rivals racing to copy Tesla as legacy firms lag on battery tech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5715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from the source booklet (c.2018–19).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THE [4]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4-mark build: ‘Explain…’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E3A43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advantage of Elon Musk demonstrating perseverance.  </a:t>
            </a:r>
            <a:pPr indent="0" marL="0"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pPr indent="0" marL="0">
              <a:buNone/>
            </a:pPr>
            <a:r>
              <a:rPr lang="en-US" sz="1150" i="1" dirty="0">
                <a:solidFill>
                  <a:srgbClr val="B9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(also: ‘…why risk-taking is needed by an entrepreneur’ [4])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029200" cy="3794760"/>
          </a:xfrm>
          <a:prstGeom prst="roundRect">
            <a:avLst>
              <a:gd name="adj" fmla="val 1928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4871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[4] is marked (K + A + chain)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52928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— knowledge: identify/define the point</a:t>
            </a:r>
            <a:endParaRPr lang="en-US" sz="123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— application: use the Musk context</a:t>
            </a:r>
            <a:endParaRPr lang="en-US" sz="123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marks — analysis: a developed 2-step chain of consequence</a:t>
            </a:r>
            <a:endParaRPr lang="en-US" sz="123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evaluation needed — just one clear, developed reason</a:t>
            </a:r>
            <a:endParaRPr lang="en-US" sz="123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50292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Connectives to use:  </a:t>
            </a:r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‘this means…’, ‘which leads to…’, ‘as a result…’, ‘therefore…’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88152" y="2377440"/>
            <a:ext cx="5852160" cy="3794760"/>
          </a:xfrm>
          <a:prstGeom prst="roundRect">
            <a:avLst>
              <a:gd name="adj" fmla="val 1928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24871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 (perseverance)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852928"/>
            <a:ext cx="5440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means continuing despite setbacks </a:t>
            </a:r>
            <a:pPr indent="0" marL="0">
              <a:buNone/>
            </a:pPr>
            <a:r>
              <a:rPr lang="en-US" sz="123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(K). </a:t>
            </a:r>
            <a:pPr indent="0" marL="0">
              <a:buNone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 kept funding SpaceX after three rockets exploded and near-bankruptcy in 2008 </a:t>
            </a:r>
            <a:pPr indent="0" marL="0">
              <a:buNone/>
            </a:pPr>
            <a:r>
              <a:rPr lang="en-US" sz="123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(App). </a:t>
            </a:r>
            <a:pPr indent="0" marL="0">
              <a:buNone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meant the company survived long enough to succeed with later launches, </a:t>
            </a:r>
            <a:pPr indent="0" marL="0">
              <a:buNone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allowed SpaceX to win contracts and become profitable </a:t>
            </a:r>
            <a:pPr indent="0" marL="0">
              <a:buNone/>
            </a:pPr>
            <a:r>
              <a:rPr lang="en-US" sz="123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(2-step chain). </a:t>
            </a:r>
            <a:pPr indent="0" marL="0">
              <a:buNone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perseverance turned early failure into long-term success — an advantage a less determined entrepreneur would have lost.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THE [8]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8-mark build: entrepreneurial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E3A43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role played by an entrepreneur such as Elon Musk in creating and developing a business.  </a:t>
            </a:r>
            <a:pPr indent="0" marL="0"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029200" cy="3794760"/>
          </a:xfrm>
          <a:prstGeom prst="roundRect">
            <a:avLst>
              <a:gd name="adj" fmla="val 1928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4871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[8] is marked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52928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= TWO developed points, applied — no overall judgement</a:t>
            </a:r>
            <a:endParaRPr lang="en-US" sz="123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point: knowledge + application + a 2–3 step chain</a:t>
            </a:r>
            <a:endParaRPr lang="en-US" sz="123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level (7–8): both points fully developed &amp; in context</a:t>
            </a:r>
            <a:endParaRPr lang="en-US" sz="123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connectives to build each chain logically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5788152" y="2377440"/>
            <a:ext cx="5852160" cy="3794760"/>
          </a:xfrm>
          <a:prstGeom prst="roundRect">
            <a:avLst>
              <a:gd name="adj" fmla="val 1928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89320" y="24871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two developed roles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852928"/>
            <a:ext cx="5440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¶1 Innovation: Musk created products the market lacked (reusable rockets, mass-market EVs) → differentiated the firms → first-mover advantage in a fast-growing EV market ($162bn→$803bn) → sales &amp; growth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¶2 Bearing risk &amp; raising finance: he put his PayPal fortune in and took calculated risks → kept Tesla &amp; SpaceX alive through near-bankruptcy → enabled survival and scale that cautious rivals missed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conclusion needed — depth of the two chains earns the marks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‘role of entrepreneur’ questions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430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6702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/ State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+ an example (intrapreneurship, uncertainty…).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+ application + a developed 2-step chain. No judgement.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(2 pts)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applied points, each with a developed chain. No judgement.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fully-developed, applied points with longer chains.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sides, applied, + a supported ‘it depends’ judgement.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idea: entrepreneurs spot opportunities and act on them despite risk &amp; uncertainty — and the best keep that enterprising spirit alive even as the firm grows (intrapreneurship).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1.3.5: Entrepreneurial motives &amp; characteristics (part 2 of 4).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L Entrepreneurs">
  <a:themeElements>
    <a:clrScheme name="IAL Entrepreneurs">
      <a:dk1>
        <a:srgbClr val="1F2A33"/>
      </a:dk1>
      <a:lt1>
        <a:srgbClr val="FFFFFF"/>
      </a:lt1>
      <a:dk2>
        <a:srgbClr val="0E3A43"/>
      </a:dk2>
      <a:lt2>
        <a:srgbClr val="EAF3F4"/>
      </a:lt2>
      <a:accent1>
        <a:srgbClr val="0E7C86"/>
      </a:accent1>
      <a:accent2>
        <a:srgbClr val="E0940F"/>
      </a:accent2>
      <a:accent3>
        <a:srgbClr val="2F8A5B"/>
      </a:accent3>
      <a:accent4>
        <a:srgbClr val="C14B37"/>
      </a:accent4>
      <a:accent5>
        <a:srgbClr val="5B6B73"/>
      </a:accent5>
      <a:accent6>
        <a:srgbClr val="6B4FA0"/>
      </a:accent6>
      <a:hlink>
        <a:srgbClr val="0E7C86"/>
      </a:hlink>
      <a:folHlink>
        <a:srgbClr val="0B5E66"/>
      </a:folHlink>
    </a:clrScheme>
    <a:fontScheme name="IAL Entrepreneu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GEMS Metropole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Mr. Akram</dc:creator>
  <cp:lastModifiedBy>Mr. Akram</cp:lastModifiedBy>
  <cp:revision>1</cp:revision>
  <dcterms:created xsi:type="dcterms:W3CDTF">2026-10-21T02:36:51Z</dcterms:created>
  <dcterms:modified xsi:type="dcterms:W3CDTF">2026-10-21T02:36:51Z</dcterms:modified>
</cp:coreProperties>
</file>