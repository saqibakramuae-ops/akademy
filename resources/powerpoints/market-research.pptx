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Types &amp; purpose" id="{9F7C7162-D1DE-CFCB-FB5A-C3DEE98E9325}">
          <p14:sldIdLst>
            <p14:sldId id="256"/>
            <p14:sldId id="257"/>
            <p14:sldId id="258"/>
            <p14:sldId id="259"/>
            <p14:sldId id="260"/>
            <p14:sldId id="261"/>
          </p14:sldIdLst>
        </p14:section>
        <p14:section name="B · Methods" id="{54949D8D-27B8-60B2-A40A-73E0779F9333}">
          <p14:sldIdLst>
            <p14:sldId id="262"/>
            <p14:sldId id="263"/>
            <p14:sldId id="264"/>
            <p14:sldId id="265"/>
          </p14:sldIdLst>
        </p14:section>
        <p14:section name="C · Sampling" id="{2C428668-E4D6-1C44-51FB-621DB4042E43}">
          <p14:sldIdLst>
            <p14:sldId id="266"/>
            <p14:sldId id="267"/>
            <p14:sldId id="268"/>
            <p14:sldId id="269"/>
            <p14:sldId id="270"/>
          </p14:sldIdLst>
        </p14:section>
        <p14:section name="D · A-grade exam skills" id="{A85A9475-8A6C-4ED1-0716-4D8793FC1284}">
          <p14:sldIdLst>
            <p14:sldId id="271"/>
            <p14:sldId id="272"/>
            <p14:sldId id="273"/>
            <p14:sldId id="274"/>
          </p14:sldIdLst>
        </p14:section>
        <p14:section name="Default-1" id="{BA52DED5-8359-A614-940A-54FFFC6A26D1}">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qib Akram" userId="f5da4481-21f4-4bc5-8357-d7768b0ee4a8" providerId="ADAL" clId="{BBBC954A-73D6-59DF-AF4B-0B5185F9EA1B}"/>
    <pc:docChg chg="mod">
      <pc:chgData name="Saqib Akram" userId="f5da4481-21f4-4bc5-8357-d7768b0ee4a8" providerId="ADAL" clId="{BBBC954A-73D6-59DF-AF4B-0B5185F9EA1B}" dt="2026-10-21T05:14:34.453"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4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market research (spec 1.3.1 'Meeting customer needs', section 2 of 3), pitched for A-grade students. Same house style as the other decks. Covers primary vs secondary (quant/qual) and their purposes, primary and secondary methods with definitions/benefits/drawbacks, and sampling methods (random, quota, stratified) given extra depth with a clear worked example, because students find sampling the hardest part. Cases: YOTEL, Skechers, Innocent, Superdry, BYD. NOTE: the student calls this '1.1'; in the spec it is 1.3.1.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research = gathering, analysing and interpreting information about a market, its customers and competitors. Sampling (Part C) is given the most space because it is where students lose marks - they can define the methods but not explain HOW each selects people. The clear canteen example is the fix.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2 of three in topic 1.3.1. The three PURPOSES are the spec's own list and are the key to application marks: students must say what the research lets the named business DO (identify needs / quantify demand / understand behaviour), not just name the method. Market positioning (incl. segmentation) is the next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distinctions students often confuse. Primary/secondary = WHO collected it and when (new &amp; first-hand vs pre-existing). Quantitative/qualitative = the TYPE of data (numbers vs opinions). A method can be primary AND quantitative (a survey). Key misconception to flag: primary ≠ quantitative; secondary ≠ qualitative — they are independent.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purposes are straight from the spec and are the backbone of application marks. The 'reduces but cannot remove risk' balance is the key evaluation line for 8/10-mark questions - research is an input to a decision, not a guarantee. A poor sample (Part C) is one reason research can mislead, which links the sections.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primary methods. The 'Data' line tells students the likely data type - useful for matching a method to a purpose (quantify demand -&gt; survey; insight into behaviour -&gt; focus group). Test marketing is the Innocent exam anchor (Part D). Each card gives definition + benefit + drawback as requested.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secondary methods. Stress the trade-off that runs through all of them: secondary data is cheap and quick but was gathered for someone else's purpose, so it may be outdated or not specific. The A-grade move is to combine secondary (for context &amp; scale) with primary (for firm-specific detail).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vocabulary clearly: population = everyone; sample = the chosen subset; representative = reflects the whole. The canteen example (1,000 students = 600 Y12 + 400 Y13, sample of 100) runs across the next three slides so students see exactly how each method picks the 100 differently. This concrete worked example is the fix for the thing students find hardest.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slide for this section. Say it simply: RANDOM = everyone has an equal chance (but the mix may be off by luck). QUOTA = correct group NUMBERS, but the researcher chooses who (so not random). STRATIFIED = correct group PROPORTIONS and random within each group (so most representative). The canteen's 60/40 split makes the difference visible: random might give 70/30 by chance; quota and stratified both aim for 60/40, but only stratified picks randomly within each year.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benefits and drawbacks in one place (from the canteen quick-guide). The evaluation line is the one students need for the BYD 10-marker: stratified = most representative but slower/costlier; quota = quick/cheap but biased. 'It depends' on time, budget and the importance of accuracy. This is the table to copy into OneNote.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uses your BYD chain-of-reasoning activity directly. The A-F structure IS the 5x5 chain: Point - Reason - Effect - Consequence - Impact - Judgement, with connectives (this is because / this means / this could lead to / as a result / however / depends on). BYD facts: 10,000-person database, ages 25% 18-29, 55% 30-49, 20% 50+; launching a new electric SUV. The judgement must weigh accuracy vs speed/cost, not just pick stratified.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4-mark skill is to tie the METHOD to a PURPOSE and a consequence for the named business. Note the mark tags: K (name method), A×2 (two applied references to YOTEL), An (a developed consequence - a better expansion decision, less risk). Students who just define 'a survey' with no YOTEL context cap at 1-2 marks.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marketing is a primary method (product trial). The strength is REAL behaviour (actual sales), not stated intentions - a strong A-grade point. The balance: a 10-shop sample may not represent the national market (links back to sampling in Part C!), it tips off rivals, and it slows the launch. The judgement turns on whether the test is representative.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applied advantages (real demand data, cheap problem-spotting), one developed drawback, and a conditional judgement that loops back to SAMPLING (are the 10 shops representative?). That cross-link between test marketing and sampling is a sophisticated, Level 4 move. Connectives throughout: this means, so, however, overall, depends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2 of 1.3.1. Students should leave able to distinguish primary/secondary and quant/qual, name and evaluate research methods, and - above all - explain clearly how random, quota and stratified sampling each select people, with benefits and drawbacks. Market positioning (incl. segmentation) is the next deck.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marL="0" indent="0" algn="l">
              <a:buNone/>
            </a:pPr>
            <a:r>
              <a:rPr lang="en-US" sz="900" dirty="0">
                <a:solidFill>
                  <a:srgbClr val="5B6B73"/>
                </a:solidFill>
                <a:latin typeface="Calibri" pitchFamily="34" charset="0"/>
                <a:ea typeface="Calibri" pitchFamily="34" charset="-122"/>
                <a:cs typeface="Calibri" pitchFamily="34" charset="-120"/>
              </a:rPr>
              <a:t>IAL Business  ·  Unit 1  ·  Spec 1.3.1 Meeting customer needs  (Market research)</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marL="0" indent="0">
              <a:buNone/>
            </a:pPr>
            <a:r>
              <a:rPr lang="en-US" sz="1250" b="1" kern="0" spc="15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60704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Market Research</a:t>
            </a:r>
            <a:endParaRPr lang="en-US" sz="4800" dirty="0"/>
          </a:p>
        </p:txBody>
      </p:sp>
      <p:sp>
        <p:nvSpPr>
          <p:cNvPr id="4" name="Text 2"/>
          <p:cNvSpPr txBox="1"/>
          <p:nvPr/>
        </p:nvSpPr>
        <p:spPr>
          <a:xfrm>
            <a:off x="822960" y="2743200"/>
            <a:ext cx="10515600" cy="457200"/>
          </a:xfrm>
          <a:prstGeom prst="rect">
            <a:avLst/>
          </a:prstGeom>
          <a:noFill/>
          <a:ln/>
        </p:spPr>
        <p:txBody>
          <a:bodyPr wrap="square" lIns="0" tIns="0" rIns="0" bIns="0" rtlCol="0" anchor="ctr"/>
          <a:lstStyle/>
          <a:p>
            <a:pPr marL="0" indent="0">
              <a:buNone/>
            </a:pPr>
            <a:r>
              <a:rPr lang="en-US" sz="1500" i="1" dirty="0">
                <a:solidFill>
                  <a:srgbClr val="D7E6E8"/>
                </a:solidFill>
                <a:latin typeface="Calibri" pitchFamily="34" charset="0"/>
                <a:ea typeface="Calibri" pitchFamily="34" charset="-122"/>
                <a:cs typeface="Calibri" pitchFamily="34" charset="-120"/>
              </a:rPr>
              <a:t>Spec 1.3.1 Meeting customer needs (section 2 of 3)  —  a tutoring guide: the methods, the sampling, and A-grade exam practice</a:t>
            </a:r>
            <a:endParaRPr lang="en-US" sz="1500" dirty="0"/>
          </a:p>
        </p:txBody>
      </p:sp>
      <p:sp>
        <p:nvSpPr>
          <p:cNvPr id="5" name="Shape 3"/>
          <p:cNvSpPr/>
          <p:nvPr/>
        </p:nvSpPr>
        <p:spPr>
          <a:xfrm>
            <a:off x="822960" y="3794760"/>
            <a:ext cx="2304288" cy="420624"/>
          </a:xfrm>
          <a:prstGeom prst="roundRect">
            <a:avLst>
              <a:gd name="adj" fmla="val 50000"/>
            </a:avLst>
          </a:prstGeom>
          <a:solidFill>
            <a:srgbClr val="0B2E35"/>
          </a:solidFill>
          <a:ln w="12700">
            <a:solidFill>
              <a:srgbClr val="0E7C86"/>
            </a:solidFill>
            <a:prstDash val="solid"/>
          </a:ln>
        </p:spPr>
        <p:txBody>
          <a:bodyPr/>
          <a:lstStyle/>
          <a:p>
            <a:endParaRPr lang="en-AE"/>
          </a:p>
        </p:txBody>
      </p:sp>
      <p:sp>
        <p:nvSpPr>
          <p:cNvPr id="6" name="Text 4"/>
          <p:cNvSpPr txBox="1"/>
          <p:nvPr/>
        </p:nvSpPr>
        <p:spPr>
          <a:xfrm>
            <a:off x="822960" y="3794760"/>
            <a:ext cx="2304288" cy="420624"/>
          </a:xfrm>
          <a:prstGeom prst="rect">
            <a:avLst/>
          </a:prstGeom>
          <a:noFill/>
          <a:ln/>
        </p:spPr>
        <p:txBody>
          <a:bodyPr wrap="square" lIns="0" tIns="0" rIns="0" bIns="0" rtlCol="0" anchor="ctr"/>
          <a:lstStyle/>
          <a:p>
            <a:pPr marL="0" indent="0" algn="ctr">
              <a:buNone/>
            </a:pPr>
            <a:r>
              <a:rPr lang="en-US" sz="1250" dirty="0">
                <a:solidFill>
                  <a:srgbClr val="CDE6E8"/>
                </a:solidFill>
                <a:latin typeface="Calibri" pitchFamily="34" charset="0"/>
                <a:ea typeface="Calibri" pitchFamily="34" charset="-122"/>
                <a:cs typeface="Calibri" pitchFamily="34" charset="-120"/>
              </a:rPr>
              <a:t>Primary vs secondary</a:t>
            </a:r>
            <a:endParaRPr lang="en-US" sz="1250" dirty="0"/>
          </a:p>
        </p:txBody>
      </p:sp>
      <p:sp>
        <p:nvSpPr>
          <p:cNvPr id="7" name="Shape 5"/>
          <p:cNvSpPr/>
          <p:nvPr/>
        </p:nvSpPr>
        <p:spPr>
          <a:xfrm>
            <a:off x="3310128" y="3794760"/>
            <a:ext cx="1792224" cy="420624"/>
          </a:xfrm>
          <a:prstGeom prst="roundRect">
            <a:avLst>
              <a:gd name="adj" fmla="val 50000"/>
            </a:avLst>
          </a:prstGeom>
          <a:solidFill>
            <a:srgbClr val="0B2E35"/>
          </a:solidFill>
          <a:ln w="12700">
            <a:solidFill>
              <a:srgbClr val="0E7C86"/>
            </a:solidFill>
            <a:prstDash val="solid"/>
          </a:ln>
        </p:spPr>
        <p:txBody>
          <a:bodyPr/>
          <a:lstStyle/>
          <a:p>
            <a:endParaRPr lang="en-AE"/>
          </a:p>
        </p:txBody>
      </p:sp>
      <p:sp>
        <p:nvSpPr>
          <p:cNvPr id="8" name="Text 6"/>
          <p:cNvSpPr txBox="1"/>
          <p:nvPr/>
        </p:nvSpPr>
        <p:spPr>
          <a:xfrm>
            <a:off x="3310128" y="3794760"/>
            <a:ext cx="1792224" cy="420624"/>
          </a:xfrm>
          <a:prstGeom prst="rect">
            <a:avLst/>
          </a:prstGeom>
          <a:noFill/>
          <a:ln/>
        </p:spPr>
        <p:txBody>
          <a:bodyPr wrap="square" lIns="0" tIns="0" rIns="0" bIns="0" rtlCol="0" anchor="ctr"/>
          <a:lstStyle/>
          <a:p>
            <a:pPr marL="0" indent="0" algn="ctr">
              <a:buNone/>
            </a:pPr>
            <a:r>
              <a:rPr lang="en-US" sz="1250" dirty="0">
                <a:solidFill>
                  <a:srgbClr val="CDE6E8"/>
                </a:solidFill>
                <a:latin typeface="Calibri" pitchFamily="34" charset="0"/>
                <a:ea typeface="Calibri" pitchFamily="34" charset="-122"/>
                <a:cs typeface="Calibri" pitchFamily="34" charset="-120"/>
              </a:rPr>
              <a:t>Primary methods</a:t>
            </a:r>
            <a:endParaRPr lang="en-US" sz="1250" dirty="0"/>
          </a:p>
        </p:txBody>
      </p:sp>
      <p:sp>
        <p:nvSpPr>
          <p:cNvPr id="9" name="Shape 7"/>
          <p:cNvSpPr/>
          <p:nvPr/>
        </p:nvSpPr>
        <p:spPr>
          <a:xfrm>
            <a:off x="5285232" y="3794760"/>
            <a:ext cx="1997050" cy="420624"/>
          </a:xfrm>
          <a:prstGeom prst="roundRect">
            <a:avLst>
              <a:gd name="adj" fmla="val 50000"/>
            </a:avLst>
          </a:prstGeom>
          <a:solidFill>
            <a:srgbClr val="0B2E35"/>
          </a:solidFill>
          <a:ln w="12700">
            <a:solidFill>
              <a:srgbClr val="0E7C86"/>
            </a:solidFill>
            <a:prstDash val="solid"/>
          </a:ln>
        </p:spPr>
        <p:txBody>
          <a:bodyPr/>
          <a:lstStyle/>
          <a:p>
            <a:endParaRPr lang="en-AE"/>
          </a:p>
        </p:txBody>
      </p:sp>
      <p:sp>
        <p:nvSpPr>
          <p:cNvPr id="10" name="Text 8"/>
          <p:cNvSpPr txBox="1"/>
          <p:nvPr/>
        </p:nvSpPr>
        <p:spPr>
          <a:xfrm>
            <a:off x="5285232" y="3794760"/>
            <a:ext cx="1997050" cy="420624"/>
          </a:xfrm>
          <a:prstGeom prst="rect">
            <a:avLst/>
          </a:prstGeom>
          <a:noFill/>
          <a:ln/>
        </p:spPr>
        <p:txBody>
          <a:bodyPr wrap="square" lIns="0" tIns="0" rIns="0" bIns="0" rtlCol="0" anchor="ctr"/>
          <a:lstStyle/>
          <a:p>
            <a:pPr marL="0" indent="0" algn="ctr">
              <a:buNone/>
            </a:pPr>
            <a:r>
              <a:rPr lang="en-US" sz="1250" dirty="0">
                <a:solidFill>
                  <a:srgbClr val="CDE6E8"/>
                </a:solidFill>
                <a:latin typeface="Calibri" pitchFamily="34" charset="0"/>
                <a:ea typeface="Calibri" pitchFamily="34" charset="-122"/>
                <a:cs typeface="Calibri" pitchFamily="34" charset="-120"/>
              </a:rPr>
              <a:t>Secondary methods</a:t>
            </a:r>
            <a:endParaRPr lang="en-US" sz="1250" dirty="0"/>
          </a:p>
        </p:txBody>
      </p:sp>
      <p:sp>
        <p:nvSpPr>
          <p:cNvPr id="11" name="Shape 9"/>
          <p:cNvSpPr/>
          <p:nvPr/>
        </p:nvSpPr>
        <p:spPr>
          <a:xfrm>
            <a:off x="7465162" y="3794760"/>
            <a:ext cx="3738067" cy="420624"/>
          </a:xfrm>
          <a:prstGeom prst="roundRect">
            <a:avLst>
              <a:gd name="adj" fmla="val 50000"/>
            </a:avLst>
          </a:prstGeom>
          <a:solidFill>
            <a:srgbClr val="0B2E35"/>
          </a:solidFill>
          <a:ln w="12700">
            <a:solidFill>
              <a:srgbClr val="0E7C86"/>
            </a:solidFill>
            <a:prstDash val="solid"/>
          </a:ln>
        </p:spPr>
        <p:txBody>
          <a:bodyPr/>
          <a:lstStyle/>
          <a:p>
            <a:endParaRPr lang="en-AE"/>
          </a:p>
        </p:txBody>
      </p:sp>
      <p:sp>
        <p:nvSpPr>
          <p:cNvPr id="12" name="Text 10"/>
          <p:cNvSpPr txBox="1"/>
          <p:nvPr/>
        </p:nvSpPr>
        <p:spPr>
          <a:xfrm>
            <a:off x="7465162" y="3794760"/>
            <a:ext cx="3738067" cy="420624"/>
          </a:xfrm>
          <a:prstGeom prst="rect">
            <a:avLst/>
          </a:prstGeom>
          <a:noFill/>
          <a:ln/>
        </p:spPr>
        <p:txBody>
          <a:bodyPr wrap="square" lIns="0" tIns="0" rIns="0" bIns="0" rtlCol="0" anchor="ctr"/>
          <a:lstStyle/>
          <a:p>
            <a:pPr marL="0" indent="0" algn="ctr">
              <a:buNone/>
            </a:pPr>
            <a:r>
              <a:rPr lang="en-US" sz="1250" dirty="0">
                <a:solidFill>
                  <a:srgbClr val="CDE6E8"/>
                </a:solidFill>
                <a:latin typeface="Calibri" pitchFamily="34" charset="0"/>
                <a:ea typeface="Calibri" pitchFamily="34" charset="-122"/>
                <a:cs typeface="Calibri" pitchFamily="34" charset="-120"/>
              </a:rPr>
              <a:t>Sampling (random/quota/stratified)</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marL="0" indent="0">
              <a:buNone/>
            </a:pPr>
            <a:r>
              <a:rPr lang="en-US" sz="1300" dirty="0">
                <a:solidFill>
                  <a:srgbClr val="9FBCC0"/>
                </a:solidFill>
                <a:latin typeface="Calibri" pitchFamily="34" charset="0"/>
                <a:ea typeface="Calibri" pitchFamily="34" charset="-122"/>
                <a:cs typeface="Calibri" pitchFamily="34" charset="-120"/>
              </a:rPr>
              <a:t>Mr. Akram  ·  GEMS Metropole School  ·  Cases: YOTEL · Skechers · Innocent · Superdry · BYD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What this lesson covers</a:t>
            </a:r>
            <a:endParaRPr lang="en-US" sz="2700" dirty="0"/>
          </a:p>
        </p:txBody>
      </p:sp>
      <p:sp>
        <p:nvSpPr>
          <p:cNvPr id="4" name="Shape 2"/>
          <p:cNvSpPr/>
          <p:nvPr/>
        </p:nvSpPr>
        <p:spPr>
          <a:xfrm>
            <a:off x="548640" y="1554480"/>
            <a:ext cx="11091672" cy="914400"/>
          </a:xfrm>
          <a:prstGeom prst="roundRect">
            <a:avLst>
              <a:gd name="adj" fmla="val 8000"/>
            </a:avLst>
          </a:prstGeom>
          <a:solidFill>
            <a:srgbClr val="EAF3F4"/>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731520" y="1773936"/>
            <a:ext cx="493776" cy="493776"/>
          </a:xfrm>
          <a:prstGeom prst="roundRect">
            <a:avLst>
              <a:gd name="adj" fmla="val 18519"/>
            </a:avLst>
          </a:prstGeom>
          <a:solidFill>
            <a:srgbClr val="0E7C86"/>
          </a:solidFill>
          <a:ln/>
        </p:spPr>
        <p:txBody>
          <a:bodyPr/>
          <a:lstStyle/>
          <a:p>
            <a:endParaRPr lang="en-AE"/>
          </a:p>
        </p:txBody>
      </p:sp>
      <p:sp>
        <p:nvSpPr>
          <p:cNvPr id="6" name="Text 4"/>
          <p:cNvSpPr txBox="1"/>
          <p:nvPr/>
        </p:nvSpPr>
        <p:spPr>
          <a:xfrm>
            <a:off x="731520" y="1773936"/>
            <a:ext cx="493776" cy="49377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417320" y="1700784"/>
            <a:ext cx="4846320" cy="640080"/>
          </a:xfrm>
          <a:prstGeom prst="rect">
            <a:avLst/>
          </a:prstGeom>
          <a:noFill/>
          <a:ln/>
        </p:spPr>
        <p:txBody>
          <a:bodyPr wrap="square" lIns="0" tIns="0" rIns="0" bIns="0" rtlCol="0" anchor="ctr"/>
          <a:lstStyle/>
          <a:p>
            <a:pPr marL="0" indent="0">
              <a:buNone/>
            </a:pPr>
            <a:r>
              <a:rPr lang="en-US" sz="1500" b="1" dirty="0">
                <a:solidFill>
                  <a:srgbClr val="0E3A43"/>
                </a:solidFill>
                <a:latin typeface="Calibri" pitchFamily="34" charset="0"/>
                <a:ea typeface="Calibri" pitchFamily="34" charset="-122"/>
                <a:cs typeface="Calibri" pitchFamily="34" charset="-120"/>
              </a:rPr>
              <a:t>Types of research &amp; purpose</a:t>
            </a:r>
            <a:endParaRPr lang="en-US" sz="1500" dirty="0"/>
          </a:p>
        </p:txBody>
      </p:sp>
      <p:sp>
        <p:nvSpPr>
          <p:cNvPr id="8" name="Text 6"/>
          <p:cNvSpPr txBox="1"/>
          <p:nvPr/>
        </p:nvSpPr>
        <p:spPr>
          <a:xfrm>
            <a:off x="6355080" y="1700784"/>
            <a:ext cx="5166360" cy="64008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Primary vs secondary, quantitative vs qualitative, and why firms research</a:t>
            </a:r>
            <a:endParaRPr lang="en-US" sz="1250" dirty="0"/>
          </a:p>
        </p:txBody>
      </p:sp>
      <p:sp>
        <p:nvSpPr>
          <p:cNvPr id="9" name="Shape 7"/>
          <p:cNvSpPr/>
          <p:nvPr/>
        </p:nvSpPr>
        <p:spPr>
          <a:xfrm>
            <a:off x="548640" y="2578608"/>
            <a:ext cx="11091672" cy="914400"/>
          </a:xfrm>
          <a:prstGeom prst="roundRect">
            <a:avLst>
              <a:gd name="adj" fmla="val 80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0" name="Shape 8"/>
          <p:cNvSpPr/>
          <p:nvPr/>
        </p:nvSpPr>
        <p:spPr>
          <a:xfrm>
            <a:off x="731520" y="2798064"/>
            <a:ext cx="493776" cy="493776"/>
          </a:xfrm>
          <a:prstGeom prst="roundRect">
            <a:avLst>
              <a:gd name="adj" fmla="val 18519"/>
            </a:avLst>
          </a:prstGeom>
          <a:solidFill>
            <a:srgbClr val="0E7C86"/>
          </a:solidFill>
          <a:ln/>
        </p:spPr>
        <p:txBody>
          <a:bodyPr/>
          <a:lstStyle/>
          <a:p>
            <a:endParaRPr lang="en-AE"/>
          </a:p>
        </p:txBody>
      </p:sp>
      <p:sp>
        <p:nvSpPr>
          <p:cNvPr id="11" name="Text 9"/>
          <p:cNvSpPr txBox="1"/>
          <p:nvPr/>
        </p:nvSpPr>
        <p:spPr>
          <a:xfrm>
            <a:off x="731520" y="2798064"/>
            <a:ext cx="493776" cy="49377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24912"/>
            <a:ext cx="4846320" cy="640080"/>
          </a:xfrm>
          <a:prstGeom prst="rect">
            <a:avLst/>
          </a:prstGeom>
          <a:noFill/>
          <a:ln/>
        </p:spPr>
        <p:txBody>
          <a:bodyPr wrap="square" lIns="0" tIns="0" rIns="0" bIns="0" rtlCol="0" anchor="ctr"/>
          <a:lstStyle/>
          <a:p>
            <a:pPr marL="0" indent="0">
              <a:buNone/>
            </a:pPr>
            <a:r>
              <a:rPr lang="en-US" sz="1500" b="1" dirty="0">
                <a:solidFill>
                  <a:srgbClr val="0E3A43"/>
                </a:solidFill>
                <a:latin typeface="Calibri" pitchFamily="34" charset="0"/>
                <a:ea typeface="Calibri" pitchFamily="34" charset="-122"/>
                <a:cs typeface="Calibri" pitchFamily="34" charset="-120"/>
              </a:rPr>
              <a:t>Methods of research</a:t>
            </a:r>
            <a:endParaRPr lang="en-US" sz="1500" dirty="0"/>
          </a:p>
        </p:txBody>
      </p:sp>
      <p:sp>
        <p:nvSpPr>
          <p:cNvPr id="13" name="Text 11"/>
          <p:cNvSpPr txBox="1"/>
          <p:nvPr/>
        </p:nvSpPr>
        <p:spPr>
          <a:xfrm>
            <a:off x="6355080" y="2724912"/>
            <a:ext cx="5166360" cy="64008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Primary &amp; secondary methods — definitions, benefits, drawbacks and data type</a:t>
            </a:r>
            <a:endParaRPr lang="en-US" sz="1250" dirty="0"/>
          </a:p>
        </p:txBody>
      </p:sp>
      <p:sp>
        <p:nvSpPr>
          <p:cNvPr id="14" name="Shape 12"/>
          <p:cNvSpPr/>
          <p:nvPr/>
        </p:nvSpPr>
        <p:spPr>
          <a:xfrm>
            <a:off x="548640" y="3602736"/>
            <a:ext cx="11091672" cy="914400"/>
          </a:xfrm>
          <a:prstGeom prst="roundRect">
            <a:avLst>
              <a:gd name="adj" fmla="val 80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5" name="Shape 13"/>
          <p:cNvSpPr/>
          <p:nvPr/>
        </p:nvSpPr>
        <p:spPr>
          <a:xfrm>
            <a:off x="731520" y="3822192"/>
            <a:ext cx="493776" cy="493776"/>
          </a:xfrm>
          <a:prstGeom prst="roundRect">
            <a:avLst>
              <a:gd name="adj" fmla="val 18519"/>
            </a:avLst>
          </a:prstGeom>
          <a:solidFill>
            <a:srgbClr val="0E7C86"/>
          </a:solidFill>
          <a:ln/>
        </p:spPr>
        <p:txBody>
          <a:bodyPr/>
          <a:lstStyle/>
          <a:p>
            <a:endParaRPr lang="en-AE"/>
          </a:p>
        </p:txBody>
      </p:sp>
      <p:sp>
        <p:nvSpPr>
          <p:cNvPr id="16" name="Text 14"/>
          <p:cNvSpPr txBox="1"/>
          <p:nvPr/>
        </p:nvSpPr>
        <p:spPr>
          <a:xfrm>
            <a:off x="731520" y="3822192"/>
            <a:ext cx="493776" cy="49377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417320" y="3749040"/>
            <a:ext cx="4846320" cy="640080"/>
          </a:xfrm>
          <a:prstGeom prst="rect">
            <a:avLst/>
          </a:prstGeom>
          <a:noFill/>
          <a:ln/>
        </p:spPr>
        <p:txBody>
          <a:bodyPr wrap="square" lIns="0" tIns="0" rIns="0" bIns="0" rtlCol="0" anchor="ctr"/>
          <a:lstStyle/>
          <a:p>
            <a:pPr marL="0" indent="0">
              <a:buNone/>
            </a:pPr>
            <a:r>
              <a:rPr lang="en-US" sz="1500" b="1" dirty="0">
                <a:solidFill>
                  <a:srgbClr val="0E3A43"/>
                </a:solidFill>
                <a:latin typeface="Calibri" pitchFamily="34" charset="0"/>
                <a:ea typeface="Calibri" pitchFamily="34" charset="-122"/>
                <a:cs typeface="Calibri" pitchFamily="34" charset="-120"/>
              </a:rPr>
              <a:t>Sampling methods</a:t>
            </a:r>
            <a:endParaRPr lang="en-US" sz="1500" dirty="0"/>
          </a:p>
        </p:txBody>
      </p:sp>
      <p:sp>
        <p:nvSpPr>
          <p:cNvPr id="18" name="Text 16"/>
          <p:cNvSpPr txBox="1"/>
          <p:nvPr/>
        </p:nvSpPr>
        <p:spPr>
          <a:xfrm>
            <a:off x="6355080" y="3749040"/>
            <a:ext cx="5166360" cy="64008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Random, quota &amp; stratified — with a clear worked example (the hardest bit)</a:t>
            </a:r>
            <a:endParaRPr lang="en-US" sz="1250" dirty="0"/>
          </a:p>
        </p:txBody>
      </p:sp>
      <p:sp>
        <p:nvSpPr>
          <p:cNvPr id="19" name="Shape 17"/>
          <p:cNvSpPr/>
          <p:nvPr/>
        </p:nvSpPr>
        <p:spPr>
          <a:xfrm>
            <a:off x="548640" y="4626864"/>
            <a:ext cx="11091672" cy="914400"/>
          </a:xfrm>
          <a:prstGeom prst="roundRect">
            <a:avLst>
              <a:gd name="adj" fmla="val 80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20" name="Shape 18"/>
          <p:cNvSpPr/>
          <p:nvPr/>
        </p:nvSpPr>
        <p:spPr>
          <a:xfrm>
            <a:off x="731520" y="4846320"/>
            <a:ext cx="493776" cy="493776"/>
          </a:xfrm>
          <a:prstGeom prst="roundRect">
            <a:avLst>
              <a:gd name="adj" fmla="val 18519"/>
            </a:avLst>
          </a:prstGeom>
          <a:solidFill>
            <a:srgbClr val="0E7C86"/>
          </a:solidFill>
          <a:ln/>
        </p:spPr>
        <p:txBody>
          <a:bodyPr/>
          <a:lstStyle/>
          <a:p>
            <a:endParaRPr lang="en-AE"/>
          </a:p>
        </p:txBody>
      </p:sp>
      <p:sp>
        <p:nvSpPr>
          <p:cNvPr id="21" name="Text 19"/>
          <p:cNvSpPr txBox="1"/>
          <p:nvPr/>
        </p:nvSpPr>
        <p:spPr>
          <a:xfrm>
            <a:off x="731520" y="4846320"/>
            <a:ext cx="493776" cy="493776"/>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417320" y="4773168"/>
            <a:ext cx="4846320" cy="640080"/>
          </a:xfrm>
          <a:prstGeom prst="rect">
            <a:avLst/>
          </a:prstGeom>
          <a:noFill/>
          <a:ln/>
        </p:spPr>
        <p:txBody>
          <a:bodyPr wrap="square" lIns="0" tIns="0" rIns="0" bIns="0" rtlCol="0" anchor="ctr"/>
          <a:lstStyle/>
          <a:p>
            <a:pPr marL="0" indent="0">
              <a:buNone/>
            </a:pPr>
            <a:r>
              <a:rPr lang="en-US" sz="1500" b="1" dirty="0">
                <a:solidFill>
                  <a:srgbClr val="0E3A43"/>
                </a:solidFill>
                <a:latin typeface="Calibri" pitchFamily="34" charset="0"/>
                <a:ea typeface="Calibri" pitchFamily="34" charset="-122"/>
                <a:cs typeface="Calibri" pitchFamily="34" charset="-120"/>
              </a:rPr>
              <a:t>A-grade exam skills</a:t>
            </a:r>
            <a:endParaRPr lang="en-US" sz="1500" dirty="0"/>
          </a:p>
        </p:txBody>
      </p:sp>
      <p:sp>
        <p:nvSpPr>
          <p:cNvPr id="23" name="Text 21"/>
          <p:cNvSpPr txBox="1"/>
          <p:nvPr/>
        </p:nvSpPr>
        <p:spPr>
          <a:xfrm>
            <a:off x="6355080" y="4773168"/>
            <a:ext cx="5166360" cy="640080"/>
          </a:xfrm>
          <a:prstGeom prst="rect">
            <a:avLst/>
          </a:prstGeom>
          <a:noFill/>
          <a:ln/>
        </p:spPr>
        <p:txBody>
          <a:bodyPr wrap="square" lIns="0" tIns="0" rIns="0" bIns="0" rtlCol="0" anchor="ctr"/>
          <a:lstStyle/>
          <a:p>
            <a:pPr marL="0" indent="0">
              <a:buNone/>
            </a:pPr>
            <a:r>
              <a:rPr lang="en-US" sz="1250" dirty="0">
                <a:solidFill>
                  <a:srgbClr val="5B6B73"/>
                </a:solidFill>
                <a:latin typeface="Calibri" pitchFamily="34" charset="0"/>
                <a:ea typeface="Calibri" pitchFamily="34" charset="-122"/>
                <a:cs typeface="Calibri" pitchFamily="34" charset="-120"/>
              </a:rPr>
              <a:t>Applying it — the Innocent test-marketing 10-marker &amp; the BYD sampling chain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Where this sits in the specification</a:t>
            </a:r>
            <a:endParaRPr lang="en-US" sz="2700" dirty="0"/>
          </a:p>
        </p:txBody>
      </p:sp>
      <p:sp>
        <p:nvSpPr>
          <p:cNvPr id="4" name="Shape 2"/>
          <p:cNvSpPr/>
          <p:nvPr/>
        </p:nvSpPr>
        <p:spPr>
          <a:xfrm>
            <a:off x="548640" y="1371600"/>
            <a:ext cx="6675120" cy="3657600"/>
          </a:xfrm>
          <a:prstGeom prst="roundRect">
            <a:avLst>
              <a:gd name="adj" fmla="val 20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81328"/>
            <a:ext cx="6217920" cy="329184"/>
          </a:xfrm>
          <a:prstGeom prst="rect">
            <a:avLst/>
          </a:prstGeom>
          <a:noFill/>
          <a:ln/>
        </p:spPr>
        <p:txBody>
          <a:bodyPr wrap="square" lIns="0" tIns="0" rIns="0" bIns="0" rtlCol="0" anchor="ctr"/>
          <a:lstStyle/>
          <a:p>
            <a:pPr marL="0" indent="0">
              <a:buNone/>
            </a:pPr>
            <a:r>
              <a:rPr lang="en-US" sz="1350" b="1" dirty="0">
                <a:solidFill>
                  <a:srgbClr val="0E3A43"/>
                </a:solidFill>
                <a:latin typeface="Calibri" pitchFamily="34" charset="0"/>
                <a:ea typeface="Calibri" pitchFamily="34" charset="-122"/>
                <a:cs typeface="Calibri" pitchFamily="34" charset="-120"/>
              </a:rPr>
              <a:t>Topic 1.3.1  Meeting customer needs</a:t>
            </a:r>
            <a:endParaRPr lang="en-US" sz="1350" dirty="0"/>
          </a:p>
        </p:txBody>
      </p:sp>
      <p:sp>
        <p:nvSpPr>
          <p:cNvPr id="6" name="Shape 4"/>
          <p:cNvSpPr/>
          <p:nvPr/>
        </p:nvSpPr>
        <p:spPr>
          <a:xfrm>
            <a:off x="749808" y="1920240"/>
            <a:ext cx="6272784" cy="914400"/>
          </a:xfrm>
          <a:prstGeom prst="roundRect">
            <a:avLst>
              <a:gd name="adj" fmla="val 8000"/>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7" name="Shape 5"/>
          <p:cNvSpPr/>
          <p:nvPr/>
        </p:nvSpPr>
        <p:spPr>
          <a:xfrm>
            <a:off x="914400" y="2139696"/>
            <a:ext cx="457200" cy="457200"/>
          </a:xfrm>
          <a:prstGeom prst="roundRect">
            <a:avLst>
              <a:gd name="adj" fmla="val 20000"/>
            </a:avLst>
          </a:prstGeom>
          <a:solidFill>
            <a:srgbClr val="0E7C86"/>
          </a:solidFill>
          <a:ln/>
        </p:spPr>
        <p:txBody>
          <a:bodyPr/>
          <a:lstStyle/>
          <a:p>
            <a:endParaRPr lang="en-AE"/>
          </a:p>
        </p:txBody>
      </p:sp>
      <p:sp>
        <p:nvSpPr>
          <p:cNvPr id="8" name="Text 6"/>
          <p:cNvSpPr txBox="1"/>
          <p:nvPr/>
        </p:nvSpPr>
        <p:spPr>
          <a:xfrm>
            <a:off x="914400" y="2139696"/>
            <a:ext cx="45720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66544"/>
            <a:ext cx="5394960" cy="310896"/>
          </a:xfrm>
          <a:prstGeom prst="rect">
            <a:avLst/>
          </a:prstGeom>
          <a:noFill/>
          <a:ln/>
        </p:spPr>
        <p:txBody>
          <a:bodyPr wrap="square" lIns="0" tIns="0" rIns="0" bIns="0" rtlCol="0" anchor="ctr"/>
          <a:lstStyle/>
          <a:p>
            <a:pPr marL="0" indent="0">
              <a:buNone/>
            </a:pPr>
            <a:r>
              <a:rPr lang="en-US" sz="1300" b="1" dirty="0">
                <a:solidFill>
                  <a:srgbClr val="0E3A43"/>
                </a:solidFill>
                <a:latin typeface="Calibri" pitchFamily="34" charset="0"/>
                <a:ea typeface="Calibri" pitchFamily="34" charset="-122"/>
                <a:cs typeface="Calibri" pitchFamily="34" charset="-120"/>
              </a:rPr>
              <a:t>The market</a:t>
            </a:r>
            <a:endParaRPr lang="en-US" sz="1300" dirty="0"/>
          </a:p>
        </p:txBody>
      </p:sp>
      <p:sp>
        <p:nvSpPr>
          <p:cNvPr id="10" name="Text 8"/>
          <p:cNvSpPr txBox="1"/>
          <p:nvPr/>
        </p:nvSpPr>
        <p:spPr>
          <a:xfrm>
            <a:off x="1508760" y="2377440"/>
            <a:ext cx="5440680" cy="402336"/>
          </a:xfrm>
          <a:prstGeom prst="rect">
            <a:avLst/>
          </a:prstGeom>
          <a:noFill/>
          <a:ln/>
        </p:spPr>
        <p:txBody>
          <a:bodyPr wrap="square" lIns="0" tIns="0" rIns="0" bIns="0" rtlCol="0" anchor="t"/>
          <a:lstStyle/>
          <a:p>
            <a:pPr marL="0" indent="0">
              <a:buNone/>
            </a:pPr>
            <a:r>
              <a:rPr lang="en-US" sz="1050" dirty="0">
                <a:solidFill>
                  <a:srgbClr val="5B6B73"/>
                </a:solidFill>
                <a:latin typeface="Calibri" pitchFamily="34" charset="0"/>
                <a:ea typeface="Calibri" pitchFamily="34" charset="-122"/>
                <a:cs typeface="Calibri" pitchFamily="34" charset="-120"/>
              </a:rPr>
              <a:t>mass &amp; niche, size/share, dynamic markets, competition, risk — done</a:t>
            </a:r>
            <a:endParaRPr lang="en-US" sz="1050" dirty="0"/>
          </a:p>
        </p:txBody>
      </p:sp>
      <p:sp>
        <p:nvSpPr>
          <p:cNvPr id="11" name="Shape 9"/>
          <p:cNvSpPr/>
          <p:nvPr/>
        </p:nvSpPr>
        <p:spPr>
          <a:xfrm>
            <a:off x="749808" y="2889504"/>
            <a:ext cx="6272784" cy="914400"/>
          </a:xfrm>
          <a:prstGeom prst="roundRect">
            <a:avLst>
              <a:gd name="adj" fmla="val 8000"/>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12" name="Shape 10"/>
          <p:cNvSpPr/>
          <p:nvPr/>
        </p:nvSpPr>
        <p:spPr>
          <a:xfrm>
            <a:off x="749808" y="2889504"/>
            <a:ext cx="91440" cy="914400"/>
          </a:xfrm>
          <a:prstGeom prst="roundRect">
            <a:avLst/>
          </a:prstGeom>
          <a:solidFill>
            <a:srgbClr val="E0940F"/>
          </a:solidFill>
          <a:ln/>
        </p:spPr>
        <p:txBody>
          <a:bodyPr/>
          <a:lstStyle/>
          <a:p>
            <a:endParaRPr lang="en-AE"/>
          </a:p>
        </p:txBody>
      </p:sp>
      <p:sp>
        <p:nvSpPr>
          <p:cNvPr id="13" name="Shape 11"/>
          <p:cNvSpPr/>
          <p:nvPr/>
        </p:nvSpPr>
        <p:spPr>
          <a:xfrm>
            <a:off x="914400" y="3108960"/>
            <a:ext cx="457200" cy="457200"/>
          </a:xfrm>
          <a:prstGeom prst="roundRect">
            <a:avLst>
              <a:gd name="adj" fmla="val 20000"/>
            </a:avLst>
          </a:prstGeom>
          <a:solidFill>
            <a:srgbClr val="E0940F"/>
          </a:solidFill>
          <a:ln/>
        </p:spPr>
        <p:txBody>
          <a:bodyPr/>
          <a:lstStyle/>
          <a:p>
            <a:endParaRPr lang="en-AE"/>
          </a:p>
        </p:txBody>
      </p:sp>
      <p:sp>
        <p:nvSpPr>
          <p:cNvPr id="14" name="Text 12"/>
          <p:cNvSpPr txBox="1"/>
          <p:nvPr/>
        </p:nvSpPr>
        <p:spPr>
          <a:xfrm>
            <a:off x="914400" y="3108960"/>
            <a:ext cx="45720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txBox="1"/>
          <p:nvPr/>
        </p:nvSpPr>
        <p:spPr>
          <a:xfrm>
            <a:off x="1508760" y="3035808"/>
            <a:ext cx="5394960" cy="310896"/>
          </a:xfrm>
          <a:prstGeom prst="rect">
            <a:avLst/>
          </a:prstGeom>
          <a:noFill/>
          <a:ln/>
        </p:spPr>
        <p:txBody>
          <a:bodyPr wrap="square" lIns="0" tIns="0" rIns="0" bIns="0" rtlCol="0" anchor="ctr"/>
          <a:lstStyle/>
          <a:p>
            <a:pPr marL="0" indent="0">
              <a:buNone/>
            </a:pPr>
            <a:r>
              <a:rPr lang="en-US" sz="1300" b="1" dirty="0">
                <a:solidFill>
                  <a:srgbClr val="0E3A43"/>
                </a:solidFill>
                <a:latin typeface="Calibri" pitchFamily="34" charset="0"/>
                <a:ea typeface="Calibri" pitchFamily="34" charset="-122"/>
                <a:cs typeface="Calibri" pitchFamily="34" charset="-120"/>
              </a:rPr>
              <a:t>Market research   ← this lesson</a:t>
            </a:r>
            <a:endParaRPr lang="en-US" sz="1300" dirty="0"/>
          </a:p>
        </p:txBody>
      </p:sp>
      <p:sp>
        <p:nvSpPr>
          <p:cNvPr id="16" name="Text 14"/>
          <p:cNvSpPr txBox="1"/>
          <p:nvPr/>
        </p:nvSpPr>
        <p:spPr>
          <a:xfrm>
            <a:off x="1508760" y="3346704"/>
            <a:ext cx="5440680" cy="402336"/>
          </a:xfrm>
          <a:prstGeom prst="rect">
            <a:avLst/>
          </a:prstGeom>
          <a:noFill/>
          <a:ln/>
        </p:spPr>
        <p:txBody>
          <a:bodyPr wrap="square" lIns="0" tIns="0" rIns="0" bIns="0" rtlCol="0" anchor="t"/>
          <a:lstStyle/>
          <a:p>
            <a:pPr marL="0" indent="0">
              <a:buNone/>
            </a:pPr>
            <a:r>
              <a:rPr lang="en-US" sz="1050" dirty="0">
                <a:solidFill>
                  <a:srgbClr val="5B6B73"/>
                </a:solidFill>
                <a:latin typeface="Calibri" pitchFamily="34" charset="0"/>
                <a:ea typeface="Calibri" pitchFamily="34" charset="-122"/>
                <a:cs typeface="Calibri" pitchFamily="34" charset="-120"/>
              </a:rPr>
              <a:t>primary &amp; secondary research, methods, sampling</a:t>
            </a:r>
            <a:endParaRPr lang="en-US" sz="1050" dirty="0"/>
          </a:p>
        </p:txBody>
      </p:sp>
      <p:sp>
        <p:nvSpPr>
          <p:cNvPr id="17" name="Shape 15"/>
          <p:cNvSpPr/>
          <p:nvPr/>
        </p:nvSpPr>
        <p:spPr>
          <a:xfrm>
            <a:off x="749808" y="3858768"/>
            <a:ext cx="6272784" cy="914400"/>
          </a:xfrm>
          <a:prstGeom prst="roundRect">
            <a:avLst>
              <a:gd name="adj" fmla="val 8000"/>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18" name="Shape 16"/>
          <p:cNvSpPr/>
          <p:nvPr/>
        </p:nvSpPr>
        <p:spPr>
          <a:xfrm>
            <a:off x="914400" y="4078224"/>
            <a:ext cx="457200" cy="457200"/>
          </a:xfrm>
          <a:prstGeom prst="roundRect">
            <a:avLst>
              <a:gd name="adj" fmla="val 20000"/>
            </a:avLst>
          </a:prstGeom>
          <a:solidFill>
            <a:srgbClr val="0E7C86"/>
          </a:solidFill>
          <a:ln/>
        </p:spPr>
        <p:txBody>
          <a:bodyPr/>
          <a:lstStyle/>
          <a:p>
            <a:endParaRPr lang="en-AE"/>
          </a:p>
        </p:txBody>
      </p:sp>
      <p:sp>
        <p:nvSpPr>
          <p:cNvPr id="19" name="Text 17"/>
          <p:cNvSpPr txBox="1"/>
          <p:nvPr/>
        </p:nvSpPr>
        <p:spPr>
          <a:xfrm>
            <a:off x="914400" y="4078224"/>
            <a:ext cx="45720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4005072"/>
            <a:ext cx="5394960" cy="310896"/>
          </a:xfrm>
          <a:prstGeom prst="rect">
            <a:avLst/>
          </a:prstGeom>
          <a:noFill/>
          <a:ln/>
        </p:spPr>
        <p:txBody>
          <a:bodyPr wrap="square" lIns="0" tIns="0" rIns="0" bIns="0" rtlCol="0" anchor="ctr"/>
          <a:lstStyle/>
          <a:p>
            <a:pPr marL="0" indent="0">
              <a:buNone/>
            </a:pPr>
            <a:r>
              <a:rPr lang="en-US" sz="1300" b="1" dirty="0">
                <a:solidFill>
                  <a:srgbClr val="0E3A43"/>
                </a:solidFill>
                <a:latin typeface="Calibri" pitchFamily="34" charset="0"/>
                <a:ea typeface="Calibri" pitchFamily="34" charset="-122"/>
                <a:cs typeface="Calibri" pitchFamily="34" charset="-120"/>
              </a:rPr>
              <a:t>Market positioning</a:t>
            </a:r>
            <a:endParaRPr lang="en-US" sz="1300" dirty="0"/>
          </a:p>
        </p:txBody>
      </p:sp>
      <p:sp>
        <p:nvSpPr>
          <p:cNvPr id="21" name="Text 19"/>
          <p:cNvSpPr txBox="1"/>
          <p:nvPr/>
        </p:nvSpPr>
        <p:spPr>
          <a:xfrm>
            <a:off x="1508760" y="4315968"/>
            <a:ext cx="5440680" cy="402336"/>
          </a:xfrm>
          <a:prstGeom prst="rect">
            <a:avLst/>
          </a:prstGeom>
          <a:noFill/>
          <a:ln/>
        </p:spPr>
        <p:txBody>
          <a:bodyPr wrap="square" lIns="0" tIns="0" rIns="0" bIns="0" rtlCol="0" anchor="t"/>
          <a:lstStyle/>
          <a:p>
            <a:pPr marL="0" indent="0">
              <a:buNone/>
            </a:pPr>
            <a:r>
              <a:rPr lang="en-US" sz="1050" dirty="0">
                <a:solidFill>
                  <a:srgbClr val="5B6B73"/>
                </a:solidFill>
                <a:latin typeface="Calibri" pitchFamily="34" charset="0"/>
                <a:ea typeface="Calibri" pitchFamily="34" charset="-122"/>
                <a:cs typeface="Calibri" pitchFamily="34" charset="-120"/>
              </a:rPr>
              <a:t>orientation, market mapping, segmentation, differentiation, adding value — next</a:t>
            </a:r>
            <a:endParaRPr lang="en-US" sz="1050" dirty="0"/>
          </a:p>
        </p:txBody>
      </p:sp>
      <p:sp>
        <p:nvSpPr>
          <p:cNvPr id="22" name="Shape 20"/>
          <p:cNvSpPr/>
          <p:nvPr/>
        </p:nvSpPr>
        <p:spPr>
          <a:xfrm>
            <a:off x="7360920" y="1371600"/>
            <a:ext cx="4279392" cy="3657600"/>
          </a:xfrm>
          <a:prstGeom prst="roundRect">
            <a:avLst>
              <a:gd name="adj" fmla="val 2000"/>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23" name="Text 21"/>
          <p:cNvSpPr txBox="1"/>
          <p:nvPr/>
        </p:nvSpPr>
        <p:spPr>
          <a:xfrm>
            <a:off x="7571232" y="1508760"/>
            <a:ext cx="3840480" cy="365760"/>
          </a:xfrm>
          <a:prstGeom prst="rect">
            <a:avLst/>
          </a:prstGeom>
          <a:noFill/>
          <a:ln/>
        </p:spPr>
        <p:txBody>
          <a:bodyPr wrap="square" lIns="0" tIns="0" rIns="0" bIns="0" rtlCol="0" anchor="ctr"/>
          <a:lstStyle/>
          <a:p>
            <a:pPr marL="0" indent="0">
              <a:buNone/>
            </a:pPr>
            <a:r>
              <a:rPr lang="en-US" sz="1400" b="1" dirty="0">
                <a:solidFill>
                  <a:srgbClr val="0B5E66"/>
                </a:solidFill>
                <a:latin typeface="Calibri" pitchFamily="34" charset="0"/>
                <a:ea typeface="Calibri" pitchFamily="34" charset="-122"/>
                <a:cs typeface="Calibri" pitchFamily="34" charset="-120"/>
              </a:rPr>
              <a:t>Why market research matters</a:t>
            </a:r>
            <a:endParaRPr lang="en-US" sz="1400" dirty="0"/>
          </a:p>
        </p:txBody>
      </p:sp>
      <p:sp>
        <p:nvSpPr>
          <p:cNvPr id="24" name="Text 22"/>
          <p:cNvSpPr txBox="1"/>
          <p:nvPr/>
        </p:nvSpPr>
        <p:spPr>
          <a:xfrm>
            <a:off x="7571232" y="1965960"/>
            <a:ext cx="3886200" cy="29260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Identifies &amp; anticipates customer needs and wants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Quantifies likely demand before a launch</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Gives insight into consumer behaviour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Reduces the risk of a costly failure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Feeds segmentation &amp; positioning (section 3)</a:t>
            </a:r>
            <a:endParaRPr lang="en-US" sz="1250" dirty="0"/>
          </a:p>
        </p:txBody>
      </p:sp>
      <p:sp>
        <p:nvSpPr>
          <p:cNvPr id="25" name="Shape 23"/>
          <p:cNvSpPr/>
          <p:nvPr/>
        </p:nvSpPr>
        <p:spPr>
          <a:xfrm>
            <a:off x="548640" y="5257800"/>
            <a:ext cx="11091672" cy="914400"/>
          </a:xfrm>
          <a:prstGeom prst="roundRect">
            <a:avLst>
              <a:gd name="adj" fmla="val 8000"/>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26" name="Text 24"/>
          <p:cNvSpPr txBox="1"/>
          <p:nvPr/>
        </p:nvSpPr>
        <p:spPr>
          <a:xfrm>
            <a:off x="777240" y="5358384"/>
            <a:ext cx="10698480" cy="731520"/>
          </a:xfrm>
          <a:prstGeom prst="rect">
            <a:avLst/>
          </a:prstGeom>
          <a:noFill/>
          <a:ln/>
        </p:spPr>
        <p:txBody>
          <a:bodyPr wrap="square" lIns="0" tIns="0" rIns="0" bIns="0" rtlCol="0" anchor="ctr"/>
          <a:lstStyle/>
          <a:p>
            <a:pPr marL="0" indent="0">
              <a:buNone/>
            </a:pPr>
            <a:r>
              <a:rPr lang="en-US" sz="1250" b="1" dirty="0">
                <a:solidFill>
                  <a:srgbClr val="8A5A06"/>
                </a:solidFill>
                <a:latin typeface="Calibri" pitchFamily="34" charset="0"/>
                <a:ea typeface="Calibri" pitchFamily="34" charset="-122"/>
                <a:cs typeface="Calibri" pitchFamily="34" charset="-120"/>
              </a:rPr>
              <a:t>The three purposes (learn these):  </a:t>
            </a:r>
            <a:r>
              <a:rPr lang="en-US" sz="1250" dirty="0">
                <a:solidFill>
                  <a:srgbClr val="1F2A33"/>
                </a:solidFill>
                <a:latin typeface="Calibri" pitchFamily="34" charset="0"/>
                <a:ea typeface="Calibri" pitchFamily="34" charset="-122"/>
                <a:cs typeface="Calibri" pitchFamily="34" charset="-120"/>
              </a:rPr>
              <a:t>the spec says research is used to (1) identify and anticipate customer needs &amp; wants, (2) quantify likely demand, and (3) gain insight into consumer behaviour. Every exam answer should link a method back to one of these.</a:t>
            </a:r>
            <a:endParaRPr lang="en-US" sz="1250" dirty="0"/>
          </a:p>
        </p:txBody>
      </p:sp>
      <p:sp>
        <p:nvSpPr>
          <p:cNvPr id="27"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txBody>
          <a:bodyPr/>
          <a:lstStyle/>
          <a:p>
            <a:endParaRPr lang="en-AE"/>
          </a:p>
        </p:txBody>
      </p:sp>
      <p:sp>
        <p:nvSpPr>
          <p:cNvPr id="3" name="Text 1"/>
          <p:cNvSpPr txBox="1"/>
          <p:nvPr/>
        </p:nvSpPr>
        <p:spPr>
          <a:xfrm>
            <a:off x="731520" y="2011680"/>
            <a:ext cx="1737360" cy="1737360"/>
          </a:xfrm>
          <a:prstGeom prst="rect">
            <a:avLst/>
          </a:prstGeom>
          <a:noFill/>
          <a:ln/>
        </p:spPr>
        <p:txBody>
          <a:bodyPr wrap="square" lIns="0" tIns="0" rIns="0" bIns="0" rtlCol="0" anchor="ctr"/>
          <a:lstStyle/>
          <a:p>
            <a:pPr marL="0" indent="0" algn="ctr">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marL="0" indent="0">
              <a:buNone/>
            </a:pPr>
            <a:r>
              <a:rPr lang="en-US" sz="1300" b="1" kern="0" spc="25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Types of research &amp; purpose</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marL="0" indent="0">
              <a:buNone/>
            </a:pPr>
            <a:r>
              <a:rPr lang="en-US" sz="1350" b="1" dirty="0">
                <a:solidFill>
                  <a:srgbClr val="7FC4CB"/>
                </a:solidFill>
                <a:latin typeface="Calibri" pitchFamily="34" charset="0"/>
                <a:ea typeface="Calibri" pitchFamily="34" charset="-122"/>
                <a:cs typeface="Calibri" pitchFamily="34" charset="-120"/>
              </a:rPr>
              <a:t>In this part:  </a:t>
            </a:r>
            <a:r>
              <a:rPr lang="en-US" sz="1350" dirty="0">
                <a:solidFill>
                  <a:srgbClr val="D7E6E8"/>
                </a:solidFill>
                <a:latin typeface="Calibri" pitchFamily="34" charset="0"/>
                <a:ea typeface="Calibri" pitchFamily="34" charset="-122"/>
                <a:cs typeface="Calibri" pitchFamily="34" charset="-120"/>
              </a:rPr>
              <a:t>primary vs secondary data  ·  quantitative vs qualitative  ·  the three purposes of market research</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A · TYPES OF DATA</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Primary vs secondary, quantitative vs qualitative</a:t>
            </a:r>
            <a:endParaRPr lang="en-US" sz="2700" dirty="0"/>
          </a:p>
        </p:txBody>
      </p:sp>
      <p:sp>
        <p:nvSpPr>
          <p:cNvPr id="4" name="Shape 2"/>
          <p:cNvSpPr/>
          <p:nvPr/>
        </p:nvSpPr>
        <p:spPr>
          <a:xfrm>
            <a:off x="548640" y="1371600"/>
            <a:ext cx="5440680" cy="2286000"/>
          </a:xfrm>
          <a:prstGeom prst="roundRect">
            <a:avLst>
              <a:gd name="adj" fmla="val 32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777240" y="1536192"/>
            <a:ext cx="2103120" cy="310896"/>
          </a:xfrm>
          <a:prstGeom prst="roundRect">
            <a:avLst>
              <a:gd name="adj" fmla="val 50000"/>
            </a:avLst>
          </a:prstGeom>
          <a:solidFill>
            <a:srgbClr val="0E7C86"/>
          </a:solidFill>
          <a:ln/>
        </p:spPr>
        <p:txBody>
          <a:bodyPr/>
          <a:lstStyle/>
          <a:p>
            <a:endParaRPr lang="en-AE"/>
          </a:p>
        </p:txBody>
      </p:sp>
      <p:sp>
        <p:nvSpPr>
          <p:cNvPr id="6" name="Text 4"/>
          <p:cNvSpPr txBox="1"/>
          <p:nvPr/>
        </p:nvSpPr>
        <p:spPr>
          <a:xfrm>
            <a:off x="777240" y="1536192"/>
            <a:ext cx="210312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PRIMARY</a:t>
            </a:r>
            <a:endParaRPr lang="en-US" sz="1050" dirty="0"/>
          </a:p>
        </p:txBody>
      </p:sp>
      <p:sp>
        <p:nvSpPr>
          <p:cNvPr id="7" name="Text 5"/>
          <p:cNvSpPr txBox="1"/>
          <p:nvPr/>
        </p:nvSpPr>
        <p:spPr>
          <a:xfrm>
            <a:off x="777240" y="1965960"/>
            <a:ext cx="4983480" cy="548640"/>
          </a:xfrm>
          <a:prstGeom prst="rect">
            <a:avLst/>
          </a:prstGeom>
          <a:noFill/>
          <a:ln/>
        </p:spPr>
        <p:txBody>
          <a:bodyPr wrap="square" lIns="0" tIns="0" rIns="0" bIns="0" rtlCol="0" anchor="t"/>
          <a:lstStyle/>
          <a:p>
            <a:pPr marL="0" indent="0">
              <a:buNone/>
            </a:pPr>
            <a:r>
              <a:rPr lang="en-US" sz="1300" dirty="0">
                <a:solidFill>
                  <a:srgbClr val="1F2A33"/>
                </a:solidFill>
                <a:latin typeface="Calibri" pitchFamily="34" charset="0"/>
                <a:ea typeface="Calibri" pitchFamily="34" charset="-122"/>
                <a:cs typeface="Calibri" pitchFamily="34" charset="-120"/>
              </a:rPr>
              <a:t>NEW data a business collects first-hand, for its own specific purpose.</a:t>
            </a:r>
            <a:endParaRPr lang="en-US" sz="1300" dirty="0"/>
          </a:p>
        </p:txBody>
      </p:sp>
      <p:sp>
        <p:nvSpPr>
          <p:cNvPr id="8" name="Text 6"/>
          <p:cNvSpPr txBox="1"/>
          <p:nvPr/>
        </p:nvSpPr>
        <p:spPr>
          <a:xfrm>
            <a:off x="777240" y="2560320"/>
            <a:ext cx="4983480" cy="640080"/>
          </a:xfrm>
          <a:prstGeom prst="rect">
            <a:avLst/>
          </a:prstGeom>
          <a:noFill/>
          <a:ln/>
        </p:spPr>
        <p:txBody>
          <a:bodyPr wrap="square" lIns="0" tIns="0" rIns="0" bIns="0" rtlCol="0" anchor="t"/>
          <a:lstStyle/>
          <a:p>
            <a:pPr marL="0" indent="0">
              <a:buNone/>
            </a:pPr>
            <a:r>
              <a:rPr lang="en-US" sz="1200" b="1" dirty="0">
                <a:solidFill>
                  <a:srgbClr val="2F8A5B"/>
                </a:solidFill>
                <a:latin typeface="Calibri" pitchFamily="34" charset="0"/>
                <a:ea typeface="Calibri" pitchFamily="34" charset="-122"/>
                <a:cs typeface="Calibri" pitchFamily="34" charset="-120"/>
              </a:rPr>
              <a:t>✓ </a:t>
            </a:r>
            <a:r>
              <a:rPr lang="en-US" sz="1200" dirty="0">
                <a:solidFill>
                  <a:srgbClr val="1F2A33"/>
                </a:solidFill>
                <a:latin typeface="Calibri" pitchFamily="34" charset="0"/>
                <a:ea typeface="Calibri" pitchFamily="34" charset="-122"/>
                <a:cs typeface="Calibri" pitchFamily="34" charset="-120"/>
              </a:rPr>
              <a:t>relevant &amp; up-to-date; exclusive to the firm.   </a:t>
            </a:r>
            <a:r>
              <a:rPr lang="en-US" sz="1200" b="1" dirty="0">
                <a:solidFill>
                  <a:srgbClr val="C14B37"/>
                </a:solidFill>
                <a:latin typeface="Calibri" pitchFamily="34" charset="0"/>
                <a:ea typeface="Calibri" pitchFamily="34" charset="-122"/>
                <a:cs typeface="Calibri" pitchFamily="34" charset="-120"/>
              </a:rPr>
              <a:t>✗ </a:t>
            </a:r>
            <a:r>
              <a:rPr lang="en-US" sz="1200" dirty="0">
                <a:solidFill>
                  <a:srgbClr val="1F2A33"/>
                </a:solidFill>
                <a:latin typeface="Calibri" pitchFamily="34" charset="0"/>
                <a:ea typeface="Calibri" pitchFamily="34" charset="-122"/>
                <a:cs typeface="Calibri" pitchFamily="34" charset="-120"/>
              </a:rPr>
              <a:t>costly and slow to gather.</a:t>
            </a:r>
            <a:endParaRPr lang="en-US" sz="1200" dirty="0"/>
          </a:p>
        </p:txBody>
      </p:sp>
      <p:sp>
        <p:nvSpPr>
          <p:cNvPr id="9" name="Text 7"/>
          <p:cNvSpPr txBox="1"/>
          <p:nvPr/>
        </p:nvSpPr>
        <p:spPr>
          <a:xfrm>
            <a:off x="777240" y="3200400"/>
            <a:ext cx="4983480" cy="365760"/>
          </a:xfrm>
          <a:prstGeom prst="rect">
            <a:avLst/>
          </a:prstGeom>
          <a:noFill/>
          <a:ln/>
        </p:spPr>
        <p:txBody>
          <a:bodyPr wrap="square" lIns="0" tIns="0" rIns="0" bIns="0" rtlCol="0" anchor="ctr"/>
          <a:lstStyle/>
          <a:p>
            <a:pPr marL="0" indent="0">
              <a:buNone/>
            </a:pPr>
            <a:r>
              <a:rPr lang="en-US" sz="1150" b="1" dirty="0">
                <a:solidFill>
                  <a:srgbClr val="5B6B73"/>
                </a:solidFill>
                <a:latin typeface="Calibri" pitchFamily="34" charset="0"/>
                <a:ea typeface="Calibri" pitchFamily="34" charset="-122"/>
                <a:cs typeface="Calibri" pitchFamily="34" charset="-120"/>
              </a:rPr>
              <a:t>e.g. </a:t>
            </a:r>
            <a:r>
              <a:rPr lang="en-US" sz="1150" i="1" dirty="0">
                <a:solidFill>
                  <a:srgbClr val="5B6B73"/>
                </a:solidFill>
                <a:latin typeface="Calibri" pitchFamily="34" charset="0"/>
                <a:ea typeface="Calibri" pitchFamily="34" charset="-122"/>
                <a:cs typeface="Calibri" pitchFamily="34" charset="-120"/>
              </a:rPr>
              <a:t>Nando's runs its own customer surveys.</a:t>
            </a:r>
            <a:endParaRPr lang="en-US" sz="1150" dirty="0"/>
          </a:p>
        </p:txBody>
      </p:sp>
      <p:sp>
        <p:nvSpPr>
          <p:cNvPr id="10" name="Shape 8"/>
          <p:cNvSpPr/>
          <p:nvPr/>
        </p:nvSpPr>
        <p:spPr>
          <a:xfrm>
            <a:off x="6199632" y="1371600"/>
            <a:ext cx="5440680" cy="2286000"/>
          </a:xfrm>
          <a:prstGeom prst="roundRect">
            <a:avLst>
              <a:gd name="adj" fmla="val 3200"/>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1" name="Shape 9"/>
          <p:cNvSpPr/>
          <p:nvPr/>
        </p:nvSpPr>
        <p:spPr>
          <a:xfrm>
            <a:off x="6428232" y="1536192"/>
            <a:ext cx="2103120" cy="310896"/>
          </a:xfrm>
          <a:prstGeom prst="roundRect">
            <a:avLst>
              <a:gd name="adj" fmla="val 50000"/>
            </a:avLst>
          </a:prstGeom>
          <a:solidFill>
            <a:srgbClr val="E0940F"/>
          </a:solidFill>
          <a:ln/>
        </p:spPr>
        <p:txBody>
          <a:bodyPr/>
          <a:lstStyle/>
          <a:p>
            <a:endParaRPr lang="en-AE"/>
          </a:p>
        </p:txBody>
      </p:sp>
      <p:sp>
        <p:nvSpPr>
          <p:cNvPr id="12" name="Text 10"/>
          <p:cNvSpPr txBox="1"/>
          <p:nvPr/>
        </p:nvSpPr>
        <p:spPr>
          <a:xfrm>
            <a:off x="6428232" y="1536192"/>
            <a:ext cx="210312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SECONDARY</a:t>
            </a:r>
            <a:endParaRPr lang="en-US" sz="1050" dirty="0"/>
          </a:p>
        </p:txBody>
      </p:sp>
      <p:sp>
        <p:nvSpPr>
          <p:cNvPr id="13" name="Text 11"/>
          <p:cNvSpPr txBox="1"/>
          <p:nvPr/>
        </p:nvSpPr>
        <p:spPr>
          <a:xfrm>
            <a:off x="6428232" y="1965960"/>
            <a:ext cx="4983480" cy="548640"/>
          </a:xfrm>
          <a:prstGeom prst="rect">
            <a:avLst/>
          </a:prstGeom>
          <a:noFill/>
          <a:ln/>
        </p:spPr>
        <p:txBody>
          <a:bodyPr wrap="square" lIns="0" tIns="0" rIns="0" bIns="0" rtlCol="0" anchor="t"/>
          <a:lstStyle/>
          <a:p>
            <a:pPr marL="0" indent="0">
              <a:buNone/>
            </a:pPr>
            <a:r>
              <a:rPr lang="en-US" sz="1300" dirty="0">
                <a:solidFill>
                  <a:srgbClr val="1F2A33"/>
                </a:solidFill>
                <a:latin typeface="Calibri" pitchFamily="34" charset="0"/>
                <a:ea typeface="Calibri" pitchFamily="34" charset="-122"/>
                <a:cs typeface="Calibri" pitchFamily="34" charset="-120"/>
              </a:rPr>
              <a:t>Data that ALREADY EXISTS, collected by someone else for another purpose.</a:t>
            </a:r>
            <a:endParaRPr lang="en-US" sz="1300" dirty="0"/>
          </a:p>
        </p:txBody>
      </p:sp>
      <p:sp>
        <p:nvSpPr>
          <p:cNvPr id="14" name="Text 12"/>
          <p:cNvSpPr txBox="1"/>
          <p:nvPr/>
        </p:nvSpPr>
        <p:spPr>
          <a:xfrm>
            <a:off x="6428232" y="2560320"/>
            <a:ext cx="4983480" cy="640080"/>
          </a:xfrm>
          <a:prstGeom prst="rect">
            <a:avLst/>
          </a:prstGeom>
          <a:noFill/>
          <a:ln/>
        </p:spPr>
        <p:txBody>
          <a:bodyPr wrap="square" lIns="0" tIns="0" rIns="0" bIns="0" rtlCol="0" anchor="t"/>
          <a:lstStyle/>
          <a:p>
            <a:pPr marL="0" indent="0">
              <a:buNone/>
            </a:pPr>
            <a:r>
              <a:rPr lang="en-US" sz="1200" b="1" dirty="0">
                <a:solidFill>
                  <a:srgbClr val="2F8A5B"/>
                </a:solidFill>
                <a:latin typeface="Calibri" pitchFamily="34" charset="0"/>
                <a:ea typeface="Calibri" pitchFamily="34" charset="-122"/>
                <a:cs typeface="Calibri" pitchFamily="34" charset="-120"/>
              </a:rPr>
              <a:t>✓ </a:t>
            </a:r>
            <a:r>
              <a:rPr lang="en-US" sz="1200" dirty="0">
                <a:solidFill>
                  <a:srgbClr val="1F2A33"/>
                </a:solidFill>
                <a:latin typeface="Calibri" pitchFamily="34" charset="0"/>
                <a:ea typeface="Calibri" pitchFamily="34" charset="-122"/>
                <a:cs typeface="Calibri" pitchFamily="34" charset="-120"/>
              </a:rPr>
              <a:t>cheap &amp; quick to access.   </a:t>
            </a:r>
            <a:r>
              <a:rPr lang="en-US" sz="1200" b="1" dirty="0">
                <a:solidFill>
                  <a:srgbClr val="C14B37"/>
                </a:solidFill>
                <a:latin typeface="Calibri" pitchFamily="34" charset="0"/>
                <a:ea typeface="Calibri" pitchFamily="34" charset="-122"/>
                <a:cs typeface="Calibri" pitchFamily="34" charset="-120"/>
              </a:rPr>
              <a:t>✗ </a:t>
            </a:r>
            <a:r>
              <a:rPr lang="en-US" sz="1200" dirty="0">
                <a:solidFill>
                  <a:srgbClr val="1F2A33"/>
                </a:solidFill>
                <a:latin typeface="Calibri" pitchFamily="34" charset="0"/>
                <a:ea typeface="Calibri" pitchFamily="34" charset="-122"/>
                <a:cs typeface="Calibri" pitchFamily="34" charset="-120"/>
              </a:rPr>
              <a:t>may be outdated, general or not specific to the firm.</a:t>
            </a:r>
            <a:endParaRPr lang="en-US" sz="1200" dirty="0"/>
          </a:p>
        </p:txBody>
      </p:sp>
      <p:sp>
        <p:nvSpPr>
          <p:cNvPr id="15" name="Text 13"/>
          <p:cNvSpPr txBox="1"/>
          <p:nvPr/>
        </p:nvSpPr>
        <p:spPr>
          <a:xfrm>
            <a:off x="6428232" y="3200400"/>
            <a:ext cx="4983480" cy="365760"/>
          </a:xfrm>
          <a:prstGeom prst="rect">
            <a:avLst/>
          </a:prstGeom>
          <a:noFill/>
          <a:ln/>
        </p:spPr>
        <p:txBody>
          <a:bodyPr wrap="square" lIns="0" tIns="0" rIns="0" bIns="0" rtlCol="0" anchor="ctr"/>
          <a:lstStyle/>
          <a:p>
            <a:pPr marL="0" indent="0">
              <a:buNone/>
            </a:pPr>
            <a:r>
              <a:rPr lang="en-US" sz="1150" b="1" dirty="0">
                <a:solidFill>
                  <a:srgbClr val="5B6B73"/>
                </a:solidFill>
                <a:latin typeface="Calibri" pitchFamily="34" charset="0"/>
                <a:ea typeface="Calibri" pitchFamily="34" charset="-122"/>
                <a:cs typeface="Calibri" pitchFamily="34" charset="-120"/>
              </a:rPr>
              <a:t>e.g. </a:t>
            </a:r>
            <a:r>
              <a:rPr lang="en-US" sz="1150" i="1" dirty="0">
                <a:solidFill>
                  <a:srgbClr val="5B6B73"/>
                </a:solidFill>
                <a:latin typeface="Calibri" pitchFamily="34" charset="0"/>
                <a:ea typeface="Calibri" pitchFamily="34" charset="-122"/>
                <a:cs typeface="Calibri" pitchFamily="34" charset="-120"/>
              </a:rPr>
              <a:t>a government population report.</a:t>
            </a:r>
            <a:endParaRPr lang="en-US" sz="1150" dirty="0"/>
          </a:p>
        </p:txBody>
      </p:sp>
      <p:sp>
        <p:nvSpPr>
          <p:cNvPr id="16" name="Shape 14"/>
          <p:cNvSpPr/>
          <p:nvPr/>
        </p:nvSpPr>
        <p:spPr>
          <a:xfrm>
            <a:off x="548640" y="3749040"/>
            <a:ext cx="5440680" cy="2423160"/>
          </a:xfrm>
          <a:prstGeom prst="roundRect">
            <a:avLst>
              <a:gd name="adj" fmla="val 3019"/>
            </a:avLst>
          </a:prstGeom>
          <a:solidFill>
            <a:srgbClr val="E8F3EC"/>
          </a:solidFill>
          <a:ln/>
          <a:effectLst>
            <a:outerShdw blurRad="76200" dist="25400" dir="5400000" algn="bl" rotWithShape="0">
              <a:srgbClr val="9AAAB0">
                <a:alpha val="28000"/>
              </a:srgbClr>
            </a:outerShdw>
          </a:effectLst>
        </p:spPr>
        <p:txBody>
          <a:bodyPr/>
          <a:lstStyle/>
          <a:p>
            <a:endParaRPr lang="en-AE"/>
          </a:p>
        </p:txBody>
      </p:sp>
      <p:sp>
        <p:nvSpPr>
          <p:cNvPr id="17" name="Shape 15"/>
          <p:cNvSpPr/>
          <p:nvPr/>
        </p:nvSpPr>
        <p:spPr>
          <a:xfrm>
            <a:off x="777240" y="3895344"/>
            <a:ext cx="2743200" cy="310896"/>
          </a:xfrm>
          <a:prstGeom prst="roundRect">
            <a:avLst>
              <a:gd name="adj" fmla="val 50000"/>
            </a:avLst>
          </a:prstGeom>
          <a:solidFill>
            <a:srgbClr val="2F8A5B"/>
          </a:solidFill>
          <a:ln/>
        </p:spPr>
        <p:txBody>
          <a:bodyPr/>
          <a:lstStyle/>
          <a:p>
            <a:endParaRPr lang="en-AE"/>
          </a:p>
        </p:txBody>
      </p:sp>
      <p:sp>
        <p:nvSpPr>
          <p:cNvPr id="18" name="Text 16"/>
          <p:cNvSpPr txBox="1"/>
          <p:nvPr/>
        </p:nvSpPr>
        <p:spPr>
          <a:xfrm>
            <a:off x="777240" y="3895344"/>
            <a:ext cx="27432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QUANTITATIVE</a:t>
            </a:r>
            <a:endParaRPr lang="en-US" sz="1050" dirty="0"/>
          </a:p>
        </p:txBody>
      </p:sp>
      <p:sp>
        <p:nvSpPr>
          <p:cNvPr id="19" name="Text 17"/>
          <p:cNvSpPr txBox="1"/>
          <p:nvPr/>
        </p:nvSpPr>
        <p:spPr>
          <a:xfrm>
            <a:off x="777240" y="4315968"/>
            <a:ext cx="4983480" cy="548640"/>
          </a:xfrm>
          <a:prstGeom prst="rect">
            <a:avLst/>
          </a:prstGeom>
          <a:noFill/>
          <a:ln/>
        </p:spPr>
        <p:txBody>
          <a:bodyPr wrap="square" lIns="0" tIns="0" rIns="0" bIns="0" rtlCol="0" anchor="t"/>
          <a:lstStyle/>
          <a:p>
            <a:pPr marL="0" indent="0">
              <a:buNone/>
            </a:pPr>
            <a:r>
              <a:rPr lang="en-US" sz="1300" dirty="0">
                <a:solidFill>
                  <a:srgbClr val="1F2A33"/>
                </a:solidFill>
                <a:latin typeface="Calibri" pitchFamily="34" charset="0"/>
                <a:ea typeface="Calibri" pitchFamily="34" charset="-122"/>
                <a:cs typeface="Calibri" pitchFamily="34" charset="-120"/>
              </a:rPr>
              <a:t>NUMERICAL data — facts and figures you can measure and compare.</a:t>
            </a:r>
            <a:endParaRPr lang="en-US" sz="1300" dirty="0"/>
          </a:p>
        </p:txBody>
      </p:sp>
      <p:sp>
        <p:nvSpPr>
          <p:cNvPr id="20" name="Text 18"/>
          <p:cNvSpPr txBox="1"/>
          <p:nvPr/>
        </p:nvSpPr>
        <p:spPr>
          <a:xfrm>
            <a:off x="777240" y="4937760"/>
            <a:ext cx="4983480" cy="1005840"/>
          </a:xfrm>
          <a:prstGeom prst="rect">
            <a:avLst/>
          </a:prstGeom>
          <a:noFill/>
          <a:ln/>
        </p:spPr>
        <p:txBody>
          <a:bodyPr wrap="square" lIns="0" tIns="0" rIns="0" bIns="0" rtlCol="0" anchor="t"/>
          <a:lstStyle/>
          <a:p>
            <a:pPr marL="0" indent="0">
              <a:buNone/>
            </a:pPr>
            <a:r>
              <a:rPr lang="en-US" sz="1250" b="1" dirty="0">
                <a:solidFill>
                  <a:srgbClr val="5B6B73"/>
                </a:solidFill>
                <a:latin typeface="Calibri" pitchFamily="34" charset="0"/>
                <a:ea typeface="Calibri" pitchFamily="34" charset="-122"/>
                <a:cs typeface="Calibri" pitchFamily="34" charset="-120"/>
              </a:rPr>
              <a:t>e.g. </a:t>
            </a:r>
            <a:r>
              <a:rPr lang="en-US" sz="1250" i="1" dirty="0">
                <a:solidFill>
                  <a:srgbClr val="5B6B73"/>
                </a:solidFill>
                <a:latin typeface="Calibri" pitchFamily="34" charset="0"/>
                <a:ea typeface="Calibri" pitchFamily="34" charset="-122"/>
                <a:cs typeface="Calibri" pitchFamily="34" charset="-120"/>
              </a:rPr>
              <a:t>‘62% of customers prefer mild spice.’  Good for quantifying demand.</a:t>
            </a:r>
            <a:endParaRPr lang="en-US" sz="1250" dirty="0"/>
          </a:p>
        </p:txBody>
      </p:sp>
      <p:sp>
        <p:nvSpPr>
          <p:cNvPr id="21" name="Shape 19"/>
          <p:cNvSpPr/>
          <p:nvPr/>
        </p:nvSpPr>
        <p:spPr>
          <a:xfrm>
            <a:off x="6199632" y="3749040"/>
            <a:ext cx="5440680" cy="2423160"/>
          </a:xfrm>
          <a:prstGeom prst="roundRect">
            <a:avLst>
              <a:gd name="adj" fmla="val 3019"/>
            </a:avLst>
          </a:prstGeom>
          <a:solidFill>
            <a:srgbClr val="F9EAE6"/>
          </a:solidFill>
          <a:ln/>
          <a:effectLst>
            <a:outerShdw blurRad="76200" dist="25400" dir="5400000" algn="bl" rotWithShape="0">
              <a:srgbClr val="9AAAB0">
                <a:alpha val="28000"/>
              </a:srgbClr>
            </a:outerShdw>
          </a:effectLst>
        </p:spPr>
        <p:txBody>
          <a:bodyPr/>
          <a:lstStyle/>
          <a:p>
            <a:endParaRPr lang="en-AE"/>
          </a:p>
        </p:txBody>
      </p:sp>
      <p:sp>
        <p:nvSpPr>
          <p:cNvPr id="22" name="Shape 20"/>
          <p:cNvSpPr/>
          <p:nvPr/>
        </p:nvSpPr>
        <p:spPr>
          <a:xfrm>
            <a:off x="6428232" y="3895344"/>
            <a:ext cx="2743200" cy="310896"/>
          </a:xfrm>
          <a:prstGeom prst="roundRect">
            <a:avLst>
              <a:gd name="adj" fmla="val 50000"/>
            </a:avLst>
          </a:prstGeom>
          <a:solidFill>
            <a:srgbClr val="C14B37"/>
          </a:solidFill>
          <a:ln/>
        </p:spPr>
        <p:txBody>
          <a:bodyPr/>
          <a:lstStyle/>
          <a:p>
            <a:endParaRPr lang="en-AE"/>
          </a:p>
        </p:txBody>
      </p:sp>
      <p:sp>
        <p:nvSpPr>
          <p:cNvPr id="23" name="Text 21"/>
          <p:cNvSpPr txBox="1"/>
          <p:nvPr/>
        </p:nvSpPr>
        <p:spPr>
          <a:xfrm>
            <a:off x="6428232" y="3895344"/>
            <a:ext cx="27432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QUALITATIVE</a:t>
            </a:r>
            <a:endParaRPr lang="en-US" sz="1050" dirty="0"/>
          </a:p>
        </p:txBody>
      </p:sp>
      <p:sp>
        <p:nvSpPr>
          <p:cNvPr id="24" name="Text 22"/>
          <p:cNvSpPr txBox="1"/>
          <p:nvPr/>
        </p:nvSpPr>
        <p:spPr>
          <a:xfrm>
            <a:off x="6428232" y="4315968"/>
            <a:ext cx="4983480" cy="548640"/>
          </a:xfrm>
          <a:prstGeom prst="rect">
            <a:avLst/>
          </a:prstGeom>
          <a:noFill/>
          <a:ln/>
        </p:spPr>
        <p:txBody>
          <a:bodyPr wrap="square" lIns="0" tIns="0" rIns="0" bIns="0" rtlCol="0" anchor="t"/>
          <a:lstStyle/>
          <a:p>
            <a:pPr marL="0" indent="0">
              <a:buNone/>
            </a:pPr>
            <a:r>
              <a:rPr lang="en-US" sz="1300" dirty="0">
                <a:solidFill>
                  <a:srgbClr val="1F2A33"/>
                </a:solidFill>
                <a:latin typeface="Calibri" pitchFamily="34" charset="0"/>
                <a:ea typeface="Calibri" pitchFamily="34" charset="-122"/>
                <a:cs typeface="Calibri" pitchFamily="34" charset="-120"/>
              </a:rPr>
              <a:t>OPINIONS, motives and explanations — the ‘why’ behind behaviour.</a:t>
            </a:r>
            <a:endParaRPr lang="en-US" sz="1300" dirty="0"/>
          </a:p>
        </p:txBody>
      </p:sp>
      <p:sp>
        <p:nvSpPr>
          <p:cNvPr id="25" name="Text 23"/>
          <p:cNvSpPr txBox="1"/>
          <p:nvPr/>
        </p:nvSpPr>
        <p:spPr>
          <a:xfrm>
            <a:off x="6428232" y="4937760"/>
            <a:ext cx="4983480" cy="1005840"/>
          </a:xfrm>
          <a:prstGeom prst="rect">
            <a:avLst/>
          </a:prstGeom>
          <a:noFill/>
          <a:ln/>
        </p:spPr>
        <p:txBody>
          <a:bodyPr wrap="square" lIns="0" tIns="0" rIns="0" bIns="0" rtlCol="0" anchor="t"/>
          <a:lstStyle/>
          <a:p>
            <a:pPr marL="0" indent="0">
              <a:buNone/>
            </a:pPr>
            <a:r>
              <a:rPr lang="en-US" sz="1250" b="1" dirty="0">
                <a:solidFill>
                  <a:srgbClr val="5B6B73"/>
                </a:solidFill>
                <a:latin typeface="Calibri" pitchFamily="34" charset="0"/>
                <a:ea typeface="Calibri" pitchFamily="34" charset="-122"/>
                <a:cs typeface="Calibri" pitchFamily="34" charset="-120"/>
              </a:rPr>
              <a:t>e.g. </a:t>
            </a:r>
            <a:r>
              <a:rPr lang="en-US" sz="1250" i="1" dirty="0">
                <a:solidFill>
                  <a:srgbClr val="5B6B73"/>
                </a:solidFill>
                <a:latin typeface="Calibri" pitchFamily="34" charset="0"/>
                <a:ea typeface="Calibri" pitchFamily="34" charset="-122"/>
                <a:cs typeface="Calibri" pitchFamily="34" charset="-120"/>
              </a:rPr>
              <a:t>‘why customers prefer a flavour.’  Good for insight into behaviour.</a:t>
            </a:r>
            <a:endParaRPr lang="en-US" sz="1250" dirty="0"/>
          </a:p>
        </p:txBody>
      </p:sp>
      <p:sp>
        <p:nvSpPr>
          <p:cNvPr id="26"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A · PURPOSE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Why businesses research: the three purposes</a:t>
            </a:r>
            <a:endParaRPr lang="en-US" sz="2700" dirty="0"/>
          </a:p>
        </p:txBody>
      </p:sp>
      <p:sp>
        <p:nvSpPr>
          <p:cNvPr id="4" name="Shape 2"/>
          <p:cNvSpPr/>
          <p:nvPr/>
        </p:nvSpPr>
        <p:spPr>
          <a:xfrm>
            <a:off x="548640" y="1508760"/>
            <a:ext cx="3575304" cy="3200400"/>
          </a:xfrm>
          <a:prstGeom prst="roundRect">
            <a:avLst>
              <a:gd name="adj" fmla="val 228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548640" y="1508760"/>
            <a:ext cx="3575304" cy="91440"/>
          </a:xfrm>
          <a:prstGeom prst="roundRect">
            <a:avLst/>
          </a:prstGeom>
          <a:solidFill>
            <a:srgbClr val="0E7C86"/>
          </a:solidFill>
          <a:ln/>
        </p:spPr>
        <p:txBody>
          <a:bodyPr/>
          <a:lstStyle/>
          <a:p>
            <a:endParaRPr lang="en-AE"/>
          </a:p>
        </p:txBody>
      </p:sp>
      <p:sp>
        <p:nvSpPr>
          <p:cNvPr id="6" name="Text 4"/>
          <p:cNvSpPr txBox="1"/>
          <p:nvPr/>
        </p:nvSpPr>
        <p:spPr>
          <a:xfrm>
            <a:off x="749808" y="1737360"/>
            <a:ext cx="3172968" cy="731520"/>
          </a:xfrm>
          <a:prstGeom prst="rect">
            <a:avLst/>
          </a:prstGeom>
          <a:noFill/>
          <a:ln/>
        </p:spPr>
        <p:txBody>
          <a:bodyPr wrap="square" lIns="0" tIns="0" rIns="0" bIns="0" rtlCol="0" anchor="t"/>
          <a:lstStyle/>
          <a:p>
            <a:pPr marL="0" indent="0">
              <a:buNone/>
            </a:pPr>
            <a:r>
              <a:rPr lang="en-US" sz="1550" b="1" dirty="0">
                <a:solidFill>
                  <a:srgbClr val="0E7C86"/>
                </a:solidFill>
                <a:latin typeface="Calibri" pitchFamily="34" charset="0"/>
                <a:ea typeface="Calibri" pitchFamily="34" charset="-122"/>
                <a:cs typeface="Calibri" pitchFamily="34" charset="-120"/>
              </a:rPr>
              <a:t>Identify &amp; anticipate needs</a:t>
            </a:r>
            <a:endParaRPr lang="en-US" sz="1550" dirty="0"/>
          </a:p>
        </p:txBody>
      </p:sp>
      <p:sp>
        <p:nvSpPr>
          <p:cNvPr id="7" name="Text 5"/>
          <p:cNvSpPr txBox="1"/>
          <p:nvPr/>
        </p:nvSpPr>
        <p:spPr>
          <a:xfrm>
            <a:off x="749808" y="2514600"/>
            <a:ext cx="3172968" cy="1188720"/>
          </a:xfrm>
          <a:prstGeom prst="rect">
            <a:avLst/>
          </a:prstGeom>
          <a:noFill/>
          <a:ln/>
        </p:spPr>
        <p:txBody>
          <a:bodyPr wrap="square" lIns="0" tIns="0" rIns="0" bIns="0" rtlCol="0" anchor="t"/>
          <a:lstStyle/>
          <a:p>
            <a:pPr marL="0" indent="0">
              <a:buNone/>
            </a:pPr>
            <a:r>
              <a:rPr lang="en-US" sz="1250" dirty="0">
                <a:solidFill>
                  <a:srgbClr val="1F2A33"/>
                </a:solidFill>
                <a:latin typeface="Calibri" pitchFamily="34" charset="0"/>
                <a:ea typeface="Calibri" pitchFamily="34" charset="-122"/>
                <a:cs typeface="Calibri" pitchFamily="34" charset="-120"/>
              </a:rPr>
              <a:t>Find out what customers want now — and predict what they will want next</a:t>
            </a:r>
            <a:endParaRPr lang="en-US" sz="1250" dirty="0"/>
          </a:p>
        </p:txBody>
      </p:sp>
      <p:sp>
        <p:nvSpPr>
          <p:cNvPr id="8" name="Text 6"/>
          <p:cNvSpPr txBox="1"/>
          <p:nvPr/>
        </p:nvSpPr>
        <p:spPr>
          <a:xfrm>
            <a:off x="749808" y="3749040"/>
            <a:ext cx="3172968" cy="868680"/>
          </a:xfrm>
          <a:prstGeom prst="rect">
            <a:avLst/>
          </a:prstGeom>
          <a:noFill/>
          <a:ln/>
        </p:spPr>
        <p:txBody>
          <a:bodyPr wrap="square" lIns="0" tIns="0" rIns="0" bIns="0" rtlCol="0" anchor="t"/>
          <a:lstStyle/>
          <a:p>
            <a:pPr marL="0" indent="0">
              <a:buNone/>
            </a:pPr>
            <a:r>
              <a:rPr lang="en-US" sz="1150" b="1" dirty="0">
                <a:solidFill>
                  <a:srgbClr val="5B6B73"/>
                </a:solidFill>
                <a:latin typeface="Calibri" pitchFamily="34" charset="0"/>
                <a:ea typeface="Calibri" pitchFamily="34" charset="-122"/>
                <a:cs typeface="Calibri" pitchFamily="34" charset="-120"/>
              </a:rPr>
              <a:t>e.g. </a:t>
            </a:r>
            <a:r>
              <a:rPr lang="en-US" sz="1150" i="1" dirty="0">
                <a:solidFill>
                  <a:srgbClr val="5B6B73"/>
                </a:solidFill>
                <a:latin typeface="Calibri" pitchFamily="34" charset="0"/>
                <a:ea typeface="Calibri" pitchFamily="34" charset="-122"/>
                <a:cs typeface="Calibri" pitchFamily="34" charset="-120"/>
              </a:rPr>
              <a:t>A café tests which new flavours customers would buy</a:t>
            </a:r>
            <a:endParaRPr lang="en-US" sz="1150" dirty="0"/>
          </a:p>
        </p:txBody>
      </p:sp>
      <p:sp>
        <p:nvSpPr>
          <p:cNvPr id="9" name="Shape 7"/>
          <p:cNvSpPr/>
          <p:nvPr/>
        </p:nvSpPr>
        <p:spPr>
          <a:xfrm>
            <a:off x="4306824" y="1508760"/>
            <a:ext cx="3575304" cy="3200400"/>
          </a:xfrm>
          <a:prstGeom prst="roundRect">
            <a:avLst>
              <a:gd name="adj" fmla="val 228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0" name="Shape 8"/>
          <p:cNvSpPr/>
          <p:nvPr/>
        </p:nvSpPr>
        <p:spPr>
          <a:xfrm>
            <a:off x="4306824" y="1508760"/>
            <a:ext cx="3575304" cy="91440"/>
          </a:xfrm>
          <a:prstGeom prst="roundRect">
            <a:avLst/>
          </a:prstGeom>
          <a:solidFill>
            <a:srgbClr val="E0940F"/>
          </a:solidFill>
          <a:ln/>
        </p:spPr>
        <p:txBody>
          <a:bodyPr/>
          <a:lstStyle/>
          <a:p>
            <a:endParaRPr lang="en-AE"/>
          </a:p>
        </p:txBody>
      </p:sp>
      <p:sp>
        <p:nvSpPr>
          <p:cNvPr id="11" name="Text 9"/>
          <p:cNvSpPr txBox="1"/>
          <p:nvPr/>
        </p:nvSpPr>
        <p:spPr>
          <a:xfrm>
            <a:off x="4507992" y="1737360"/>
            <a:ext cx="3172968" cy="731520"/>
          </a:xfrm>
          <a:prstGeom prst="rect">
            <a:avLst/>
          </a:prstGeom>
          <a:noFill/>
          <a:ln/>
        </p:spPr>
        <p:txBody>
          <a:bodyPr wrap="square" lIns="0" tIns="0" rIns="0" bIns="0" rtlCol="0" anchor="t"/>
          <a:lstStyle/>
          <a:p>
            <a:pPr marL="0" indent="0">
              <a:buNone/>
            </a:pPr>
            <a:r>
              <a:rPr lang="en-US" sz="1550" b="1" dirty="0">
                <a:solidFill>
                  <a:srgbClr val="E0940F"/>
                </a:solidFill>
                <a:latin typeface="Calibri" pitchFamily="34" charset="0"/>
                <a:ea typeface="Calibri" pitchFamily="34" charset="-122"/>
                <a:cs typeface="Calibri" pitchFamily="34" charset="-120"/>
              </a:rPr>
              <a:t>Quantify likely demand</a:t>
            </a:r>
            <a:endParaRPr lang="en-US" sz="1550" dirty="0"/>
          </a:p>
        </p:txBody>
      </p:sp>
      <p:sp>
        <p:nvSpPr>
          <p:cNvPr id="12" name="Text 10"/>
          <p:cNvSpPr txBox="1"/>
          <p:nvPr/>
        </p:nvSpPr>
        <p:spPr>
          <a:xfrm>
            <a:off x="4507992" y="2514600"/>
            <a:ext cx="3172968" cy="1188720"/>
          </a:xfrm>
          <a:prstGeom prst="rect">
            <a:avLst/>
          </a:prstGeom>
          <a:noFill/>
          <a:ln/>
        </p:spPr>
        <p:txBody>
          <a:bodyPr wrap="square" lIns="0" tIns="0" rIns="0" bIns="0" rtlCol="0" anchor="t"/>
          <a:lstStyle/>
          <a:p>
            <a:pPr marL="0" indent="0">
              <a:buNone/>
            </a:pPr>
            <a:r>
              <a:rPr lang="en-US" sz="1250" dirty="0">
                <a:solidFill>
                  <a:srgbClr val="1F2A33"/>
                </a:solidFill>
                <a:latin typeface="Calibri" pitchFamily="34" charset="0"/>
                <a:ea typeface="Calibri" pitchFamily="34" charset="-122"/>
                <a:cs typeface="Calibri" pitchFamily="34" charset="-120"/>
              </a:rPr>
              <a:t>Estimate how much the business could sell, to plan output &amp; stock</a:t>
            </a:r>
            <a:endParaRPr lang="en-US" sz="1250" dirty="0"/>
          </a:p>
        </p:txBody>
      </p:sp>
      <p:sp>
        <p:nvSpPr>
          <p:cNvPr id="13" name="Text 11"/>
          <p:cNvSpPr txBox="1"/>
          <p:nvPr/>
        </p:nvSpPr>
        <p:spPr>
          <a:xfrm>
            <a:off x="4507992" y="3749040"/>
            <a:ext cx="3172968" cy="868680"/>
          </a:xfrm>
          <a:prstGeom prst="rect">
            <a:avLst/>
          </a:prstGeom>
          <a:noFill/>
          <a:ln/>
        </p:spPr>
        <p:txBody>
          <a:bodyPr wrap="square" lIns="0" tIns="0" rIns="0" bIns="0" rtlCol="0" anchor="t"/>
          <a:lstStyle/>
          <a:p>
            <a:pPr marL="0" indent="0">
              <a:buNone/>
            </a:pPr>
            <a:r>
              <a:rPr lang="en-US" sz="1150" b="1" dirty="0">
                <a:solidFill>
                  <a:srgbClr val="5B6B73"/>
                </a:solidFill>
                <a:latin typeface="Calibri" pitchFamily="34" charset="0"/>
                <a:ea typeface="Calibri" pitchFamily="34" charset="-122"/>
                <a:cs typeface="Calibri" pitchFamily="34" charset="-120"/>
              </a:rPr>
              <a:t>e.g. </a:t>
            </a:r>
            <a:r>
              <a:rPr lang="en-US" sz="1150" i="1" dirty="0">
                <a:solidFill>
                  <a:srgbClr val="5B6B73"/>
                </a:solidFill>
                <a:latin typeface="Calibri" pitchFamily="34" charset="0"/>
                <a:ea typeface="Calibri" pitchFamily="34" charset="-122"/>
                <a:cs typeface="Calibri" pitchFamily="34" charset="-120"/>
              </a:rPr>
              <a:t>Surveying how many would buy a new AED 28 iced drink</a:t>
            </a:r>
            <a:endParaRPr lang="en-US" sz="1150" dirty="0"/>
          </a:p>
        </p:txBody>
      </p:sp>
      <p:sp>
        <p:nvSpPr>
          <p:cNvPr id="14" name="Shape 12"/>
          <p:cNvSpPr/>
          <p:nvPr/>
        </p:nvSpPr>
        <p:spPr>
          <a:xfrm>
            <a:off x="8065008" y="1508760"/>
            <a:ext cx="3575304" cy="3200400"/>
          </a:xfrm>
          <a:prstGeom prst="roundRect">
            <a:avLst>
              <a:gd name="adj" fmla="val 228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5" name="Shape 13"/>
          <p:cNvSpPr/>
          <p:nvPr/>
        </p:nvSpPr>
        <p:spPr>
          <a:xfrm>
            <a:off x="8065008" y="1508760"/>
            <a:ext cx="3575304" cy="91440"/>
          </a:xfrm>
          <a:prstGeom prst="roundRect">
            <a:avLst/>
          </a:prstGeom>
          <a:solidFill>
            <a:srgbClr val="2F8A5B"/>
          </a:solidFill>
          <a:ln/>
        </p:spPr>
        <p:txBody>
          <a:bodyPr/>
          <a:lstStyle/>
          <a:p>
            <a:endParaRPr lang="en-AE"/>
          </a:p>
        </p:txBody>
      </p:sp>
      <p:sp>
        <p:nvSpPr>
          <p:cNvPr id="16" name="Text 14"/>
          <p:cNvSpPr txBox="1"/>
          <p:nvPr/>
        </p:nvSpPr>
        <p:spPr>
          <a:xfrm>
            <a:off x="8266176" y="1737360"/>
            <a:ext cx="3172968" cy="731520"/>
          </a:xfrm>
          <a:prstGeom prst="rect">
            <a:avLst/>
          </a:prstGeom>
          <a:noFill/>
          <a:ln/>
        </p:spPr>
        <p:txBody>
          <a:bodyPr wrap="square" lIns="0" tIns="0" rIns="0" bIns="0" rtlCol="0" anchor="t"/>
          <a:lstStyle/>
          <a:p>
            <a:pPr marL="0" indent="0">
              <a:buNone/>
            </a:pPr>
            <a:r>
              <a:rPr lang="en-US" sz="1550" b="1" dirty="0">
                <a:solidFill>
                  <a:srgbClr val="2F8A5B"/>
                </a:solidFill>
                <a:latin typeface="Calibri" pitchFamily="34" charset="0"/>
                <a:ea typeface="Calibri" pitchFamily="34" charset="-122"/>
                <a:cs typeface="Calibri" pitchFamily="34" charset="-120"/>
              </a:rPr>
              <a:t>Insight into behaviour</a:t>
            </a:r>
            <a:endParaRPr lang="en-US" sz="1550" dirty="0"/>
          </a:p>
        </p:txBody>
      </p:sp>
      <p:sp>
        <p:nvSpPr>
          <p:cNvPr id="17" name="Text 15"/>
          <p:cNvSpPr txBox="1"/>
          <p:nvPr/>
        </p:nvSpPr>
        <p:spPr>
          <a:xfrm>
            <a:off x="8266176" y="2514600"/>
            <a:ext cx="3172968" cy="1188720"/>
          </a:xfrm>
          <a:prstGeom prst="rect">
            <a:avLst/>
          </a:prstGeom>
          <a:noFill/>
          <a:ln/>
        </p:spPr>
        <p:txBody>
          <a:bodyPr wrap="square" lIns="0" tIns="0" rIns="0" bIns="0" rtlCol="0" anchor="t"/>
          <a:lstStyle/>
          <a:p>
            <a:pPr marL="0" indent="0">
              <a:buNone/>
            </a:pPr>
            <a:r>
              <a:rPr lang="en-US" sz="1250" dirty="0">
                <a:solidFill>
                  <a:srgbClr val="1F2A33"/>
                </a:solidFill>
                <a:latin typeface="Calibri" pitchFamily="34" charset="0"/>
                <a:ea typeface="Calibri" pitchFamily="34" charset="-122"/>
                <a:cs typeface="Calibri" pitchFamily="34" charset="-120"/>
              </a:rPr>
              <a:t>Understand WHY customers choose, to shape the product &amp; marketing</a:t>
            </a:r>
            <a:endParaRPr lang="en-US" sz="1250" dirty="0"/>
          </a:p>
        </p:txBody>
      </p:sp>
      <p:sp>
        <p:nvSpPr>
          <p:cNvPr id="18" name="Text 16"/>
          <p:cNvSpPr txBox="1"/>
          <p:nvPr/>
        </p:nvSpPr>
        <p:spPr>
          <a:xfrm>
            <a:off x="8266176" y="3749040"/>
            <a:ext cx="3172968" cy="868680"/>
          </a:xfrm>
          <a:prstGeom prst="rect">
            <a:avLst/>
          </a:prstGeom>
          <a:noFill/>
          <a:ln/>
        </p:spPr>
        <p:txBody>
          <a:bodyPr wrap="square" lIns="0" tIns="0" rIns="0" bIns="0" rtlCol="0" anchor="t"/>
          <a:lstStyle/>
          <a:p>
            <a:pPr marL="0" indent="0">
              <a:buNone/>
            </a:pPr>
            <a:r>
              <a:rPr lang="en-US" sz="1150" b="1" dirty="0">
                <a:solidFill>
                  <a:srgbClr val="5B6B73"/>
                </a:solidFill>
                <a:latin typeface="Calibri" pitchFamily="34" charset="0"/>
                <a:ea typeface="Calibri" pitchFamily="34" charset="-122"/>
                <a:cs typeface="Calibri" pitchFamily="34" charset="-120"/>
              </a:rPr>
              <a:t>e.g. </a:t>
            </a:r>
            <a:r>
              <a:rPr lang="en-US" sz="1150" i="1" dirty="0">
                <a:solidFill>
                  <a:srgbClr val="5B6B73"/>
                </a:solidFill>
                <a:latin typeface="Calibri" pitchFamily="34" charset="0"/>
                <a:ea typeface="Calibri" pitchFamily="34" charset="-122"/>
                <a:cs typeface="Calibri" pitchFamily="34" charset="-120"/>
              </a:rPr>
              <a:t>Learning why shoppers pick one brand over another</a:t>
            </a:r>
            <a:endParaRPr lang="en-US" sz="1150" dirty="0"/>
          </a:p>
        </p:txBody>
      </p:sp>
      <p:sp>
        <p:nvSpPr>
          <p:cNvPr id="19" name="Shape 17"/>
          <p:cNvSpPr/>
          <p:nvPr/>
        </p:nvSpPr>
        <p:spPr>
          <a:xfrm>
            <a:off x="548640" y="4892040"/>
            <a:ext cx="11091672" cy="1280160"/>
          </a:xfrm>
          <a:prstGeom prst="roundRect">
            <a:avLst>
              <a:gd name="adj" fmla="val 5714"/>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20" name="Shape 18"/>
          <p:cNvSpPr/>
          <p:nvPr/>
        </p:nvSpPr>
        <p:spPr>
          <a:xfrm>
            <a:off x="548640" y="4892040"/>
            <a:ext cx="109728" cy="1280160"/>
          </a:xfrm>
          <a:prstGeom prst="roundRect">
            <a:avLst/>
          </a:prstGeom>
          <a:solidFill>
            <a:srgbClr val="E0940F"/>
          </a:solidFill>
          <a:ln/>
        </p:spPr>
        <p:txBody>
          <a:bodyPr/>
          <a:lstStyle/>
          <a:p>
            <a:endParaRPr lang="en-AE"/>
          </a:p>
        </p:txBody>
      </p:sp>
      <p:sp>
        <p:nvSpPr>
          <p:cNvPr id="21" name="Text 19"/>
          <p:cNvSpPr txBox="1"/>
          <p:nvPr/>
        </p:nvSpPr>
        <p:spPr>
          <a:xfrm>
            <a:off x="777240" y="5001768"/>
            <a:ext cx="10607040" cy="274320"/>
          </a:xfrm>
          <a:prstGeom prst="rect">
            <a:avLst/>
          </a:prstGeom>
          <a:noFill/>
          <a:ln/>
        </p:spPr>
        <p:txBody>
          <a:bodyPr wrap="square" lIns="0" tIns="0" rIns="0" bIns="0" rtlCol="0" anchor="ctr"/>
          <a:lstStyle/>
          <a:p>
            <a:pPr marL="0" indent="0">
              <a:buNone/>
            </a:pPr>
            <a:r>
              <a:rPr lang="en-US" sz="1150" b="1" kern="0" spc="100" dirty="0">
                <a:solidFill>
                  <a:srgbClr val="8A5A06"/>
                </a:solidFill>
                <a:latin typeface="Calibri" pitchFamily="34" charset="0"/>
                <a:ea typeface="Calibri" pitchFamily="34" charset="-122"/>
                <a:cs typeface="Calibri" pitchFamily="34" charset="-120"/>
              </a:rPr>
              <a:t>WHY IT HELPS — BUT CANNOT REMOVE RISK</a:t>
            </a:r>
            <a:endParaRPr lang="en-US" sz="1150" dirty="0"/>
          </a:p>
        </p:txBody>
      </p:sp>
      <p:sp>
        <p:nvSpPr>
          <p:cNvPr id="22" name="Text 20"/>
          <p:cNvSpPr txBox="1"/>
          <p:nvPr/>
        </p:nvSpPr>
        <p:spPr>
          <a:xfrm>
            <a:off x="777240" y="5285232"/>
            <a:ext cx="10698480" cy="822960"/>
          </a:xfrm>
          <a:prstGeom prst="rect">
            <a:avLst/>
          </a:prstGeom>
          <a:noFill/>
          <a:ln/>
        </p:spPr>
        <p:txBody>
          <a:bodyPr wrap="square" lIns="0" tIns="0" rIns="0" bIns="0" rtlCol="0" anchor="t"/>
          <a:lstStyle/>
          <a:p>
            <a:pPr marL="0" indent="0">
              <a:buNone/>
            </a:pPr>
            <a:r>
              <a:rPr lang="en-US" sz="1250" dirty="0">
                <a:solidFill>
                  <a:srgbClr val="1F2A33"/>
                </a:solidFill>
                <a:latin typeface="Calibri" pitchFamily="34" charset="0"/>
                <a:ea typeface="Calibri" pitchFamily="34" charset="-122"/>
                <a:cs typeface="Calibri" pitchFamily="34" charset="-120"/>
              </a:rPr>
              <a:t>Research identifies needs, estimates demand and reduces costly mistakes — but findings can become outdated, a poor sample can mislead, and research costs time and money. So it lowers risk; it never removes it. Exam tip: always explain what the research lets the NAMED business do.</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txBody>
          <a:bodyPr/>
          <a:lstStyle/>
          <a:p>
            <a:endParaRPr lang="en-AE"/>
          </a:p>
        </p:txBody>
      </p:sp>
      <p:sp>
        <p:nvSpPr>
          <p:cNvPr id="3" name="Text 1"/>
          <p:cNvSpPr txBox="1"/>
          <p:nvPr/>
        </p:nvSpPr>
        <p:spPr>
          <a:xfrm>
            <a:off x="731520" y="2011680"/>
            <a:ext cx="1737360" cy="1737360"/>
          </a:xfrm>
          <a:prstGeom prst="rect">
            <a:avLst/>
          </a:prstGeom>
          <a:noFill/>
          <a:ln/>
        </p:spPr>
        <p:txBody>
          <a:bodyPr wrap="square" lIns="0" tIns="0" rIns="0" bIns="0" rtlCol="0" anchor="ctr"/>
          <a:lstStyle/>
          <a:p>
            <a:pPr marL="0" indent="0" algn="ctr">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marL="0" indent="0">
              <a:buNone/>
            </a:pPr>
            <a:r>
              <a:rPr lang="en-US" sz="1300" b="1" kern="0" spc="25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Methods of research</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marL="0" indent="0">
              <a:buNone/>
            </a:pPr>
            <a:r>
              <a:rPr lang="en-US" sz="1350" b="1" dirty="0">
                <a:solidFill>
                  <a:srgbClr val="7FC4CB"/>
                </a:solidFill>
                <a:latin typeface="Calibri" pitchFamily="34" charset="0"/>
                <a:ea typeface="Calibri" pitchFamily="34" charset="-122"/>
                <a:cs typeface="Calibri" pitchFamily="34" charset="-120"/>
              </a:rPr>
              <a:t>In this part:  </a:t>
            </a:r>
            <a:r>
              <a:rPr lang="en-US" sz="1350" dirty="0">
                <a:solidFill>
                  <a:srgbClr val="D7E6E8"/>
                </a:solidFill>
                <a:latin typeface="Calibri" pitchFamily="34" charset="0"/>
                <a:ea typeface="Calibri" pitchFamily="34" charset="-122"/>
                <a:cs typeface="Calibri" pitchFamily="34" charset="-120"/>
              </a:rPr>
              <a:t>primary methods — surveys, focus groups, interviews, product trials/test marketing  ·  secondary methods — online, media, reports, databases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B · PRIMARY METHODS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Primary research methods</a:t>
            </a:r>
            <a:endParaRPr lang="en-US" sz="2700" dirty="0"/>
          </a:p>
        </p:txBody>
      </p:sp>
      <p:sp>
        <p:nvSpPr>
          <p:cNvPr id="4" name="Shape 2"/>
          <p:cNvSpPr/>
          <p:nvPr/>
        </p:nvSpPr>
        <p:spPr>
          <a:xfrm>
            <a:off x="548640" y="137160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548640" y="1371600"/>
            <a:ext cx="5440680" cy="91440"/>
          </a:xfrm>
          <a:prstGeom prst="roundRect">
            <a:avLst/>
          </a:prstGeom>
          <a:solidFill>
            <a:srgbClr val="0E7C86"/>
          </a:solidFill>
          <a:ln/>
        </p:spPr>
        <p:txBody>
          <a:bodyPr/>
          <a:lstStyle/>
          <a:p>
            <a:endParaRPr lang="en-AE"/>
          </a:p>
        </p:txBody>
      </p:sp>
      <p:sp>
        <p:nvSpPr>
          <p:cNvPr id="6" name="Text 4"/>
          <p:cNvSpPr txBox="1"/>
          <p:nvPr/>
        </p:nvSpPr>
        <p:spPr>
          <a:xfrm>
            <a:off x="749808" y="1554480"/>
            <a:ext cx="5038344" cy="365760"/>
          </a:xfrm>
          <a:prstGeom prst="rect">
            <a:avLst/>
          </a:prstGeom>
          <a:noFill/>
          <a:ln/>
        </p:spPr>
        <p:txBody>
          <a:bodyPr wrap="square" lIns="0" tIns="0" rIns="0" bIns="0" rtlCol="0" anchor="ctr"/>
          <a:lstStyle/>
          <a:p>
            <a:pPr marL="0" indent="0">
              <a:buNone/>
            </a:pPr>
            <a:r>
              <a:rPr lang="en-US" sz="1450" b="1" dirty="0">
                <a:solidFill>
                  <a:srgbClr val="0E7C86"/>
                </a:solidFill>
                <a:latin typeface="Calibri" pitchFamily="34" charset="0"/>
                <a:ea typeface="Calibri" pitchFamily="34" charset="-122"/>
                <a:cs typeface="Calibri" pitchFamily="34" charset="-120"/>
              </a:rPr>
              <a:t>Surveys / questionnaires</a:t>
            </a:r>
            <a:endParaRPr lang="en-US" sz="1450" dirty="0"/>
          </a:p>
        </p:txBody>
      </p:sp>
      <p:sp>
        <p:nvSpPr>
          <p:cNvPr id="7" name="Text 5"/>
          <p:cNvSpPr txBox="1"/>
          <p:nvPr/>
        </p:nvSpPr>
        <p:spPr>
          <a:xfrm>
            <a:off x="749808" y="193852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A planned set of questions completed by respondents to collect new data.</a:t>
            </a:r>
            <a:endParaRPr lang="en-US" sz="1150" dirty="0"/>
          </a:p>
        </p:txBody>
      </p:sp>
      <p:sp>
        <p:nvSpPr>
          <p:cNvPr id="8" name="Text 6"/>
          <p:cNvSpPr txBox="1"/>
          <p:nvPr/>
        </p:nvSpPr>
        <p:spPr>
          <a:xfrm>
            <a:off x="749808" y="257860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Reach many people cheaply; easy to quantify</a:t>
            </a:r>
            <a:endParaRPr lang="en-US" sz="1100" dirty="0"/>
          </a:p>
        </p:txBody>
      </p:sp>
      <p:sp>
        <p:nvSpPr>
          <p:cNvPr id="9" name="Text 7"/>
          <p:cNvSpPr txBox="1"/>
          <p:nvPr/>
        </p:nvSpPr>
        <p:spPr>
          <a:xfrm>
            <a:off x="749808" y="309067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Poorly-designed questions bias results; low response rates</a:t>
            </a:r>
            <a:endParaRPr lang="en-US" sz="1100" dirty="0"/>
          </a:p>
        </p:txBody>
      </p:sp>
      <p:sp>
        <p:nvSpPr>
          <p:cNvPr id="10" name="Text 8"/>
          <p:cNvSpPr txBox="1"/>
          <p:nvPr/>
        </p:nvSpPr>
        <p:spPr>
          <a:xfrm>
            <a:off x="749808" y="360273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Mainly quantitative; can be both</a:t>
            </a:r>
            <a:endParaRPr lang="en-US" sz="1050" dirty="0"/>
          </a:p>
        </p:txBody>
      </p:sp>
      <p:sp>
        <p:nvSpPr>
          <p:cNvPr id="11" name="Shape 9"/>
          <p:cNvSpPr/>
          <p:nvPr/>
        </p:nvSpPr>
        <p:spPr>
          <a:xfrm>
            <a:off x="6199632" y="137160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2" name="Shape 10"/>
          <p:cNvSpPr/>
          <p:nvPr/>
        </p:nvSpPr>
        <p:spPr>
          <a:xfrm>
            <a:off x="6199632" y="1371600"/>
            <a:ext cx="5440680" cy="91440"/>
          </a:xfrm>
          <a:prstGeom prst="roundRect">
            <a:avLst/>
          </a:prstGeom>
          <a:solidFill>
            <a:srgbClr val="E0940F"/>
          </a:solidFill>
          <a:ln/>
        </p:spPr>
        <p:txBody>
          <a:bodyPr/>
          <a:lstStyle/>
          <a:p>
            <a:endParaRPr lang="en-AE"/>
          </a:p>
        </p:txBody>
      </p:sp>
      <p:sp>
        <p:nvSpPr>
          <p:cNvPr id="13" name="Text 11"/>
          <p:cNvSpPr txBox="1"/>
          <p:nvPr/>
        </p:nvSpPr>
        <p:spPr>
          <a:xfrm>
            <a:off x="6400800" y="1554480"/>
            <a:ext cx="5038344" cy="365760"/>
          </a:xfrm>
          <a:prstGeom prst="rect">
            <a:avLst/>
          </a:prstGeom>
          <a:noFill/>
          <a:ln/>
        </p:spPr>
        <p:txBody>
          <a:bodyPr wrap="square" lIns="0" tIns="0" rIns="0" bIns="0" rtlCol="0" anchor="ctr"/>
          <a:lstStyle/>
          <a:p>
            <a:pPr marL="0" indent="0">
              <a:buNone/>
            </a:pPr>
            <a:r>
              <a:rPr lang="en-US" sz="1450" b="1" dirty="0">
                <a:solidFill>
                  <a:srgbClr val="E0940F"/>
                </a:solidFill>
                <a:latin typeface="Calibri" pitchFamily="34" charset="0"/>
                <a:ea typeface="Calibri" pitchFamily="34" charset="-122"/>
                <a:cs typeface="Calibri" pitchFamily="34" charset="-120"/>
              </a:rPr>
              <a:t>Focus groups / consumer panels</a:t>
            </a:r>
            <a:endParaRPr lang="en-US" sz="1450" dirty="0"/>
          </a:p>
        </p:txBody>
      </p:sp>
      <p:sp>
        <p:nvSpPr>
          <p:cNvPr id="14" name="Text 12"/>
          <p:cNvSpPr txBox="1"/>
          <p:nvPr/>
        </p:nvSpPr>
        <p:spPr>
          <a:xfrm>
            <a:off x="6400800" y="193852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A guided discussion where selected consumers give detailed opinions.</a:t>
            </a:r>
            <a:endParaRPr lang="en-US" sz="1150" dirty="0"/>
          </a:p>
        </p:txBody>
      </p:sp>
      <p:sp>
        <p:nvSpPr>
          <p:cNvPr id="15" name="Text 13"/>
          <p:cNvSpPr txBox="1"/>
          <p:nvPr/>
        </p:nvSpPr>
        <p:spPr>
          <a:xfrm>
            <a:off x="6400800" y="257860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Deep insight into the ‘why’; can probe reactions</a:t>
            </a:r>
            <a:endParaRPr lang="en-US" sz="1100" dirty="0"/>
          </a:p>
        </p:txBody>
      </p:sp>
      <p:sp>
        <p:nvSpPr>
          <p:cNvPr id="16" name="Text 14"/>
          <p:cNvSpPr txBox="1"/>
          <p:nvPr/>
        </p:nvSpPr>
        <p:spPr>
          <a:xfrm>
            <a:off x="6400800" y="309067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Small group; a dominant voice can skew it; costly</a:t>
            </a:r>
            <a:endParaRPr lang="en-US" sz="1100" dirty="0"/>
          </a:p>
        </p:txBody>
      </p:sp>
      <p:sp>
        <p:nvSpPr>
          <p:cNvPr id="17" name="Text 15"/>
          <p:cNvSpPr txBox="1"/>
          <p:nvPr/>
        </p:nvSpPr>
        <p:spPr>
          <a:xfrm>
            <a:off x="6400800" y="360273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Mainly qualitative</a:t>
            </a:r>
            <a:endParaRPr lang="en-US" sz="1050" dirty="0"/>
          </a:p>
        </p:txBody>
      </p:sp>
      <p:sp>
        <p:nvSpPr>
          <p:cNvPr id="18" name="Shape 16"/>
          <p:cNvSpPr/>
          <p:nvPr/>
        </p:nvSpPr>
        <p:spPr>
          <a:xfrm>
            <a:off x="548640" y="379476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9" name="Shape 17"/>
          <p:cNvSpPr/>
          <p:nvPr/>
        </p:nvSpPr>
        <p:spPr>
          <a:xfrm>
            <a:off x="548640" y="3794760"/>
            <a:ext cx="5440680" cy="91440"/>
          </a:xfrm>
          <a:prstGeom prst="roundRect">
            <a:avLst/>
          </a:prstGeom>
          <a:solidFill>
            <a:srgbClr val="2F8A5B"/>
          </a:solidFill>
          <a:ln/>
        </p:spPr>
        <p:txBody>
          <a:bodyPr/>
          <a:lstStyle/>
          <a:p>
            <a:endParaRPr lang="en-AE"/>
          </a:p>
        </p:txBody>
      </p:sp>
      <p:sp>
        <p:nvSpPr>
          <p:cNvPr id="20" name="Text 18"/>
          <p:cNvSpPr txBox="1"/>
          <p:nvPr/>
        </p:nvSpPr>
        <p:spPr>
          <a:xfrm>
            <a:off x="749808" y="3977640"/>
            <a:ext cx="5038344" cy="365760"/>
          </a:xfrm>
          <a:prstGeom prst="rect">
            <a:avLst/>
          </a:prstGeom>
          <a:noFill/>
          <a:ln/>
        </p:spPr>
        <p:txBody>
          <a:bodyPr wrap="square" lIns="0" tIns="0" rIns="0" bIns="0" rtlCol="0" anchor="ctr"/>
          <a:lstStyle/>
          <a:p>
            <a:pPr marL="0" indent="0">
              <a:buNone/>
            </a:pPr>
            <a:r>
              <a:rPr lang="en-US" sz="1450" b="1" dirty="0">
                <a:solidFill>
                  <a:srgbClr val="2F8A5B"/>
                </a:solidFill>
                <a:latin typeface="Calibri" pitchFamily="34" charset="0"/>
                <a:ea typeface="Calibri" pitchFamily="34" charset="-122"/>
                <a:cs typeface="Calibri" pitchFamily="34" charset="-120"/>
              </a:rPr>
              <a:t>Face-to-face / telephone interviews</a:t>
            </a:r>
            <a:endParaRPr lang="en-US" sz="1450" dirty="0"/>
          </a:p>
        </p:txBody>
      </p:sp>
      <p:sp>
        <p:nvSpPr>
          <p:cNvPr id="21" name="Text 19"/>
          <p:cNvSpPr txBox="1"/>
          <p:nvPr/>
        </p:nvSpPr>
        <p:spPr>
          <a:xfrm>
            <a:off x="749808" y="436168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Questions asked directly by an interviewer to collect detailed responses.</a:t>
            </a:r>
            <a:endParaRPr lang="en-US" sz="1150" dirty="0"/>
          </a:p>
        </p:txBody>
      </p:sp>
      <p:sp>
        <p:nvSpPr>
          <p:cNvPr id="22" name="Text 20"/>
          <p:cNvSpPr txBox="1"/>
          <p:nvPr/>
        </p:nvSpPr>
        <p:spPr>
          <a:xfrm>
            <a:off x="749808" y="500176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Detailed answers; can clarify and follow up</a:t>
            </a:r>
            <a:endParaRPr lang="en-US" sz="1100" dirty="0"/>
          </a:p>
        </p:txBody>
      </p:sp>
      <p:sp>
        <p:nvSpPr>
          <p:cNvPr id="23" name="Text 21"/>
          <p:cNvSpPr txBox="1"/>
          <p:nvPr/>
        </p:nvSpPr>
        <p:spPr>
          <a:xfrm>
            <a:off x="749808" y="551383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Time-consuming; interviewer can bias answers</a:t>
            </a:r>
            <a:endParaRPr lang="en-US" sz="1100" dirty="0"/>
          </a:p>
        </p:txBody>
      </p:sp>
      <p:sp>
        <p:nvSpPr>
          <p:cNvPr id="24" name="Text 22"/>
          <p:cNvSpPr txBox="1"/>
          <p:nvPr/>
        </p:nvSpPr>
        <p:spPr>
          <a:xfrm>
            <a:off x="749808" y="602589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Mainly qualitative; can be both</a:t>
            </a:r>
            <a:endParaRPr lang="en-US" sz="1050" dirty="0"/>
          </a:p>
        </p:txBody>
      </p:sp>
      <p:sp>
        <p:nvSpPr>
          <p:cNvPr id="25" name="Shape 23"/>
          <p:cNvSpPr/>
          <p:nvPr/>
        </p:nvSpPr>
        <p:spPr>
          <a:xfrm>
            <a:off x="6199632" y="379476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26" name="Shape 24"/>
          <p:cNvSpPr/>
          <p:nvPr/>
        </p:nvSpPr>
        <p:spPr>
          <a:xfrm>
            <a:off x="6199632" y="3794760"/>
            <a:ext cx="5440680" cy="91440"/>
          </a:xfrm>
          <a:prstGeom prst="roundRect">
            <a:avLst/>
          </a:prstGeom>
          <a:solidFill>
            <a:srgbClr val="C14B37"/>
          </a:solidFill>
          <a:ln/>
        </p:spPr>
        <p:txBody>
          <a:bodyPr/>
          <a:lstStyle/>
          <a:p>
            <a:endParaRPr lang="en-AE"/>
          </a:p>
        </p:txBody>
      </p:sp>
      <p:sp>
        <p:nvSpPr>
          <p:cNvPr id="27" name="Text 25"/>
          <p:cNvSpPr txBox="1"/>
          <p:nvPr/>
        </p:nvSpPr>
        <p:spPr>
          <a:xfrm>
            <a:off x="6400800" y="3977640"/>
            <a:ext cx="5038344" cy="365760"/>
          </a:xfrm>
          <a:prstGeom prst="rect">
            <a:avLst/>
          </a:prstGeom>
          <a:noFill/>
          <a:ln/>
        </p:spPr>
        <p:txBody>
          <a:bodyPr wrap="square" lIns="0" tIns="0" rIns="0" bIns="0" rtlCol="0" anchor="ctr"/>
          <a:lstStyle/>
          <a:p>
            <a:pPr marL="0" indent="0">
              <a:buNone/>
            </a:pPr>
            <a:r>
              <a:rPr lang="en-US" sz="1450" b="1" dirty="0">
                <a:solidFill>
                  <a:srgbClr val="C14B37"/>
                </a:solidFill>
                <a:latin typeface="Calibri" pitchFamily="34" charset="0"/>
                <a:ea typeface="Calibri" pitchFamily="34" charset="-122"/>
                <a:cs typeface="Calibri" pitchFamily="34" charset="-120"/>
              </a:rPr>
              <a:t>Product trials / test marketing</a:t>
            </a:r>
            <a:endParaRPr lang="en-US" sz="1450" dirty="0"/>
          </a:p>
        </p:txBody>
      </p:sp>
      <p:sp>
        <p:nvSpPr>
          <p:cNvPr id="28" name="Text 26"/>
          <p:cNvSpPr txBox="1"/>
          <p:nvPr/>
        </p:nvSpPr>
        <p:spPr>
          <a:xfrm>
            <a:off x="6400800" y="436168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Testing a product with a limited group or area before a full launch.</a:t>
            </a:r>
            <a:endParaRPr lang="en-US" sz="1150" dirty="0"/>
          </a:p>
        </p:txBody>
      </p:sp>
      <p:sp>
        <p:nvSpPr>
          <p:cNvPr id="29" name="Text 27"/>
          <p:cNvSpPr txBox="1"/>
          <p:nvPr/>
        </p:nvSpPr>
        <p:spPr>
          <a:xfrm>
            <a:off x="6400800" y="500176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Real-world evidence of demand; cuts launch risk</a:t>
            </a:r>
            <a:endParaRPr lang="en-US" sz="1100" dirty="0"/>
          </a:p>
        </p:txBody>
      </p:sp>
      <p:sp>
        <p:nvSpPr>
          <p:cNvPr id="30" name="Text 28"/>
          <p:cNvSpPr txBox="1"/>
          <p:nvPr/>
        </p:nvSpPr>
        <p:spPr>
          <a:xfrm>
            <a:off x="6400800" y="551383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Warns competitors; small area may not represent all</a:t>
            </a:r>
            <a:endParaRPr lang="en-US" sz="1100" dirty="0"/>
          </a:p>
        </p:txBody>
      </p:sp>
      <p:sp>
        <p:nvSpPr>
          <p:cNvPr id="31" name="Text 29"/>
          <p:cNvSpPr txBox="1"/>
          <p:nvPr/>
        </p:nvSpPr>
        <p:spPr>
          <a:xfrm>
            <a:off x="6400800" y="602589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Both (sales data + feedback)</a:t>
            </a:r>
            <a:endParaRPr lang="en-US" sz="1050" dirty="0"/>
          </a:p>
        </p:txBody>
      </p:sp>
      <p:sp>
        <p:nvSpPr>
          <p:cNvPr id="32"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B · SECONDARY METHODS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Secondary research methods</a:t>
            </a:r>
            <a:endParaRPr lang="en-US" sz="2700" dirty="0"/>
          </a:p>
        </p:txBody>
      </p:sp>
      <p:sp>
        <p:nvSpPr>
          <p:cNvPr id="4" name="Shape 2"/>
          <p:cNvSpPr/>
          <p:nvPr/>
        </p:nvSpPr>
        <p:spPr>
          <a:xfrm>
            <a:off x="548640" y="137160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548640" y="1371600"/>
            <a:ext cx="5440680" cy="91440"/>
          </a:xfrm>
          <a:prstGeom prst="roundRect">
            <a:avLst/>
          </a:prstGeom>
          <a:solidFill>
            <a:srgbClr val="0E7C86"/>
          </a:solidFill>
          <a:ln/>
        </p:spPr>
        <p:txBody>
          <a:bodyPr/>
          <a:lstStyle/>
          <a:p>
            <a:endParaRPr lang="en-AE"/>
          </a:p>
        </p:txBody>
      </p:sp>
      <p:sp>
        <p:nvSpPr>
          <p:cNvPr id="6" name="Text 4"/>
          <p:cNvSpPr txBox="1"/>
          <p:nvPr/>
        </p:nvSpPr>
        <p:spPr>
          <a:xfrm>
            <a:off x="749808" y="1554480"/>
            <a:ext cx="5038344" cy="365760"/>
          </a:xfrm>
          <a:prstGeom prst="rect">
            <a:avLst/>
          </a:prstGeom>
          <a:noFill/>
          <a:ln/>
        </p:spPr>
        <p:txBody>
          <a:bodyPr wrap="square" lIns="0" tIns="0" rIns="0" bIns="0" rtlCol="0" anchor="ctr"/>
          <a:lstStyle/>
          <a:p>
            <a:pPr marL="0" indent="0">
              <a:buNone/>
            </a:pPr>
            <a:r>
              <a:rPr lang="en-US" sz="1450" b="1" dirty="0">
                <a:solidFill>
                  <a:srgbClr val="0E7C86"/>
                </a:solidFill>
                <a:latin typeface="Calibri" pitchFamily="34" charset="0"/>
                <a:ea typeface="Calibri" pitchFamily="34" charset="-122"/>
                <a:cs typeface="Calibri" pitchFamily="34" charset="-120"/>
              </a:rPr>
              <a:t>Websites / social media</a:t>
            </a:r>
            <a:endParaRPr lang="en-US" sz="1450" dirty="0"/>
          </a:p>
        </p:txBody>
      </p:sp>
      <p:sp>
        <p:nvSpPr>
          <p:cNvPr id="7" name="Text 5"/>
          <p:cNvSpPr txBox="1"/>
          <p:nvPr/>
        </p:nvSpPr>
        <p:spPr>
          <a:xfrm>
            <a:off x="749808" y="193852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Existing online information — customer comments, competitor info, trends.</a:t>
            </a:r>
            <a:endParaRPr lang="en-US" sz="1150" dirty="0"/>
          </a:p>
        </p:txBody>
      </p:sp>
      <p:sp>
        <p:nvSpPr>
          <p:cNvPr id="8" name="Text 6"/>
          <p:cNvSpPr txBox="1"/>
          <p:nvPr/>
        </p:nvSpPr>
        <p:spPr>
          <a:xfrm>
            <a:off x="749808" y="257860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Cheap, fast, huge volume; real-time trends</a:t>
            </a:r>
            <a:endParaRPr lang="en-US" sz="1100" dirty="0"/>
          </a:p>
        </p:txBody>
      </p:sp>
      <p:sp>
        <p:nvSpPr>
          <p:cNvPr id="9" name="Text 7"/>
          <p:cNvSpPr txBox="1"/>
          <p:nvPr/>
        </p:nvSpPr>
        <p:spPr>
          <a:xfrm>
            <a:off x="749808" y="309067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May be unreliable, biased or not specific to the firm</a:t>
            </a:r>
            <a:endParaRPr lang="en-US" sz="1100" dirty="0"/>
          </a:p>
        </p:txBody>
      </p:sp>
      <p:sp>
        <p:nvSpPr>
          <p:cNvPr id="10" name="Text 8"/>
          <p:cNvSpPr txBox="1"/>
          <p:nvPr/>
        </p:nvSpPr>
        <p:spPr>
          <a:xfrm>
            <a:off x="749808" y="360273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Both</a:t>
            </a:r>
            <a:endParaRPr lang="en-US" sz="1050" dirty="0"/>
          </a:p>
        </p:txBody>
      </p:sp>
      <p:sp>
        <p:nvSpPr>
          <p:cNvPr id="11" name="Shape 9"/>
          <p:cNvSpPr/>
          <p:nvPr/>
        </p:nvSpPr>
        <p:spPr>
          <a:xfrm>
            <a:off x="6199632" y="137160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2" name="Shape 10"/>
          <p:cNvSpPr/>
          <p:nvPr/>
        </p:nvSpPr>
        <p:spPr>
          <a:xfrm>
            <a:off x="6199632" y="1371600"/>
            <a:ext cx="5440680" cy="91440"/>
          </a:xfrm>
          <a:prstGeom prst="roundRect">
            <a:avLst/>
          </a:prstGeom>
          <a:solidFill>
            <a:srgbClr val="E0940F"/>
          </a:solidFill>
          <a:ln/>
        </p:spPr>
        <p:txBody>
          <a:bodyPr/>
          <a:lstStyle/>
          <a:p>
            <a:endParaRPr lang="en-AE"/>
          </a:p>
        </p:txBody>
      </p:sp>
      <p:sp>
        <p:nvSpPr>
          <p:cNvPr id="13" name="Text 11"/>
          <p:cNvSpPr txBox="1"/>
          <p:nvPr/>
        </p:nvSpPr>
        <p:spPr>
          <a:xfrm>
            <a:off x="6400800" y="1554480"/>
            <a:ext cx="5038344" cy="365760"/>
          </a:xfrm>
          <a:prstGeom prst="rect">
            <a:avLst/>
          </a:prstGeom>
          <a:noFill/>
          <a:ln/>
        </p:spPr>
        <p:txBody>
          <a:bodyPr wrap="square" lIns="0" tIns="0" rIns="0" bIns="0" rtlCol="0" anchor="ctr"/>
          <a:lstStyle/>
          <a:p>
            <a:pPr marL="0" indent="0">
              <a:buNone/>
            </a:pPr>
            <a:r>
              <a:rPr lang="en-US" sz="1450" b="1" dirty="0">
                <a:solidFill>
                  <a:srgbClr val="E0940F"/>
                </a:solidFill>
                <a:latin typeface="Calibri" pitchFamily="34" charset="0"/>
                <a:ea typeface="Calibri" pitchFamily="34" charset="-122"/>
                <a:cs typeface="Calibri" pitchFamily="34" charset="-120"/>
              </a:rPr>
              <a:t>Newspapers / magazines / TV / radio</a:t>
            </a:r>
            <a:endParaRPr lang="en-US" sz="1450" dirty="0"/>
          </a:p>
        </p:txBody>
      </p:sp>
      <p:sp>
        <p:nvSpPr>
          <p:cNvPr id="14" name="Text 12"/>
          <p:cNvSpPr txBox="1"/>
          <p:nvPr/>
        </p:nvSpPr>
        <p:spPr>
          <a:xfrm>
            <a:off x="6400800" y="193852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Existing media coverage of markets, businesses and consumer trends.</a:t>
            </a:r>
            <a:endParaRPr lang="en-US" sz="1150" dirty="0"/>
          </a:p>
        </p:txBody>
      </p:sp>
      <p:sp>
        <p:nvSpPr>
          <p:cNvPr id="15" name="Text 13"/>
          <p:cNvSpPr txBox="1"/>
          <p:nvPr/>
        </p:nvSpPr>
        <p:spPr>
          <a:xfrm>
            <a:off x="6400800" y="257860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Broad market context; credible sources</a:t>
            </a:r>
            <a:endParaRPr lang="en-US" sz="1100" dirty="0"/>
          </a:p>
        </p:txBody>
      </p:sp>
      <p:sp>
        <p:nvSpPr>
          <p:cNvPr id="16" name="Text 14"/>
          <p:cNvSpPr txBox="1"/>
          <p:nvPr/>
        </p:nvSpPr>
        <p:spPr>
          <a:xfrm>
            <a:off x="6400800" y="309067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General, not firm-specific; can date quickly</a:t>
            </a:r>
            <a:endParaRPr lang="en-US" sz="1100" dirty="0"/>
          </a:p>
        </p:txBody>
      </p:sp>
      <p:sp>
        <p:nvSpPr>
          <p:cNvPr id="17" name="Text 15"/>
          <p:cNvSpPr txBox="1"/>
          <p:nvPr/>
        </p:nvSpPr>
        <p:spPr>
          <a:xfrm>
            <a:off x="6400800" y="360273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Mainly qualitative; can be both</a:t>
            </a:r>
            <a:endParaRPr lang="en-US" sz="1050" dirty="0"/>
          </a:p>
        </p:txBody>
      </p:sp>
      <p:sp>
        <p:nvSpPr>
          <p:cNvPr id="18" name="Shape 16"/>
          <p:cNvSpPr/>
          <p:nvPr/>
        </p:nvSpPr>
        <p:spPr>
          <a:xfrm>
            <a:off x="548640" y="379476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9" name="Shape 17"/>
          <p:cNvSpPr/>
          <p:nvPr/>
        </p:nvSpPr>
        <p:spPr>
          <a:xfrm>
            <a:off x="548640" y="3794760"/>
            <a:ext cx="5440680" cy="91440"/>
          </a:xfrm>
          <a:prstGeom prst="roundRect">
            <a:avLst/>
          </a:prstGeom>
          <a:solidFill>
            <a:srgbClr val="2F8A5B"/>
          </a:solidFill>
          <a:ln/>
        </p:spPr>
        <p:txBody>
          <a:bodyPr/>
          <a:lstStyle/>
          <a:p>
            <a:endParaRPr lang="en-AE"/>
          </a:p>
        </p:txBody>
      </p:sp>
      <p:sp>
        <p:nvSpPr>
          <p:cNvPr id="20" name="Text 18"/>
          <p:cNvSpPr txBox="1"/>
          <p:nvPr/>
        </p:nvSpPr>
        <p:spPr>
          <a:xfrm>
            <a:off x="749808" y="3977640"/>
            <a:ext cx="5038344" cy="365760"/>
          </a:xfrm>
          <a:prstGeom prst="rect">
            <a:avLst/>
          </a:prstGeom>
          <a:noFill/>
          <a:ln/>
        </p:spPr>
        <p:txBody>
          <a:bodyPr wrap="square" lIns="0" tIns="0" rIns="0" bIns="0" rtlCol="0" anchor="ctr"/>
          <a:lstStyle/>
          <a:p>
            <a:pPr marL="0" indent="0">
              <a:buNone/>
            </a:pPr>
            <a:r>
              <a:rPr lang="en-US" sz="1450" b="1" dirty="0">
                <a:solidFill>
                  <a:srgbClr val="2F8A5B"/>
                </a:solidFill>
                <a:latin typeface="Calibri" pitchFamily="34" charset="0"/>
                <a:ea typeface="Calibri" pitchFamily="34" charset="-122"/>
                <a:cs typeface="Calibri" pitchFamily="34" charset="-120"/>
              </a:rPr>
              <a:t>Reports</a:t>
            </a:r>
            <a:endParaRPr lang="en-US" sz="1450" dirty="0"/>
          </a:p>
        </p:txBody>
      </p:sp>
      <p:sp>
        <p:nvSpPr>
          <p:cNvPr id="21" name="Text 19"/>
          <p:cNvSpPr txBox="1"/>
          <p:nvPr/>
        </p:nvSpPr>
        <p:spPr>
          <a:xfrm>
            <a:off x="749808" y="436168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Research published by governments, businesses or research organisations.</a:t>
            </a:r>
            <a:endParaRPr lang="en-US" sz="1150" dirty="0"/>
          </a:p>
        </p:txBody>
      </p:sp>
      <p:sp>
        <p:nvSpPr>
          <p:cNvPr id="22" name="Text 20"/>
          <p:cNvSpPr txBox="1"/>
          <p:nvPr/>
        </p:nvSpPr>
        <p:spPr>
          <a:xfrm>
            <a:off x="749808" y="500176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Detailed, authoritative market data</a:t>
            </a:r>
            <a:endParaRPr lang="en-US" sz="1100" dirty="0"/>
          </a:p>
        </p:txBody>
      </p:sp>
      <p:sp>
        <p:nvSpPr>
          <p:cNvPr id="23" name="Text 21"/>
          <p:cNvSpPr txBox="1"/>
          <p:nvPr/>
        </p:nvSpPr>
        <p:spPr>
          <a:xfrm>
            <a:off x="749808" y="551383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Can be expensive to buy; may be out of date</a:t>
            </a:r>
            <a:endParaRPr lang="en-US" sz="1100" dirty="0"/>
          </a:p>
        </p:txBody>
      </p:sp>
      <p:sp>
        <p:nvSpPr>
          <p:cNvPr id="24" name="Text 22"/>
          <p:cNvSpPr txBox="1"/>
          <p:nvPr/>
        </p:nvSpPr>
        <p:spPr>
          <a:xfrm>
            <a:off x="749808" y="602589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Both</a:t>
            </a:r>
            <a:endParaRPr lang="en-US" sz="1050" dirty="0"/>
          </a:p>
        </p:txBody>
      </p:sp>
      <p:sp>
        <p:nvSpPr>
          <p:cNvPr id="25" name="Shape 23"/>
          <p:cNvSpPr/>
          <p:nvPr/>
        </p:nvSpPr>
        <p:spPr>
          <a:xfrm>
            <a:off x="6199632" y="3794760"/>
            <a:ext cx="5440680" cy="2331720"/>
          </a:xfrm>
          <a:prstGeom prst="roundRect">
            <a:avLst>
              <a:gd name="adj" fmla="val 3137"/>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26" name="Shape 24"/>
          <p:cNvSpPr/>
          <p:nvPr/>
        </p:nvSpPr>
        <p:spPr>
          <a:xfrm>
            <a:off x="6199632" y="3794760"/>
            <a:ext cx="5440680" cy="91440"/>
          </a:xfrm>
          <a:prstGeom prst="roundRect">
            <a:avLst/>
          </a:prstGeom>
          <a:solidFill>
            <a:srgbClr val="6B4FA0"/>
          </a:solidFill>
          <a:ln/>
        </p:spPr>
        <p:txBody>
          <a:bodyPr/>
          <a:lstStyle/>
          <a:p>
            <a:endParaRPr lang="en-AE"/>
          </a:p>
        </p:txBody>
      </p:sp>
      <p:sp>
        <p:nvSpPr>
          <p:cNvPr id="27" name="Text 25"/>
          <p:cNvSpPr txBox="1"/>
          <p:nvPr/>
        </p:nvSpPr>
        <p:spPr>
          <a:xfrm>
            <a:off x="6400800" y="3977640"/>
            <a:ext cx="5038344" cy="365760"/>
          </a:xfrm>
          <a:prstGeom prst="rect">
            <a:avLst/>
          </a:prstGeom>
          <a:noFill/>
          <a:ln/>
        </p:spPr>
        <p:txBody>
          <a:bodyPr wrap="square" lIns="0" tIns="0" rIns="0" bIns="0" rtlCol="0" anchor="ctr"/>
          <a:lstStyle/>
          <a:p>
            <a:pPr marL="0" indent="0">
              <a:buNone/>
            </a:pPr>
            <a:r>
              <a:rPr lang="en-US" sz="1450" b="1" dirty="0">
                <a:solidFill>
                  <a:srgbClr val="6B4FA0"/>
                </a:solidFill>
                <a:latin typeface="Calibri" pitchFamily="34" charset="0"/>
                <a:ea typeface="Calibri" pitchFamily="34" charset="-122"/>
                <a:cs typeface="Calibri" pitchFamily="34" charset="-120"/>
              </a:rPr>
              <a:t>Databases</a:t>
            </a:r>
            <a:endParaRPr lang="en-US" sz="1450" dirty="0"/>
          </a:p>
        </p:txBody>
      </p:sp>
      <p:sp>
        <p:nvSpPr>
          <p:cNvPr id="28" name="Text 26"/>
          <p:cNvSpPr txBox="1"/>
          <p:nvPr/>
        </p:nvSpPr>
        <p:spPr>
          <a:xfrm>
            <a:off x="6400800" y="4361688"/>
            <a:ext cx="5038344" cy="621792"/>
          </a:xfrm>
          <a:prstGeom prst="rect">
            <a:avLst/>
          </a:prstGeom>
          <a:noFill/>
          <a:ln/>
        </p:spPr>
        <p:txBody>
          <a:bodyPr wrap="square" lIns="0" tIns="0" rIns="0" bIns="0" rtlCol="0" anchor="t"/>
          <a:lstStyle/>
          <a:p>
            <a:pPr marL="0" indent="0">
              <a:buNone/>
            </a:pPr>
            <a:r>
              <a:rPr lang="en-US" sz="1150" dirty="0">
                <a:solidFill>
                  <a:srgbClr val="1F2A33"/>
                </a:solidFill>
                <a:latin typeface="Calibri" pitchFamily="34" charset="0"/>
                <a:ea typeface="Calibri" pitchFamily="34" charset="-122"/>
                <a:cs typeface="Calibri" pitchFamily="34" charset="-120"/>
              </a:rPr>
              <a:t>Organised collections of existing data — customer, sales or industry.</a:t>
            </a:r>
            <a:endParaRPr lang="en-US" sz="1150" dirty="0"/>
          </a:p>
        </p:txBody>
      </p:sp>
      <p:sp>
        <p:nvSpPr>
          <p:cNvPr id="29" name="Text 27"/>
          <p:cNvSpPr txBox="1"/>
          <p:nvPr/>
        </p:nvSpPr>
        <p:spPr>
          <a:xfrm>
            <a:off x="6400800" y="5001768"/>
            <a:ext cx="5038344" cy="512064"/>
          </a:xfrm>
          <a:prstGeom prst="rect">
            <a:avLst/>
          </a:prstGeom>
          <a:noFill/>
          <a:ln/>
        </p:spPr>
        <p:txBody>
          <a:bodyPr wrap="square" lIns="0" tIns="0" rIns="0" bIns="0" rtlCol="0" anchor="t"/>
          <a:lstStyle/>
          <a:p>
            <a:pPr marL="0" indent="0">
              <a:buNone/>
            </a:pPr>
            <a:r>
              <a:rPr lang="en-US" sz="1100" b="1" dirty="0">
                <a:solidFill>
                  <a:srgbClr val="2F8A5B"/>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Fast access to large, structured data</a:t>
            </a:r>
            <a:endParaRPr lang="en-US" sz="1100" dirty="0"/>
          </a:p>
        </p:txBody>
      </p:sp>
      <p:sp>
        <p:nvSpPr>
          <p:cNvPr id="30" name="Text 28"/>
          <p:cNvSpPr txBox="1"/>
          <p:nvPr/>
        </p:nvSpPr>
        <p:spPr>
          <a:xfrm>
            <a:off x="6400800" y="5513832"/>
            <a:ext cx="5038344" cy="512064"/>
          </a:xfrm>
          <a:prstGeom prst="rect">
            <a:avLst/>
          </a:prstGeom>
          <a:noFill/>
          <a:ln/>
        </p:spPr>
        <p:txBody>
          <a:bodyPr wrap="square" lIns="0" tIns="0" rIns="0" bIns="0" rtlCol="0" anchor="t"/>
          <a:lstStyle/>
          <a:p>
            <a:pPr marL="0" indent="0">
              <a:buNone/>
            </a:pPr>
            <a:r>
              <a:rPr lang="en-US" sz="1100" b="1" dirty="0">
                <a:solidFill>
                  <a:srgbClr val="C14B37"/>
                </a:solidFill>
                <a:latin typeface="Calibri" pitchFamily="34" charset="0"/>
                <a:ea typeface="Calibri" pitchFamily="34" charset="-122"/>
                <a:cs typeface="Calibri" pitchFamily="34" charset="-120"/>
              </a:rPr>
              <a:t>✗ </a:t>
            </a:r>
            <a:r>
              <a:rPr lang="en-US" sz="1100" dirty="0">
                <a:solidFill>
                  <a:srgbClr val="1F2A33"/>
                </a:solidFill>
                <a:latin typeface="Calibri" pitchFamily="34" charset="0"/>
                <a:ea typeface="Calibri" pitchFamily="34" charset="-122"/>
                <a:cs typeface="Calibri" pitchFamily="34" charset="-120"/>
              </a:rPr>
              <a:t>Set-up/maintenance cost; data-protection rules apply</a:t>
            </a:r>
            <a:endParaRPr lang="en-US" sz="1100" dirty="0"/>
          </a:p>
        </p:txBody>
      </p:sp>
      <p:sp>
        <p:nvSpPr>
          <p:cNvPr id="31" name="Text 29"/>
          <p:cNvSpPr txBox="1"/>
          <p:nvPr/>
        </p:nvSpPr>
        <p:spPr>
          <a:xfrm>
            <a:off x="6400800" y="6025896"/>
            <a:ext cx="5038344" cy="365760"/>
          </a:xfrm>
          <a:prstGeom prst="rect">
            <a:avLst/>
          </a:prstGeom>
          <a:noFill/>
          <a:ln/>
        </p:spPr>
        <p:txBody>
          <a:bodyPr wrap="square" lIns="0" tIns="0" rIns="0" bIns="0" rtlCol="0" anchor="t"/>
          <a:lstStyle/>
          <a:p>
            <a:pPr marL="0" indent="0">
              <a:buNone/>
            </a:pPr>
            <a:r>
              <a:rPr lang="en-US" sz="1050" b="1" dirty="0">
                <a:solidFill>
                  <a:srgbClr val="5B6B73"/>
                </a:solidFill>
                <a:latin typeface="Calibri" pitchFamily="34" charset="0"/>
                <a:ea typeface="Calibri" pitchFamily="34" charset="-122"/>
                <a:cs typeface="Calibri" pitchFamily="34" charset="-120"/>
              </a:rPr>
              <a:t>Data: </a:t>
            </a:r>
            <a:r>
              <a:rPr lang="en-US" sz="1050" i="1" dirty="0">
                <a:solidFill>
                  <a:srgbClr val="5B6B73"/>
                </a:solidFill>
                <a:latin typeface="Calibri" pitchFamily="34" charset="0"/>
                <a:ea typeface="Calibri" pitchFamily="34" charset="-122"/>
                <a:cs typeface="Calibri" pitchFamily="34" charset="-120"/>
              </a:rPr>
              <a:t>Mainly quantitative</a:t>
            </a:r>
            <a:endParaRPr lang="en-US" sz="1050" dirty="0"/>
          </a:p>
        </p:txBody>
      </p:sp>
      <p:sp>
        <p:nvSpPr>
          <p:cNvPr id="32"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Exam practice: research methods</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81328"/>
            <a:ext cx="5486400" cy="274320"/>
          </a:xfrm>
          <a:prstGeom prst="rect">
            <a:avLst/>
          </a:prstGeom>
          <a:noFill/>
          <a:ln/>
        </p:spPr>
        <p:txBody>
          <a:bodyPr wrap="square" lIns="0" tIns="0" rIns="0" bIns="0" rtlCol="0" anchor="ctr"/>
          <a:lstStyle/>
          <a:p>
            <a:pPr marL="0" indent="0">
              <a:buNone/>
            </a:pPr>
            <a:r>
              <a:rPr lang="en-US" sz="1100" b="1" kern="0" spc="15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State one method of primary market research.  </a:t>
            </a:r>
            <a:r>
              <a:rPr lang="en-US" sz="1300" b="1" dirty="0">
                <a:solidFill>
                  <a:srgbClr val="E0940F"/>
                </a:solidFill>
                <a:latin typeface="Calibri" pitchFamily="34" charset="0"/>
                <a:ea typeface="Calibri" pitchFamily="34" charset="-122"/>
                <a:cs typeface="Calibri" pitchFamily="34" charset="-120"/>
              </a:rPr>
              <a:t>[1]</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Assess how two different methods of primary research could help Superdry.  </a:t>
            </a:r>
            <a:r>
              <a:rPr lang="en-US" sz="1300" b="1" dirty="0">
                <a:solidFill>
                  <a:srgbClr val="E0940F"/>
                </a:solidFill>
                <a:latin typeface="Calibri" pitchFamily="34" charset="0"/>
                <a:ea typeface="Calibri" pitchFamily="34" charset="-122"/>
                <a:cs typeface="Calibri" pitchFamily="34" charset="-120"/>
              </a:rPr>
              <a:t>[8]</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Assess two advantages of using focus groups for a business such as Skechers.  </a:t>
            </a: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8" name="Text 6"/>
          <p:cNvSpPr txBox="1"/>
          <p:nvPr/>
        </p:nvSpPr>
        <p:spPr>
          <a:xfrm>
            <a:off x="749808" y="3474720"/>
            <a:ext cx="4663440" cy="310896"/>
          </a:xfrm>
          <a:prstGeom prst="rect">
            <a:avLst/>
          </a:prstGeom>
          <a:noFill/>
          <a:ln/>
        </p:spPr>
        <p:txBody>
          <a:bodyPr wrap="square" lIns="0" tIns="0" rIns="0" bIns="0" rtlCol="0" anchor="ctr"/>
          <a:lstStyle/>
          <a:p>
            <a:pPr marL="0" indent="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1-mark: name a valid primary method (survey, focus group, interview, product trial).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Assess (K/A/An + judgement): two methods/advantages, applied,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Link each method to a PURPOSE — identify needs, quantify demand, or understand behaviour.</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11" name="Text 9"/>
          <p:cNvSpPr txBox="1"/>
          <p:nvPr/>
        </p:nvSpPr>
        <p:spPr>
          <a:xfrm>
            <a:off x="5989320" y="3474720"/>
            <a:ext cx="5486400" cy="310896"/>
          </a:xfrm>
          <a:prstGeom prst="rect">
            <a:avLst/>
          </a:prstGeom>
          <a:noFill/>
          <a:ln/>
        </p:spPr>
        <p:txBody>
          <a:bodyPr wrap="square" lIns="0" tIns="0" rIns="0" bIns="0" rtlCol="0" anchor="ctr"/>
          <a:lstStyle/>
          <a:p>
            <a:pPr marL="0" indent="0">
              <a:buNone/>
            </a:pPr>
            <a:r>
              <a:rPr lang="en-US" sz="1300" b="1" dirty="0">
                <a:solidFill>
                  <a:srgbClr val="8A5A06"/>
                </a:solidFill>
                <a:latin typeface="Calibri" pitchFamily="34" charset="0"/>
                <a:ea typeface="Calibri" pitchFamily="34" charset="-122"/>
                <a:cs typeface="Calibri" pitchFamily="34" charset="-120"/>
              </a:rPr>
              <a:t>How to build the 8-markers</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Superdry ¶1: a survey → quantifies likely demand for a new range → plan stock &amp; cut waste.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Superdry ¶2: a focus group → insight into WHY customers buy → shape the design &amp; marketing.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Skechers: focus groups give rich, qualitative insight into reactions to a new sneaker…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…HOWEVER a small group may not represent all customers → judge: best combined with a larger survey.</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txBody>
          <a:bodyPr/>
          <a:lstStyle/>
          <a:p>
            <a:endParaRPr lang="en-AE"/>
          </a:p>
        </p:txBody>
      </p:sp>
      <p:sp>
        <p:nvSpPr>
          <p:cNvPr id="3" name="Text 1"/>
          <p:cNvSpPr txBox="1"/>
          <p:nvPr/>
        </p:nvSpPr>
        <p:spPr>
          <a:xfrm>
            <a:off x="731520" y="2011680"/>
            <a:ext cx="1737360" cy="1737360"/>
          </a:xfrm>
          <a:prstGeom prst="rect">
            <a:avLst/>
          </a:prstGeom>
          <a:noFill/>
          <a:ln/>
        </p:spPr>
        <p:txBody>
          <a:bodyPr wrap="square" lIns="0" tIns="0" rIns="0" bIns="0" rtlCol="0" anchor="ctr"/>
          <a:lstStyle/>
          <a:p>
            <a:pPr marL="0" indent="0" algn="ctr">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marL="0" indent="0">
              <a:buNone/>
            </a:pPr>
            <a:r>
              <a:rPr lang="en-US" sz="1300" b="1" kern="0" spc="25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Sampling methods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marL="0" indent="0">
              <a:buNone/>
            </a:pPr>
            <a:r>
              <a:rPr lang="en-US" sz="1350" b="1" dirty="0">
                <a:solidFill>
                  <a:srgbClr val="7FC4CB"/>
                </a:solidFill>
                <a:latin typeface="Calibri" pitchFamily="34" charset="0"/>
                <a:ea typeface="Calibri" pitchFamily="34" charset="-122"/>
                <a:cs typeface="Calibri" pitchFamily="34" charset="-120"/>
              </a:rPr>
              <a:t>In this part:  </a:t>
            </a:r>
            <a:r>
              <a:rPr lang="en-US" sz="1350" dirty="0">
                <a:solidFill>
                  <a:srgbClr val="D7E6E8"/>
                </a:solidFill>
                <a:latin typeface="Calibri" pitchFamily="34" charset="0"/>
                <a:ea typeface="Calibri" pitchFamily="34" charset="-122"/>
                <a:cs typeface="Calibri" pitchFamily="34" charset="-120"/>
              </a:rPr>
              <a:t>what a sample is  ·  random, quota &amp; stratified — with a clear worked example  ·  definitions, benefits &amp; drawbacks  ·  choosing the right method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C · SAMPLING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What is sampling — and why it matters</a:t>
            </a:r>
            <a:endParaRPr lang="en-US" sz="2700" dirty="0"/>
          </a:p>
        </p:txBody>
      </p:sp>
      <p:sp>
        <p:nvSpPr>
          <p:cNvPr id="4" name="Shape 2"/>
          <p:cNvSpPr/>
          <p:nvPr/>
        </p:nvSpPr>
        <p:spPr>
          <a:xfrm>
            <a:off x="548640" y="1371600"/>
            <a:ext cx="11091672" cy="1371600"/>
          </a:xfrm>
          <a:prstGeom prst="roundRect">
            <a:avLst>
              <a:gd name="adj" fmla="val 5333"/>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81328"/>
            <a:ext cx="10698480" cy="548640"/>
          </a:xfrm>
          <a:prstGeom prst="rect">
            <a:avLst/>
          </a:prstGeom>
          <a:noFill/>
          <a:ln/>
        </p:spPr>
        <p:txBody>
          <a:bodyPr wrap="square" lIns="0" tIns="0" rIns="0" bIns="0" rtlCol="0" anchor="t"/>
          <a:lstStyle/>
          <a:p>
            <a:pPr marL="0" indent="0">
              <a:buNone/>
            </a:pPr>
            <a:r>
              <a:rPr lang="en-US" sz="1400" b="1" dirty="0">
                <a:solidFill>
                  <a:srgbClr val="0B5E66"/>
                </a:solidFill>
                <a:latin typeface="Calibri" pitchFamily="34" charset="0"/>
                <a:ea typeface="Calibri" pitchFamily="34" charset="-122"/>
                <a:cs typeface="Calibri" pitchFamily="34" charset="-120"/>
              </a:rPr>
              <a:t>A population  </a:t>
            </a:r>
            <a:r>
              <a:rPr lang="en-US" sz="1400" dirty="0">
                <a:solidFill>
                  <a:srgbClr val="1F2A33"/>
                </a:solidFill>
                <a:latin typeface="Calibri" pitchFamily="34" charset="0"/>
                <a:ea typeface="Calibri" pitchFamily="34" charset="-122"/>
                <a:cs typeface="Calibri" pitchFamily="34" charset="-120"/>
              </a:rPr>
              <a:t>= everyone the business could research.  </a:t>
            </a:r>
            <a:r>
              <a:rPr lang="en-US" sz="1400" b="1" dirty="0">
                <a:solidFill>
                  <a:srgbClr val="0B5E66"/>
                </a:solidFill>
                <a:latin typeface="Calibri" pitchFamily="34" charset="0"/>
                <a:ea typeface="Calibri" pitchFamily="34" charset="-122"/>
                <a:cs typeface="Calibri" pitchFamily="34" charset="-120"/>
              </a:rPr>
              <a:t>A sample  </a:t>
            </a:r>
            <a:r>
              <a:rPr lang="en-US" sz="1400" dirty="0">
                <a:solidFill>
                  <a:srgbClr val="1F2A33"/>
                </a:solidFill>
                <a:latin typeface="Calibri" pitchFamily="34" charset="0"/>
                <a:ea typeface="Calibri" pitchFamily="34" charset="-122"/>
                <a:cs typeface="Calibri" pitchFamily="34" charset="-120"/>
              </a:rPr>
              <a:t>= a smaller group chosen to represent that population. Firms sample because researching everyone is too slow and costly.</a:t>
            </a:r>
            <a:endParaRPr lang="en-US" sz="1400" dirty="0"/>
          </a:p>
        </p:txBody>
      </p:sp>
      <p:sp>
        <p:nvSpPr>
          <p:cNvPr id="6" name="Text 4"/>
          <p:cNvSpPr txBox="1"/>
          <p:nvPr/>
        </p:nvSpPr>
        <p:spPr>
          <a:xfrm>
            <a:off x="777240" y="2057400"/>
            <a:ext cx="10698480" cy="640080"/>
          </a:xfrm>
          <a:prstGeom prst="rect">
            <a:avLst/>
          </a:prstGeom>
          <a:noFill/>
          <a:ln/>
        </p:spPr>
        <p:txBody>
          <a:bodyPr wrap="square" lIns="0" tIns="0" rIns="0" bIns="0" rtlCol="0" anchor="t"/>
          <a:lstStyle/>
          <a:p>
            <a:pPr marL="0" indent="0">
              <a:buNone/>
            </a:pPr>
            <a:r>
              <a:rPr lang="en-US" sz="1300" b="1" dirty="0">
                <a:solidFill>
                  <a:srgbClr val="0B5E66"/>
                </a:solidFill>
                <a:latin typeface="Calibri" pitchFamily="34" charset="0"/>
                <a:ea typeface="Calibri" pitchFamily="34" charset="-122"/>
                <a:cs typeface="Calibri" pitchFamily="34" charset="-120"/>
              </a:rPr>
              <a:t>The goal:  </a:t>
            </a:r>
            <a:r>
              <a:rPr lang="en-US" sz="1300" dirty="0">
                <a:solidFill>
                  <a:srgbClr val="1F2A33"/>
                </a:solidFill>
                <a:latin typeface="Calibri" pitchFamily="34" charset="0"/>
                <a:ea typeface="Calibri" pitchFamily="34" charset="-122"/>
                <a:cs typeface="Calibri" pitchFamily="34" charset="-120"/>
              </a:rPr>
              <a:t>a REPRESENTATIVE sample — one that reflects the whole population — so the findings can be trusted. A biased or unrepresentative sample leads to wrong decisions.</a:t>
            </a:r>
            <a:endParaRPr lang="en-US" sz="1300" dirty="0"/>
          </a:p>
        </p:txBody>
      </p:sp>
      <p:sp>
        <p:nvSpPr>
          <p:cNvPr id="7" name="Shape 5"/>
          <p:cNvSpPr/>
          <p:nvPr/>
        </p:nvSpPr>
        <p:spPr>
          <a:xfrm>
            <a:off x="548640" y="2971800"/>
            <a:ext cx="11091672" cy="3200400"/>
          </a:xfrm>
          <a:prstGeom prst="roundRect">
            <a:avLst>
              <a:gd name="adj" fmla="val 2286"/>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8" name="Text 6"/>
          <p:cNvSpPr txBox="1"/>
          <p:nvPr/>
        </p:nvSpPr>
        <p:spPr>
          <a:xfrm>
            <a:off x="777240" y="3108960"/>
            <a:ext cx="10607040" cy="274320"/>
          </a:xfrm>
          <a:prstGeom prst="rect">
            <a:avLst/>
          </a:prstGeom>
          <a:noFill/>
          <a:ln/>
        </p:spPr>
        <p:txBody>
          <a:bodyPr wrap="square" lIns="0" tIns="0" rIns="0" bIns="0" rtlCol="0" anchor="ctr"/>
          <a:lstStyle/>
          <a:p>
            <a:pPr marL="0" indent="0">
              <a:buNone/>
            </a:pPr>
            <a:r>
              <a:rPr lang="en-US" sz="1150" b="1" kern="0" spc="100" dirty="0">
                <a:solidFill>
                  <a:srgbClr val="7FC4CB"/>
                </a:solidFill>
                <a:latin typeface="Calibri" pitchFamily="34" charset="0"/>
                <a:ea typeface="Calibri" pitchFamily="34" charset="-122"/>
                <a:cs typeface="Calibri" pitchFamily="34" charset="-120"/>
              </a:rPr>
              <a:t>THE EXAMPLE WE'LL USE THROUGHOUT</a:t>
            </a:r>
            <a:endParaRPr lang="en-US" sz="1150" dirty="0"/>
          </a:p>
        </p:txBody>
      </p:sp>
      <p:sp>
        <p:nvSpPr>
          <p:cNvPr id="9" name="Text 7"/>
          <p:cNvSpPr txBox="1"/>
          <p:nvPr/>
        </p:nvSpPr>
        <p:spPr>
          <a:xfrm>
            <a:off x="777240" y="3429000"/>
            <a:ext cx="106070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school canteen is deciding whether to sell a healthier lunch option.</a:t>
            </a:r>
            <a:endParaRPr lang="en-US" sz="1600" dirty="0"/>
          </a:p>
        </p:txBody>
      </p:sp>
      <p:sp>
        <p:nvSpPr>
          <p:cNvPr id="10" name="Shape 8"/>
          <p:cNvSpPr/>
          <p:nvPr/>
        </p:nvSpPr>
        <p:spPr>
          <a:xfrm>
            <a:off x="1005840" y="4023360"/>
            <a:ext cx="4206240" cy="1737360"/>
          </a:xfrm>
          <a:prstGeom prst="roundRect">
            <a:avLst>
              <a:gd name="adj" fmla="val 4211"/>
            </a:avLst>
          </a:prstGeom>
          <a:solidFill>
            <a:srgbClr val="0B2E35"/>
          </a:solidFill>
          <a:ln/>
          <a:effectLst>
            <a:outerShdw blurRad="76200" dist="25400" dir="5400000" algn="bl" rotWithShape="0">
              <a:srgbClr val="9AAAB0">
                <a:alpha val="28000"/>
              </a:srgbClr>
            </a:outerShdw>
          </a:effectLst>
        </p:spPr>
        <p:txBody>
          <a:bodyPr/>
          <a:lstStyle/>
          <a:p>
            <a:endParaRPr lang="en-AE"/>
          </a:p>
        </p:txBody>
      </p:sp>
      <p:sp>
        <p:nvSpPr>
          <p:cNvPr id="11" name="Text 9"/>
          <p:cNvSpPr txBox="1"/>
          <p:nvPr/>
        </p:nvSpPr>
        <p:spPr>
          <a:xfrm>
            <a:off x="1005840" y="4160520"/>
            <a:ext cx="4206240" cy="274320"/>
          </a:xfrm>
          <a:prstGeom prst="rect">
            <a:avLst/>
          </a:prstGeom>
          <a:noFill/>
          <a:ln/>
        </p:spPr>
        <p:txBody>
          <a:bodyPr wrap="square" lIns="0" tIns="0" rIns="0" bIns="0" rtlCol="0" anchor="ctr"/>
          <a:lstStyle/>
          <a:p>
            <a:pPr marL="0" indent="0" algn="ctr">
              <a:buNone/>
            </a:pPr>
            <a:r>
              <a:rPr lang="en-US" sz="1100" b="1" kern="0" spc="100" dirty="0">
                <a:solidFill>
                  <a:srgbClr val="7FC4CB"/>
                </a:solidFill>
                <a:latin typeface="Calibri" pitchFamily="34" charset="0"/>
                <a:ea typeface="Calibri" pitchFamily="34" charset="-122"/>
                <a:cs typeface="Calibri" pitchFamily="34" charset="-120"/>
              </a:rPr>
              <a:t>POPULATION</a:t>
            </a:r>
            <a:endParaRPr lang="en-US" sz="1100" dirty="0"/>
          </a:p>
        </p:txBody>
      </p:sp>
      <p:sp>
        <p:nvSpPr>
          <p:cNvPr id="12" name="Text 10"/>
          <p:cNvSpPr txBox="1"/>
          <p:nvPr/>
        </p:nvSpPr>
        <p:spPr>
          <a:xfrm>
            <a:off x="1005840" y="4434840"/>
            <a:ext cx="42062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1,000 students</a:t>
            </a:r>
            <a:endParaRPr lang="en-US" sz="2200" dirty="0"/>
          </a:p>
        </p:txBody>
      </p:sp>
      <p:sp>
        <p:nvSpPr>
          <p:cNvPr id="13" name="Text 11"/>
          <p:cNvSpPr txBox="1"/>
          <p:nvPr/>
        </p:nvSpPr>
        <p:spPr>
          <a:xfrm>
            <a:off x="1005840" y="4937760"/>
            <a:ext cx="4206240" cy="365760"/>
          </a:xfrm>
          <a:prstGeom prst="rect">
            <a:avLst/>
          </a:prstGeom>
          <a:noFill/>
          <a:ln/>
        </p:spPr>
        <p:txBody>
          <a:bodyPr wrap="square" lIns="0" tIns="0" rIns="0" bIns="0" rtlCol="0" anchor="ctr"/>
          <a:lstStyle/>
          <a:p>
            <a:pPr marL="0" indent="0" algn="ctr">
              <a:buNone/>
            </a:pPr>
            <a:r>
              <a:rPr lang="en-US" sz="1400" dirty="0">
                <a:solidFill>
                  <a:srgbClr val="D7E6E8"/>
                </a:solidFill>
                <a:latin typeface="Calibri" pitchFamily="34" charset="0"/>
                <a:ea typeface="Calibri" pitchFamily="34" charset="-122"/>
                <a:cs typeface="Calibri" pitchFamily="34" charset="-120"/>
              </a:rPr>
              <a:t>600 Year 12  ·  400 Year 13</a:t>
            </a:r>
            <a:endParaRPr lang="en-US" sz="1400" dirty="0"/>
          </a:p>
        </p:txBody>
      </p:sp>
      <p:sp>
        <p:nvSpPr>
          <p:cNvPr id="14" name="Shape 12"/>
          <p:cNvSpPr/>
          <p:nvPr/>
        </p:nvSpPr>
        <p:spPr>
          <a:xfrm>
            <a:off x="5440680" y="4663440"/>
            <a:ext cx="1005840" cy="457200"/>
          </a:xfrm>
          <a:prstGeom prst="rightArrow">
            <a:avLst/>
          </a:prstGeom>
          <a:solidFill>
            <a:srgbClr val="E0940F"/>
          </a:solidFill>
          <a:ln/>
        </p:spPr>
        <p:txBody>
          <a:bodyPr/>
          <a:lstStyle/>
          <a:p>
            <a:endParaRPr lang="en-AE"/>
          </a:p>
        </p:txBody>
      </p:sp>
      <p:sp>
        <p:nvSpPr>
          <p:cNvPr id="15" name="Shape 13"/>
          <p:cNvSpPr/>
          <p:nvPr/>
        </p:nvSpPr>
        <p:spPr>
          <a:xfrm>
            <a:off x="6675120" y="4023360"/>
            <a:ext cx="4206240" cy="1737360"/>
          </a:xfrm>
          <a:prstGeom prst="roundRect">
            <a:avLst>
              <a:gd name="adj" fmla="val 4211"/>
            </a:avLst>
          </a:prstGeom>
          <a:solidFill>
            <a:srgbClr val="0B2E35"/>
          </a:solidFill>
          <a:ln/>
          <a:effectLst>
            <a:outerShdw blurRad="76200" dist="25400" dir="5400000" algn="bl" rotWithShape="0">
              <a:srgbClr val="9AAAB0">
                <a:alpha val="28000"/>
              </a:srgbClr>
            </a:outerShdw>
          </a:effectLst>
        </p:spPr>
        <p:txBody>
          <a:bodyPr/>
          <a:lstStyle/>
          <a:p>
            <a:endParaRPr lang="en-AE"/>
          </a:p>
        </p:txBody>
      </p:sp>
      <p:sp>
        <p:nvSpPr>
          <p:cNvPr id="16" name="Text 14"/>
          <p:cNvSpPr txBox="1"/>
          <p:nvPr/>
        </p:nvSpPr>
        <p:spPr>
          <a:xfrm>
            <a:off x="6675120" y="4160520"/>
            <a:ext cx="4206240" cy="274320"/>
          </a:xfrm>
          <a:prstGeom prst="rect">
            <a:avLst/>
          </a:prstGeom>
          <a:noFill/>
          <a:ln/>
        </p:spPr>
        <p:txBody>
          <a:bodyPr wrap="square" lIns="0" tIns="0" rIns="0" bIns="0" rtlCol="0" anchor="ctr"/>
          <a:lstStyle/>
          <a:p>
            <a:pPr marL="0" indent="0" algn="ctr">
              <a:buNone/>
            </a:pPr>
            <a:r>
              <a:rPr lang="en-US" sz="1100" b="1" kern="0" spc="100" dirty="0">
                <a:solidFill>
                  <a:srgbClr val="7FC4CB"/>
                </a:solidFill>
                <a:latin typeface="Calibri" pitchFamily="34" charset="0"/>
                <a:ea typeface="Calibri" pitchFamily="34" charset="-122"/>
                <a:cs typeface="Calibri" pitchFamily="34" charset="-120"/>
              </a:rPr>
              <a:t>SAMPLE</a:t>
            </a:r>
            <a:endParaRPr lang="en-US" sz="1100" dirty="0"/>
          </a:p>
        </p:txBody>
      </p:sp>
      <p:sp>
        <p:nvSpPr>
          <p:cNvPr id="17" name="Text 15"/>
          <p:cNvSpPr txBox="1"/>
          <p:nvPr/>
        </p:nvSpPr>
        <p:spPr>
          <a:xfrm>
            <a:off x="6675120" y="4434840"/>
            <a:ext cx="42062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100 students</a:t>
            </a:r>
            <a:endParaRPr lang="en-US" sz="2200" dirty="0"/>
          </a:p>
        </p:txBody>
      </p:sp>
      <p:sp>
        <p:nvSpPr>
          <p:cNvPr id="18" name="Text 16"/>
          <p:cNvSpPr txBox="1"/>
          <p:nvPr/>
        </p:nvSpPr>
        <p:spPr>
          <a:xfrm>
            <a:off x="6675120" y="4937760"/>
            <a:ext cx="4206240" cy="365760"/>
          </a:xfrm>
          <a:prstGeom prst="rect">
            <a:avLst/>
          </a:prstGeom>
          <a:noFill/>
          <a:ln/>
        </p:spPr>
        <p:txBody>
          <a:bodyPr wrap="square" lIns="0" tIns="0" rIns="0" bIns="0" rtlCol="0" anchor="ctr"/>
          <a:lstStyle/>
          <a:p>
            <a:pPr marL="0" indent="0" algn="ctr">
              <a:buNone/>
            </a:pPr>
            <a:r>
              <a:rPr lang="en-US" sz="1400" dirty="0">
                <a:solidFill>
                  <a:srgbClr val="D7E6E8"/>
                </a:solidFill>
                <a:latin typeface="Calibri" pitchFamily="34" charset="0"/>
                <a:ea typeface="Calibri" pitchFamily="34" charset="-122"/>
                <a:cs typeface="Calibri" pitchFamily="34" charset="-120"/>
              </a:rPr>
              <a:t>chosen to represent the 1,000</a:t>
            </a:r>
            <a:endParaRPr lang="en-US" sz="14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C · SAMPLING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The three methods — how each picks the 100 students</a:t>
            </a:r>
            <a:endParaRPr lang="en-US" sz="2700" dirty="0"/>
          </a:p>
        </p:txBody>
      </p:sp>
      <p:sp>
        <p:nvSpPr>
          <p:cNvPr id="4" name="Shape 2"/>
          <p:cNvSpPr/>
          <p:nvPr/>
        </p:nvSpPr>
        <p:spPr>
          <a:xfrm>
            <a:off x="548640" y="1371600"/>
            <a:ext cx="3575304" cy="4800600"/>
          </a:xfrm>
          <a:prstGeom prst="roundRect">
            <a:avLst>
              <a:gd name="adj" fmla="val 204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5" name="Shape 3"/>
          <p:cNvSpPr/>
          <p:nvPr/>
        </p:nvSpPr>
        <p:spPr>
          <a:xfrm>
            <a:off x="548640" y="1371600"/>
            <a:ext cx="3575304" cy="502920"/>
          </a:xfrm>
          <a:prstGeom prst="roundRect">
            <a:avLst>
              <a:gd name="adj" fmla="val 14545"/>
            </a:avLst>
          </a:prstGeom>
          <a:solidFill>
            <a:srgbClr val="0E7C86"/>
          </a:solidFill>
          <a:ln/>
        </p:spPr>
        <p:txBody>
          <a:bodyPr/>
          <a:lstStyle/>
          <a:p>
            <a:endParaRPr lang="en-AE"/>
          </a:p>
        </p:txBody>
      </p:sp>
      <p:sp>
        <p:nvSpPr>
          <p:cNvPr id="6" name="Text 4"/>
          <p:cNvSpPr txBox="1"/>
          <p:nvPr/>
        </p:nvSpPr>
        <p:spPr>
          <a:xfrm>
            <a:off x="548640" y="1371600"/>
            <a:ext cx="3575304"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RANDOM</a:t>
            </a:r>
            <a:endParaRPr lang="en-US" sz="1700" dirty="0"/>
          </a:p>
        </p:txBody>
      </p:sp>
      <p:sp>
        <p:nvSpPr>
          <p:cNvPr id="7" name="Text 5"/>
          <p:cNvSpPr txBox="1"/>
          <p:nvPr/>
        </p:nvSpPr>
        <p:spPr>
          <a:xfrm>
            <a:off x="749808" y="2011680"/>
            <a:ext cx="3172968" cy="274320"/>
          </a:xfrm>
          <a:prstGeom prst="rect">
            <a:avLst/>
          </a:prstGeom>
          <a:noFill/>
          <a:ln/>
        </p:spPr>
        <p:txBody>
          <a:bodyPr wrap="square" lIns="0" tIns="0" rIns="0" bIns="0" rtlCol="0" anchor="ctr"/>
          <a:lstStyle/>
          <a:p>
            <a:pPr marL="0" indent="0">
              <a:buNone/>
            </a:pPr>
            <a:r>
              <a:rPr lang="en-US" sz="1100" b="1" kern="0" spc="50" dirty="0">
                <a:solidFill>
                  <a:srgbClr val="0E7C86"/>
                </a:solidFill>
                <a:latin typeface="Calibri" pitchFamily="34" charset="0"/>
                <a:ea typeface="Calibri" pitchFamily="34" charset="-122"/>
                <a:cs typeface="Calibri" pitchFamily="34" charset="-120"/>
              </a:rPr>
              <a:t>What it is</a:t>
            </a:r>
            <a:endParaRPr lang="en-US" sz="1100" dirty="0"/>
          </a:p>
        </p:txBody>
      </p:sp>
      <p:sp>
        <p:nvSpPr>
          <p:cNvPr id="8" name="Text 6"/>
          <p:cNvSpPr txBox="1"/>
          <p:nvPr/>
        </p:nvSpPr>
        <p:spPr>
          <a:xfrm>
            <a:off x="749808" y="2267712"/>
            <a:ext cx="3172968" cy="9144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Every member of the population has an EQUAL chance of being chosen.</a:t>
            </a:r>
            <a:endParaRPr lang="en-US" sz="1200" dirty="0"/>
          </a:p>
        </p:txBody>
      </p:sp>
      <p:sp>
        <p:nvSpPr>
          <p:cNvPr id="9" name="Text 7"/>
          <p:cNvSpPr txBox="1"/>
          <p:nvPr/>
        </p:nvSpPr>
        <p:spPr>
          <a:xfrm>
            <a:off x="749808" y="3200400"/>
            <a:ext cx="3172968" cy="274320"/>
          </a:xfrm>
          <a:prstGeom prst="rect">
            <a:avLst/>
          </a:prstGeom>
          <a:noFill/>
          <a:ln/>
        </p:spPr>
        <p:txBody>
          <a:bodyPr wrap="square" lIns="0" tIns="0" rIns="0" bIns="0" rtlCol="0" anchor="ctr"/>
          <a:lstStyle/>
          <a:p>
            <a:pPr marL="0" indent="0">
              <a:buNone/>
            </a:pPr>
            <a:r>
              <a:rPr lang="en-US" sz="1100" b="1" kern="0" spc="50" dirty="0">
                <a:solidFill>
                  <a:srgbClr val="0E7C86"/>
                </a:solidFill>
                <a:latin typeface="Calibri" pitchFamily="34" charset="0"/>
                <a:ea typeface="Calibri" pitchFamily="34" charset="-122"/>
                <a:cs typeface="Calibri" pitchFamily="34" charset="-120"/>
              </a:rPr>
              <a:t>How it picks the 100</a:t>
            </a:r>
            <a:endParaRPr lang="en-US" sz="1100" dirty="0"/>
          </a:p>
        </p:txBody>
      </p:sp>
      <p:sp>
        <p:nvSpPr>
          <p:cNvPr id="10" name="Text 8"/>
          <p:cNvSpPr txBox="1"/>
          <p:nvPr/>
        </p:nvSpPr>
        <p:spPr>
          <a:xfrm>
            <a:off x="749808" y="3456432"/>
            <a:ext cx="3172968" cy="11430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Number all 1,000 students and use a random-number generator to pick 100.</a:t>
            </a:r>
            <a:endParaRPr lang="en-US" sz="1200" dirty="0"/>
          </a:p>
        </p:txBody>
      </p:sp>
      <p:sp>
        <p:nvSpPr>
          <p:cNvPr id="11" name="Text 9"/>
          <p:cNvSpPr txBox="1"/>
          <p:nvPr/>
        </p:nvSpPr>
        <p:spPr>
          <a:xfrm>
            <a:off x="749808" y="4617720"/>
            <a:ext cx="3172968" cy="274320"/>
          </a:xfrm>
          <a:prstGeom prst="rect">
            <a:avLst/>
          </a:prstGeom>
          <a:noFill/>
          <a:ln/>
        </p:spPr>
        <p:txBody>
          <a:bodyPr wrap="square" lIns="0" tIns="0" rIns="0" bIns="0" rtlCol="0" anchor="ctr"/>
          <a:lstStyle/>
          <a:p>
            <a:pPr marL="0" indent="0">
              <a:buNone/>
            </a:pPr>
            <a:r>
              <a:rPr lang="en-US" sz="1100" b="1" kern="0" spc="50" dirty="0">
                <a:solidFill>
                  <a:srgbClr val="C14B37"/>
                </a:solidFill>
                <a:latin typeface="Calibri" pitchFamily="34" charset="0"/>
                <a:ea typeface="Calibri" pitchFamily="34" charset="-122"/>
                <a:cs typeface="Calibri" pitchFamily="34" charset="-120"/>
              </a:rPr>
              <a:t>Watch out</a:t>
            </a:r>
            <a:endParaRPr lang="en-US" sz="1100" dirty="0"/>
          </a:p>
        </p:txBody>
      </p:sp>
      <p:sp>
        <p:nvSpPr>
          <p:cNvPr id="12" name="Text 10"/>
          <p:cNvSpPr txBox="1"/>
          <p:nvPr/>
        </p:nvSpPr>
        <p:spPr>
          <a:xfrm>
            <a:off x="749808" y="4873752"/>
            <a:ext cx="3172968" cy="118872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May not get exactly 60 Y12 / 40 Y13 — chance can over-represent one group.</a:t>
            </a:r>
            <a:endParaRPr lang="en-US" sz="1200" dirty="0"/>
          </a:p>
        </p:txBody>
      </p:sp>
      <p:sp>
        <p:nvSpPr>
          <p:cNvPr id="13" name="Shape 11"/>
          <p:cNvSpPr/>
          <p:nvPr/>
        </p:nvSpPr>
        <p:spPr>
          <a:xfrm>
            <a:off x="4306824" y="1371600"/>
            <a:ext cx="3575304" cy="4800600"/>
          </a:xfrm>
          <a:prstGeom prst="roundRect">
            <a:avLst>
              <a:gd name="adj" fmla="val 204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14" name="Shape 12"/>
          <p:cNvSpPr/>
          <p:nvPr/>
        </p:nvSpPr>
        <p:spPr>
          <a:xfrm>
            <a:off x="4306824" y="1371600"/>
            <a:ext cx="3575304" cy="502920"/>
          </a:xfrm>
          <a:prstGeom prst="roundRect">
            <a:avLst>
              <a:gd name="adj" fmla="val 14545"/>
            </a:avLst>
          </a:prstGeom>
          <a:solidFill>
            <a:srgbClr val="E0940F"/>
          </a:solidFill>
          <a:ln/>
        </p:spPr>
        <p:txBody>
          <a:bodyPr/>
          <a:lstStyle/>
          <a:p>
            <a:endParaRPr lang="en-AE"/>
          </a:p>
        </p:txBody>
      </p:sp>
      <p:sp>
        <p:nvSpPr>
          <p:cNvPr id="15" name="Text 13"/>
          <p:cNvSpPr txBox="1"/>
          <p:nvPr/>
        </p:nvSpPr>
        <p:spPr>
          <a:xfrm>
            <a:off x="4306824" y="1371600"/>
            <a:ext cx="3575304"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QUOTA</a:t>
            </a:r>
            <a:endParaRPr lang="en-US" sz="1700" dirty="0"/>
          </a:p>
        </p:txBody>
      </p:sp>
      <p:sp>
        <p:nvSpPr>
          <p:cNvPr id="16" name="Text 14"/>
          <p:cNvSpPr txBox="1"/>
          <p:nvPr/>
        </p:nvSpPr>
        <p:spPr>
          <a:xfrm>
            <a:off x="4507992" y="2011680"/>
            <a:ext cx="3172968" cy="274320"/>
          </a:xfrm>
          <a:prstGeom prst="rect">
            <a:avLst/>
          </a:prstGeom>
          <a:noFill/>
          <a:ln/>
        </p:spPr>
        <p:txBody>
          <a:bodyPr wrap="square" lIns="0" tIns="0" rIns="0" bIns="0" rtlCol="0" anchor="ctr"/>
          <a:lstStyle/>
          <a:p>
            <a:pPr marL="0" indent="0">
              <a:buNone/>
            </a:pPr>
            <a:r>
              <a:rPr lang="en-US" sz="1100" b="1" kern="0" spc="50" dirty="0">
                <a:solidFill>
                  <a:srgbClr val="E0940F"/>
                </a:solidFill>
                <a:latin typeface="Calibri" pitchFamily="34" charset="0"/>
                <a:ea typeface="Calibri" pitchFamily="34" charset="-122"/>
                <a:cs typeface="Calibri" pitchFamily="34" charset="-120"/>
              </a:rPr>
              <a:t>What it is</a:t>
            </a:r>
            <a:endParaRPr lang="en-US" sz="1100" dirty="0"/>
          </a:p>
        </p:txBody>
      </p:sp>
      <p:sp>
        <p:nvSpPr>
          <p:cNvPr id="17" name="Text 15"/>
          <p:cNvSpPr txBox="1"/>
          <p:nvPr/>
        </p:nvSpPr>
        <p:spPr>
          <a:xfrm>
            <a:off x="4507992" y="2267712"/>
            <a:ext cx="3172968" cy="9144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Set target numbers per group; researchers choose available people until each target is filled.</a:t>
            </a:r>
            <a:endParaRPr lang="en-US" sz="1200" dirty="0"/>
          </a:p>
        </p:txBody>
      </p:sp>
      <p:sp>
        <p:nvSpPr>
          <p:cNvPr id="18" name="Text 16"/>
          <p:cNvSpPr txBox="1"/>
          <p:nvPr/>
        </p:nvSpPr>
        <p:spPr>
          <a:xfrm>
            <a:off x="4507992" y="3200400"/>
            <a:ext cx="3172968" cy="274320"/>
          </a:xfrm>
          <a:prstGeom prst="rect">
            <a:avLst/>
          </a:prstGeom>
          <a:noFill/>
          <a:ln/>
        </p:spPr>
        <p:txBody>
          <a:bodyPr wrap="square" lIns="0" tIns="0" rIns="0" bIns="0" rtlCol="0" anchor="ctr"/>
          <a:lstStyle/>
          <a:p>
            <a:pPr marL="0" indent="0">
              <a:buNone/>
            </a:pPr>
            <a:r>
              <a:rPr lang="en-US" sz="1100" b="1" kern="0" spc="50" dirty="0">
                <a:solidFill>
                  <a:srgbClr val="E0940F"/>
                </a:solidFill>
                <a:latin typeface="Calibri" pitchFamily="34" charset="0"/>
                <a:ea typeface="Calibri" pitchFamily="34" charset="-122"/>
                <a:cs typeface="Calibri" pitchFamily="34" charset="-120"/>
              </a:rPr>
              <a:t>How it picks the 100</a:t>
            </a:r>
            <a:endParaRPr lang="en-US" sz="1100" dirty="0"/>
          </a:p>
        </p:txBody>
      </p:sp>
      <p:sp>
        <p:nvSpPr>
          <p:cNvPr id="19" name="Text 17"/>
          <p:cNvSpPr txBox="1"/>
          <p:nvPr/>
        </p:nvSpPr>
        <p:spPr>
          <a:xfrm>
            <a:off x="4507992" y="3456432"/>
            <a:ext cx="3172968" cy="11430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Set a target of 60 Y12 and 40 Y13. Approach available students until full.</a:t>
            </a:r>
            <a:endParaRPr lang="en-US" sz="1200" dirty="0"/>
          </a:p>
        </p:txBody>
      </p:sp>
      <p:sp>
        <p:nvSpPr>
          <p:cNvPr id="20" name="Text 18"/>
          <p:cNvSpPr txBox="1"/>
          <p:nvPr/>
        </p:nvSpPr>
        <p:spPr>
          <a:xfrm>
            <a:off x="4507992" y="4617720"/>
            <a:ext cx="3172968" cy="274320"/>
          </a:xfrm>
          <a:prstGeom prst="rect">
            <a:avLst/>
          </a:prstGeom>
          <a:noFill/>
          <a:ln/>
        </p:spPr>
        <p:txBody>
          <a:bodyPr wrap="square" lIns="0" tIns="0" rIns="0" bIns="0" rtlCol="0" anchor="ctr"/>
          <a:lstStyle/>
          <a:p>
            <a:pPr marL="0" indent="0">
              <a:buNone/>
            </a:pPr>
            <a:r>
              <a:rPr lang="en-US" sz="1100" b="1" kern="0" spc="50" dirty="0">
                <a:solidFill>
                  <a:srgbClr val="C14B37"/>
                </a:solidFill>
                <a:latin typeface="Calibri" pitchFamily="34" charset="0"/>
                <a:ea typeface="Calibri" pitchFamily="34" charset="-122"/>
                <a:cs typeface="Calibri" pitchFamily="34" charset="-120"/>
              </a:rPr>
              <a:t>Watch out</a:t>
            </a:r>
            <a:endParaRPr lang="en-US" sz="1100" dirty="0"/>
          </a:p>
        </p:txBody>
      </p:sp>
      <p:sp>
        <p:nvSpPr>
          <p:cNvPr id="21" name="Text 19"/>
          <p:cNvSpPr txBox="1"/>
          <p:nvPr/>
        </p:nvSpPr>
        <p:spPr>
          <a:xfrm>
            <a:off x="4507992" y="4873752"/>
            <a:ext cx="3172968" cy="118872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The RESEARCHER picks individuals (not random) — they may choose the easiest to approach.</a:t>
            </a:r>
            <a:endParaRPr lang="en-US" sz="1200" dirty="0"/>
          </a:p>
        </p:txBody>
      </p:sp>
      <p:sp>
        <p:nvSpPr>
          <p:cNvPr id="22" name="Shape 20"/>
          <p:cNvSpPr/>
          <p:nvPr/>
        </p:nvSpPr>
        <p:spPr>
          <a:xfrm>
            <a:off x="8065008" y="1371600"/>
            <a:ext cx="3575304" cy="4800600"/>
          </a:xfrm>
          <a:prstGeom prst="roundRect">
            <a:avLst>
              <a:gd name="adj" fmla="val 2046"/>
            </a:avLst>
          </a:prstGeom>
          <a:solidFill>
            <a:srgbClr val="FFFFFF"/>
          </a:solidFill>
          <a:ln w="12700">
            <a:solidFill>
              <a:srgbClr val="D7E1E4"/>
            </a:solidFill>
            <a:prstDash val="solid"/>
          </a:ln>
          <a:effectLst>
            <a:outerShdw blurRad="76200" dist="25400" dir="5400000" algn="bl" rotWithShape="0">
              <a:srgbClr val="9AAAB0">
                <a:alpha val="28000"/>
              </a:srgbClr>
            </a:outerShdw>
          </a:effectLst>
        </p:spPr>
        <p:txBody>
          <a:bodyPr/>
          <a:lstStyle/>
          <a:p>
            <a:endParaRPr lang="en-AE"/>
          </a:p>
        </p:txBody>
      </p:sp>
      <p:sp>
        <p:nvSpPr>
          <p:cNvPr id="23" name="Shape 21"/>
          <p:cNvSpPr/>
          <p:nvPr/>
        </p:nvSpPr>
        <p:spPr>
          <a:xfrm>
            <a:off x="8065008" y="1371600"/>
            <a:ext cx="3575304" cy="502920"/>
          </a:xfrm>
          <a:prstGeom prst="roundRect">
            <a:avLst>
              <a:gd name="adj" fmla="val 14545"/>
            </a:avLst>
          </a:prstGeom>
          <a:solidFill>
            <a:srgbClr val="2F8A5B"/>
          </a:solidFill>
          <a:ln/>
        </p:spPr>
        <p:txBody>
          <a:bodyPr/>
          <a:lstStyle/>
          <a:p>
            <a:endParaRPr lang="en-AE"/>
          </a:p>
        </p:txBody>
      </p:sp>
      <p:sp>
        <p:nvSpPr>
          <p:cNvPr id="24" name="Text 22"/>
          <p:cNvSpPr txBox="1"/>
          <p:nvPr/>
        </p:nvSpPr>
        <p:spPr>
          <a:xfrm>
            <a:off x="8065008" y="1371600"/>
            <a:ext cx="3575304"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STRATIFIED</a:t>
            </a:r>
            <a:endParaRPr lang="en-US" sz="1700" dirty="0"/>
          </a:p>
        </p:txBody>
      </p:sp>
      <p:sp>
        <p:nvSpPr>
          <p:cNvPr id="25" name="Text 23"/>
          <p:cNvSpPr txBox="1"/>
          <p:nvPr/>
        </p:nvSpPr>
        <p:spPr>
          <a:xfrm>
            <a:off x="8266176" y="2011680"/>
            <a:ext cx="3172968" cy="274320"/>
          </a:xfrm>
          <a:prstGeom prst="rect">
            <a:avLst/>
          </a:prstGeom>
          <a:noFill/>
          <a:ln/>
        </p:spPr>
        <p:txBody>
          <a:bodyPr wrap="square" lIns="0" tIns="0" rIns="0" bIns="0" rtlCol="0" anchor="ctr"/>
          <a:lstStyle/>
          <a:p>
            <a:pPr marL="0" indent="0">
              <a:buNone/>
            </a:pPr>
            <a:r>
              <a:rPr lang="en-US" sz="1100" b="1" kern="0" spc="50" dirty="0">
                <a:solidFill>
                  <a:srgbClr val="2F8A5B"/>
                </a:solidFill>
                <a:latin typeface="Calibri" pitchFamily="34" charset="0"/>
                <a:ea typeface="Calibri" pitchFamily="34" charset="-122"/>
                <a:cs typeface="Calibri" pitchFamily="34" charset="-120"/>
              </a:rPr>
              <a:t>What it is</a:t>
            </a:r>
            <a:endParaRPr lang="en-US" sz="1100" dirty="0"/>
          </a:p>
        </p:txBody>
      </p:sp>
      <p:sp>
        <p:nvSpPr>
          <p:cNvPr id="26" name="Text 24"/>
          <p:cNvSpPr txBox="1"/>
          <p:nvPr/>
        </p:nvSpPr>
        <p:spPr>
          <a:xfrm>
            <a:off x="8266176" y="2267712"/>
            <a:ext cx="3172968" cy="9144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Split into groups, then RANDOMLY select from each in proportion to the population.</a:t>
            </a:r>
            <a:endParaRPr lang="en-US" sz="1200" dirty="0"/>
          </a:p>
        </p:txBody>
      </p:sp>
      <p:sp>
        <p:nvSpPr>
          <p:cNvPr id="27" name="Text 25"/>
          <p:cNvSpPr txBox="1"/>
          <p:nvPr/>
        </p:nvSpPr>
        <p:spPr>
          <a:xfrm>
            <a:off x="8266176" y="3200400"/>
            <a:ext cx="3172968" cy="274320"/>
          </a:xfrm>
          <a:prstGeom prst="rect">
            <a:avLst/>
          </a:prstGeom>
          <a:noFill/>
          <a:ln/>
        </p:spPr>
        <p:txBody>
          <a:bodyPr wrap="square" lIns="0" tIns="0" rIns="0" bIns="0" rtlCol="0" anchor="ctr"/>
          <a:lstStyle/>
          <a:p>
            <a:pPr marL="0" indent="0">
              <a:buNone/>
            </a:pPr>
            <a:r>
              <a:rPr lang="en-US" sz="1100" b="1" kern="0" spc="50" dirty="0">
                <a:solidFill>
                  <a:srgbClr val="2F8A5B"/>
                </a:solidFill>
                <a:latin typeface="Calibri" pitchFamily="34" charset="0"/>
                <a:ea typeface="Calibri" pitchFamily="34" charset="-122"/>
                <a:cs typeface="Calibri" pitchFamily="34" charset="-120"/>
              </a:rPr>
              <a:t>How it picks the 100</a:t>
            </a:r>
            <a:endParaRPr lang="en-US" sz="1100" dirty="0"/>
          </a:p>
        </p:txBody>
      </p:sp>
      <p:sp>
        <p:nvSpPr>
          <p:cNvPr id="28" name="Text 26"/>
          <p:cNvSpPr txBox="1"/>
          <p:nvPr/>
        </p:nvSpPr>
        <p:spPr>
          <a:xfrm>
            <a:off x="8266176" y="3456432"/>
            <a:ext cx="3172968" cy="114300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Split the register into Y12 &amp; Y13. Randomly pick 60 Y12 and 40 Y13.</a:t>
            </a:r>
            <a:endParaRPr lang="en-US" sz="1200" dirty="0"/>
          </a:p>
        </p:txBody>
      </p:sp>
      <p:sp>
        <p:nvSpPr>
          <p:cNvPr id="29" name="Text 27"/>
          <p:cNvSpPr txBox="1"/>
          <p:nvPr/>
        </p:nvSpPr>
        <p:spPr>
          <a:xfrm>
            <a:off x="8266176" y="4617720"/>
            <a:ext cx="3172968" cy="274320"/>
          </a:xfrm>
          <a:prstGeom prst="rect">
            <a:avLst/>
          </a:prstGeom>
          <a:noFill/>
          <a:ln/>
        </p:spPr>
        <p:txBody>
          <a:bodyPr wrap="square" lIns="0" tIns="0" rIns="0" bIns="0" rtlCol="0" anchor="ctr"/>
          <a:lstStyle/>
          <a:p>
            <a:pPr marL="0" indent="0">
              <a:buNone/>
            </a:pPr>
            <a:r>
              <a:rPr lang="en-US" sz="1100" b="1" kern="0" spc="50" dirty="0">
                <a:solidFill>
                  <a:srgbClr val="C14B37"/>
                </a:solidFill>
                <a:latin typeface="Calibri" pitchFamily="34" charset="0"/>
                <a:ea typeface="Calibri" pitchFamily="34" charset="-122"/>
                <a:cs typeface="Calibri" pitchFamily="34" charset="-120"/>
              </a:rPr>
              <a:t>Watch out</a:t>
            </a:r>
            <a:endParaRPr lang="en-US" sz="1100" dirty="0"/>
          </a:p>
        </p:txBody>
      </p:sp>
      <p:sp>
        <p:nvSpPr>
          <p:cNvPr id="30" name="Text 28"/>
          <p:cNvSpPr txBox="1"/>
          <p:nvPr/>
        </p:nvSpPr>
        <p:spPr>
          <a:xfrm>
            <a:off x="8266176" y="4873752"/>
            <a:ext cx="3172968" cy="1188720"/>
          </a:xfrm>
          <a:prstGeom prst="rect">
            <a:avLst/>
          </a:prstGeom>
          <a:noFill/>
          <a:ln/>
        </p:spPr>
        <p:txBody>
          <a:bodyPr wrap="square" lIns="0" tIns="0" rIns="0" bIns="0" rtlCol="0" anchor="t"/>
          <a:lstStyle/>
          <a:p>
            <a:pPr marL="0" indent="0">
              <a:buNone/>
            </a:pPr>
            <a:r>
              <a:rPr lang="en-US" sz="1200" dirty="0">
                <a:solidFill>
                  <a:srgbClr val="1F2A33"/>
                </a:solidFill>
                <a:latin typeface="Calibri" pitchFamily="34" charset="0"/>
                <a:ea typeface="Calibri" pitchFamily="34" charset="-122"/>
                <a:cs typeface="Calibri" pitchFamily="34" charset="-120"/>
              </a:rPr>
              <a:t>Matches the population proportions AND is random — most representative.</a:t>
            </a:r>
            <a:endParaRPr lang="en-US" sz="1200" dirty="0"/>
          </a:p>
        </p:txBody>
      </p:sp>
      <p:sp>
        <p:nvSpPr>
          <p:cNvPr id="31"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C · SAMPLING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Sampling methods: benefits &amp; drawbacks</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1148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Benefit</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Drawback</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extLst>
                  <a:ext uri="{0D108BD9-81ED-4DB2-BD59-A6C34878D82A}">
                    <a16:rowId xmlns:a16="http://schemas.microsoft.com/office/drawing/2014/main" val="10000"/>
                  </a:ext>
                </a:extLst>
              </a:tr>
              <a:tr h="914400">
                <a:tc>
                  <a:txBody>
                    <a:bodyPr/>
                    <a:lstStyle/>
                    <a:p>
                      <a:pPr marL="0" indent="0" algn="l">
                        <a:buNone/>
                      </a:pPr>
                      <a:r>
                        <a:rPr lang="en-US" sz="1200" b="1" dirty="0">
                          <a:solidFill>
                            <a:srgbClr val="0E7C86"/>
                          </a:solidFill>
                          <a:latin typeface="Calibri" pitchFamily="34" charset="0"/>
                          <a:ea typeface="Calibri" pitchFamily="34" charset="-122"/>
                          <a:cs typeface="Calibri" pitchFamily="34" charset="-120"/>
                        </a:rPr>
                        <a:t>Random</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Everyone has an equal chance of selection</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Reduces researcher bias; fair overall estimate</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Mix may be unrepresentative by chance; needs a full list</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200" b="1" dirty="0">
                          <a:solidFill>
                            <a:srgbClr val="E0940F"/>
                          </a:solidFill>
                          <a:latin typeface="Calibri" pitchFamily="34" charset="0"/>
                          <a:ea typeface="Calibri" pitchFamily="34" charset="-122"/>
                          <a:cs typeface="Calibri" pitchFamily="34" charset="-120"/>
                        </a:rPr>
                        <a:t>Quota</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Fixed numbers chosen from each group, by availability</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Quick and low-cost; ensures each group is included</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Researcher chooses individuals → bias (easiest people picked)</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l">
                        <a:buNone/>
                      </a:pPr>
                      <a:r>
                        <a:rPr lang="en-US" sz="1200" b="1" dirty="0">
                          <a:solidFill>
                            <a:srgbClr val="2F8A5B"/>
                          </a:solidFill>
                          <a:latin typeface="Calibri" pitchFamily="34" charset="0"/>
                          <a:ea typeface="Calibri" pitchFamily="34" charset="-122"/>
                          <a:cs typeface="Calibri" pitchFamily="34" charset="-120"/>
                        </a:rPr>
                        <a:t>Stratified</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Random selection within groups, in proportion to the population</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Most representative — proportionate AND random</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A33"/>
                          </a:solidFill>
                          <a:latin typeface="Calibri" pitchFamily="34" charset="0"/>
                          <a:ea typeface="Calibri" pitchFamily="34" charset="-122"/>
                          <a:cs typeface="Calibri" pitchFamily="34" charset="-120"/>
                        </a:rPr>
                        <a:t>Slower; needs accurate data on the population</a:t>
                      </a:r>
                      <a:endParaRPr lang="en-US" sz="1200" dirty="0">
                        <a:latin typeface="Calibri" charset="0"/>
                        <a:ea typeface="Calibri" charset="0"/>
                        <a:cs typeface="Calibri" charset="0"/>
                      </a:endParaRPr>
                    </a:p>
                  </a:txBody>
                  <a:tcPr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5029200"/>
            <a:ext cx="11091672" cy="1143000"/>
          </a:xfrm>
          <a:prstGeom prst="roundRect">
            <a:avLst>
              <a:gd name="adj" fmla="val 6400"/>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6" name="Text 3"/>
          <p:cNvSpPr txBox="1"/>
          <p:nvPr/>
        </p:nvSpPr>
        <p:spPr>
          <a:xfrm>
            <a:off x="777240" y="5138928"/>
            <a:ext cx="10698480" cy="960120"/>
          </a:xfrm>
          <a:prstGeom prst="rect">
            <a:avLst/>
          </a:prstGeom>
          <a:noFill/>
          <a:ln/>
        </p:spPr>
        <p:txBody>
          <a:bodyPr wrap="square" lIns="0" tIns="0" rIns="0" bIns="0" rtlCol="0" anchor="ctr"/>
          <a:lstStyle/>
          <a:p>
            <a:pPr marL="0" indent="0">
              <a:buNone/>
            </a:pPr>
            <a:r>
              <a:rPr lang="en-US" sz="1250" b="1" dirty="0">
                <a:solidFill>
                  <a:srgbClr val="8A5A06"/>
                </a:solidFill>
                <a:latin typeface="Calibri" pitchFamily="34" charset="0"/>
                <a:ea typeface="Calibri" pitchFamily="34" charset="-122"/>
                <a:cs typeface="Calibri" pitchFamily="34" charset="-120"/>
              </a:rPr>
              <a:t>The judgement (for 8–10 markers):  </a:t>
            </a:r>
            <a:r>
              <a:rPr lang="en-US" sz="1250" dirty="0">
                <a:solidFill>
                  <a:srgbClr val="1F2A33"/>
                </a:solidFill>
                <a:latin typeface="Calibri" pitchFamily="34" charset="0"/>
                <a:ea typeface="Calibri" pitchFamily="34" charset="-122"/>
                <a:cs typeface="Calibri" pitchFamily="34" charset="-120"/>
              </a:rPr>
              <a:t>stratified is usually the MOST representative, so it gives the most reliable findings — but it takes longer and needs accurate population data. Quota may be better when a business needs a quick, low-cost decision. So the ‘best’ method depends on the time, budget and how important accuracy is.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The sampling 10-marker: build a chain (BYD)</a:t>
            </a:r>
            <a:endParaRPr lang="en-US" sz="2700" dirty="0"/>
          </a:p>
        </p:txBody>
      </p:sp>
      <p:sp>
        <p:nvSpPr>
          <p:cNvPr id="4" name="Shape 2"/>
          <p:cNvSpPr/>
          <p:nvPr/>
        </p:nvSpPr>
        <p:spPr>
          <a:xfrm>
            <a:off x="548640" y="1371600"/>
            <a:ext cx="11091672" cy="1051560"/>
          </a:xfrm>
          <a:prstGeom prst="roundRect">
            <a:avLst>
              <a:gd name="adj" fmla="val 6957"/>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63040"/>
            <a:ext cx="5486400" cy="274320"/>
          </a:xfrm>
          <a:prstGeom prst="rect">
            <a:avLst/>
          </a:prstGeom>
          <a:noFill/>
          <a:ln/>
        </p:spPr>
        <p:txBody>
          <a:bodyPr wrap="square" lIns="0" tIns="0" rIns="0" bIns="0" rtlCol="0" anchor="ctr"/>
          <a:lstStyle/>
          <a:p>
            <a:pPr marL="0" indent="0">
              <a:buNone/>
            </a:pPr>
            <a:r>
              <a:rPr lang="en-US" sz="1050" b="1" kern="0" spc="15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548640"/>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Assess whether stratified sampling is the most appropriate sampling method for BYD UAE.  </a:t>
            </a: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2560320"/>
            <a:ext cx="5486400" cy="3611880"/>
          </a:xfrm>
          <a:prstGeom prst="roundRect">
            <a:avLst>
              <a:gd name="adj" fmla="val 2025"/>
            </a:avLst>
          </a:prstGeom>
          <a:solidFill>
            <a:srgbClr val="E8F3EC"/>
          </a:solidFill>
          <a:ln/>
          <a:effectLst>
            <a:outerShdw blurRad="76200" dist="25400" dir="5400000" algn="bl" rotWithShape="0">
              <a:srgbClr val="9AAAB0">
                <a:alpha val="28000"/>
              </a:srgbClr>
            </a:outerShdw>
          </a:effectLst>
        </p:spPr>
        <p:txBody>
          <a:bodyPr/>
          <a:lstStyle/>
          <a:p>
            <a:endParaRPr lang="en-AE"/>
          </a:p>
        </p:txBody>
      </p:sp>
      <p:sp>
        <p:nvSpPr>
          <p:cNvPr id="8" name="Text 6"/>
          <p:cNvSpPr txBox="1"/>
          <p:nvPr/>
        </p:nvSpPr>
        <p:spPr>
          <a:xfrm>
            <a:off x="749808" y="2670048"/>
            <a:ext cx="5120640" cy="310896"/>
          </a:xfrm>
          <a:prstGeom prst="rect">
            <a:avLst/>
          </a:prstGeom>
          <a:noFill/>
          <a:ln/>
        </p:spPr>
        <p:txBody>
          <a:bodyPr wrap="square" lIns="0" tIns="0" rIns="0" bIns="0" rtlCol="0" anchor="ctr"/>
          <a:lstStyle/>
          <a:p>
            <a:pPr marL="0" indent="0">
              <a:buNone/>
            </a:pPr>
            <a:r>
              <a:rPr lang="en-US" sz="1300" b="1" dirty="0">
                <a:solidFill>
                  <a:srgbClr val="2F8A5B"/>
                </a:solidFill>
                <a:latin typeface="Calibri" pitchFamily="34" charset="0"/>
                <a:ea typeface="Calibri" pitchFamily="34" charset="-122"/>
                <a:cs typeface="Calibri" pitchFamily="34" charset="-120"/>
              </a:rPr>
              <a:t>¶1 FOR — the A–F chain</a:t>
            </a:r>
            <a:endParaRPr lang="en-US" sz="1300" dirty="0"/>
          </a:p>
        </p:txBody>
      </p:sp>
      <p:sp>
        <p:nvSpPr>
          <p:cNvPr id="9" name="Text 7"/>
          <p:cNvSpPr txBox="1"/>
          <p:nvPr/>
        </p:nvSpPr>
        <p:spPr>
          <a:xfrm>
            <a:off x="749808" y="3017520"/>
            <a:ext cx="5074920" cy="30175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Point: stratified gives a proportionate, random sample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 Reason: BYD's database splits 25% / 55% / 20% by age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 Effect: the sample mirrors each age group fairly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 Consequence: more accurate demand estimate for the new SUV</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E Impact: better stock, pricing &amp; marketing decisions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 Judgement: strongest where accuracy really matters</a:t>
            </a:r>
            <a:endParaRPr lang="en-US" sz="1200" dirty="0"/>
          </a:p>
        </p:txBody>
      </p:sp>
      <p:sp>
        <p:nvSpPr>
          <p:cNvPr id="10" name="Shape 8"/>
          <p:cNvSpPr/>
          <p:nvPr/>
        </p:nvSpPr>
        <p:spPr>
          <a:xfrm>
            <a:off x="6153912" y="2560320"/>
            <a:ext cx="5486400" cy="3611880"/>
          </a:xfrm>
          <a:prstGeom prst="roundRect">
            <a:avLst>
              <a:gd name="adj" fmla="val 2025"/>
            </a:avLst>
          </a:prstGeom>
          <a:solidFill>
            <a:srgbClr val="F9EAE6"/>
          </a:solidFill>
          <a:ln/>
          <a:effectLst>
            <a:outerShdw blurRad="76200" dist="25400" dir="5400000" algn="bl" rotWithShape="0">
              <a:srgbClr val="9AAAB0">
                <a:alpha val="28000"/>
              </a:srgbClr>
            </a:outerShdw>
          </a:effectLst>
        </p:spPr>
        <p:txBody>
          <a:bodyPr/>
          <a:lstStyle/>
          <a:p>
            <a:endParaRPr lang="en-AE"/>
          </a:p>
        </p:txBody>
      </p:sp>
      <p:sp>
        <p:nvSpPr>
          <p:cNvPr id="11" name="Text 9"/>
          <p:cNvSpPr txBox="1"/>
          <p:nvPr/>
        </p:nvSpPr>
        <p:spPr>
          <a:xfrm>
            <a:off x="6355080" y="2670048"/>
            <a:ext cx="5120640" cy="310896"/>
          </a:xfrm>
          <a:prstGeom prst="rect">
            <a:avLst/>
          </a:prstGeom>
          <a:noFill/>
          <a:ln/>
        </p:spPr>
        <p:txBody>
          <a:bodyPr wrap="square" lIns="0" tIns="0" rIns="0" bIns="0" rtlCol="0" anchor="ctr"/>
          <a:lstStyle/>
          <a:p>
            <a:pPr marL="0" indent="0">
              <a:buNone/>
            </a:pPr>
            <a:r>
              <a:rPr lang="en-US" sz="1300" b="1" dirty="0">
                <a:solidFill>
                  <a:srgbClr val="C14B37"/>
                </a:solidFill>
                <a:latin typeface="Calibri" pitchFamily="34" charset="0"/>
                <a:ea typeface="Calibri" pitchFamily="34" charset="-122"/>
                <a:cs typeface="Calibri" pitchFamily="34" charset="-120"/>
              </a:rPr>
              <a:t>¶2 HOWEVER — the counter-chain</a:t>
            </a:r>
            <a:endParaRPr lang="en-US" sz="1300" dirty="0"/>
          </a:p>
        </p:txBody>
      </p:sp>
      <p:sp>
        <p:nvSpPr>
          <p:cNvPr id="12" name="Text 10"/>
          <p:cNvSpPr txBox="1"/>
          <p:nvPr/>
        </p:nvSpPr>
        <p:spPr>
          <a:xfrm>
            <a:off x="6355080" y="3017520"/>
            <a:ext cx="5074920" cy="30175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Counterpoint: stratified may take longer &amp; cost more than quota at showrooms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 Reason: it needs accurate data and random selection within each group</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C/D: slower research delays the launch; quota could gather views faster</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E Impact: BYD may miss the market window or overspend on research</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 Judgement: depends on how much time &amp; budget BYD has, and how critical accuracy is → overall, stratified is best WHEN accuracy outweighs speed</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txBody>
          <a:bodyPr/>
          <a:lstStyle/>
          <a:p>
            <a:endParaRPr lang="en-AE"/>
          </a:p>
        </p:txBody>
      </p:sp>
      <p:sp>
        <p:nvSpPr>
          <p:cNvPr id="3" name="Text 1"/>
          <p:cNvSpPr txBox="1"/>
          <p:nvPr/>
        </p:nvSpPr>
        <p:spPr>
          <a:xfrm>
            <a:off x="731520" y="2011680"/>
            <a:ext cx="1737360" cy="1737360"/>
          </a:xfrm>
          <a:prstGeom prst="rect">
            <a:avLst/>
          </a:prstGeom>
          <a:noFill/>
          <a:ln/>
        </p:spPr>
        <p:txBody>
          <a:bodyPr wrap="square" lIns="0" tIns="0" rIns="0" bIns="0" rtlCol="0" anchor="ctr"/>
          <a:lstStyle/>
          <a:p>
            <a:pPr marL="0" indent="0" algn="ctr">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marL="0" indent="0">
              <a:buNone/>
            </a:pPr>
            <a:r>
              <a:rPr lang="en-US" sz="1300" b="1" kern="0" spc="25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A-grade exam skills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marL="0" indent="0">
              <a:buNone/>
            </a:pPr>
            <a:r>
              <a:rPr lang="en-US" sz="1350" b="1" dirty="0">
                <a:solidFill>
                  <a:srgbClr val="7FC4CB"/>
                </a:solidFill>
                <a:latin typeface="Calibri" pitchFamily="34" charset="0"/>
                <a:ea typeface="Calibri" pitchFamily="34" charset="-122"/>
                <a:cs typeface="Calibri" pitchFamily="34" charset="-120"/>
              </a:rPr>
              <a:t>In this part:  </a:t>
            </a:r>
            <a:r>
              <a:rPr lang="en-US" sz="1350" dirty="0">
                <a:solidFill>
                  <a:srgbClr val="D7E6E8"/>
                </a:solidFill>
                <a:latin typeface="Calibri" pitchFamily="34" charset="0"/>
                <a:ea typeface="Calibri" pitchFamily="34" charset="-122"/>
                <a:cs typeface="Calibri" pitchFamily="34" charset="-120"/>
              </a:rPr>
              <a:t>the YOTEL 4-mark calculation of method to purpose  ·  the Innocent test-marketing 10-marker  ·  a model answer and how to reach the top band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D · 4-MARK SKILL</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The 4-marker: method → purpose (YOTEL)</a:t>
            </a:r>
            <a:endParaRPr lang="en-US" sz="2700" dirty="0"/>
          </a:p>
        </p:txBody>
      </p:sp>
      <p:sp>
        <p:nvSpPr>
          <p:cNvPr id="4" name="Shape 2"/>
          <p:cNvSpPr/>
          <p:nvPr/>
        </p:nvSpPr>
        <p:spPr>
          <a:xfrm>
            <a:off x="548640" y="1371600"/>
            <a:ext cx="11091672" cy="1051560"/>
          </a:xfrm>
          <a:prstGeom prst="roundRect">
            <a:avLst>
              <a:gd name="adj" fmla="val 6957"/>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81328"/>
            <a:ext cx="10698480" cy="914400"/>
          </a:xfrm>
          <a:prstGeom prst="rect">
            <a:avLst/>
          </a:prstGeom>
          <a:noFill/>
          <a:ln/>
        </p:spPr>
        <p:txBody>
          <a:bodyPr wrap="square" lIns="0" tIns="0" rIns="0" bIns="0" rtlCol="0" anchor="ctr"/>
          <a:lstStyle/>
          <a:p>
            <a:pPr marL="0" indent="0">
              <a:buNone/>
            </a:pPr>
            <a:r>
              <a:rPr lang="en-US" sz="1300" b="1" dirty="0">
                <a:solidFill>
                  <a:srgbClr val="0B5E66"/>
                </a:solidFill>
                <a:latin typeface="Calibri" pitchFamily="34" charset="0"/>
                <a:ea typeface="Calibri" pitchFamily="34" charset="-122"/>
                <a:cs typeface="Calibri" pitchFamily="34" charset="-120"/>
              </a:rPr>
              <a:t>Context:  </a:t>
            </a:r>
            <a:r>
              <a:rPr lang="en-US" sz="1300" dirty="0">
                <a:solidFill>
                  <a:srgbClr val="1F2A33"/>
                </a:solidFill>
                <a:latin typeface="Calibri" pitchFamily="34" charset="0"/>
                <a:ea typeface="Calibri" pitchFamily="34" charset="-122"/>
                <a:cs typeface="Calibri" pitchFamily="34" charset="-120"/>
              </a:rPr>
              <a:t>YOTEL runs compact airport hotels with automated check-in. Before expanding into new city-centre and airport locations, managers need evidence about potential customers and local demand.</a:t>
            </a:r>
            <a:endParaRPr lang="en-US" sz="1300" dirty="0"/>
          </a:p>
        </p:txBody>
      </p:sp>
      <p:sp>
        <p:nvSpPr>
          <p:cNvPr id="6" name="Shape 4"/>
          <p:cNvSpPr/>
          <p:nvPr/>
        </p:nvSpPr>
        <p:spPr>
          <a:xfrm>
            <a:off x="548640" y="2606040"/>
            <a:ext cx="5029200" cy="3566160"/>
          </a:xfrm>
          <a:prstGeom prst="roundRect">
            <a:avLst>
              <a:gd name="adj" fmla="val 2051"/>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7" name="Text 5"/>
          <p:cNvSpPr txBox="1"/>
          <p:nvPr/>
        </p:nvSpPr>
        <p:spPr>
          <a:xfrm>
            <a:off x="749808" y="2724912"/>
            <a:ext cx="4663440" cy="310896"/>
          </a:xfrm>
          <a:prstGeom prst="rect">
            <a:avLst/>
          </a:prstGeom>
          <a:noFill/>
          <a:ln/>
        </p:spPr>
        <p:txBody>
          <a:bodyPr wrap="square" lIns="0" tIns="0" rIns="0" bIns="0" rtlCol="0" anchor="ctr"/>
          <a:lstStyle/>
          <a:p>
            <a:pPr marL="0" indent="0">
              <a:buNone/>
            </a:pPr>
            <a:r>
              <a:rPr lang="en-US" sz="1200" b="1" dirty="0">
                <a:solidFill>
                  <a:srgbClr val="7FC4CB"/>
                </a:solidFill>
                <a:latin typeface="Calibri" pitchFamily="34" charset="0"/>
                <a:ea typeface="Calibri" pitchFamily="34" charset="-122"/>
                <a:cs typeface="Calibri" pitchFamily="34" charset="-120"/>
              </a:rPr>
              <a:t>Q (4 marks)</a:t>
            </a:r>
            <a:endParaRPr lang="en-US" sz="1200" dirty="0"/>
          </a:p>
        </p:txBody>
      </p:sp>
      <p:sp>
        <p:nvSpPr>
          <p:cNvPr id="8" name="Text 6"/>
          <p:cNvSpPr txBox="1"/>
          <p:nvPr/>
        </p:nvSpPr>
        <p:spPr>
          <a:xfrm>
            <a:off x="749808" y="3035808"/>
            <a:ext cx="4663440" cy="8229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Explain one method of primary research YOTEL could use before expanding.</a:t>
            </a:r>
            <a:endParaRPr lang="en-US" sz="1400" dirty="0"/>
          </a:p>
        </p:txBody>
      </p:sp>
      <p:sp>
        <p:nvSpPr>
          <p:cNvPr id="9" name="Text 7"/>
          <p:cNvSpPr txBox="1"/>
          <p:nvPr/>
        </p:nvSpPr>
        <p:spPr>
          <a:xfrm>
            <a:off x="749808" y="3931920"/>
            <a:ext cx="4663440" cy="914400"/>
          </a:xfrm>
          <a:prstGeom prst="rect">
            <a:avLst/>
          </a:prstGeom>
          <a:noFill/>
          <a:ln/>
        </p:spPr>
        <p:txBody>
          <a:bodyPr wrap="square" lIns="0" tIns="0" rIns="0" bIns="0" rtlCol="0" anchor="t"/>
          <a:lstStyle/>
          <a:p>
            <a:pPr marL="0" indent="0">
              <a:buNone/>
            </a:pPr>
            <a:r>
              <a:rPr lang="en-US" sz="1250" i="1" dirty="0">
                <a:solidFill>
                  <a:srgbClr val="B9D4D8"/>
                </a:solidFill>
                <a:latin typeface="Calibri" pitchFamily="34" charset="0"/>
                <a:ea typeface="Calibri" pitchFamily="34" charset="-122"/>
                <a:cs typeface="Calibri" pitchFamily="34" charset="-120"/>
              </a:rPr>
              <a:t>Marks: K1 (name the method) · A2 (apply to YOTEL) · An1 (a consequence).</a:t>
            </a:r>
            <a:endParaRPr lang="en-US" sz="1250" dirty="0"/>
          </a:p>
        </p:txBody>
      </p:sp>
      <p:sp>
        <p:nvSpPr>
          <p:cNvPr id="10" name="Shape 8"/>
          <p:cNvSpPr/>
          <p:nvPr/>
        </p:nvSpPr>
        <p:spPr>
          <a:xfrm>
            <a:off x="5788152" y="2606040"/>
            <a:ext cx="5852160" cy="3566160"/>
          </a:xfrm>
          <a:prstGeom prst="roundRect">
            <a:avLst>
              <a:gd name="adj" fmla="val 2051"/>
            </a:avLst>
          </a:prstGeom>
          <a:solidFill>
            <a:srgbClr val="E8F3EC"/>
          </a:solidFill>
          <a:ln/>
          <a:effectLst>
            <a:outerShdw blurRad="76200" dist="25400" dir="5400000" algn="bl" rotWithShape="0">
              <a:srgbClr val="9AAAB0">
                <a:alpha val="28000"/>
              </a:srgbClr>
            </a:outerShdw>
          </a:effectLst>
        </p:spPr>
        <p:txBody>
          <a:bodyPr/>
          <a:lstStyle/>
          <a:p>
            <a:endParaRPr lang="en-AE"/>
          </a:p>
        </p:txBody>
      </p:sp>
      <p:sp>
        <p:nvSpPr>
          <p:cNvPr id="11" name="Text 9"/>
          <p:cNvSpPr txBox="1"/>
          <p:nvPr/>
        </p:nvSpPr>
        <p:spPr>
          <a:xfrm>
            <a:off x="5989320" y="2724912"/>
            <a:ext cx="5486400" cy="310896"/>
          </a:xfrm>
          <a:prstGeom prst="rect">
            <a:avLst/>
          </a:prstGeom>
          <a:noFill/>
          <a:ln/>
        </p:spPr>
        <p:txBody>
          <a:bodyPr wrap="square" lIns="0" tIns="0" rIns="0" bIns="0" rtlCol="0" anchor="ctr"/>
          <a:lstStyle/>
          <a:p>
            <a:pPr marL="0" indent="0">
              <a:buNone/>
            </a:pPr>
            <a:r>
              <a:rPr lang="en-US" sz="1300" b="1" dirty="0">
                <a:solidFill>
                  <a:srgbClr val="2F8A5B"/>
                </a:solidFill>
                <a:latin typeface="Calibri" pitchFamily="34" charset="0"/>
                <a:ea typeface="Calibri" pitchFamily="34" charset="-122"/>
                <a:cs typeface="Calibri" pitchFamily="34" charset="-120"/>
              </a:rPr>
              <a:t>Model answer</a:t>
            </a:r>
            <a:endParaRPr lang="en-US" sz="1300" dirty="0"/>
          </a:p>
        </p:txBody>
      </p:sp>
      <p:sp>
        <p:nvSpPr>
          <p:cNvPr id="12" name="Text 10"/>
          <p:cNvSpPr txBox="1"/>
          <p:nvPr/>
        </p:nvSpPr>
        <p:spPr>
          <a:xfrm>
            <a:off x="5989320" y="3063240"/>
            <a:ext cx="5440680" cy="3017520"/>
          </a:xfrm>
          <a:prstGeom prst="rect">
            <a:avLst/>
          </a:prstGeom>
          <a:noFill/>
          <a:ln/>
        </p:spPr>
        <p:txBody>
          <a:bodyPr wrap="square" lIns="0" tIns="0" rIns="0" bIns="0" rtlCol="0" anchor="t"/>
          <a:lstStyle/>
          <a:p>
            <a:pPr marL="0" indent="0">
              <a:buNone/>
            </a:pPr>
            <a:r>
              <a:rPr lang="en-US" sz="1250" b="1" dirty="0">
                <a:solidFill>
                  <a:srgbClr val="1F2A33"/>
                </a:solidFill>
              </a:rPr>
              <a:t>YOTEL could use a survey of travellers at its target locations [K]. </a:t>
            </a:r>
            <a:r>
              <a:rPr lang="en-US" sz="1250" dirty="0">
                <a:solidFill>
                  <a:srgbClr val="1F2A33"/>
                </a:solidFill>
              </a:rPr>
              <a:t>For example, questioning airport and city-centre travellers about how often they would use a compact, hourly-bookable hotel and what they would pay [A]. This means YOTEL can quantify likely demand in each new location [A], so it can decide where to expand and how many cabins to provide, reducing the risk of opening in a low-demand site [An].</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D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The 10-mark: decode it, then plan (Innocent)</a:t>
            </a:r>
            <a:endParaRPr lang="en-US" sz="2700" dirty="0"/>
          </a:p>
        </p:txBody>
      </p:sp>
      <p:sp>
        <p:nvSpPr>
          <p:cNvPr id="4" name="Shape 2"/>
          <p:cNvSpPr/>
          <p:nvPr/>
        </p:nvSpPr>
        <p:spPr>
          <a:xfrm>
            <a:off x="548640" y="1371600"/>
            <a:ext cx="11091672" cy="1188720"/>
          </a:xfrm>
          <a:prstGeom prst="roundRect">
            <a:avLst>
              <a:gd name="adj" fmla="val 6154"/>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63040"/>
            <a:ext cx="5486400" cy="274320"/>
          </a:xfrm>
          <a:prstGeom prst="rect">
            <a:avLst/>
          </a:prstGeom>
          <a:noFill/>
          <a:ln/>
        </p:spPr>
        <p:txBody>
          <a:bodyPr wrap="square" lIns="0" tIns="0" rIns="0" bIns="0" rtlCol="0" anchor="ctr"/>
          <a:lstStyle/>
          <a:p>
            <a:pPr marL="0" indent="0">
              <a:buNone/>
            </a:pPr>
            <a:r>
              <a:rPr lang="en-US" sz="1050" b="1" kern="0" spc="15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55648"/>
            <a:ext cx="10607040" cy="7315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Before launching on a larger scale, Innocent sold its smoothies in 10 shops of a UK supermarket. Assess the advantages for Innocent of test marketing its products.  </a:t>
            </a: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2697480"/>
            <a:ext cx="5029200" cy="3474720"/>
          </a:xfrm>
          <a:prstGeom prst="roundRect">
            <a:avLst>
              <a:gd name="adj" fmla="val 2105"/>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8" name="Text 6"/>
          <p:cNvSpPr txBox="1"/>
          <p:nvPr/>
        </p:nvSpPr>
        <p:spPr>
          <a:xfrm>
            <a:off x="749808" y="2807208"/>
            <a:ext cx="4663440" cy="310896"/>
          </a:xfrm>
          <a:prstGeom prst="rect">
            <a:avLst/>
          </a:prstGeom>
          <a:noFill/>
          <a:ln/>
        </p:spPr>
        <p:txBody>
          <a:bodyPr wrap="square" lIns="0" tIns="0" rIns="0" bIns="0" rtlCol="0" anchor="ctr"/>
          <a:lstStyle/>
          <a:p>
            <a:pPr marL="0" indent="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3172968"/>
            <a:ext cx="4617720" cy="29260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Assess = weigh advantages against drawbacks, then a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Test marketing = selling in a limited area before a full launch</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to Innocent: 10 shops before a national rollout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Level 4 (8–10): balanced, applied, competing arguments, clear judgement</a:t>
            </a:r>
            <a:endParaRPr lang="en-US" sz="1200" dirty="0"/>
          </a:p>
        </p:txBody>
      </p:sp>
      <p:sp>
        <p:nvSpPr>
          <p:cNvPr id="10" name="Shape 8"/>
          <p:cNvSpPr/>
          <p:nvPr/>
        </p:nvSpPr>
        <p:spPr>
          <a:xfrm>
            <a:off x="5788152" y="2697480"/>
            <a:ext cx="5852160" cy="3474720"/>
          </a:xfrm>
          <a:prstGeom prst="roundRect">
            <a:avLst>
              <a:gd name="adj" fmla="val 2105"/>
            </a:avLst>
          </a:prstGeom>
          <a:solidFill>
            <a:srgbClr val="FBF0D8"/>
          </a:solidFill>
          <a:ln/>
          <a:effectLst>
            <a:outerShdw blurRad="76200" dist="25400" dir="5400000" algn="bl" rotWithShape="0">
              <a:srgbClr val="9AAAB0">
                <a:alpha val="28000"/>
              </a:srgbClr>
            </a:outerShdw>
          </a:effectLst>
        </p:spPr>
        <p:txBody>
          <a:bodyPr/>
          <a:lstStyle/>
          <a:p>
            <a:endParaRPr lang="en-AE"/>
          </a:p>
        </p:txBody>
      </p:sp>
      <p:sp>
        <p:nvSpPr>
          <p:cNvPr id="11" name="Text 9"/>
          <p:cNvSpPr txBox="1"/>
          <p:nvPr/>
        </p:nvSpPr>
        <p:spPr>
          <a:xfrm>
            <a:off x="5989320" y="2807208"/>
            <a:ext cx="5486400" cy="310896"/>
          </a:xfrm>
          <a:prstGeom prst="rect">
            <a:avLst/>
          </a:prstGeom>
          <a:noFill/>
          <a:ln/>
        </p:spPr>
        <p:txBody>
          <a:bodyPr wrap="square" lIns="0" tIns="0" rIns="0" bIns="0" rtlCol="0" anchor="ctr"/>
          <a:lstStyle/>
          <a:p>
            <a:pPr marL="0" indent="0">
              <a:buNone/>
            </a:pPr>
            <a:r>
              <a:rPr lang="en-US" sz="1300" b="1" dirty="0">
                <a:solidFill>
                  <a:srgbClr val="8A5A06"/>
                </a:solidFill>
                <a:latin typeface="Calibri" pitchFamily="34" charset="0"/>
                <a:ea typeface="Calibri" pitchFamily="34" charset="-122"/>
                <a:cs typeface="Calibri" pitchFamily="34" charset="-120"/>
              </a:rPr>
              <a:t>Plan</a:t>
            </a:r>
            <a:endParaRPr lang="en-US" sz="1300" dirty="0"/>
          </a:p>
        </p:txBody>
      </p:sp>
      <p:sp>
        <p:nvSpPr>
          <p:cNvPr id="12" name="Text 10"/>
          <p:cNvSpPr txBox="1"/>
          <p:nvPr/>
        </p:nvSpPr>
        <p:spPr>
          <a:xfrm>
            <a:off x="5989320" y="3172968"/>
            <a:ext cx="5440680" cy="29260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¶1 (advantage): real sales data from 10 shops → genuine evidence of demand, not just opinions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¶2 (advantage): spot problems (price, flavour, packaging) cheaply before a costly national launch</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¶3 (however): 10 shops may not represent the whole UK; warns competitors; delays the launch</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Conclusion (4Ws): very valuable for cutting launch risk — but depends on whether the test shops are representative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marL="0" indent="0" algn="l">
              <a:buNone/>
            </a:pPr>
            <a:r>
              <a:rPr lang="en-US" sz="1150" b="1" kern="0" spc="200" dirty="0">
                <a:solidFill>
                  <a:srgbClr val="0E7C86"/>
                </a:solidFill>
                <a:latin typeface="Calibri" pitchFamily="34" charset="0"/>
                <a:ea typeface="Calibri" pitchFamily="34" charset="-122"/>
                <a:cs typeface="Calibri" pitchFamily="34" charset="-120"/>
              </a:rPr>
              <a:t>D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marL="0" indent="0" algn="l">
              <a:buNone/>
            </a:pPr>
            <a:r>
              <a:rPr lang="en-US" sz="2700" b="1" dirty="0">
                <a:solidFill>
                  <a:srgbClr val="0E3A43"/>
                </a:solidFill>
                <a:latin typeface="Cambria" pitchFamily="34" charset="0"/>
                <a:ea typeface="Cambria" pitchFamily="34" charset="-122"/>
                <a:cs typeface="Cambria" pitchFamily="34" charset="-120"/>
              </a:rPr>
              <a:t>A model 10-mark answer (Innocent)</a:t>
            </a:r>
            <a:endParaRPr lang="en-US" sz="27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blurRad="76200" dist="25400" dir="5400000" algn="bl" rotWithShape="0">
              <a:srgbClr val="9AAAB0">
                <a:alpha val="28000"/>
              </a:srgbClr>
            </a:outerShdw>
          </a:effectLst>
        </p:spPr>
        <p:txBody>
          <a:bodyPr/>
          <a:lstStyle/>
          <a:p>
            <a:endParaRPr lang="en-AE"/>
          </a:p>
        </p:txBody>
      </p:sp>
      <p:sp>
        <p:nvSpPr>
          <p:cNvPr id="5" name="Text 3"/>
          <p:cNvSpPr txBox="1"/>
          <p:nvPr/>
        </p:nvSpPr>
        <p:spPr>
          <a:xfrm>
            <a:off x="777240" y="1481328"/>
            <a:ext cx="10607040" cy="1371600"/>
          </a:xfrm>
          <a:prstGeom prst="rect">
            <a:avLst/>
          </a:prstGeom>
          <a:noFill/>
          <a:ln/>
        </p:spPr>
        <p:txBody>
          <a:bodyPr wrap="square" lIns="0" tIns="0" rIns="0" bIns="0" rtlCol="0" anchor="t"/>
          <a:lstStyle/>
          <a:p>
            <a:pPr marL="0" indent="0">
              <a:buNone/>
            </a:pPr>
            <a:r>
              <a:rPr lang="en-US" sz="1180" b="1" dirty="0">
                <a:solidFill>
                  <a:srgbClr val="2F8A5B"/>
                </a:solidFill>
                <a:latin typeface="Calibri" pitchFamily="34" charset="0"/>
                <a:ea typeface="Calibri" pitchFamily="34" charset="-122"/>
                <a:cs typeface="Calibri" pitchFamily="34" charset="-120"/>
              </a:rPr>
              <a:t>¶ Real evidence of demand (advantage).  </a:t>
            </a:r>
            <a:r>
              <a:rPr lang="en-US" sz="1180" dirty="0">
                <a:solidFill>
                  <a:srgbClr val="1F2A33"/>
                </a:solidFill>
                <a:latin typeface="Calibri" pitchFamily="34" charset="0"/>
                <a:ea typeface="Calibri" pitchFamily="34" charset="-122"/>
                <a:cs typeface="Calibri" pitchFamily="34" charset="-120"/>
              </a:rPr>
              <a:t>A major advantage is that test marketing gives Innocent real sales data rather than opinions. By selling in 10 actual supermarket shops, Innocent sees how many smoothies people genuinely buy at the real price. This means it can quantify likely demand far more reliably than a survey, so it can forecast national sales and decide how much to produce — reducing the risk of over- or under-supplying a full launch.</a:t>
            </a:r>
            <a:endParaRPr lang="en-US" sz="1180" dirty="0"/>
          </a:p>
        </p:txBody>
      </p:sp>
      <p:sp>
        <p:nvSpPr>
          <p:cNvPr id="6" name="Shape 4"/>
          <p:cNvSpPr/>
          <p:nvPr/>
        </p:nvSpPr>
        <p:spPr>
          <a:xfrm>
            <a:off x="548640" y="3017520"/>
            <a:ext cx="11091672" cy="1554480"/>
          </a:xfrm>
          <a:prstGeom prst="roundRect">
            <a:avLst>
              <a:gd name="adj" fmla="val 4706"/>
            </a:avLst>
          </a:prstGeom>
          <a:solidFill>
            <a:srgbClr val="EAF3F4"/>
          </a:solidFill>
          <a:ln/>
          <a:effectLst>
            <a:outerShdw blurRad="76200" dist="25400" dir="5400000" algn="bl" rotWithShape="0">
              <a:srgbClr val="9AAAB0">
                <a:alpha val="28000"/>
              </a:srgbClr>
            </a:outerShdw>
          </a:effectLst>
        </p:spPr>
        <p:txBody>
          <a:bodyPr/>
          <a:lstStyle/>
          <a:p>
            <a:endParaRPr lang="en-AE"/>
          </a:p>
        </p:txBody>
      </p:sp>
      <p:sp>
        <p:nvSpPr>
          <p:cNvPr id="7" name="Text 5"/>
          <p:cNvSpPr txBox="1"/>
          <p:nvPr/>
        </p:nvSpPr>
        <p:spPr>
          <a:xfrm>
            <a:off x="777240" y="3127248"/>
            <a:ext cx="10607040" cy="1371600"/>
          </a:xfrm>
          <a:prstGeom prst="rect">
            <a:avLst/>
          </a:prstGeom>
          <a:noFill/>
          <a:ln/>
        </p:spPr>
        <p:txBody>
          <a:bodyPr wrap="square" lIns="0" tIns="0" rIns="0" bIns="0" rtlCol="0" anchor="t"/>
          <a:lstStyle/>
          <a:p>
            <a:pPr marL="0" indent="0">
              <a:buNone/>
            </a:pPr>
            <a:r>
              <a:rPr lang="en-US" sz="1180" b="1" dirty="0">
                <a:solidFill>
                  <a:srgbClr val="0B5E66"/>
                </a:solidFill>
                <a:latin typeface="Calibri" pitchFamily="34" charset="0"/>
                <a:ea typeface="Calibri" pitchFamily="34" charset="-122"/>
                <a:cs typeface="Calibri" pitchFamily="34" charset="-120"/>
              </a:rPr>
              <a:t>¶ Spot problems cheaply (advantage).  </a:t>
            </a:r>
            <a:r>
              <a:rPr lang="en-US" sz="1180" dirty="0">
                <a:solidFill>
                  <a:srgbClr val="1F2A33"/>
                </a:solidFill>
                <a:latin typeface="Calibri" pitchFamily="34" charset="0"/>
                <a:ea typeface="Calibri" pitchFamily="34" charset="-122"/>
                <a:cs typeface="Calibri" pitchFamily="34" charset="-120"/>
              </a:rPr>
              <a:t>Test marketing also lets Innocent find and fix problems — with flavour, price or packaging — in just 10 shops, where mistakes are cheap to correct. This means it can refine the product before committing to a national rollout, so a costly, large-scale failure is far less likely.</a:t>
            </a:r>
            <a:endParaRPr lang="en-US" sz="1180" dirty="0"/>
          </a:p>
        </p:txBody>
      </p:sp>
      <p:sp>
        <p:nvSpPr>
          <p:cNvPr id="8" name="Shape 6"/>
          <p:cNvSpPr/>
          <p:nvPr/>
        </p:nvSpPr>
        <p:spPr>
          <a:xfrm>
            <a:off x="548640" y="4663440"/>
            <a:ext cx="11091672" cy="1517904"/>
          </a:xfrm>
          <a:prstGeom prst="roundRect">
            <a:avLst>
              <a:gd name="adj" fmla="val 4819"/>
            </a:avLst>
          </a:prstGeom>
          <a:solidFill>
            <a:srgbClr val="0E3A43"/>
          </a:solidFill>
          <a:ln/>
          <a:effectLst>
            <a:outerShdw blurRad="76200" dist="25400" dir="5400000" algn="bl" rotWithShape="0">
              <a:srgbClr val="9AAAB0">
                <a:alpha val="28000"/>
              </a:srgbClr>
            </a:outerShdw>
          </a:effectLst>
        </p:spPr>
        <p:txBody>
          <a:bodyPr/>
          <a:lstStyle/>
          <a:p>
            <a:endParaRPr lang="en-AE"/>
          </a:p>
        </p:txBody>
      </p:sp>
      <p:sp>
        <p:nvSpPr>
          <p:cNvPr id="9" name="Text 7"/>
          <p:cNvSpPr txBox="1"/>
          <p:nvPr/>
        </p:nvSpPr>
        <p:spPr>
          <a:xfrm>
            <a:off x="777240" y="4773168"/>
            <a:ext cx="10607040" cy="1316736"/>
          </a:xfrm>
          <a:prstGeom prst="rect">
            <a:avLst/>
          </a:prstGeom>
          <a:noFill/>
          <a:ln/>
        </p:spPr>
        <p:txBody>
          <a:bodyPr wrap="square" lIns="0" tIns="0" rIns="0" bIns="0" rtlCol="0" anchor="t"/>
          <a:lstStyle/>
          <a:p>
            <a:pPr marL="0" indent="0">
              <a:buNone/>
            </a:pPr>
            <a:r>
              <a:rPr lang="en-US" sz="1180" b="1" dirty="0">
                <a:solidFill>
                  <a:srgbClr val="E0940F"/>
                </a:solidFill>
                <a:latin typeface="Calibri" pitchFamily="34" charset="0"/>
                <a:ea typeface="Calibri" pitchFamily="34" charset="-122"/>
                <a:cs typeface="Calibri" pitchFamily="34" charset="-120"/>
              </a:rPr>
              <a:t>¶ However + conclusion.  </a:t>
            </a:r>
            <a:r>
              <a:rPr lang="en-US" sz="1180" dirty="0">
                <a:solidFill>
                  <a:srgbClr val="FFFFFF"/>
                </a:solidFill>
                <a:latin typeface="Calibri" pitchFamily="34" charset="0"/>
                <a:ea typeface="Calibri" pitchFamily="34" charset="-122"/>
                <a:cs typeface="Calibri" pitchFamily="34" charset="-120"/>
              </a:rPr>
              <a:t>However, 10 shops may not represent the whole UK — tastes vary by region — and the test both warns competitors and delays the launch. Overall, test marketing is highly valuable for Innocent because the real-world evidence it provides outweighs these drawbacks, but this depends on the 10 shops being a representative sample; if they are not, the results could mislead the national decision.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3"/>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marL="0" indent="0">
              <a:buNone/>
            </a:pPr>
            <a:r>
              <a:rPr lang="en-US" sz="1300" b="1" kern="0" spc="20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Answering market-research questions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6702552">
                  <a:extLst>
                    <a:ext uri="{9D8B030D-6E8A-4147-A177-3AD203B41FA5}">
                      <a16:colId xmlns:a16="http://schemas.microsoft.com/office/drawing/2014/main" val="20002"/>
                    </a:ext>
                  </a:extLst>
                </a:gridCol>
              </a:tblGrid>
              <a:tr h="457200">
                <a:tc>
                  <a:txBody>
                    <a:bodyPr/>
                    <a:lstStyle/>
                    <a:p>
                      <a:pPr marL="0" indent="0" algn="l">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marL="0" indent="0" algn="l">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marL="0" indent="0" algn="l">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extLst>
                  <a:ext uri="{0D108BD9-81ED-4DB2-BD59-A6C34878D82A}">
                    <a16:rowId xmlns:a16="http://schemas.microsoft.com/office/drawing/2014/main" val="10000"/>
                  </a:ext>
                </a:extLst>
              </a:tr>
              <a:tr h="621792">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1 / 2</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State / Define</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Name a method, or give the meaning + an example.</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extLst>
                  <a:ext uri="{0D108BD9-81ED-4DB2-BD59-A6C34878D82A}">
                    <a16:rowId xmlns:a16="http://schemas.microsoft.com/office/drawing/2014/main" val="10001"/>
                  </a:ext>
                </a:extLst>
              </a:tr>
              <a:tr h="713232">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Name a method + apply to the business + a consequence (tie to a purpose).</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extLst>
                  <a:ext uri="{0D108BD9-81ED-4DB2-BD59-A6C34878D82A}">
                    <a16:rowId xmlns:a16="http://schemas.microsoft.com/office/drawing/2014/main" val="10002"/>
                  </a:ext>
                </a:extLst>
              </a:tr>
              <a:tr h="749808">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extLst>
                  <a:ext uri="{0D108BD9-81ED-4DB2-BD59-A6C34878D82A}">
                    <a16:rowId xmlns:a16="http://schemas.microsoft.com/office/drawing/2014/main" val="10003"/>
                  </a:ext>
                </a:extLst>
              </a:tr>
              <a:tr h="749808">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Assess</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marL="0" indent="0" algn="l">
                        <a:buNone/>
                      </a:pPr>
                      <a:r>
                        <a:rPr lang="en-US" sz="1350" dirty="0">
                          <a:solidFill>
                            <a:srgbClr val="FFFFFF"/>
                          </a:solidFill>
                          <a:latin typeface="Calibri" pitchFamily="34" charset="0"/>
                          <a:ea typeface="Calibri" pitchFamily="34" charset="-122"/>
                          <a:cs typeface="Calibri" pitchFamily="34" charset="-120"/>
                        </a:rPr>
                        <a:t>Both sides, applied, + a supported judgement (4Ws) — the 5×5 chain.</a:t>
                      </a:r>
                      <a:endParaRPr lang="en-US" sz="1350" dirty="0">
                        <a:latin typeface="Calibri" charset="0"/>
                        <a:ea typeface="Calibri" charset="0"/>
                        <a:cs typeface="Calibri" charset="0"/>
                      </a:endParaRPr>
                    </a:p>
                  </a:txBody>
                  <a:tcPr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822960" y="5669280"/>
            <a:ext cx="10515600" cy="457200"/>
          </a:xfrm>
          <a:prstGeom prst="rect">
            <a:avLst/>
          </a:prstGeom>
          <a:noFill/>
          <a:ln/>
        </p:spPr>
        <p:txBody>
          <a:bodyPr wrap="square" lIns="0" tIns="0" rIns="0" bIns="0" rtlCol="0" anchor="ctr"/>
          <a:lstStyle/>
          <a:p>
            <a:pPr marL="0" indent="0">
              <a:buNone/>
            </a:pPr>
            <a:r>
              <a:rPr lang="en-US" sz="1250" i="1" dirty="0">
                <a:solidFill>
                  <a:srgbClr val="9FBCC0"/>
                </a:solidFill>
                <a:latin typeface="Calibri" pitchFamily="34" charset="0"/>
                <a:ea typeface="Calibri" pitchFamily="34" charset="-122"/>
                <a:cs typeface="Calibri" pitchFamily="34" charset="-120"/>
              </a:rPr>
              <a:t>Sampling in one line: RANDOM = equal chance;  QUOTA = right numbers, researcher chooses;  STRATIFIED = right proportions AND random within each group (most representative).</a:t>
            </a:r>
            <a:endParaRPr lang="en-US" sz="1250" dirty="0"/>
          </a:p>
        </p:txBody>
      </p:sp>
      <p:sp>
        <p:nvSpPr>
          <p:cNvPr id="6" name="Text 3"/>
          <p:cNvSpPr txBox="1"/>
          <p:nvPr/>
        </p:nvSpPr>
        <p:spPr>
          <a:xfrm>
            <a:off x="822960" y="6144768"/>
            <a:ext cx="10515600" cy="320040"/>
          </a:xfrm>
          <a:prstGeom prst="rect">
            <a:avLst/>
          </a:prstGeom>
          <a:noFill/>
          <a:ln/>
        </p:spPr>
        <p:txBody>
          <a:bodyPr wrap="square" lIns="0" tIns="0" rIns="0" bIns="0" rtlCol="0" anchor="ctr"/>
          <a:lstStyle/>
          <a:p>
            <a:pPr marL="0" indent="0">
              <a:buNone/>
            </a:pPr>
            <a:r>
              <a:rPr lang="en-US" sz="1250" b="1" dirty="0">
                <a:solidFill>
                  <a:srgbClr val="7FC4CB"/>
                </a:solidFill>
                <a:latin typeface="Calibri" pitchFamily="34" charset="0"/>
                <a:ea typeface="Calibri" pitchFamily="34" charset="-122"/>
                <a:cs typeface="Calibri" pitchFamily="34" charset="-120"/>
              </a:rPr>
              <a:t>Next in 1.3.1: Market positioning — orientation, market mapping, segmentation, differentiation &amp; adding value.</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3733</Words>
  <Application>Microsoft Macintosh PowerPoint</Application>
  <PresentationFormat>Widescreen</PresentationFormat>
  <Paragraphs>311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IAL Marketing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Saqib Akram</cp:lastModifiedBy>
  <cp:revision>1</cp:revision>
  <dcterms:created xsi:type="dcterms:W3CDTF">2026-10-20T07:11:58Z</dcterms:created>
  <dcterms:modified xsi:type="dcterms:W3CDTF">2026-10-21T05:14:40Z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5114f3-3456-4364-8944-720dbb2a7906_Enabled">
    <vt:lpwstr>true</vt:lpwstr>
  </property>
  <property fmtid="{D5CDD505-2E9C-101B-9397-08002B2CF9AE}" pid="3" name="MSIP_Label_3c5114f3-3456-4364-8944-720dbb2a7906_SetDate">
    <vt:lpwstr>2026-10-21T05:14:34Z</vt:lpwstr>
  </property>
  <property fmtid="{D5CDD505-2E9C-101B-9397-08002B2CF9AE}" pid="4" name="MSIP_Label_3c5114f3-3456-4364-8944-720dbb2a7906_Method">
    <vt:lpwstr>Standard</vt:lpwstr>
  </property>
  <property fmtid="{D5CDD505-2E9C-101B-9397-08002B2CF9AE}" pid="5" name="MSIP_Label_3c5114f3-3456-4364-8944-720dbb2a7906_Name">
    <vt:lpwstr>3c5114f3-3456-4364-8944-720dbb2a7906</vt:lpwstr>
  </property>
  <property fmtid="{D5CDD505-2E9C-101B-9397-08002B2CF9AE}" pid="6" name="MSIP_Label_3c5114f3-3456-4364-8944-720dbb2a7906_SiteId">
    <vt:lpwstr>d2b3a7dc-d57e-417f-90ad-149b872e9aa1</vt:lpwstr>
  </property>
  <property fmtid="{D5CDD505-2E9C-101B-9397-08002B2CF9AE}" pid="7" name="MSIP_Label_3c5114f3-3456-4364-8944-720dbb2a7906_ActionId">
    <vt:lpwstr>f1058c0a-9b57-464b-87ba-4b1ca2bae78f</vt:lpwstr>
  </property>
  <property fmtid="{D5CDD505-2E9C-101B-9397-08002B2CF9AE}" pid="8" name="MSIP_Label_3c5114f3-3456-4364-8944-720dbb2a7906_ContentBits">
    <vt:lpwstr>0</vt:lpwstr>
  </property>
  <property fmtid="{D5CDD505-2E9C-101B-9397-08002B2CF9AE}" pid="9" name="MSIP_Label_3c5114f3-3456-4364-8944-720dbb2a7906_Tag">
    <vt:lpwstr>50, 1, 2, 1</vt:lpwstr>
  </property>
</Properties>
</file>