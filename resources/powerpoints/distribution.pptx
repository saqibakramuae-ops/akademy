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 · Distribution channels" id="{9d19ba07-a4b9-8bd3-e2b0-da7fcfc89490}">
          <p14:sldIdLst>
            <p14:sldId id="259"/>
            <p14:sldId id="260"/>
            <p14:sldId id="261"/>
            <p14:sldId id="262"/>
            <p14:sldId id="263"/>
            <p14:sldId id="264"/>
            <p14:sldId id="265"/>
          </p14:sldIdLst>
        </p14:section>
        <p14:section name="B · Choosing a channel" id="{9a37e592-7a51-300c-120d-0ce3e92a49d8}">
          <p14:sldIdLst>
            <p14:sldId id="266"/>
            <p14:sldId id="267"/>
            <p14:sldId id="268"/>
            <p14:sldId id="269"/>
            <p14:sldId id="270"/>
          </p14:sldIdLst>
        </p14:section>
        <p14:section name="C · Changes in distribution" id="{2327f6a0-f7d7-133d-a1bb-11b5f68a4977}">
          <p14:sldIdLst>
            <p14:sldId id="271"/>
            <p14:sldId id="272"/>
            <p14:sldId id="273"/>
          </p14:sldIdLst>
        </p14:section>
        <p14:section name="D · A-grade exam skills" id="{b9cec9cd-e16d-eada-41d3-60fa1dca8584}">
          <p14:sldIdLst>
            <p14:sldId id="274"/>
            <p14:sldId id="275"/>
            <p14:sldId id="276"/>
            <p14:sldId id="277"/>
          </p14:sldIdLst>
        </p14:section>
        <p14:section name="Default-1" id="{8e84a19b-fcd3-062e-ac4f-d09deaff1e45}">
          <p14:sldIdLst>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Tutoring deck on distribution / 'place' (spec 1.3.3 point 5), pitched for A-grade students. Same format as the earlier decks: each channel gets a definition, advantages, disadvantages and a real example, plus how firms choose a channel, changes in distribution methods, and exam practice (MAC 8-mark; Horizon 10 &amp; 20-mark). Horizon is an illustrative case from the exam folder - treat its figures as case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Distribution is the 'Place' element of the marketing mix. The core choice is how long the channel is (how many intermediaries) and how direct it is. Examiners reward students who weigh control &amp; margin (shorter/direct) against reach &amp; convenience (longer/indirect) for the specific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point (5) of topic 1.3.3. Place is often the forgotten P - strong answers connect the channel choice to brand image, price (margins taken by intermediaries) and the type of market, rather than treating distribution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this ladder live. Each party between producer and consumer is an 'intermediary'. Key terms: wholesaler (buys bulk, breaks bulk for retailers), retailer (sells to the consumer), agent (sells on commission, holds no stock). The trade-off at the bottom is the backbone of every evaluation answer on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intermediary adds value (reach, storage, breaking bulk, local knowledge) but takes a margin. The agent-vs-distributor difference is a common 2-mark define and a useful bit of precision in longer answers. More intermediaries = longer channel = less producer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 control + margin but cost + limited reach; indirect = reach + logistics help but shared margin + less control. This is the core trade-off. Lead naturally into multi-channel next: most modern firms combine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Multi-channel is central to the Horizon exam questions. The benefits/drawbacks are from your deck; map each drawback to Horizon (channel conflict between its own website and Techworld; after-sales inconsistency; order delays). The 10-marker is on the PROBLEMS, the 20-marker on whether to go solely direct.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factors are the evaluation toolkit for any channel question. A-grade answers weigh two against each other (e.g. a premium brand points to direct for control, but global reach pulls towards intermediaries) and judge which dominates for the specific product and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 1.3.3(5)(b): 'changes in distribution methods'. The big shift is the internet enabling direct and global distribution, squeezing traditional intermediaries. Evaluation angle: online widens reach and cuts overheads but intensifies price competition, adds delivery/returns costs, and can create channel conflict with existing retail partners.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word SOLELY is key: a strong answer argues direct has real merits for Horizon but that dropping Amazon and high-street entirely would sacrifice reach and raise cost/risk. The nuanced judgement is usually 'keep a selective multi-channel mix and fix the weak link', not a blunt yes/no.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applied PECAN paragraphs using the case detail (strong website, falling Techworld, 6% drop, COO's cost-sharing point). Note the model concedes direct has merit before arguing against going SOLELY direct - that balance is the Level 4 habit.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conclusion commits (don't go solely direct) while staying conditional (depends on whether the problem is the model or its management). That reframing - 'is it the channel or the management?' - is a sophisticated, case-specific judgement that lifts the answer to Level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here - this completes topic 1.3.3. A-grade students should leave able to draw the 4/3/2-stage channels, explain the intermediaries, weigh direct vs indirect and multi-channel, discuss how e-commerce is changing distribution, and structure 8/10/20-mark answers with applied chains and a conditional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E3A43"/>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37376"/>
            <a:ext cx="9875520" cy="274320"/>
          </a:xfrm>
          <a:prstGeom prst="rect">
            <a:avLst/>
          </a:prstGeom>
          <a:noFill/>
          <a:ln/>
        </p:spPr>
        <p:txBody>
          <a:bodyPr wrap="square" lIns="0" tIns="0" rIns="0" bIns="0" rtlCol="0" anchor="ctr"/>
          <a:lstStyle/>
          <a:p>
            <a:pPr algn="l" indent="0" marL="0">
              <a:buNone/>
            </a:pPr>
            <a:r>
              <a:rPr lang="en-US" sz="900" dirty="0">
                <a:solidFill>
                  <a:srgbClr val="5B6B73"/>
                </a:solidFill>
                <a:latin typeface="Calibri" pitchFamily="34" charset="0"/>
                <a:ea typeface="Calibri" pitchFamily="34" charset="-122"/>
                <a:cs typeface="Calibri" pitchFamily="34" charset="-120"/>
              </a:rPr>
              <a:t>IAL Business  ·  Unit 1  ·  Spec 1.3.3 (5) Distribution</a:t>
            </a:r>
            <a:endParaRPr lang="en-US" sz="9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1325880"/>
            <a:ext cx="10515600" cy="365760"/>
          </a:xfrm>
          <a:prstGeom prst="rect">
            <a:avLst/>
          </a:prstGeom>
          <a:noFill/>
          <a:ln/>
        </p:spPr>
        <p:txBody>
          <a:bodyPr wrap="square" lIns="0" tIns="0" rIns="0" bIns="0" rtlCol="0" anchor="ctr"/>
          <a:lstStyle/>
          <a:p>
            <a:pPr indent="0" marL="0">
              <a:buNone/>
            </a:pPr>
            <a:r>
              <a:rPr lang="en-US" sz="1250" b="1" spc="150" kern="0" dirty="0">
                <a:solidFill>
                  <a:srgbClr val="7FC4CB"/>
                </a:solidFill>
                <a:latin typeface="Calibri" pitchFamily="34" charset="0"/>
                <a:ea typeface="Calibri" pitchFamily="34" charset="-122"/>
                <a:cs typeface="Calibri" pitchFamily="34" charset="-120"/>
              </a:rPr>
              <a:t>PEARSON EDEXCEL  ·  INTERNATIONAL A LEVEL BUSINESS  ·  UNIT 1 (WBS11)</a:t>
            </a:r>
            <a:endParaRPr lang="en-US" sz="1250" dirty="0"/>
          </a:p>
        </p:txBody>
      </p:sp>
      <p:sp>
        <p:nvSpPr>
          <p:cNvPr id="3" name="Text 1"/>
          <p:cNvSpPr txBox="1"/>
          <p:nvPr/>
        </p:nvSpPr>
        <p:spPr>
          <a:xfrm>
            <a:off x="822960" y="1783080"/>
            <a:ext cx="10515600" cy="91440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Distribution</a:t>
            </a:r>
            <a:endParaRPr lang="en-US" sz="5000" dirty="0"/>
          </a:p>
        </p:txBody>
      </p:sp>
      <p:sp>
        <p:nvSpPr>
          <p:cNvPr id="4" name="Text 2"/>
          <p:cNvSpPr txBox="1"/>
          <p:nvPr/>
        </p:nvSpPr>
        <p:spPr>
          <a:xfrm>
            <a:off x="822960" y="2788920"/>
            <a:ext cx="10424160" cy="457200"/>
          </a:xfrm>
          <a:prstGeom prst="rect">
            <a:avLst/>
          </a:prstGeom>
          <a:noFill/>
          <a:ln/>
        </p:spPr>
        <p:txBody>
          <a:bodyPr wrap="square" lIns="0" tIns="0" rIns="0" bIns="0" rtlCol="0" anchor="ctr"/>
          <a:lstStyle/>
          <a:p>
            <a:pPr indent="0" marL="0">
              <a:buNone/>
            </a:pPr>
            <a:r>
              <a:rPr lang="en-US" sz="1600" i="1" dirty="0">
                <a:solidFill>
                  <a:srgbClr val="D7E6E8"/>
                </a:solidFill>
                <a:latin typeface="Calibri" pitchFamily="34" charset="0"/>
                <a:ea typeface="Calibri" pitchFamily="34" charset="-122"/>
                <a:cs typeface="Calibri" pitchFamily="34" charset="-120"/>
              </a:rPr>
              <a:t>Spec 1.3.3 (5)  —  a tutoring guide: the channels, how to choose one, and A-grade exam practice</a:t>
            </a:r>
            <a:endParaRPr lang="en-US" sz="1600" dirty="0"/>
          </a:p>
        </p:txBody>
      </p:sp>
      <p:sp>
        <p:nvSpPr>
          <p:cNvPr id="5" name="Shape 3"/>
          <p:cNvSpPr/>
          <p:nvPr/>
        </p:nvSpPr>
        <p:spPr>
          <a:xfrm>
            <a:off x="822960" y="3886200"/>
            <a:ext cx="2713939" cy="420624"/>
          </a:xfrm>
          <a:prstGeom prst="roundRect">
            <a:avLst>
              <a:gd name="adj" fmla="val 50000"/>
            </a:avLst>
          </a:prstGeom>
          <a:solidFill>
            <a:srgbClr val="0B2E35"/>
          </a:solidFill>
          <a:ln w="12700">
            <a:solidFill>
              <a:srgbClr val="0E7C86"/>
            </a:solidFill>
            <a:prstDash val="solid"/>
          </a:ln>
        </p:spPr>
      </p:sp>
      <p:sp>
        <p:nvSpPr>
          <p:cNvPr id="6" name="Text 4"/>
          <p:cNvSpPr txBox="1"/>
          <p:nvPr/>
        </p:nvSpPr>
        <p:spPr>
          <a:xfrm>
            <a:off x="822960" y="3886200"/>
            <a:ext cx="2713939"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4 / 3 / 2-stage channels</a:t>
            </a:r>
            <a:endParaRPr lang="en-US" sz="1250" dirty="0"/>
          </a:p>
        </p:txBody>
      </p:sp>
      <p:sp>
        <p:nvSpPr>
          <p:cNvPr id="7" name="Shape 5"/>
          <p:cNvSpPr/>
          <p:nvPr/>
        </p:nvSpPr>
        <p:spPr>
          <a:xfrm>
            <a:off x="3719779" y="3886200"/>
            <a:ext cx="1689811" cy="420624"/>
          </a:xfrm>
          <a:prstGeom prst="roundRect">
            <a:avLst>
              <a:gd name="adj" fmla="val 50000"/>
            </a:avLst>
          </a:prstGeom>
          <a:solidFill>
            <a:srgbClr val="0B2E35"/>
          </a:solidFill>
          <a:ln w="12700">
            <a:solidFill>
              <a:srgbClr val="0E7C86"/>
            </a:solidFill>
            <a:prstDash val="solid"/>
          </a:ln>
        </p:spPr>
      </p:sp>
      <p:sp>
        <p:nvSpPr>
          <p:cNvPr id="8" name="Text 6"/>
          <p:cNvSpPr txBox="1"/>
          <p:nvPr/>
        </p:nvSpPr>
        <p:spPr>
          <a:xfrm>
            <a:off x="3719779" y="3886200"/>
            <a:ext cx="1689811"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Intermediaries</a:t>
            </a:r>
            <a:endParaRPr lang="en-US" sz="1250" dirty="0"/>
          </a:p>
        </p:txBody>
      </p:sp>
      <p:sp>
        <p:nvSpPr>
          <p:cNvPr id="9" name="Shape 7"/>
          <p:cNvSpPr/>
          <p:nvPr/>
        </p:nvSpPr>
        <p:spPr>
          <a:xfrm>
            <a:off x="5592470" y="3886200"/>
            <a:ext cx="1587398" cy="420624"/>
          </a:xfrm>
          <a:prstGeom prst="roundRect">
            <a:avLst>
              <a:gd name="adj" fmla="val 50000"/>
            </a:avLst>
          </a:prstGeom>
          <a:solidFill>
            <a:srgbClr val="0B2E35"/>
          </a:solidFill>
          <a:ln w="12700">
            <a:solidFill>
              <a:srgbClr val="0E7C86"/>
            </a:solidFill>
            <a:prstDash val="solid"/>
          </a:ln>
        </p:spPr>
      </p:sp>
      <p:sp>
        <p:nvSpPr>
          <p:cNvPr id="10" name="Text 8"/>
          <p:cNvSpPr txBox="1"/>
          <p:nvPr/>
        </p:nvSpPr>
        <p:spPr>
          <a:xfrm>
            <a:off x="5592470" y="3886200"/>
            <a:ext cx="1587398"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Multi-channel</a:t>
            </a:r>
            <a:endParaRPr lang="en-US" sz="1250" dirty="0"/>
          </a:p>
        </p:txBody>
      </p:sp>
      <p:sp>
        <p:nvSpPr>
          <p:cNvPr id="11" name="Shape 9"/>
          <p:cNvSpPr/>
          <p:nvPr/>
        </p:nvSpPr>
        <p:spPr>
          <a:xfrm>
            <a:off x="7362749" y="3886200"/>
            <a:ext cx="2201875" cy="420624"/>
          </a:xfrm>
          <a:prstGeom prst="roundRect">
            <a:avLst>
              <a:gd name="adj" fmla="val 50000"/>
            </a:avLst>
          </a:prstGeom>
          <a:solidFill>
            <a:srgbClr val="0B2E35"/>
          </a:solidFill>
          <a:ln w="12700">
            <a:solidFill>
              <a:srgbClr val="0E7C86"/>
            </a:solidFill>
            <a:prstDash val="solid"/>
          </a:ln>
        </p:spPr>
      </p:sp>
      <p:sp>
        <p:nvSpPr>
          <p:cNvPr id="12" name="Text 10"/>
          <p:cNvSpPr txBox="1"/>
          <p:nvPr/>
        </p:nvSpPr>
        <p:spPr>
          <a:xfrm>
            <a:off x="7362749" y="3886200"/>
            <a:ext cx="2201875"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E-commerce &amp; change</a:t>
            </a:r>
            <a:endParaRPr lang="en-US" sz="1250" dirty="0"/>
          </a:p>
        </p:txBody>
      </p:sp>
      <p:sp>
        <p:nvSpPr>
          <p:cNvPr id="13" name="Text 11"/>
          <p:cNvSpPr txBox="1"/>
          <p:nvPr/>
        </p:nvSpPr>
        <p:spPr>
          <a:xfrm>
            <a:off x="822960" y="6035040"/>
            <a:ext cx="10607040" cy="365760"/>
          </a:xfrm>
          <a:prstGeom prst="rect">
            <a:avLst/>
          </a:prstGeom>
          <a:noFill/>
          <a:ln/>
        </p:spPr>
        <p:txBody>
          <a:bodyPr wrap="square" lIns="0" tIns="0" rIns="0" bIns="0" rtlCol="0" anchor="ctr"/>
          <a:lstStyle/>
          <a:p>
            <a:pPr indent="0" marL="0">
              <a:buNone/>
            </a:pPr>
            <a:r>
              <a:rPr lang="en-US" sz="1300" dirty="0">
                <a:solidFill>
                  <a:srgbClr val="9FBCC0"/>
                </a:solidFill>
                <a:latin typeface="Calibri" pitchFamily="34" charset="0"/>
                <a:ea typeface="Calibri" pitchFamily="34" charset="-122"/>
                <a:cs typeface="Calibri" pitchFamily="34" charset="-120"/>
              </a:rPr>
              <a:t>Mr. Akram  ·  GEMS Metropole School  ·  Cases: Horizon · MAC Cosmetics · Tesla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OVERVIEW</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What this lesson covers</a:t>
            </a:r>
            <a:endParaRPr lang="en-US" sz="2800" dirty="0"/>
          </a:p>
        </p:txBody>
      </p:sp>
      <p:sp>
        <p:nvSpPr>
          <p:cNvPr id="4" name="Shape 2"/>
          <p:cNvSpPr/>
          <p:nvPr/>
        </p:nvSpPr>
        <p:spPr>
          <a:xfrm>
            <a:off x="548640" y="1554480"/>
            <a:ext cx="11091672" cy="914400"/>
          </a:xfrm>
          <a:prstGeom prst="roundRect">
            <a:avLst>
              <a:gd name="adj" fmla="val 8000"/>
            </a:avLst>
          </a:prstGeom>
          <a:solidFill>
            <a:srgbClr val="EAF3F4"/>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Shape 3"/>
          <p:cNvSpPr/>
          <p:nvPr/>
        </p:nvSpPr>
        <p:spPr>
          <a:xfrm>
            <a:off x="731520" y="1773936"/>
            <a:ext cx="493776" cy="493776"/>
          </a:xfrm>
          <a:prstGeom prst="roundRect">
            <a:avLst>
              <a:gd name="adj" fmla="val 18519"/>
            </a:avLst>
          </a:prstGeom>
          <a:solidFill>
            <a:srgbClr val="0E7C86"/>
          </a:solidFill>
          <a:ln/>
        </p:spPr>
      </p:sp>
      <p:sp>
        <p:nvSpPr>
          <p:cNvPr id="6" name="Text 4"/>
          <p:cNvSpPr txBox="1"/>
          <p:nvPr/>
        </p:nvSpPr>
        <p:spPr>
          <a:xfrm>
            <a:off x="731520" y="1773936"/>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a:t>
            </a:r>
            <a:endParaRPr lang="en-US" sz="2200" dirty="0"/>
          </a:p>
        </p:txBody>
      </p:sp>
      <p:sp>
        <p:nvSpPr>
          <p:cNvPr id="7" name="Text 5"/>
          <p:cNvSpPr txBox="1"/>
          <p:nvPr/>
        </p:nvSpPr>
        <p:spPr>
          <a:xfrm>
            <a:off x="1417320" y="1700784"/>
            <a:ext cx="4846320" cy="640080"/>
          </a:xfrm>
          <a:prstGeom prst="rect">
            <a:avLst/>
          </a:prstGeom>
          <a:noFill/>
          <a:ln/>
        </p:spPr>
        <p:txBody>
          <a:bodyPr wrap="square" lIns="0" tIns="0" rIns="0" bIns="0" rtlCol="0" anchor="ctr"/>
          <a:lstStyle/>
          <a:p>
            <a:pPr indent="0" marL="0">
              <a:buNone/>
            </a:pPr>
            <a:r>
              <a:rPr lang="en-US" sz="1500" b="1" dirty="0">
                <a:solidFill>
                  <a:srgbClr val="0E3A43"/>
                </a:solidFill>
                <a:latin typeface="Calibri" pitchFamily="34" charset="0"/>
                <a:ea typeface="Calibri" pitchFamily="34" charset="-122"/>
                <a:cs typeface="Calibri" pitchFamily="34" charset="-120"/>
              </a:rPr>
              <a:t>Distribution channels</a:t>
            </a:r>
            <a:endParaRPr lang="en-US" sz="1500" dirty="0"/>
          </a:p>
        </p:txBody>
      </p:sp>
      <p:sp>
        <p:nvSpPr>
          <p:cNvPr id="8" name="Text 6"/>
          <p:cNvSpPr txBox="1"/>
          <p:nvPr/>
        </p:nvSpPr>
        <p:spPr>
          <a:xfrm>
            <a:off x="6355080" y="1700784"/>
            <a:ext cx="5166360" cy="640080"/>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The 4-, 3- and 2-stage channels, and the intermediaries in them</a:t>
            </a:r>
            <a:endParaRPr lang="en-US" sz="1250" dirty="0"/>
          </a:p>
        </p:txBody>
      </p:sp>
      <p:sp>
        <p:nvSpPr>
          <p:cNvPr id="9" name="Shape 7"/>
          <p:cNvSpPr/>
          <p:nvPr/>
        </p:nvSpPr>
        <p:spPr>
          <a:xfrm>
            <a:off x="548640" y="2578608"/>
            <a:ext cx="11091672" cy="914400"/>
          </a:xfrm>
          <a:prstGeom prst="roundRect">
            <a:avLst>
              <a:gd name="adj" fmla="val 80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0" name="Shape 8"/>
          <p:cNvSpPr/>
          <p:nvPr/>
        </p:nvSpPr>
        <p:spPr>
          <a:xfrm>
            <a:off x="731520" y="2798064"/>
            <a:ext cx="493776" cy="493776"/>
          </a:xfrm>
          <a:prstGeom prst="roundRect">
            <a:avLst>
              <a:gd name="adj" fmla="val 18519"/>
            </a:avLst>
          </a:prstGeom>
          <a:solidFill>
            <a:srgbClr val="0E7C86"/>
          </a:solidFill>
          <a:ln/>
        </p:spPr>
      </p:sp>
      <p:sp>
        <p:nvSpPr>
          <p:cNvPr id="11" name="Text 9"/>
          <p:cNvSpPr txBox="1"/>
          <p:nvPr/>
        </p:nvSpPr>
        <p:spPr>
          <a:xfrm>
            <a:off x="731520" y="2798064"/>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B</a:t>
            </a:r>
            <a:endParaRPr lang="en-US" sz="2200" dirty="0"/>
          </a:p>
        </p:txBody>
      </p:sp>
      <p:sp>
        <p:nvSpPr>
          <p:cNvPr id="12" name="Text 10"/>
          <p:cNvSpPr txBox="1"/>
          <p:nvPr/>
        </p:nvSpPr>
        <p:spPr>
          <a:xfrm>
            <a:off x="1417320" y="2724912"/>
            <a:ext cx="4846320" cy="640080"/>
          </a:xfrm>
          <a:prstGeom prst="rect">
            <a:avLst/>
          </a:prstGeom>
          <a:noFill/>
          <a:ln/>
        </p:spPr>
        <p:txBody>
          <a:bodyPr wrap="square" lIns="0" tIns="0" rIns="0" bIns="0" rtlCol="0" anchor="ctr"/>
          <a:lstStyle/>
          <a:p>
            <a:pPr indent="0" marL="0">
              <a:buNone/>
            </a:pPr>
            <a:r>
              <a:rPr lang="en-US" sz="1500" b="1" dirty="0">
                <a:solidFill>
                  <a:srgbClr val="0E3A43"/>
                </a:solidFill>
                <a:latin typeface="Calibri" pitchFamily="34" charset="0"/>
                <a:ea typeface="Calibri" pitchFamily="34" charset="-122"/>
                <a:cs typeface="Calibri" pitchFamily="34" charset="-120"/>
              </a:rPr>
              <a:t>Choosing a channel &amp; multi-channel</a:t>
            </a:r>
            <a:endParaRPr lang="en-US" sz="1500" dirty="0"/>
          </a:p>
        </p:txBody>
      </p:sp>
      <p:sp>
        <p:nvSpPr>
          <p:cNvPr id="13" name="Text 11"/>
          <p:cNvSpPr txBox="1"/>
          <p:nvPr/>
        </p:nvSpPr>
        <p:spPr>
          <a:xfrm>
            <a:off x="6355080" y="2724912"/>
            <a:ext cx="5166360" cy="640080"/>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Direct vs indirect, multi-channel distribution, and what decides the choice</a:t>
            </a:r>
            <a:endParaRPr lang="en-US" sz="1250" dirty="0"/>
          </a:p>
        </p:txBody>
      </p:sp>
      <p:sp>
        <p:nvSpPr>
          <p:cNvPr id="14" name="Shape 12"/>
          <p:cNvSpPr/>
          <p:nvPr/>
        </p:nvSpPr>
        <p:spPr>
          <a:xfrm>
            <a:off x="548640" y="3602736"/>
            <a:ext cx="11091672" cy="914400"/>
          </a:xfrm>
          <a:prstGeom prst="roundRect">
            <a:avLst>
              <a:gd name="adj" fmla="val 80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5" name="Shape 13"/>
          <p:cNvSpPr/>
          <p:nvPr/>
        </p:nvSpPr>
        <p:spPr>
          <a:xfrm>
            <a:off x="731520" y="3822192"/>
            <a:ext cx="493776" cy="493776"/>
          </a:xfrm>
          <a:prstGeom prst="roundRect">
            <a:avLst>
              <a:gd name="adj" fmla="val 18519"/>
            </a:avLst>
          </a:prstGeom>
          <a:solidFill>
            <a:srgbClr val="0E7C86"/>
          </a:solidFill>
          <a:ln/>
        </p:spPr>
      </p:sp>
      <p:sp>
        <p:nvSpPr>
          <p:cNvPr id="16" name="Text 14"/>
          <p:cNvSpPr txBox="1"/>
          <p:nvPr/>
        </p:nvSpPr>
        <p:spPr>
          <a:xfrm>
            <a:off x="731520" y="3822192"/>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C</a:t>
            </a:r>
            <a:endParaRPr lang="en-US" sz="2200" dirty="0"/>
          </a:p>
        </p:txBody>
      </p:sp>
      <p:sp>
        <p:nvSpPr>
          <p:cNvPr id="17" name="Text 15"/>
          <p:cNvSpPr txBox="1"/>
          <p:nvPr/>
        </p:nvSpPr>
        <p:spPr>
          <a:xfrm>
            <a:off x="1417320" y="3749040"/>
            <a:ext cx="4846320" cy="640080"/>
          </a:xfrm>
          <a:prstGeom prst="rect">
            <a:avLst/>
          </a:prstGeom>
          <a:noFill/>
          <a:ln/>
        </p:spPr>
        <p:txBody>
          <a:bodyPr wrap="square" lIns="0" tIns="0" rIns="0" bIns="0" rtlCol="0" anchor="ctr"/>
          <a:lstStyle/>
          <a:p>
            <a:pPr indent="0" marL="0">
              <a:buNone/>
            </a:pPr>
            <a:r>
              <a:rPr lang="en-US" sz="1500" b="1" dirty="0">
                <a:solidFill>
                  <a:srgbClr val="0E3A43"/>
                </a:solidFill>
                <a:latin typeface="Calibri" pitchFamily="34" charset="0"/>
                <a:ea typeface="Calibri" pitchFamily="34" charset="-122"/>
                <a:cs typeface="Calibri" pitchFamily="34" charset="-120"/>
              </a:rPr>
              <a:t>Changes in distribution methods</a:t>
            </a:r>
            <a:endParaRPr lang="en-US" sz="1500" dirty="0"/>
          </a:p>
        </p:txBody>
      </p:sp>
      <p:sp>
        <p:nvSpPr>
          <p:cNvPr id="18" name="Text 16"/>
          <p:cNvSpPr txBox="1"/>
          <p:nvPr/>
        </p:nvSpPr>
        <p:spPr>
          <a:xfrm>
            <a:off x="6355080" y="3749040"/>
            <a:ext cx="5166360" cy="640080"/>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E-commerce, direct-to-consumer and omnichannel retailing</a:t>
            </a:r>
            <a:endParaRPr lang="en-US" sz="1250" dirty="0"/>
          </a:p>
        </p:txBody>
      </p:sp>
      <p:sp>
        <p:nvSpPr>
          <p:cNvPr id="19" name="Shape 17"/>
          <p:cNvSpPr/>
          <p:nvPr/>
        </p:nvSpPr>
        <p:spPr>
          <a:xfrm>
            <a:off x="548640" y="4626864"/>
            <a:ext cx="11091672" cy="914400"/>
          </a:xfrm>
          <a:prstGeom prst="roundRect">
            <a:avLst>
              <a:gd name="adj" fmla="val 80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20" name="Shape 18"/>
          <p:cNvSpPr/>
          <p:nvPr/>
        </p:nvSpPr>
        <p:spPr>
          <a:xfrm>
            <a:off x="731520" y="4846320"/>
            <a:ext cx="493776" cy="493776"/>
          </a:xfrm>
          <a:prstGeom prst="roundRect">
            <a:avLst>
              <a:gd name="adj" fmla="val 18519"/>
            </a:avLst>
          </a:prstGeom>
          <a:solidFill>
            <a:srgbClr val="0E7C86"/>
          </a:solidFill>
          <a:ln/>
        </p:spPr>
      </p:sp>
      <p:sp>
        <p:nvSpPr>
          <p:cNvPr id="21" name="Text 19"/>
          <p:cNvSpPr txBox="1"/>
          <p:nvPr/>
        </p:nvSpPr>
        <p:spPr>
          <a:xfrm>
            <a:off x="731520" y="484632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D</a:t>
            </a:r>
            <a:endParaRPr lang="en-US" sz="2200" dirty="0"/>
          </a:p>
        </p:txBody>
      </p:sp>
      <p:sp>
        <p:nvSpPr>
          <p:cNvPr id="22" name="Text 20"/>
          <p:cNvSpPr txBox="1"/>
          <p:nvPr/>
        </p:nvSpPr>
        <p:spPr>
          <a:xfrm>
            <a:off x="1417320" y="4773168"/>
            <a:ext cx="4846320" cy="640080"/>
          </a:xfrm>
          <a:prstGeom prst="rect">
            <a:avLst/>
          </a:prstGeom>
          <a:noFill/>
          <a:ln/>
        </p:spPr>
        <p:txBody>
          <a:bodyPr wrap="square" lIns="0" tIns="0" rIns="0" bIns="0" rtlCol="0" anchor="ctr"/>
          <a:lstStyle/>
          <a:p>
            <a:pPr indent="0" marL="0">
              <a:buNone/>
            </a:pPr>
            <a:r>
              <a:rPr lang="en-US" sz="1500" b="1" dirty="0">
                <a:solidFill>
                  <a:srgbClr val="0E3A43"/>
                </a:solidFill>
                <a:latin typeface="Calibri" pitchFamily="34" charset="0"/>
                <a:ea typeface="Calibri" pitchFamily="34" charset="-122"/>
                <a:cs typeface="Calibri" pitchFamily="34" charset="-120"/>
              </a:rPr>
              <a:t>A-grade exam skills</a:t>
            </a:r>
            <a:endParaRPr lang="en-US" sz="1500" dirty="0"/>
          </a:p>
        </p:txBody>
      </p:sp>
      <p:sp>
        <p:nvSpPr>
          <p:cNvPr id="23" name="Text 21"/>
          <p:cNvSpPr txBox="1"/>
          <p:nvPr/>
        </p:nvSpPr>
        <p:spPr>
          <a:xfrm>
            <a:off x="6355080" y="4773168"/>
            <a:ext cx="5166360" cy="640080"/>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The Horizon case, with structure for 8, 10 and 20-mark answers</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WHERE IT FITS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Where distribution sits in the specification</a:t>
            </a:r>
            <a:endParaRPr lang="en-US" sz="2800" dirty="0"/>
          </a:p>
        </p:txBody>
      </p:sp>
      <p:sp>
        <p:nvSpPr>
          <p:cNvPr id="4" name="Shape 2"/>
          <p:cNvSpPr/>
          <p:nvPr/>
        </p:nvSpPr>
        <p:spPr>
          <a:xfrm>
            <a:off x="548640" y="1371600"/>
            <a:ext cx="6675120" cy="4800600"/>
          </a:xfrm>
          <a:prstGeom prst="roundRect">
            <a:avLst>
              <a:gd name="adj" fmla="val 1524"/>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6217920" cy="329184"/>
          </a:xfrm>
          <a:prstGeom prst="rect">
            <a:avLst/>
          </a:prstGeom>
          <a:noFill/>
          <a:ln/>
        </p:spPr>
        <p:txBody>
          <a:bodyPr wrap="square" lIns="0" tIns="0" rIns="0" bIns="0" rtlCol="0" anchor="ctr"/>
          <a:lstStyle/>
          <a:p>
            <a:pPr indent="0" marL="0">
              <a:buNone/>
            </a:pPr>
            <a:r>
              <a:rPr lang="en-US" sz="1350" b="1" dirty="0">
                <a:solidFill>
                  <a:srgbClr val="0E3A43"/>
                </a:solidFill>
                <a:latin typeface="Calibri" pitchFamily="34" charset="0"/>
                <a:ea typeface="Calibri" pitchFamily="34" charset="-122"/>
                <a:cs typeface="Calibri" pitchFamily="34" charset="-120"/>
              </a:rPr>
              <a:t>Topic 1.3.3  Marketing mix and strategy</a:t>
            </a:r>
            <a:endParaRPr lang="en-US" sz="1350" dirty="0"/>
          </a:p>
        </p:txBody>
      </p:sp>
      <p:sp>
        <p:nvSpPr>
          <p:cNvPr id="6" name="Shape 4"/>
          <p:cNvSpPr/>
          <p:nvPr/>
        </p:nvSpPr>
        <p:spPr>
          <a:xfrm>
            <a:off x="749808" y="1901952"/>
            <a:ext cx="6272784"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7" name="Shape 5"/>
          <p:cNvSpPr/>
          <p:nvPr/>
        </p:nvSpPr>
        <p:spPr>
          <a:xfrm>
            <a:off x="914400" y="2084832"/>
            <a:ext cx="457200" cy="457200"/>
          </a:xfrm>
          <a:prstGeom prst="roundRect">
            <a:avLst>
              <a:gd name="adj" fmla="val 20000"/>
            </a:avLst>
          </a:prstGeom>
          <a:solidFill>
            <a:srgbClr val="0E7C86"/>
          </a:solidFill>
          <a:ln/>
        </p:spPr>
      </p:sp>
      <p:sp>
        <p:nvSpPr>
          <p:cNvPr id="8" name="Text 6"/>
          <p:cNvSpPr txBox="1"/>
          <p:nvPr/>
        </p:nvSpPr>
        <p:spPr>
          <a:xfrm>
            <a:off x="914400" y="2084832"/>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1</a:t>
            </a:r>
            <a:endParaRPr lang="en-US" sz="1900" dirty="0"/>
          </a:p>
        </p:txBody>
      </p:sp>
      <p:sp>
        <p:nvSpPr>
          <p:cNvPr id="9" name="Text 7"/>
          <p:cNvSpPr txBox="1"/>
          <p:nvPr/>
        </p:nvSpPr>
        <p:spPr>
          <a:xfrm>
            <a:off x="1508760" y="2011680"/>
            <a:ext cx="5394960" cy="310896"/>
          </a:xfrm>
          <a:prstGeom prst="rect">
            <a:avLst/>
          </a:prstGeom>
          <a:noFill/>
          <a:ln/>
        </p:spPr>
        <p:txBody>
          <a:bodyPr wrap="square" lIns="0" tIns="0" rIns="0" bIns="0" rtlCol="0" anchor="ctr"/>
          <a:lstStyle/>
          <a:p>
            <a:pPr indent="0" marL="0">
              <a:buNone/>
            </a:pPr>
            <a:r>
              <a:rPr lang="en-US" sz="1300" b="1" dirty="0">
                <a:solidFill>
                  <a:srgbClr val="0E3A43"/>
                </a:solidFill>
                <a:latin typeface="Calibri" pitchFamily="34" charset="0"/>
                <a:ea typeface="Calibri" pitchFamily="34" charset="-122"/>
                <a:cs typeface="Calibri" pitchFamily="34" charset="-120"/>
              </a:rPr>
              <a:t>Marketing objectives &amp; strategy</a:t>
            </a:r>
            <a:endParaRPr lang="en-US" sz="1300" dirty="0"/>
          </a:p>
        </p:txBody>
      </p:sp>
      <p:sp>
        <p:nvSpPr>
          <p:cNvPr id="10" name="Text 8"/>
          <p:cNvSpPr txBox="1"/>
          <p:nvPr/>
        </p:nvSpPr>
        <p:spPr>
          <a:xfrm>
            <a:off x="1508760" y="2304288"/>
            <a:ext cx="5440680" cy="384048"/>
          </a:xfrm>
          <a:prstGeom prst="rect">
            <a:avLst/>
          </a:prstGeom>
          <a:noFill/>
          <a:ln/>
        </p:spPr>
        <p:txBody>
          <a:bodyPr wrap="square" lIns="0" tIns="0" rIns="0" bIns="0" rtlCol="0" anchor="t"/>
          <a:lstStyle/>
          <a:p>
            <a:pPr indent="0" marL="0">
              <a:buNone/>
            </a:pPr>
            <a:r>
              <a:rPr lang="en-US" sz="1050" dirty="0">
                <a:solidFill>
                  <a:srgbClr val="5B6B73"/>
                </a:solidFill>
                <a:latin typeface="Calibri" pitchFamily="34" charset="0"/>
                <a:ea typeface="Calibri" pitchFamily="34" charset="-122"/>
                <a:cs typeface="Calibri" pitchFamily="34" charset="-120"/>
              </a:rPr>
              <a:t>market share, PLC, Boston Matrix, marketing mix, market types, loyalty</a:t>
            </a:r>
            <a:endParaRPr lang="en-US" sz="1050" dirty="0"/>
          </a:p>
        </p:txBody>
      </p:sp>
      <p:sp>
        <p:nvSpPr>
          <p:cNvPr id="11" name="Shape 9"/>
          <p:cNvSpPr/>
          <p:nvPr/>
        </p:nvSpPr>
        <p:spPr>
          <a:xfrm>
            <a:off x="749808" y="2761488"/>
            <a:ext cx="6272784"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12" name="Shape 10"/>
          <p:cNvSpPr/>
          <p:nvPr/>
        </p:nvSpPr>
        <p:spPr>
          <a:xfrm>
            <a:off x="914400" y="2944368"/>
            <a:ext cx="457200" cy="457200"/>
          </a:xfrm>
          <a:prstGeom prst="roundRect">
            <a:avLst>
              <a:gd name="adj" fmla="val 20000"/>
            </a:avLst>
          </a:prstGeom>
          <a:solidFill>
            <a:srgbClr val="0E7C86"/>
          </a:solidFill>
          <a:ln/>
        </p:spPr>
      </p:sp>
      <p:sp>
        <p:nvSpPr>
          <p:cNvPr id="13" name="Text 11"/>
          <p:cNvSpPr txBox="1"/>
          <p:nvPr/>
        </p:nvSpPr>
        <p:spPr>
          <a:xfrm>
            <a:off x="914400" y="2944368"/>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2</a:t>
            </a:r>
            <a:endParaRPr lang="en-US" sz="1900" dirty="0"/>
          </a:p>
        </p:txBody>
      </p:sp>
      <p:sp>
        <p:nvSpPr>
          <p:cNvPr id="14" name="Text 12"/>
          <p:cNvSpPr txBox="1"/>
          <p:nvPr/>
        </p:nvSpPr>
        <p:spPr>
          <a:xfrm>
            <a:off x="1508760" y="2871216"/>
            <a:ext cx="5394960" cy="310896"/>
          </a:xfrm>
          <a:prstGeom prst="rect">
            <a:avLst/>
          </a:prstGeom>
          <a:noFill/>
          <a:ln/>
        </p:spPr>
        <p:txBody>
          <a:bodyPr wrap="square" lIns="0" tIns="0" rIns="0" bIns="0" rtlCol="0" anchor="ctr"/>
          <a:lstStyle/>
          <a:p>
            <a:pPr indent="0" marL="0">
              <a:buNone/>
            </a:pPr>
            <a:r>
              <a:rPr lang="en-US" sz="1300" b="1" dirty="0">
                <a:solidFill>
                  <a:srgbClr val="0E3A43"/>
                </a:solidFill>
                <a:latin typeface="Calibri" pitchFamily="34" charset="0"/>
                <a:ea typeface="Calibri" pitchFamily="34" charset="-122"/>
                <a:cs typeface="Calibri" pitchFamily="34" charset="-120"/>
              </a:rPr>
              <a:t>Product / service design</a:t>
            </a:r>
            <a:endParaRPr lang="en-US" sz="1300" dirty="0"/>
          </a:p>
        </p:txBody>
      </p:sp>
      <p:sp>
        <p:nvSpPr>
          <p:cNvPr id="15" name="Text 13"/>
          <p:cNvSpPr txBox="1"/>
          <p:nvPr/>
        </p:nvSpPr>
        <p:spPr>
          <a:xfrm>
            <a:off x="1508760" y="3163824"/>
            <a:ext cx="5440680" cy="384048"/>
          </a:xfrm>
          <a:prstGeom prst="rect">
            <a:avLst/>
          </a:prstGeom>
          <a:noFill/>
          <a:ln/>
        </p:spPr>
        <p:txBody>
          <a:bodyPr wrap="square" lIns="0" tIns="0" rIns="0" bIns="0" rtlCol="0" anchor="t"/>
          <a:lstStyle/>
          <a:p>
            <a:pPr indent="0" marL="0">
              <a:buNone/>
            </a:pPr>
            <a:r>
              <a:rPr lang="en-US" sz="1050" dirty="0">
                <a:solidFill>
                  <a:srgbClr val="5B6B73"/>
                </a:solidFill>
                <a:latin typeface="Calibri" pitchFamily="34" charset="0"/>
                <a:ea typeface="Calibri" pitchFamily="34" charset="-122"/>
                <a:cs typeface="Calibri" pitchFamily="34" charset="-120"/>
              </a:rPr>
              <a:t>the design mix: function, aesthetics, cost; social trends</a:t>
            </a:r>
            <a:endParaRPr lang="en-US" sz="1050" dirty="0"/>
          </a:p>
        </p:txBody>
      </p:sp>
      <p:sp>
        <p:nvSpPr>
          <p:cNvPr id="16" name="Shape 14"/>
          <p:cNvSpPr/>
          <p:nvPr/>
        </p:nvSpPr>
        <p:spPr>
          <a:xfrm>
            <a:off x="749808" y="3621024"/>
            <a:ext cx="6272784"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17" name="Shape 15"/>
          <p:cNvSpPr/>
          <p:nvPr/>
        </p:nvSpPr>
        <p:spPr>
          <a:xfrm>
            <a:off x="914400" y="3803904"/>
            <a:ext cx="457200" cy="457200"/>
          </a:xfrm>
          <a:prstGeom prst="roundRect">
            <a:avLst>
              <a:gd name="adj" fmla="val 20000"/>
            </a:avLst>
          </a:prstGeom>
          <a:solidFill>
            <a:srgbClr val="0E7C86"/>
          </a:solidFill>
          <a:ln/>
        </p:spPr>
      </p:sp>
      <p:sp>
        <p:nvSpPr>
          <p:cNvPr id="18" name="Text 16"/>
          <p:cNvSpPr txBox="1"/>
          <p:nvPr/>
        </p:nvSpPr>
        <p:spPr>
          <a:xfrm>
            <a:off x="914400" y="3803904"/>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3</a:t>
            </a:r>
            <a:endParaRPr lang="en-US" sz="1900" dirty="0"/>
          </a:p>
        </p:txBody>
      </p:sp>
      <p:sp>
        <p:nvSpPr>
          <p:cNvPr id="19" name="Text 17"/>
          <p:cNvSpPr txBox="1"/>
          <p:nvPr/>
        </p:nvSpPr>
        <p:spPr>
          <a:xfrm>
            <a:off x="1508760" y="3730752"/>
            <a:ext cx="5394960" cy="310896"/>
          </a:xfrm>
          <a:prstGeom prst="rect">
            <a:avLst/>
          </a:prstGeom>
          <a:noFill/>
          <a:ln/>
        </p:spPr>
        <p:txBody>
          <a:bodyPr wrap="square" lIns="0" tIns="0" rIns="0" bIns="0" rtlCol="0" anchor="ctr"/>
          <a:lstStyle/>
          <a:p>
            <a:pPr indent="0" marL="0">
              <a:buNone/>
            </a:pPr>
            <a:r>
              <a:rPr lang="en-US" sz="1300" b="1" dirty="0">
                <a:solidFill>
                  <a:srgbClr val="0E3A43"/>
                </a:solidFill>
                <a:latin typeface="Calibri" pitchFamily="34" charset="0"/>
                <a:ea typeface="Calibri" pitchFamily="34" charset="-122"/>
                <a:cs typeface="Calibri" pitchFamily="34" charset="-120"/>
              </a:rPr>
              <a:t>Promotion &amp; branding</a:t>
            </a:r>
            <a:endParaRPr lang="en-US" sz="1300" dirty="0"/>
          </a:p>
        </p:txBody>
      </p:sp>
      <p:sp>
        <p:nvSpPr>
          <p:cNvPr id="20" name="Text 18"/>
          <p:cNvSpPr txBox="1"/>
          <p:nvPr/>
        </p:nvSpPr>
        <p:spPr>
          <a:xfrm>
            <a:off x="1508760" y="4023360"/>
            <a:ext cx="5440680" cy="384048"/>
          </a:xfrm>
          <a:prstGeom prst="rect">
            <a:avLst/>
          </a:prstGeom>
          <a:noFill/>
          <a:ln/>
        </p:spPr>
        <p:txBody>
          <a:bodyPr wrap="square" lIns="0" tIns="0" rIns="0" bIns="0" rtlCol="0" anchor="t"/>
          <a:lstStyle/>
          <a:p>
            <a:pPr indent="0" marL="0">
              <a:buNone/>
            </a:pPr>
            <a:r>
              <a:rPr lang="en-US" sz="1050" dirty="0">
                <a:solidFill>
                  <a:srgbClr val="5B6B73"/>
                </a:solidFill>
                <a:latin typeface="Calibri" pitchFamily="34" charset="0"/>
                <a:ea typeface="Calibri" pitchFamily="34" charset="-122"/>
                <a:cs typeface="Calibri" pitchFamily="34" charset="-120"/>
              </a:rPr>
              <a:t>promotion &amp; branding; benefits of branding; building a brand</a:t>
            </a:r>
            <a:endParaRPr lang="en-US" sz="1050" dirty="0"/>
          </a:p>
        </p:txBody>
      </p:sp>
      <p:sp>
        <p:nvSpPr>
          <p:cNvPr id="21" name="Shape 19"/>
          <p:cNvSpPr/>
          <p:nvPr/>
        </p:nvSpPr>
        <p:spPr>
          <a:xfrm>
            <a:off x="749808" y="4480560"/>
            <a:ext cx="6272784"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22" name="Shape 20"/>
          <p:cNvSpPr/>
          <p:nvPr/>
        </p:nvSpPr>
        <p:spPr>
          <a:xfrm>
            <a:off x="914400" y="4663440"/>
            <a:ext cx="457200" cy="457200"/>
          </a:xfrm>
          <a:prstGeom prst="roundRect">
            <a:avLst>
              <a:gd name="adj" fmla="val 20000"/>
            </a:avLst>
          </a:prstGeom>
          <a:solidFill>
            <a:srgbClr val="0E7C86"/>
          </a:solidFill>
          <a:ln/>
        </p:spPr>
      </p:sp>
      <p:sp>
        <p:nvSpPr>
          <p:cNvPr id="23" name="Text 21"/>
          <p:cNvSpPr txBox="1"/>
          <p:nvPr/>
        </p:nvSpPr>
        <p:spPr>
          <a:xfrm>
            <a:off x="914400" y="466344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4</a:t>
            </a:r>
            <a:endParaRPr lang="en-US" sz="1900" dirty="0"/>
          </a:p>
        </p:txBody>
      </p:sp>
      <p:sp>
        <p:nvSpPr>
          <p:cNvPr id="24" name="Text 22"/>
          <p:cNvSpPr txBox="1"/>
          <p:nvPr/>
        </p:nvSpPr>
        <p:spPr>
          <a:xfrm>
            <a:off x="1508760" y="4590288"/>
            <a:ext cx="5394960" cy="310896"/>
          </a:xfrm>
          <a:prstGeom prst="rect">
            <a:avLst/>
          </a:prstGeom>
          <a:noFill/>
          <a:ln/>
        </p:spPr>
        <p:txBody>
          <a:bodyPr wrap="square" lIns="0" tIns="0" rIns="0" bIns="0" rtlCol="0" anchor="ctr"/>
          <a:lstStyle/>
          <a:p>
            <a:pPr indent="0" marL="0">
              <a:buNone/>
            </a:pPr>
            <a:r>
              <a:rPr lang="en-US" sz="1300" b="1" dirty="0">
                <a:solidFill>
                  <a:srgbClr val="0E3A43"/>
                </a:solidFill>
                <a:latin typeface="Calibri" pitchFamily="34" charset="0"/>
                <a:ea typeface="Calibri" pitchFamily="34" charset="-122"/>
                <a:cs typeface="Calibri" pitchFamily="34" charset="-120"/>
              </a:rPr>
              <a:t>Pricing strategies</a:t>
            </a:r>
            <a:endParaRPr lang="en-US" sz="1300" dirty="0"/>
          </a:p>
        </p:txBody>
      </p:sp>
      <p:sp>
        <p:nvSpPr>
          <p:cNvPr id="25" name="Text 23"/>
          <p:cNvSpPr txBox="1"/>
          <p:nvPr/>
        </p:nvSpPr>
        <p:spPr>
          <a:xfrm>
            <a:off x="1508760" y="4882896"/>
            <a:ext cx="5440680" cy="384048"/>
          </a:xfrm>
          <a:prstGeom prst="rect">
            <a:avLst/>
          </a:prstGeom>
          <a:noFill/>
          <a:ln/>
        </p:spPr>
        <p:txBody>
          <a:bodyPr wrap="square" lIns="0" tIns="0" rIns="0" bIns="0" rtlCol="0" anchor="t"/>
          <a:lstStyle/>
          <a:p>
            <a:pPr indent="0" marL="0">
              <a:buNone/>
            </a:pPr>
            <a:r>
              <a:rPr lang="en-US" sz="1050" dirty="0">
                <a:solidFill>
                  <a:srgbClr val="5B6B73"/>
                </a:solidFill>
                <a:latin typeface="Calibri" pitchFamily="34" charset="0"/>
                <a:ea typeface="Calibri" pitchFamily="34" charset="-122"/>
                <a:cs typeface="Calibri" pitchFamily="34" charset="-120"/>
              </a:rPr>
              <a:t>six strategies; the factors that decide the choice; social trends</a:t>
            </a:r>
            <a:endParaRPr lang="en-US" sz="1050" dirty="0"/>
          </a:p>
        </p:txBody>
      </p:sp>
      <p:sp>
        <p:nvSpPr>
          <p:cNvPr id="26" name="Shape 24"/>
          <p:cNvSpPr/>
          <p:nvPr/>
        </p:nvSpPr>
        <p:spPr>
          <a:xfrm>
            <a:off x="749808" y="5340096"/>
            <a:ext cx="6272784" cy="841248"/>
          </a:xfrm>
          <a:prstGeom prst="roundRect">
            <a:avLst>
              <a:gd name="adj" fmla="val 8696"/>
            </a:avLst>
          </a:prstGeom>
          <a:solidFill>
            <a:srgbClr val="FBF0D8"/>
          </a:solidFill>
          <a:ln/>
          <a:effectLst>
            <a:outerShdw sx="100000" sy="100000" kx="0" ky="0" algn="bl" rotWithShape="0" blurRad="76200" dist="25400" dir="5400000">
              <a:srgbClr val="9AAAB0">
                <a:alpha val="28000"/>
              </a:srgbClr>
            </a:outerShdw>
          </a:effectLst>
        </p:spPr>
      </p:sp>
      <p:sp>
        <p:nvSpPr>
          <p:cNvPr id="27" name="Shape 25"/>
          <p:cNvSpPr/>
          <p:nvPr/>
        </p:nvSpPr>
        <p:spPr>
          <a:xfrm>
            <a:off x="749808" y="5340096"/>
            <a:ext cx="91440" cy="841248"/>
          </a:xfrm>
          <a:prstGeom prst="roundRect">
            <a:avLst/>
          </a:prstGeom>
          <a:solidFill>
            <a:srgbClr val="E0940F"/>
          </a:solidFill>
          <a:ln/>
        </p:spPr>
      </p:sp>
      <p:sp>
        <p:nvSpPr>
          <p:cNvPr id="28" name="Shape 26"/>
          <p:cNvSpPr/>
          <p:nvPr/>
        </p:nvSpPr>
        <p:spPr>
          <a:xfrm>
            <a:off x="914400" y="5522976"/>
            <a:ext cx="457200" cy="457200"/>
          </a:xfrm>
          <a:prstGeom prst="roundRect">
            <a:avLst>
              <a:gd name="adj" fmla="val 20000"/>
            </a:avLst>
          </a:prstGeom>
          <a:solidFill>
            <a:srgbClr val="E0940F"/>
          </a:solidFill>
          <a:ln/>
        </p:spPr>
      </p:sp>
      <p:sp>
        <p:nvSpPr>
          <p:cNvPr id="29" name="Text 27"/>
          <p:cNvSpPr txBox="1"/>
          <p:nvPr/>
        </p:nvSpPr>
        <p:spPr>
          <a:xfrm>
            <a:off x="914400" y="552297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5</a:t>
            </a:r>
            <a:endParaRPr lang="en-US" sz="1900" dirty="0"/>
          </a:p>
        </p:txBody>
      </p:sp>
      <p:sp>
        <p:nvSpPr>
          <p:cNvPr id="30" name="Text 28"/>
          <p:cNvSpPr txBox="1"/>
          <p:nvPr/>
        </p:nvSpPr>
        <p:spPr>
          <a:xfrm>
            <a:off x="1508760" y="5449824"/>
            <a:ext cx="5394960" cy="310896"/>
          </a:xfrm>
          <a:prstGeom prst="rect">
            <a:avLst/>
          </a:prstGeom>
          <a:noFill/>
          <a:ln/>
        </p:spPr>
        <p:txBody>
          <a:bodyPr wrap="square" lIns="0" tIns="0" rIns="0" bIns="0" rtlCol="0" anchor="ctr"/>
          <a:lstStyle/>
          <a:p>
            <a:pPr indent="0" marL="0">
              <a:buNone/>
            </a:pPr>
            <a:r>
              <a:rPr lang="en-US" sz="1300" b="1" dirty="0">
                <a:solidFill>
                  <a:srgbClr val="0E3A43"/>
                </a:solidFill>
                <a:latin typeface="Calibri" pitchFamily="34" charset="0"/>
                <a:ea typeface="Calibri" pitchFamily="34" charset="-122"/>
                <a:cs typeface="Calibri" pitchFamily="34" charset="-120"/>
              </a:rPr>
              <a:t>Distribution   ← this lesson</a:t>
            </a:r>
            <a:endParaRPr lang="en-US" sz="1300" dirty="0"/>
          </a:p>
        </p:txBody>
      </p:sp>
      <p:sp>
        <p:nvSpPr>
          <p:cNvPr id="31" name="Text 29"/>
          <p:cNvSpPr txBox="1"/>
          <p:nvPr/>
        </p:nvSpPr>
        <p:spPr>
          <a:xfrm>
            <a:off x="1508760" y="5742432"/>
            <a:ext cx="5440680" cy="384048"/>
          </a:xfrm>
          <a:prstGeom prst="rect">
            <a:avLst/>
          </a:prstGeom>
          <a:noFill/>
          <a:ln/>
        </p:spPr>
        <p:txBody>
          <a:bodyPr wrap="square" lIns="0" tIns="0" rIns="0" bIns="0" rtlCol="0" anchor="t"/>
          <a:lstStyle/>
          <a:p>
            <a:pPr indent="0" marL="0">
              <a:buNone/>
            </a:pPr>
            <a:r>
              <a:rPr lang="en-US" sz="1050" dirty="0">
                <a:solidFill>
                  <a:srgbClr val="5B6B73"/>
                </a:solidFill>
                <a:latin typeface="Calibri" pitchFamily="34" charset="0"/>
                <a:ea typeface="Calibri" pitchFamily="34" charset="-122"/>
                <a:cs typeface="Calibri" pitchFamily="34" charset="-120"/>
              </a:rPr>
              <a:t>the 4/3/2-stage channels; changes in distribution methods</a:t>
            </a:r>
            <a:endParaRPr lang="en-US" sz="1050" dirty="0"/>
          </a:p>
        </p:txBody>
      </p:sp>
      <p:sp>
        <p:nvSpPr>
          <p:cNvPr id="32" name="Shape 30"/>
          <p:cNvSpPr/>
          <p:nvPr/>
        </p:nvSpPr>
        <p:spPr>
          <a:xfrm>
            <a:off x="7360920" y="1371600"/>
            <a:ext cx="4279392" cy="4800600"/>
          </a:xfrm>
          <a:prstGeom prst="roundRect">
            <a:avLst>
              <a:gd name="adj" fmla="val 1709"/>
            </a:avLst>
          </a:prstGeom>
          <a:solidFill>
            <a:srgbClr val="EAF3F4"/>
          </a:solidFill>
          <a:ln/>
          <a:effectLst>
            <a:outerShdw sx="100000" sy="100000" kx="0" ky="0" algn="bl" rotWithShape="0" blurRad="76200" dist="25400" dir="5400000">
              <a:srgbClr val="9AAAB0">
                <a:alpha val="28000"/>
              </a:srgbClr>
            </a:outerShdw>
          </a:effectLst>
        </p:spPr>
      </p:sp>
      <p:sp>
        <p:nvSpPr>
          <p:cNvPr id="33" name="Text 31"/>
          <p:cNvSpPr txBox="1"/>
          <p:nvPr/>
        </p:nvSpPr>
        <p:spPr>
          <a:xfrm>
            <a:off x="7571232" y="1508760"/>
            <a:ext cx="3840480" cy="365760"/>
          </a:xfrm>
          <a:prstGeom prst="rect">
            <a:avLst/>
          </a:prstGeom>
          <a:noFill/>
          <a:ln/>
        </p:spPr>
        <p:txBody>
          <a:bodyPr wrap="square" lIns="0" tIns="0" rIns="0" bIns="0" rtlCol="0" anchor="ctr"/>
          <a:lstStyle/>
          <a:p>
            <a:pPr indent="0" marL="0">
              <a:buNone/>
            </a:pPr>
            <a:r>
              <a:rPr lang="en-US" sz="1400" b="1" dirty="0">
                <a:solidFill>
                  <a:srgbClr val="0B5E66"/>
                </a:solidFill>
                <a:latin typeface="Calibri" pitchFamily="34" charset="0"/>
                <a:ea typeface="Calibri" pitchFamily="34" charset="-122"/>
                <a:cs typeface="Calibri" pitchFamily="34" charset="-120"/>
              </a:rPr>
              <a:t>How it links across the course</a:t>
            </a:r>
            <a:endParaRPr lang="en-US" sz="1400" dirty="0"/>
          </a:p>
        </p:txBody>
      </p:sp>
      <p:sp>
        <p:nvSpPr>
          <p:cNvPr id="34" name="Text 32"/>
          <p:cNvSpPr txBox="1"/>
          <p:nvPr/>
        </p:nvSpPr>
        <p:spPr>
          <a:xfrm>
            <a:off x="7571232" y="1965960"/>
            <a:ext cx="3886200" cy="402336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Distribution is the ‘Place’ element of the marketing mix (point 1d)</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Direct channels protect a premium brand image (point 3)</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Channel choice affects price — each intermediary takes a margin (point 4)</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Online distribution links to social trends in pricing &amp; promotion</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A wide channel suits mass markets; selective suits niche (point 1e)</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A</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A</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300" b="1" dirty="0">
                <a:solidFill>
                  <a:srgbClr val="FFFFFF"/>
                </a:solidFill>
                <a:latin typeface="Cambria" pitchFamily="34" charset="0"/>
                <a:ea typeface="Cambria" pitchFamily="34" charset="-122"/>
                <a:cs typeface="Cambria" pitchFamily="34" charset="-120"/>
              </a:rPr>
              <a:t>Distribution channels</a:t>
            </a:r>
            <a:endParaRPr lang="en-US" sz="33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what distribution is  ·  the 4-, 3- and 2-stage channels  ·  the intermediaries — wholesaler, retailer, agent — with advantages, disadvantages &amp; examples</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DISTRIBUTION CHANNELS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What is distribution? The channel ‘ladder’</a:t>
            </a:r>
            <a:endParaRPr lang="en-US" sz="2800" dirty="0"/>
          </a:p>
        </p:txBody>
      </p:sp>
      <p:sp>
        <p:nvSpPr>
          <p:cNvPr id="4" name="Shape 2"/>
          <p:cNvSpPr/>
          <p:nvPr/>
        </p:nvSpPr>
        <p:spPr>
          <a:xfrm>
            <a:off x="548640" y="1371600"/>
            <a:ext cx="11091672" cy="822960"/>
          </a:xfrm>
          <a:prstGeom prst="roundRect">
            <a:avLst>
              <a:gd name="adj" fmla="val 8889"/>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63040"/>
            <a:ext cx="1828800" cy="274320"/>
          </a:xfrm>
          <a:prstGeom prst="rect">
            <a:avLst/>
          </a:prstGeom>
          <a:noFill/>
          <a:ln/>
        </p:spPr>
        <p:txBody>
          <a:bodyPr wrap="square" lIns="0" tIns="0" rIns="0" bIns="0" rtlCol="0" anchor="ctr"/>
          <a:lstStyle/>
          <a:p>
            <a:pPr indent="0" marL="0">
              <a:buNone/>
            </a:pPr>
            <a:r>
              <a:rPr lang="en-US" sz="1100" b="1" spc="100" kern="0" dirty="0">
                <a:solidFill>
                  <a:srgbClr val="0B5E66"/>
                </a:solidFill>
                <a:latin typeface="Calibri" pitchFamily="34" charset="0"/>
                <a:ea typeface="Calibri" pitchFamily="34" charset="-122"/>
                <a:cs typeface="Calibri" pitchFamily="34" charset="-120"/>
              </a:rPr>
              <a:t>DEFINITION</a:t>
            </a:r>
            <a:endParaRPr lang="en-US" sz="1100" dirty="0"/>
          </a:p>
        </p:txBody>
      </p:sp>
      <p:sp>
        <p:nvSpPr>
          <p:cNvPr id="6" name="Text 4"/>
          <p:cNvSpPr txBox="1"/>
          <p:nvPr/>
        </p:nvSpPr>
        <p:spPr>
          <a:xfrm>
            <a:off x="777240" y="1719072"/>
            <a:ext cx="10698480" cy="420624"/>
          </a:xfrm>
          <a:prstGeom prst="rect">
            <a:avLst/>
          </a:prstGeom>
          <a:noFill/>
          <a:ln/>
        </p:spPr>
        <p:txBody>
          <a:bodyPr wrap="square" lIns="0" tIns="0" rIns="0" bIns="0" rtlCol="0" anchor="t"/>
          <a:lstStyle/>
          <a:p>
            <a:pPr indent="0" marL="0">
              <a:buNone/>
            </a:pPr>
            <a:r>
              <a:rPr lang="en-US" sz="1300" dirty="0">
                <a:solidFill>
                  <a:srgbClr val="1F2A33"/>
                </a:solidFill>
                <a:latin typeface="Calibri" pitchFamily="34" charset="0"/>
                <a:ea typeface="Calibri" pitchFamily="34" charset="-122"/>
                <a:cs typeface="Calibri" pitchFamily="34" charset="-120"/>
              </a:rPr>
              <a:t>Distribution (‘place’) = getting the product to the consumer in the right place, at the right time, in the right quantities. The distribution channel is the path it takes from producer to consumer — the more intermediaries, the longer the channel.</a:t>
            </a:r>
            <a:endParaRPr lang="en-US" sz="1300" dirty="0"/>
          </a:p>
        </p:txBody>
      </p:sp>
      <p:sp>
        <p:nvSpPr>
          <p:cNvPr id="7" name="Shape 5"/>
          <p:cNvSpPr/>
          <p:nvPr/>
        </p:nvSpPr>
        <p:spPr>
          <a:xfrm>
            <a:off x="640080" y="2532888"/>
            <a:ext cx="1508760" cy="548640"/>
          </a:xfrm>
          <a:prstGeom prst="roundRect">
            <a:avLst>
              <a:gd name="adj" fmla="val 16667"/>
            </a:avLst>
          </a:prstGeom>
          <a:solidFill>
            <a:srgbClr val="0B2E35"/>
          </a:solidFill>
          <a:ln/>
        </p:spPr>
      </p:sp>
      <p:sp>
        <p:nvSpPr>
          <p:cNvPr id="8" name="Text 6"/>
          <p:cNvSpPr txBox="1"/>
          <p:nvPr/>
        </p:nvSpPr>
        <p:spPr>
          <a:xfrm>
            <a:off x="640080" y="2532888"/>
            <a:ext cx="1508760" cy="548640"/>
          </a:xfrm>
          <a:prstGeom prst="rect">
            <a:avLst/>
          </a:prstGeom>
          <a:noFill/>
          <a:ln/>
        </p:spPr>
        <p:txBody>
          <a:bodyPr wrap="square" lIns="0" tIns="0" rIns="0" bIns="0" rtlCol="0" anchor="ctr"/>
          <a:lstStyle/>
          <a:p>
            <a:pPr algn="ctr" indent="0" marL="0">
              <a:buNone/>
            </a:pPr>
            <a:r>
              <a:rPr lang="en-US" sz="1150" b="1" dirty="0">
                <a:solidFill>
                  <a:srgbClr val="CDE6E8"/>
                </a:solidFill>
                <a:latin typeface="Calibri" pitchFamily="34" charset="0"/>
                <a:ea typeface="Calibri" pitchFamily="34" charset="-122"/>
                <a:cs typeface="Calibri" pitchFamily="34" charset="-120"/>
              </a:rPr>
              <a:t>4-STAGE</a:t>
            </a:r>
            <a:endParaRPr lang="en-US" sz="1150" dirty="0"/>
          </a:p>
        </p:txBody>
      </p:sp>
      <p:sp>
        <p:nvSpPr>
          <p:cNvPr id="9" name="Shape 7"/>
          <p:cNvSpPr/>
          <p:nvPr/>
        </p:nvSpPr>
        <p:spPr>
          <a:xfrm>
            <a:off x="2514600" y="2514600"/>
            <a:ext cx="1783080" cy="585216"/>
          </a:xfrm>
          <a:prstGeom prst="roundRect">
            <a:avLst>
              <a:gd name="adj" fmla="val 15625"/>
            </a:avLst>
          </a:prstGeom>
          <a:solidFill>
            <a:srgbClr val="0E7C86"/>
          </a:solidFill>
          <a:ln/>
        </p:spPr>
      </p:sp>
      <p:sp>
        <p:nvSpPr>
          <p:cNvPr id="10" name="Text 8"/>
          <p:cNvSpPr txBox="1"/>
          <p:nvPr/>
        </p:nvSpPr>
        <p:spPr>
          <a:xfrm>
            <a:off x="2514600" y="2514600"/>
            <a:ext cx="1783080" cy="58521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Producer</a:t>
            </a:r>
            <a:endParaRPr lang="en-US" sz="1250" dirty="0"/>
          </a:p>
        </p:txBody>
      </p:sp>
      <p:sp>
        <p:nvSpPr>
          <p:cNvPr id="11" name="Shape 9"/>
          <p:cNvSpPr/>
          <p:nvPr/>
        </p:nvSpPr>
        <p:spPr>
          <a:xfrm>
            <a:off x="4352544" y="2688336"/>
            <a:ext cx="310896" cy="237744"/>
          </a:xfrm>
          <a:prstGeom prst="rightArrow">
            <a:avLst/>
          </a:prstGeom>
          <a:solidFill>
            <a:srgbClr val="5B6B73"/>
          </a:solidFill>
          <a:ln/>
        </p:spPr>
      </p:sp>
      <p:sp>
        <p:nvSpPr>
          <p:cNvPr id="12" name="Shape 10"/>
          <p:cNvSpPr/>
          <p:nvPr/>
        </p:nvSpPr>
        <p:spPr>
          <a:xfrm>
            <a:off x="4718304" y="2514600"/>
            <a:ext cx="1783080" cy="585216"/>
          </a:xfrm>
          <a:prstGeom prst="roundRect">
            <a:avLst>
              <a:gd name="adj" fmla="val 15625"/>
            </a:avLst>
          </a:prstGeom>
          <a:solidFill>
            <a:srgbClr val="E0940F"/>
          </a:solidFill>
          <a:ln/>
        </p:spPr>
      </p:sp>
      <p:sp>
        <p:nvSpPr>
          <p:cNvPr id="13" name="Text 11"/>
          <p:cNvSpPr txBox="1"/>
          <p:nvPr/>
        </p:nvSpPr>
        <p:spPr>
          <a:xfrm>
            <a:off x="4718304" y="2514600"/>
            <a:ext cx="1783080" cy="58521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Wholesaler</a:t>
            </a:r>
            <a:endParaRPr lang="en-US" sz="1250" dirty="0"/>
          </a:p>
        </p:txBody>
      </p:sp>
      <p:sp>
        <p:nvSpPr>
          <p:cNvPr id="14" name="Shape 12"/>
          <p:cNvSpPr/>
          <p:nvPr/>
        </p:nvSpPr>
        <p:spPr>
          <a:xfrm>
            <a:off x="6556248" y="2688336"/>
            <a:ext cx="310896" cy="237744"/>
          </a:xfrm>
          <a:prstGeom prst="rightArrow">
            <a:avLst/>
          </a:prstGeom>
          <a:solidFill>
            <a:srgbClr val="5B6B73"/>
          </a:solidFill>
          <a:ln/>
        </p:spPr>
      </p:sp>
      <p:sp>
        <p:nvSpPr>
          <p:cNvPr id="15" name="Shape 13"/>
          <p:cNvSpPr/>
          <p:nvPr/>
        </p:nvSpPr>
        <p:spPr>
          <a:xfrm>
            <a:off x="6922008" y="2514600"/>
            <a:ext cx="1783080" cy="585216"/>
          </a:xfrm>
          <a:prstGeom prst="roundRect">
            <a:avLst>
              <a:gd name="adj" fmla="val 15625"/>
            </a:avLst>
          </a:prstGeom>
          <a:solidFill>
            <a:srgbClr val="2F8A5B"/>
          </a:solidFill>
          <a:ln/>
        </p:spPr>
      </p:sp>
      <p:sp>
        <p:nvSpPr>
          <p:cNvPr id="16" name="Text 14"/>
          <p:cNvSpPr txBox="1"/>
          <p:nvPr/>
        </p:nvSpPr>
        <p:spPr>
          <a:xfrm>
            <a:off x="6922008" y="2514600"/>
            <a:ext cx="1783080" cy="58521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Retailer</a:t>
            </a:r>
            <a:endParaRPr lang="en-US" sz="1250" dirty="0"/>
          </a:p>
        </p:txBody>
      </p:sp>
      <p:sp>
        <p:nvSpPr>
          <p:cNvPr id="17" name="Shape 15"/>
          <p:cNvSpPr/>
          <p:nvPr/>
        </p:nvSpPr>
        <p:spPr>
          <a:xfrm>
            <a:off x="8759952" y="2688336"/>
            <a:ext cx="310896" cy="237744"/>
          </a:xfrm>
          <a:prstGeom prst="rightArrow">
            <a:avLst/>
          </a:prstGeom>
          <a:solidFill>
            <a:srgbClr val="5B6B73"/>
          </a:solidFill>
          <a:ln/>
        </p:spPr>
      </p:sp>
      <p:sp>
        <p:nvSpPr>
          <p:cNvPr id="18" name="Shape 16"/>
          <p:cNvSpPr/>
          <p:nvPr/>
        </p:nvSpPr>
        <p:spPr>
          <a:xfrm>
            <a:off x="9125712" y="2514600"/>
            <a:ext cx="1783080" cy="585216"/>
          </a:xfrm>
          <a:prstGeom prst="roundRect">
            <a:avLst>
              <a:gd name="adj" fmla="val 15625"/>
            </a:avLst>
          </a:prstGeom>
          <a:solidFill>
            <a:srgbClr val="0E3A43"/>
          </a:solidFill>
          <a:ln/>
        </p:spPr>
      </p:sp>
      <p:sp>
        <p:nvSpPr>
          <p:cNvPr id="19" name="Text 17"/>
          <p:cNvSpPr txBox="1"/>
          <p:nvPr/>
        </p:nvSpPr>
        <p:spPr>
          <a:xfrm>
            <a:off x="9125712" y="2514600"/>
            <a:ext cx="1783080" cy="58521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Consumer</a:t>
            </a:r>
            <a:endParaRPr lang="en-US" sz="1250" dirty="0"/>
          </a:p>
        </p:txBody>
      </p:sp>
      <p:sp>
        <p:nvSpPr>
          <p:cNvPr id="20" name="Shape 18"/>
          <p:cNvSpPr/>
          <p:nvPr/>
        </p:nvSpPr>
        <p:spPr>
          <a:xfrm>
            <a:off x="640080" y="3630168"/>
            <a:ext cx="1508760" cy="548640"/>
          </a:xfrm>
          <a:prstGeom prst="roundRect">
            <a:avLst>
              <a:gd name="adj" fmla="val 16667"/>
            </a:avLst>
          </a:prstGeom>
          <a:solidFill>
            <a:srgbClr val="0B2E35"/>
          </a:solidFill>
          <a:ln/>
        </p:spPr>
      </p:sp>
      <p:sp>
        <p:nvSpPr>
          <p:cNvPr id="21" name="Text 19"/>
          <p:cNvSpPr txBox="1"/>
          <p:nvPr/>
        </p:nvSpPr>
        <p:spPr>
          <a:xfrm>
            <a:off x="640080" y="3630168"/>
            <a:ext cx="1508760" cy="548640"/>
          </a:xfrm>
          <a:prstGeom prst="rect">
            <a:avLst/>
          </a:prstGeom>
          <a:noFill/>
          <a:ln/>
        </p:spPr>
        <p:txBody>
          <a:bodyPr wrap="square" lIns="0" tIns="0" rIns="0" bIns="0" rtlCol="0" anchor="ctr"/>
          <a:lstStyle/>
          <a:p>
            <a:pPr algn="ctr" indent="0" marL="0">
              <a:buNone/>
            </a:pPr>
            <a:r>
              <a:rPr lang="en-US" sz="1150" b="1" dirty="0">
                <a:solidFill>
                  <a:srgbClr val="CDE6E8"/>
                </a:solidFill>
                <a:latin typeface="Calibri" pitchFamily="34" charset="0"/>
                <a:ea typeface="Calibri" pitchFamily="34" charset="-122"/>
                <a:cs typeface="Calibri" pitchFamily="34" charset="-120"/>
              </a:rPr>
              <a:t>3-STAGE</a:t>
            </a:r>
            <a:endParaRPr lang="en-US" sz="1150" dirty="0"/>
          </a:p>
        </p:txBody>
      </p:sp>
      <p:sp>
        <p:nvSpPr>
          <p:cNvPr id="22" name="Shape 20"/>
          <p:cNvSpPr/>
          <p:nvPr/>
        </p:nvSpPr>
        <p:spPr>
          <a:xfrm>
            <a:off x="2514600" y="3611880"/>
            <a:ext cx="1783080" cy="585216"/>
          </a:xfrm>
          <a:prstGeom prst="roundRect">
            <a:avLst>
              <a:gd name="adj" fmla="val 15625"/>
            </a:avLst>
          </a:prstGeom>
          <a:solidFill>
            <a:srgbClr val="0E7C86"/>
          </a:solidFill>
          <a:ln/>
        </p:spPr>
      </p:sp>
      <p:sp>
        <p:nvSpPr>
          <p:cNvPr id="23" name="Text 21"/>
          <p:cNvSpPr txBox="1"/>
          <p:nvPr/>
        </p:nvSpPr>
        <p:spPr>
          <a:xfrm>
            <a:off x="2514600" y="3611880"/>
            <a:ext cx="1783080" cy="58521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Producer</a:t>
            </a:r>
            <a:endParaRPr lang="en-US" sz="1250" dirty="0"/>
          </a:p>
        </p:txBody>
      </p:sp>
      <p:sp>
        <p:nvSpPr>
          <p:cNvPr id="24" name="Shape 22"/>
          <p:cNvSpPr/>
          <p:nvPr/>
        </p:nvSpPr>
        <p:spPr>
          <a:xfrm>
            <a:off x="4352544" y="3785616"/>
            <a:ext cx="310896" cy="237744"/>
          </a:xfrm>
          <a:prstGeom prst="rightArrow">
            <a:avLst/>
          </a:prstGeom>
          <a:solidFill>
            <a:srgbClr val="5B6B73"/>
          </a:solidFill>
          <a:ln/>
        </p:spPr>
      </p:sp>
      <p:sp>
        <p:nvSpPr>
          <p:cNvPr id="25" name="Shape 23"/>
          <p:cNvSpPr/>
          <p:nvPr/>
        </p:nvSpPr>
        <p:spPr>
          <a:xfrm>
            <a:off x="4718304" y="3611880"/>
            <a:ext cx="1783080" cy="585216"/>
          </a:xfrm>
          <a:prstGeom prst="roundRect">
            <a:avLst>
              <a:gd name="adj" fmla="val 15625"/>
            </a:avLst>
          </a:prstGeom>
          <a:solidFill>
            <a:srgbClr val="2F8A5B"/>
          </a:solidFill>
          <a:ln/>
        </p:spPr>
      </p:sp>
      <p:sp>
        <p:nvSpPr>
          <p:cNvPr id="26" name="Text 24"/>
          <p:cNvSpPr txBox="1"/>
          <p:nvPr/>
        </p:nvSpPr>
        <p:spPr>
          <a:xfrm>
            <a:off x="4718304" y="3611880"/>
            <a:ext cx="1783080" cy="58521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Retailer</a:t>
            </a:r>
            <a:endParaRPr lang="en-US" sz="1250" dirty="0"/>
          </a:p>
        </p:txBody>
      </p:sp>
      <p:sp>
        <p:nvSpPr>
          <p:cNvPr id="27" name="Shape 25"/>
          <p:cNvSpPr/>
          <p:nvPr/>
        </p:nvSpPr>
        <p:spPr>
          <a:xfrm>
            <a:off x="6556248" y="3785616"/>
            <a:ext cx="310896" cy="237744"/>
          </a:xfrm>
          <a:prstGeom prst="rightArrow">
            <a:avLst/>
          </a:prstGeom>
          <a:solidFill>
            <a:srgbClr val="5B6B73"/>
          </a:solidFill>
          <a:ln/>
        </p:spPr>
      </p:sp>
      <p:sp>
        <p:nvSpPr>
          <p:cNvPr id="28" name="Shape 26"/>
          <p:cNvSpPr/>
          <p:nvPr/>
        </p:nvSpPr>
        <p:spPr>
          <a:xfrm>
            <a:off x="6922008" y="3611880"/>
            <a:ext cx="1783080" cy="585216"/>
          </a:xfrm>
          <a:prstGeom prst="roundRect">
            <a:avLst>
              <a:gd name="adj" fmla="val 15625"/>
            </a:avLst>
          </a:prstGeom>
          <a:solidFill>
            <a:srgbClr val="0E3A43"/>
          </a:solidFill>
          <a:ln/>
        </p:spPr>
      </p:sp>
      <p:sp>
        <p:nvSpPr>
          <p:cNvPr id="29" name="Text 27"/>
          <p:cNvSpPr txBox="1"/>
          <p:nvPr/>
        </p:nvSpPr>
        <p:spPr>
          <a:xfrm>
            <a:off x="6922008" y="3611880"/>
            <a:ext cx="1783080" cy="58521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Consumer</a:t>
            </a:r>
            <a:endParaRPr lang="en-US" sz="1250" dirty="0"/>
          </a:p>
        </p:txBody>
      </p:sp>
      <p:sp>
        <p:nvSpPr>
          <p:cNvPr id="30" name="Shape 28"/>
          <p:cNvSpPr/>
          <p:nvPr/>
        </p:nvSpPr>
        <p:spPr>
          <a:xfrm>
            <a:off x="640080" y="4727448"/>
            <a:ext cx="1508760" cy="548640"/>
          </a:xfrm>
          <a:prstGeom prst="roundRect">
            <a:avLst>
              <a:gd name="adj" fmla="val 16667"/>
            </a:avLst>
          </a:prstGeom>
          <a:solidFill>
            <a:srgbClr val="0B2E35"/>
          </a:solidFill>
          <a:ln/>
        </p:spPr>
      </p:sp>
      <p:sp>
        <p:nvSpPr>
          <p:cNvPr id="31" name="Text 29"/>
          <p:cNvSpPr txBox="1"/>
          <p:nvPr/>
        </p:nvSpPr>
        <p:spPr>
          <a:xfrm>
            <a:off x="640080" y="4727448"/>
            <a:ext cx="1508760" cy="548640"/>
          </a:xfrm>
          <a:prstGeom prst="rect">
            <a:avLst/>
          </a:prstGeom>
          <a:noFill/>
          <a:ln/>
        </p:spPr>
        <p:txBody>
          <a:bodyPr wrap="square" lIns="0" tIns="0" rIns="0" bIns="0" rtlCol="0" anchor="ctr"/>
          <a:lstStyle/>
          <a:p>
            <a:pPr algn="ctr" indent="0" marL="0">
              <a:buNone/>
            </a:pPr>
            <a:r>
              <a:rPr lang="en-US" sz="1150" b="1" dirty="0">
                <a:solidFill>
                  <a:srgbClr val="CDE6E8"/>
                </a:solidFill>
                <a:latin typeface="Calibri" pitchFamily="34" charset="0"/>
                <a:ea typeface="Calibri" pitchFamily="34" charset="-122"/>
                <a:cs typeface="Calibri" pitchFamily="34" charset="-120"/>
              </a:rPr>
              <a:t>2-STAGE</a:t>
            </a:r>
            <a:endParaRPr lang="en-US" sz="1150" dirty="0"/>
          </a:p>
        </p:txBody>
      </p:sp>
      <p:sp>
        <p:nvSpPr>
          <p:cNvPr id="32" name="Shape 30"/>
          <p:cNvSpPr/>
          <p:nvPr/>
        </p:nvSpPr>
        <p:spPr>
          <a:xfrm>
            <a:off x="2514600" y="4709160"/>
            <a:ext cx="1783080" cy="585216"/>
          </a:xfrm>
          <a:prstGeom prst="roundRect">
            <a:avLst>
              <a:gd name="adj" fmla="val 15625"/>
            </a:avLst>
          </a:prstGeom>
          <a:solidFill>
            <a:srgbClr val="0E7C86"/>
          </a:solidFill>
          <a:ln/>
        </p:spPr>
      </p:sp>
      <p:sp>
        <p:nvSpPr>
          <p:cNvPr id="33" name="Text 31"/>
          <p:cNvSpPr txBox="1"/>
          <p:nvPr/>
        </p:nvSpPr>
        <p:spPr>
          <a:xfrm>
            <a:off x="2514600" y="4709160"/>
            <a:ext cx="1783080" cy="58521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Producer</a:t>
            </a:r>
            <a:endParaRPr lang="en-US" sz="1250" dirty="0"/>
          </a:p>
        </p:txBody>
      </p:sp>
      <p:sp>
        <p:nvSpPr>
          <p:cNvPr id="34" name="Shape 32"/>
          <p:cNvSpPr/>
          <p:nvPr/>
        </p:nvSpPr>
        <p:spPr>
          <a:xfrm>
            <a:off x="4352544" y="4882896"/>
            <a:ext cx="310896" cy="237744"/>
          </a:xfrm>
          <a:prstGeom prst="rightArrow">
            <a:avLst/>
          </a:prstGeom>
          <a:solidFill>
            <a:srgbClr val="5B6B73"/>
          </a:solidFill>
          <a:ln/>
        </p:spPr>
      </p:sp>
      <p:sp>
        <p:nvSpPr>
          <p:cNvPr id="35" name="Shape 33"/>
          <p:cNvSpPr/>
          <p:nvPr/>
        </p:nvSpPr>
        <p:spPr>
          <a:xfrm>
            <a:off x="4718304" y="4709160"/>
            <a:ext cx="1783080" cy="585216"/>
          </a:xfrm>
          <a:prstGeom prst="roundRect">
            <a:avLst>
              <a:gd name="adj" fmla="val 15625"/>
            </a:avLst>
          </a:prstGeom>
          <a:solidFill>
            <a:srgbClr val="0E3A43"/>
          </a:solidFill>
          <a:ln/>
        </p:spPr>
      </p:sp>
      <p:sp>
        <p:nvSpPr>
          <p:cNvPr id="36" name="Text 34"/>
          <p:cNvSpPr txBox="1"/>
          <p:nvPr/>
        </p:nvSpPr>
        <p:spPr>
          <a:xfrm>
            <a:off x="4718304" y="4709160"/>
            <a:ext cx="1783080" cy="58521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Consumer</a:t>
            </a:r>
            <a:endParaRPr lang="en-US" sz="1250" dirty="0"/>
          </a:p>
        </p:txBody>
      </p:sp>
      <p:sp>
        <p:nvSpPr>
          <p:cNvPr id="37" name="Shape 35"/>
          <p:cNvSpPr/>
          <p:nvPr/>
        </p:nvSpPr>
        <p:spPr>
          <a:xfrm>
            <a:off x="548640" y="5577840"/>
            <a:ext cx="11091672" cy="594360"/>
          </a:xfrm>
          <a:prstGeom prst="roundRect">
            <a:avLst>
              <a:gd name="adj" fmla="val 12308"/>
            </a:avLst>
          </a:prstGeom>
          <a:solidFill>
            <a:srgbClr val="FBF0D8"/>
          </a:solidFill>
          <a:ln/>
          <a:effectLst>
            <a:outerShdw sx="100000" sy="100000" kx="0" ky="0" algn="bl" rotWithShape="0" blurRad="76200" dist="25400" dir="5400000">
              <a:srgbClr val="9AAAB0">
                <a:alpha val="28000"/>
              </a:srgbClr>
            </a:outerShdw>
          </a:effectLst>
        </p:spPr>
      </p:sp>
      <p:sp>
        <p:nvSpPr>
          <p:cNvPr id="38" name="Text 36"/>
          <p:cNvSpPr txBox="1"/>
          <p:nvPr/>
        </p:nvSpPr>
        <p:spPr>
          <a:xfrm>
            <a:off x="777240" y="5660136"/>
            <a:ext cx="10698480" cy="438912"/>
          </a:xfrm>
          <a:prstGeom prst="rect">
            <a:avLst/>
          </a:prstGeom>
          <a:noFill/>
          <a:ln/>
        </p:spPr>
        <p:txBody>
          <a:bodyPr wrap="square" lIns="0" tIns="0" rIns="0" bIns="0" rtlCol="0" anchor="ctr"/>
          <a:lstStyle/>
          <a:p>
            <a:pPr indent="0" marL="0">
              <a:buNone/>
            </a:pPr>
            <a:r>
              <a:rPr lang="en-US" sz="1250" b="1" dirty="0">
                <a:solidFill>
                  <a:srgbClr val="8A5A06"/>
                </a:solidFill>
                <a:latin typeface="Calibri" pitchFamily="34" charset="0"/>
                <a:ea typeface="Calibri" pitchFamily="34" charset="-122"/>
                <a:cs typeface="Calibri" pitchFamily="34" charset="-120"/>
              </a:rPr>
              <a:t>The trade-off:  </a:t>
            </a:r>
            <a:pPr indent="0" marL="0">
              <a:buNone/>
            </a:pPr>
            <a:r>
              <a:rPr lang="en-US" sz="1250" dirty="0">
                <a:solidFill>
                  <a:srgbClr val="1F2A33"/>
                </a:solidFill>
                <a:latin typeface="Calibri" pitchFamily="34" charset="0"/>
                <a:ea typeface="Calibri" pitchFamily="34" charset="-122"/>
                <a:cs typeface="Calibri" pitchFamily="34" charset="-120"/>
              </a:rPr>
              <a:t>a shorter channel (2-stage/direct) gives more control and keeps more margin; a longer channel (4-stage) reaches more, scattered customers but each intermediary takes a cut.</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CHANNEL 1</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Four-stage channel (Producer → Wholesaler → Retailer → Consumer)</a:t>
            </a:r>
            <a:endParaRPr lang="en-US" sz="2800" dirty="0"/>
          </a:p>
        </p:txBody>
      </p:sp>
      <p:sp>
        <p:nvSpPr>
          <p:cNvPr id="4" name="Shape 2"/>
          <p:cNvSpPr/>
          <p:nvPr/>
        </p:nvSpPr>
        <p:spPr>
          <a:xfrm>
            <a:off x="548640" y="1371600"/>
            <a:ext cx="11091672"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1828800" cy="274320"/>
          </a:xfrm>
          <a:prstGeom prst="rect">
            <a:avLst/>
          </a:prstGeom>
          <a:noFill/>
          <a:ln/>
        </p:spPr>
        <p:txBody>
          <a:bodyPr wrap="square" lIns="0" tIns="0" rIns="0" bIns="0" rtlCol="0" anchor="ctr"/>
          <a:lstStyle/>
          <a:p>
            <a:pPr indent="0" marL="0">
              <a:buNone/>
            </a:pPr>
            <a:r>
              <a:rPr lang="en-US" sz="1100" b="1" spc="100" kern="0" dirty="0">
                <a:solidFill>
                  <a:srgbClr val="0B5E66"/>
                </a:solidFill>
                <a:latin typeface="Calibri" pitchFamily="34" charset="0"/>
                <a:ea typeface="Calibri" pitchFamily="34" charset="-122"/>
                <a:cs typeface="Calibri" pitchFamily="34" charset="-120"/>
              </a:rPr>
              <a:t>DEFINITION</a:t>
            </a:r>
            <a:endParaRPr lang="en-US" sz="1100" dirty="0"/>
          </a:p>
        </p:txBody>
      </p:sp>
      <p:sp>
        <p:nvSpPr>
          <p:cNvPr id="6" name="Text 4"/>
          <p:cNvSpPr txBox="1"/>
          <p:nvPr/>
        </p:nvSpPr>
        <p:spPr>
          <a:xfrm>
            <a:off x="777240" y="1737360"/>
            <a:ext cx="10607040" cy="420624"/>
          </a:xfrm>
          <a:prstGeom prst="rect">
            <a:avLst/>
          </a:prstGeom>
          <a:noFill/>
          <a:ln/>
        </p:spPr>
        <p:txBody>
          <a:bodyPr wrap="square" lIns="0" tIns="0" rIns="0" bIns="0" rtlCol="0" anchor="t"/>
          <a:lstStyle/>
          <a:p>
            <a:pPr indent="0" marL="0">
              <a:buNone/>
            </a:pPr>
            <a:r>
              <a:rPr lang="en-US" sz="1350" dirty="0">
                <a:solidFill>
                  <a:srgbClr val="1F2A33"/>
                </a:solidFill>
                <a:latin typeface="Calibri" pitchFamily="34" charset="0"/>
                <a:ea typeface="Calibri" pitchFamily="34" charset="-122"/>
                <a:cs typeface="Calibri" pitchFamily="34" charset="-120"/>
              </a:rPr>
              <a:t>The producer sells in bulk to a wholesaler, who ‘breaks bulk’ and supplies many retailers, who then sell to consumers.</a:t>
            </a:r>
            <a:endParaRPr lang="en-US" sz="1350" dirty="0"/>
          </a:p>
        </p:txBody>
      </p:sp>
      <p:sp>
        <p:nvSpPr>
          <p:cNvPr id="7" name="Shape 5"/>
          <p:cNvSpPr/>
          <p:nvPr/>
        </p:nvSpPr>
        <p:spPr>
          <a:xfrm>
            <a:off x="548640" y="2395728"/>
            <a:ext cx="5440680" cy="2240280"/>
          </a:xfrm>
          <a:prstGeom prst="roundRect">
            <a:avLst>
              <a:gd name="adj" fmla="val 3265"/>
            </a:avLst>
          </a:prstGeom>
          <a:solidFill>
            <a:srgbClr val="E8F3EC"/>
          </a:solidFill>
          <a:ln/>
          <a:effectLst>
            <a:outerShdw sx="100000" sy="100000" kx="0" ky="0" algn="bl" rotWithShape="0" blurRad="76200" dist="25400" dir="5400000">
              <a:srgbClr val="9AAAB0">
                <a:alpha val="28000"/>
              </a:srgbClr>
            </a:outerShdw>
          </a:effectLst>
        </p:spPr>
      </p:sp>
      <p:sp>
        <p:nvSpPr>
          <p:cNvPr id="8" name="Shape 6"/>
          <p:cNvSpPr/>
          <p:nvPr/>
        </p:nvSpPr>
        <p:spPr>
          <a:xfrm>
            <a:off x="777240" y="2560320"/>
            <a:ext cx="2286000" cy="310896"/>
          </a:xfrm>
          <a:prstGeom prst="roundRect">
            <a:avLst>
              <a:gd name="adj" fmla="val 50000"/>
            </a:avLst>
          </a:prstGeom>
          <a:solidFill>
            <a:srgbClr val="2F8A5B"/>
          </a:solidFill>
          <a:ln/>
        </p:spPr>
      </p:sp>
      <p:sp>
        <p:nvSpPr>
          <p:cNvPr id="9" name="Text 7"/>
          <p:cNvSpPr txBox="1"/>
          <p:nvPr/>
        </p:nvSpPr>
        <p:spPr>
          <a:xfrm>
            <a:off x="777240" y="2560320"/>
            <a:ext cx="22860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ADVANTAGES</a:t>
            </a:r>
            <a:endParaRPr lang="en-US" sz="1050" dirty="0"/>
          </a:p>
        </p:txBody>
      </p:sp>
      <p:sp>
        <p:nvSpPr>
          <p:cNvPr id="10" name="Text 8"/>
          <p:cNvSpPr txBox="1"/>
          <p:nvPr/>
        </p:nvSpPr>
        <p:spPr>
          <a:xfrm>
            <a:off x="777240" y="2980944"/>
            <a:ext cx="4983480" cy="15544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Reaches many small, scattered retailers efficiently</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The wholesaler handles storage, breaking bulk and transport</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The producer deals with a few large customers, not thousands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Ideal for FMCG sold through small independent shops</a:t>
            </a:r>
            <a:endParaRPr lang="en-US" sz="1300" dirty="0"/>
          </a:p>
        </p:txBody>
      </p:sp>
      <p:sp>
        <p:nvSpPr>
          <p:cNvPr id="11" name="Shape 9"/>
          <p:cNvSpPr/>
          <p:nvPr/>
        </p:nvSpPr>
        <p:spPr>
          <a:xfrm>
            <a:off x="6199632" y="2395728"/>
            <a:ext cx="5440680" cy="2240280"/>
          </a:xfrm>
          <a:prstGeom prst="roundRect">
            <a:avLst>
              <a:gd name="adj" fmla="val 3265"/>
            </a:avLst>
          </a:prstGeom>
          <a:solidFill>
            <a:srgbClr val="F9EAE6"/>
          </a:solidFill>
          <a:ln/>
          <a:effectLst>
            <a:outerShdw sx="100000" sy="100000" kx="0" ky="0" algn="bl" rotWithShape="0" blurRad="76200" dist="25400" dir="5400000">
              <a:srgbClr val="9AAAB0">
                <a:alpha val="28000"/>
              </a:srgbClr>
            </a:outerShdw>
          </a:effectLst>
        </p:spPr>
      </p:sp>
      <p:sp>
        <p:nvSpPr>
          <p:cNvPr id="12" name="Shape 10"/>
          <p:cNvSpPr/>
          <p:nvPr/>
        </p:nvSpPr>
        <p:spPr>
          <a:xfrm>
            <a:off x="6428232" y="2560320"/>
            <a:ext cx="2651760" cy="310896"/>
          </a:xfrm>
          <a:prstGeom prst="roundRect">
            <a:avLst>
              <a:gd name="adj" fmla="val 50000"/>
            </a:avLst>
          </a:prstGeom>
          <a:solidFill>
            <a:srgbClr val="C14B37"/>
          </a:solidFill>
          <a:ln/>
        </p:spPr>
      </p:sp>
      <p:sp>
        <p:nvSpPr>
          <p:cNvPr id="13" name="Text 11"/>
          <p:cNvSpPr txBox="1"/>
          <p:nvPr/>
        </p:nvSpPr>
        <p:spPr>
          <a:xfrm>
            <a:off x="6428232" y="2560320"/>
            <a:ext cx="26517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DISADVANTAGES</a:t>
            </a:r>
            <a:endParaRPr lang="en-US" sz="1050" dirty="0"/>
          </a:p>
        </p:txBody>
      </p:sp>
      <p:sp>
        <p:nvSpPr>
          <p:cNvPr id="14" name="Text 12"/>
          <p:cNvSpPr txBox="1"/>
          <p:nvPr/>
        </p:nvSpPr>
        <p:spPr>
          <a:xfrm>
            <a:off x="6428232" y="2980944"/>
            <a:ext cx="4983480" cy="15544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Longest channel — each intermediary takes a margin → higher final price / lower producer margin</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Least control over how the product is priced and presented</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Slower to reach the market</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The producer is far from the end customer, so gets little feedback</a:t>
            </a:r>
            <a:endParaRPr lang="en-US" sz="1300" dirty="0"/>
          </a:p>
        </p:txBody>
      </p:sp>
      <p:sp>
        <p:nvSpPr>
          <p:cNvPr id="15" name="Shape 13"/>
          <p:cNvSpPr/>
          <p:nvPr/>
        </p:nvSpPr>
        <p:spPr>
          <a:xfrm>
            <a:off x="548640" y="4818888"/>
            <a:ext cx="11091672" cy="1371600"/>
          </a:xfrm>
          <a:prstGeom prst="roundRect">
            <a:avLst>
              <a:gd name="adj" fmla="val 5333"/>
            </a:avLst>
          </a:prstGeom>
          <a:solidFill>
            <a:srgbClr val="FBF0D8"/>
          </a:solidFill>
          <a:ln/>
          <a:effectLst>
            <a:outerShdw sx="100000" sy="100000" kx="0" ky="0" algn="bl" rotWithShape="0" blurRad="76200" dist="25400" dir="5400000">
              <a:srgbClr val="9AAAB0">
                <a:alpha val="28000"/>
              </a:srgbClr>
            </a:outerShdw>
          </a:effectLst>
        </p:spPr>
      </p:sp>
      <p:sp>
        <p:nvSpPr>
          <p:cNvPr id="16" name="Shape 14"/>
          <p:cNvSpPr/>
          <p:nvPr/>
        </p:nvSpPr>
        <p:spPr>
          <a:xfrm>
            <a:off x="548640" y="4818888"/>
            <a:ext cx="109728" cy="1371600"/>
          </a:xfrm>
          <a:prstGeom prst="roundRect">
            <a:avLst/>
          </a:prstGeom>
          <a:solidFill>
            <a:srgbClr val="E0940F"/>
          </a:solidFill>
          <a:ln/>
        </p:spPr>
      </p:sp>
      <p:sp>
        <p:nvSpPr>
          <p:cNvPr id="17" name="Text 15"/>
          <p:cNvSpPr txBox="1"/>
          <p:nvPr/>
        </p:nvSpPr>
        <p:spPr>
          <a:xfrm>
            <a:off x="777240" y="4937760"/>
            <a:ext cx="10607040" cy="292608"/>
          </a:xfrm>
          <a:prstGeom prst="rect">
            <a:avLst/>
          </a:prstGeom>
          <a:noFill/>
          <a:ln/>
        </p:spPr>
        <p:txBody>
          <a:bodyPr wrap="square" lIns="0" tIns="0" rIns="0" bIns="0" rtlCol="0" anchor="ctr"/>
          <a:lstStyle/>
          <a:p>
            <a:pPr indent="0" marL="0">
              <a:buNone/>
            </a:pPr>
            <a:r>
              <a:rPr lang="en-US" sz="1150" b="1" spc="100" kern="0" dirty="0">
                <a:solidFill>
                  <a:srgbClr val="8A5A06"/>
                </a:solidFill>
                <a:latin typeface="Calibri" pitchFamily="34" charset="0"/>
                <a:ea typeface="Calibri" pitchFamily="34" charset="-122"/>
                <a:cs typeface="Calibri" pitchFamily="34" charset="-120"/>
              </a:rPr>
              <a:t>REAL EXAMPLE  ·  FMCG via cash-and-carry</a:t>
            </a:r>
            <a:endParaRPr lang="en-US" sz="1150" dirty="0"/>
          </a:p>
        </p:txBody>
      </p:sp>
      <p:sp>
        <p:nvSpPr>
          <p:cNvPr id="18" name="Text 16"/>
          <p:cNvSpPr txBox="1"/>
          <p:nvPr/>
        </p:nvSpPr>
        <p:spPr>
          <a:xfrm>
            <a:off x="777240" y="5230368"/>
            <a:ext cx="10698480" cy="868680"/>
          </a:xfrm>
          <a:prstGeom prst="rect">
            <a:avLst/>
          </a:prstGeom>
          <a:noFill/>
          <a:ln/>
        </p:spPr>
        <p:txBody>
          <a:bodyPr wrap="square" lIns="0" tIns="0" rIns="0" bIns="0" rtlCol="0" anchor="t"/>
          <a:lstStyle/>
          <a:p>
            <a:pPr indent="0" marL="0">
              <a:buNone/>
            </a:pPr>
            <a:r>
              <a:rPr lang="en-US" sz="1300" dirty="0">
                <a:solidFill>
                  <a:srgbClr val="1F2A33"/>
                </a:solidFill>
                <a:latin typeface="Calibri" pitchFamily="34" charset="0"/>
                <a:ea typeface="Calibri" pitchFamily="34" charset="-122"/>
                <a:cs typeface="Calibri" pitchFamily="34" charset="-120"/>
              </a:rPr>
              <a:t>Fast-moving goods such as confectionery and groceries reach thousands of small corner shops through cash-and-carry wholesalers (e.g. UAE wholesale markets). No producer could serve so many tiny retailers directly — the wholesaler makes it viable.</a:t>
            </a:r>
            <a:endParaRPr lang="en-US" sz="13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CHANNEL 2</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Three-stage channel (Producer → Retailer → Consumer)</a:t>
            </a:r>
            <a:endParaRPr lang="en-US" sz="2800" dirty="0"/>
          </a:p>
        </p:txBody>
      </p:sp>
      <p:sp>
        <p:nvSpPr>
          <p:cNvPr id="4" name="Shape 2"/>
          <p:cNvSpPr/>
          <p:nvPr/>
        </p:nvSpPr>
        <p:spPr>
          <a:xfrm>
            <a:off x="548640" y="1371600"/>
            <a:ext cx="11091672"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1828800" cy="274320"/>
          </a:xfrm>
          <a:prstGeom prst="rect">
            <a:avLst/>
          </a:prstGeom>
          <a:noFill/>
          <a:ln/>
        </p:spPr>
        <p:txBody>
          <a:bodyPr wrap="square" lIns="0" tIns="0" rIns="0" bIns="0" rtlCol="0" anchor="ctr"/>
          <a:lstStyle/>
          <a:p>
            <a:pPr indent="0" marL="0">
              <a:buNone/>
            </a:pPr>
            <a:r>
              <a:rPr lang="en-US" sz="1100" b="1" spc="100" kern="0" dirty="0">
                <a:solidFill>
                  <a:srgbClr val="0B5E66"/>
                </a:solidFill>
                <a:latin typeface="Calibri" pitchFamily="34" charset="0"/>
                <a:ea typeface="Calibri" pitchFamily="34" charset="-122"/>
                <a:cs typeface="Calibri" pitchFamily="34" charset="-120"/>
              </a:rPr>
              <a:t>DEFINITION</a:t>
            </a:r>
            <a:endParaRPr lang="en-US" sz="1100" dirty="0"/>
          </a:p>
        </p:txBody>
      </p:sp>
      <p:sp>
        <p:nvSpPr>
          <p:cNvPr id="6" name="Text 4"/>
          <p:cNvSpPr txBox="1"/>
          <p:nvPr/>
        </p:nvSpPr>
        <p:spPr>
          <a:xfrm>
            <a:off x="777240" y="1737360"/>
            <a:ext cx="10607040" cy="420624"/>
          </a:xfrm>
          <a:prstGeom prst="rect">
            <a:avLst/>
          </a:prstGeom>
          <a:noFill/>
          <a:ln/>
        </p:spPr>
        <p:txBody>
          <a:bodyPr wrap="square" lIns="0" tIns="0" rIns="0" bIns="0" rtlCol="0" anchor="t"/>
          <a:lstStyle/>
          <a:p>
            <a:pPr indent="0" marL="0">
              <a:buNone/>
            </a:pPr>
            <a:r>
              <a:rPr lang="en-US" sz="1350" dirty="0">
                <a:solidFill>
                  <a:srgbClr val="1F2A33"/>
                </a:solidFill>
                <a:latin typeface="Calibri" pitchFamily="34" charset="0"/>
                <a:ea typeface="Calibri" pitchFamily="34" charset="-122"/>
                <a:cs typeface="Calibri" pitchFamily="34" charset="-120"/>
              </a:rPr>
              <a:t>The producer sells directly to retailers (no wholesaler), and the retailers sell to consumers.</a:t>
            </a:r>
            <a:endParaRPr lang="en-US" sz="1350" dirty="0"/>
          </a:p>
        </p:txBody>
      </p:sp>
      <p:sp>
        <p:nvSpPr>
          <p:cNvPr id="7" name="Shape 5"/>
          <p:cNvSpPr/>
          <p:nvPr/>
        </p:nvSpPr>
        <p:spPr>
          <a:xfrm>
            <a:off x="548640" y="2395728"/>
            <a:ext cx="5440680" cy="2240280"/>
          </a:xfrm>
          <a:prstGeom prst="roundRect">
            <a:avLst>
              <a:gd name="adj" fmla="val 3265"/>
            </a:avLst>
          </a:prstGeom>
          <a:solidFill>
            <a:srgbClr val="E8F3EC"/>
          </a:solidFill>
          <a:ln/>
          <a:effectLst>
            <a:outerShdw sx="100000" sy="100000" kx="0" ky="0" algn="bl" rotWithShape="0" blurRad="76200" dist="25400" dir="5400000">
              <a:srgbClr val="9AAAB0">
                <a:alpha val="28000"/>
              </a:srgbClr>
            </a:outerShdw>
          </a:effectLst>
        </p:spPr>
      </p:sp>
      <p:sp>
        <p:nvSpPr>
          <p:cNvPr id="8" name="Shape 6"/>
          <p:cNvSpPr/>
          <p:nvPr/>
        </p:nvSpPr>
        <p:spPr>
          <a:xfrm>
            <a:off x="777240" y="2560320"/>
            <a:ext cx="2286000" cy="310896"/>
          </a:xfrm>
          <a:prstGeom prst="roundRect">
            <a:avLst>
              <a:gd name="adj" fmla="val 50000"/>
            </a:avLst>
          </a:prstGeom>
          <a:solidFill>
            <a:srgbClr val="2F8A5B"/>
          </a:solidFill>
          <a:ln/>
        </p:spPr>
      </p:sp>
      <p:sp>
        <p:nvSpPr>
          <p:cNvPr id="9" name="Text 7"/>
          <p:cNvSpPr txBox="1"/>
          <p:nvPr/>
        </p:nvSpPr>
        <p:spPr>
          <a:xfrm>
            <a:off x="777240" y="2560320"/>
            <a:ext cx="22860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ADVANTAGES</a:t>
            </a:r>
            <a:endParaRPr lang="en-US" sz="1050" dirty="0"/>
          </a:p>
        </p:txBody>
      </p:sp>
      <p:sp>
        <p:nvSpPr>
          <p:cNvPr id="10" name="Text 8"/>
          <p:cNvSpPr txBox="1"/>
          <p:nvPr/>
        </p:nvSpPr>
        <p:spPr>
          <a:xfrm>
            <a:off x="777240" y="2980944"/>
            <a:ext cx="4983480" cy="15544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Shorter than four-stage — one fewer margin taken</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More control over price and presentation than four-stage</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Suits large retailers who buy in bulk themselves (supermarkets)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Faster to market than a four-stage channel</a:t>
            </a:r>
            <a:endParaRPr lang="en-US" sz="1300" dirty="0"/>
          </a:p>
        </p:txBody>
      </p:sp>
      <p:sp>
        <p:nvSpPr>
          <p:cNvPr id="11" name="Shape 9"/>
          <p:cNvSpPr/>
          <p:nvPr/>
        </p:nvSpPr>
        <p:spPr>
          <a:xfrm>
            <a:off x="6199632" y="2395728"/>
            <a:ext cx="5440680" cy="2240280"/>
          </a:xfrm>
          <a:prstGeom prst="roundRect">
            <a:avLst>
              <a:gd name="adj" fmla="val 3265"/>
            </a:avLst>
          </a:prstGeom>
          <a:solidFill>
            <a:srgbClr val="F9EAE6"/>
          </a:solidFill>
          <a:ln/>
          <a:effectLst>
            <a:outerShdw sx="100000" sy="100000" kx="0" ky="0" algn="bl" rotWithShape="0" blurRad="76200" dist="25400" dir="5400000">
              <a:srgbClr val="9AAAB0">
                <a:alpha val="28000"/>
              </a:srgbClr>
            </a:outerShdw>
          </a:effectLst>
        </p:spPr>
      </p:sp>
      <p:sp>
        <p:nvSpPr>
          <p:cNvPr id="12" name="Shape 10"/>
          <p:cNvSpPr/>
          <p:nvPr/>
        </p:nvSpPr>
        <p:spPr>
          <a:xfrm>
            <a:off x="6428232" y="2560320"/>
            <a:ext cx="2651760" cy="310896"/>
          </a:xfrm>
          <a:prstGeom prst="roundRect">
            <a:avLst>
              <a:gd name="adj" fmla="val 50000"/>
            </a:avLst>
          </a:prstGeom>
          <a:solidFill>
            <a:srgbClr val="C14B37"/>
          </a:solidFill>
          <a:ln/>
        </p:spPr>
      </p:sp>
      <p:sp>
        <p:nvSpPr>
          <p:cNvPr id="13" name="Text 11"/>
          <p:cNvSpPr txBox="1"/>
          <p:nvPr/>
        </p:nvSpPr>
        <p:spPr>
          <a:xfrm>
            <a:off x="6428232" y="2560320"/>
            <a:ext cx="26517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DISADVANTAGES</a:t>
            </a:r>
            <a:endParaRPr lang="en-US" sz="1050" dirty="0"/>
          </a:p>
        </p:txBody>
      </p:sp>
      <p:sp>
        <p:nvSpPr>
          <p:cNvPr id="14" name="Text 12"/>
          <p:cNvSpPr txBox="1"/>
          <p:nvPr/>
        </p:nvSpPr>
        <p:spPr>
          <a:xfrm>
            <a:off x="6428232" y="2980944"/>
            <a:ext cx="4983480" cy="15544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The producer must manage many retail accounts and logistics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Margin and some control are still shared with the retailer</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Not viable for a tiny producer trying to reach many small shops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Depends on retailers agreeing to stock the product</a:t>
            </a:r>
            <a:endParaRPr lang="en-US" sz="1300" dirty="0"/>
          </a:p>
        </p:txBody>
      </p:sp>
      <p:sp>
        <p:nvSpPr>
          <p:cNvPr id="15" name="Shape 13"/>
          <p:cNvSpPr/>
          <p:nvPr/>
        </p:nvSpPr>
        <p:spPr>
          <a:xfrm>
            <a:off x="548640" y="4818888"/>
            <a:ext cx="11091672" cy="1371600"/>
          </a:xfrm>
          <a:prstGeom prst="roundRect">
            <a:avLst>
              <a:gd name="adj" fmla="val 5333"/>
            </a:avLst>
          </a:prstGeom>
          <a:solidFill>
            <a:srgbClr val="FBF0D8"/>
          </a:solidFill>
          <a:ln/>
          <a:effectLst>
            <a:outerShdw sx="100000" sy="100000" kx="0" ky="0" algn="bl" rotWithShape="0" blurRad="76200" dist="25400" dir="5400000">
              <a:srgbClr val="9AAAB0">
                <a:alpha val="28000"/>
              </a:srgbClr>
            </a:outerShdw>
          </a:effectLst>
        </p:spPr>
      </p:sp>
      <p:sp>
        <p:nvSpPr>
          <p:cNvPr id="16" name="Shape 14"/>
          <p:cNvSpPr/>
          <p:nvPr/>
        </p:nvSpPr>
        <p:spPr>
          <a:xfrm>
            <a:off x="548640" y="4818888"/>
            <a:ext cx="109728" cy="1371600"/>
          </a:xfrm>
          <a:prstGeom prst="roundRect">
            <a:avLst/>
          </a:prstGeom>
          <a:solidFill>
            <a:srgbClr val="E0940F"/>
          </a:solidFill>
          <a:ln/>
        </p:spPr>
      </p:sp>
      <p:sp>
        <p:nvSpPr>
          <p:cNvPr id="17" name="Text 15"/>
          <p:cNvSpPr txBox="1"/>
          <p:nvPr/>
        </p:nvSpPr>
        <p:spPr>
          <a:xfrm>
            <a:off x="777240" y="4937760"/>
            <a:ext cx="10607040" cy="292608"/>
          </a:xfrm>
          <a:prstGeom prst="rect">
            <a:avLst/>
          </a:prstGeom>
          <a:noFill/>
          <a:ln/>
        </p:spPr>
        <p:txBody>
          <a:bodyPr wrap="square" lIns="0" tIns="0" rIns="0" bIns="0" rtlCol="0" anchor="ctr"/>
          <a:lstStyle/>
          <a:p>
            <a:pPr indent="0" marL="0">
              <a:buNone/>
            </a:pPr>
            <a:r>
              <a:rPr lang="en-US" sz="1150" b="1" spc="100" kern="0" dirty="0">
                <a:solidFill>
                  <a:srgbClr val="8A5A06"/>
                </a:solidFill>
                <a:latin typeface="Calibri" pitchFamily="34" charset="0"/>
                <a:ea typeface="Calibri" pitchFamily="34" charset="-122"/>
                <a:cs typeface="Calibri" pitchFamily="34" charset="-120"/>
              </a:rPr>
              <a:t>REAL EXAMPLE  ·  Clothing &amp; small electricals</a:t>
            </a:r>
            <a:endParaRPr lang="en-US" sz="1150" dirty="0"/>
          </a:p>
        </p:txBody>
      </p:sp>
      <p:sp>
        <p:nvSpPr>
          <p:cNvPr id="18" name="Text 16"/>
          <p:cNvSpPr txBox="1"/>
          <p:nvPr/>
        </p:nvSpPr>
        <p:spPr>
          <a:xfrm>
            <a:off x="777240" y="5230368"/>
            <a:ext cx="10698480" cy="868680"/>
          </a:xfrm>
          <a:prstGeom prst="rect">
            <a:avLst/>
          </a:prstGeom>
          <a:noFill/>
          <a:ln/>
        </p:spPr>
        <p:txBody>
          <a:bodyPr wrap="square" lIns="0" tIns="0" rIns="0" bIns="0" rtlCol="0" anchor="t"/>
          <a:lstStyle/>
          <a:p>
            <a:pPr indent="0" marL="0">
              <a:buNone/>
            </a:pPr>
            <a:r>
              <a:rPr lang="en-US" sz="1300" dirty="0">
                <a:solidFill>
                  <a:srgbClr val="1F2A33"/>
                </a:solidFill>
                <a:latin typeface="Calibri" pitchFamily="34" charset="0"/>
                <a:ea typeface="Calibri" pitchFamily="34" charset="-122"/>
                <a:cs typeface="Calibri" pitchFamily="34" charset="-120"/>
              </a:rPr>
              <a:t>A clothing brand sells to department stores, and customers buy in-store; small electricals such as toasters and kettles reach shops this way. Large supermarkets also buy many goods straight from big manufacturers, cutting out the wholesaler.</a:t>
            </a:r>
            <a:endParaRPr lang="en-US" sz="13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CHANNEL 3</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Two-stage / direct channel (Producer → Consumer)</a:t>
            </a:r>
            <a:endParaRPr lang="en-US" sz="2800" dirty="0"/>
          </a:p>
        </p:txBody>
      </p:sp>
      <p:sp>
        <p:nvSpPr>
          <p:cNvPr id="4" name="Shape 2"/>
          <p:cNvSpPr/>
          <p:nvPr/>
        </p:nvSpPr>
        <p:spPr>
          <a:xfrm>
            <a:off x="548640" y="1371600"/>
            <a:ext cx="11091672"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1828800" cy="274320"/>
          </a:xfrm>
          <a:prstGeom prst="rect">
            <a:avLst/>
          </a:prstGeom>
          <a:noFill/>
          <a:ln/>
        </p:spPr>
        <p:txBody>
          <a:bodyPr wrap="square" lIns="0" tIns="0" rIns="0" bIns="0" rtlCol="0" anchor="ctr"/>
          <a:lstStyle/>
          <a:p>
            <a:pPr indent="0" marL="0">
              <a:buNone/>
            </a:pPr>
            <a:r>
              <a:rPr lang="en-US" sz="1100" b="1" spc="100" kern="0" dirty="0">
                <a:solidFill>
                  <a:srgbClr val="0B5E66"/>
                </a:solidFill>
                <a:latin typeface="Calibri" pitchFamily="34" charset="0"/>
                <a:ea typeface="Calibri" pitchFamily="34" charset="-122"/>
                <a:cs typeface="Calibri" pitchFamily="34" charset="-120"/>
              </a:rPr>
              <a:t>DEFINITION</a:t>
            </a:r>
            <a:endParaRPr lang="en-US" sz="1100" dirty="0"/>
          </a:p>
        </p:txBody>
      </p:sp>
      <p:sp>
        <p:nvSpPr>
          <p:cNvPr id="6" name="Text 4"/>
          <p:cNvSpPr txBox="1"/>
          <p:nvPr/>
        </p:nvSpPr>
        <p:spPr>
          <a:xfrm>
            <a:off x="777240" y="1737360"/>
            <a:ext cx="10607040" cy="420624"/>
          </a:xfrm>
          <a:prstGeom prst="rect">
            <a:avLst/>
          </a:prstGeom>
          <a:noFill/>
          <a:ln/>
        </p:spPr>
        <p:txBody>
          <a:bodyPr wrap="square" lIns="0" tIns="0" rIns="0" bIns="0" rtlCol="0" anchor="t"/>
          <a:lstStyle/>
          <a:p>
            <a:pPr indent="0" marL="0">
              <a:buNone/>
            </a:pPr>
            <a:r>
              <a:rPr lang="en-US" sz="1350" dirty="0">
                <a:solidFill>
                  <a:srgbClr val="1F2A33"/>
                </a:solidFill>
                <a:latin typeface="Calibri" pitchFamily="34" charset="0"/>
                <a:ea typeface="Calibri" pitchFamily="34" charset="-122"/>
                <a:cs typeface="Calibri" pitchFamily="34" charset="-120"/>
              </a:rPr>
              <a:t>The producer sells straight to the consumer with no intermediaries — typically online, through factory shops or its own stores.</a:t>
            </a:r>
            <a:endParaRPr lang="en-US" sz="1350" dirty="0"/>
          </a:p>
        </p:txBody>
      </p:sp>
      <p:sp>
        <p:nvSpPr>
          <p:cNvPr id="7" name="Shape 5"/>
          <p:cNvSpPr/>
          <p:nvPr/>
        </p:nvSpPr>
        <p:spPr>
          <a:xfrm>
            <a:off x="548640" y="2395728"/>
            <a:ext cx="5440680" cy="2240280"/>
          </a:xfrm>
          <a:prstGeom prst="roundRect">
            <a:avLst>
              <a:gd name="adj" fmla="val 3265"/>
            </a:avLst>
          </a:prstGeom>
          <a:solidFill>
            <a:srgbClr val="E8F3EC"/>
          </a:solidFill>
          <a:ln/>
          <a:effectLst>
            <a:outerShdw sx="100000" sy="100000" kx="0" ky="0" algn="bl" rotWithShape="0" blurRad="76200" dist="25400" dir="5400000">
              <a:srgbClr val="9AAAB0">
                <a:alpha val="28000"/>
              </a:srgbClr>
            </a:outerShdw>
          </a:effectLst>
        </p:spPr>
      </p:sp>
      <p:sp>
        <p:nvSpPr>
          <p:cNvPr id="8" name="Shape 6"/>
          <p:cNvSpPr/>
          <p:nvPr/>
        </p:nvSpPr>
        <p:spPr>
          <a:xfrm>
            <a:off x="777240" y="2560320"/>
            <a:ext cx="2286000" cy="310896"/>
          </a:xfrm>
          <a:prstGeom prst="roundRect">
            <a:avLst>
              <a:gd name="adj" fmla="val 50000"/>
            </a:avLst>
          </a:prstGeom>
          <a:solidFill>
            <a:srgbClr val="2F8A5B"/>
          </a:solidFill>
          <a:ln/>
        </p:spPr>
      </p:sp>
      <p:sp>
        <p:nvSpPr>
          <p:cNvPr id="9" name="Text 7"/>
          <p:cNvSpPr txBox="1"/>
          <p:nvPr/>
        </p:nvSpPr>
        <p:spPr>
          <a:xfrm>
            <a:off x="777240" y="2560320"/>
            <a:ext cx="22860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ADVANTAGES</a:t>
            </a:r>
            <a:endParaRPr lang="en-US" sz="1050" dirty="0"/>
          </a:p>
        </p:txBody>
      </p:sp>
      <p:sp>
        <p:nvSpPr>
          <p:cNvPr id="10" name="Text 8"/>
          <p:cNvSpPr txBox="1"/>
          <p:nvPr/>
        </p:nvSpPr>
        <p:spPr>
          <a:xfrm>
            <a:off x="777240" y="2980944"/>
            <a:ext cx="4983480" cy="15544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Full control over price, brand image and the customer experience</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The producer keeps the entire margin</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A direct relationship with customers — and their data</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Reinforces a premium, exclusive brand</a:t>
            </a:r>
            <a:endParaRPr lang="en-US" sz="1300" dirty="0"/>
          </a:p>
        </p:txBody>
      </p:sp>
      <p:sp>
        <p:nvSpPr>
          <p:cNvPr id="11" name="Shape 9"/>
          <p:cNvSpPr/>
          <p:nvPr/>
        </p:nvSpPr>
        <p:spPr>
          <a:xfrm>
            <a:off x="6199632" y="2395728"/>
            <a:ext cx="5440680" cy="2240280"/>
          </a:xfrm>
          <a:prstGeom prst="roundRect">
            <a:avLst>
              <a:gd name="adj" fmla="val 3265"/>
            </a:avLst>
          </a:prstGeom>
          <a:solidFill>
            <a:srgbClr val="F9EAE6"/>
          </a:solidFill>
          <a:ln/>
          <a:effectLst>
            <a:outerShdw sx="100000" sy="100000" kx="0" ky="0" algn="bl" rotWithShape="0" blurRad="76200" dist="25400" dir="5400000">
              <a:srgbClr val="9AAAB0">
                <a:alpha val="28000"/>
              </a:srgbClr>
            </a:outerShdw>
          </a:effectLst>
        </p:spPr>
      </p:sp>
      <p:sp>
        <p:nvSpPr>
          <p:cNvPr id="12" name="Shape 10"/>
          <p:cNvSpPr/>
          <p:nvPr/>
        </p:nvSpPr>
        <p:spPr>
          <a:xfrm>
            <a:off x="6428232" y="2560320"/>
            <a:ext cx="2651760" cy="310896"/>
          </a:xfrm>
          <a:prstGeom prst="roundRect">
            <a:avLst>
              <a:gd name="adj" fmla="val 50000"/>
            </a:avLst>
          </a:prstGeom>
          <a:solidFill>
            <a:srgbClr val="C14B37"/>
          </a:solidFill>
          <a:ln/>
        </p:spPr>
      </p:sp>
      <p:sp>
        <p:nvSpPr>
          <p:cNvPr id="13" name="Text 11"/>
          <p:cNvSpPr txBox="1"/>
          <p:nvPr/>
        </p:nvSpPr>
        <p:spPr>
          <a:xfrm>
            <a:off x="6428232" y="2560320"/>
            <a:ext cx="26517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DISADVANTAGES</a:t>
            </a:r>
            <a:endParaRPr lang="en-US" sz="1050" dirty="0"/>
          </a:p>
        </p:txBody>
      </p:sp>
      <p:sp>
        <p:nvSpPr>
          <p:cNvPr id="14" name="Text 12"/>
          <p:cNvSpPr txBox="1"/>
          <p:nvPr/>
        </p:nvSpPr>
        <p:spPr>
          <a:xfrm>
            <a:off x="6428232" y="2980944"/>
            <a:ext cx="4983480" cy="15544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The producer bears all selling, marketing and logistics costs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Limited reach without intermediaries' networks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Needs its own channel — website, stores, delivery</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Harder and slower to scale across many markets</a:t>
            </a:r>
            <a:endParaRPr lang="en-US" sz="1300" dirty="0"/>
          </a:p>
        </p:txBody>
      </p:sp>
      <p:sp>
        <p:nvSpPr>
          <p:cNvPr id="15" name="Shape 13"/>
          <p:cNvSpPr/>
          <p:nvPr/>
        </p:nvSpPr>
        <p:spPr>
          <a:xfrm>
            <a:off x="548640" y="4818888"/>
            <a:ext cx="11091672" cy="1371600"/>
          </a:xfrm>
          <a:prstGeom prst="roundRect">
            <a:avLst>
              <a:gd name="adj" fmla="val 5333"/>
            </a:avLst>
          </a:prstGeom>
          <a:solidFill>
            <a:srgbClr val="FBF0D8"/>
          </a:solidFill>
          <a:ln/>
          <a:effectLst>
            <a:outerShdw sx="100000" sy="100000" kx="0" ky="0" algn="bl" rotWithShape="0" blurRad="76200" dist="25400" dir="5400000">
              <a:srgbClr val="9AAAB0">
                <a:alpha val="28000"/>
              </a:srgbClr>
            </a:outerShdw>
          </a:effectLst>
        </p:spPr>
      </p:sp>
      <p:sp>
        <p:nvSpPr>
          <p:cNvPr id="16" name="Shape 14"/>
          <p:cNvSpPr/>
          <p:nvPr/>
        </p:nvSpPr>
        <p:spPr>
          <a:xfrm>
            <a:off x="548640" y="4818888"/>
            <a:ext cx="109728" cy="1371600"/>
          </a:xfrm>
          <a:prstGeom prst="roundRect">
            <a:avLst/>
          </a:prstGeom>
          <a:solidFill>
            <a:srgbClr val="E0940F"/>
          </a:solidFill>
          <a:ln/>
        </p:spPr>
      </p:sp>
      <p:sp>
        <p:nvSpPr>
          <p:cNvPr id="17" name="Text 15"/>
          <p:cNvSpPr txBox="1"/>
          <p:nvPr/>
        </p:nvSpPr>
        <p:spPr>
          <a:xfrm>
            <a:off x="777240" y="4937760"/>
            <a:ext cx="10607040" cy="292608"/>
          </a:xfrm>
          <a:prstGeom prst="rect">
            <a:avLst/>
          </a:prstGeom>
          <a:noFill/>
          <a:ln/>
        </p:spPr>
        <p:txBody>
          <a:bodyPr wrap="square" lIns="0" tIns="0" rIns="0" bIns="0" rtlCol="0" anchor="ctr"/>
          <a:lstStyle/>
          <a:p>
            <a:pPr indent="0" marL="0">
              <a:buNone/>
            </a:pPr>
            <a:r>
              <a:rPr lang="en-US" sz="1150" b="1" spc="100" kern="0" dirty="0">
                <a:solidFill>
                  <a:srgbClr val="8A5A06"/>
                </a:solidFill>
                <a:latin typeface="Calibri" pitchFamily="34" charset="0"/>
                <a:ea typeface="Calibri" pitchFamily="34" charset="-122"/>
                <a:cs typeface="Calibri" pitchFamily="34" charset="-120"/>
              </a:rPr>
              <a:t>REAL EXAMPLE  ·  Tesla &amp; Apple</a:t>
            </a:r>
            <a:endParaRPr lang="en-US" sz="1150" dirty="0"/>
          </a:p>
        </p:txBody>
      </p:sp>
      <p:sp>
        <p:nvSpPr>
          <p:cNvPr id="18" name="Text 16"/>
          <p:cNvSpPr txBox="1"/>
          <p:nvPr/>
        </p:nvSpPr>
        <p:spPr>
          <a:xfrm>
            <a:off x="777240" y="5230368"/>
            <a:ext cx="10698480" cy="868680"/>
          </a:xfrm>
          <a:prstGeom prst="rect">
            <a:avLst/>
          </a:prstGeom>
          <a:noFill/>
          <a:ln/>
        </p:spPr>
        <p:txBody>
          <a:bodyPr wrap="square" lIns="0" tIns="0" rIns="0" bIns="0" rtlCol="0" anchor="t"/>
          <a:lstStyle/>
          <a:p>
            <a:pPr indent="0" marL="0">
              <a:buNone/>
            </a:pPr>
            <a:r>
              <a:rPr lang="en-US" sz="1300" dirty="0">
                <a:solidFill>
                  <a:srgbClr val="1F2A33"/>
                </a:solidFill>
                <a:latin typeface="Calibri" pitchFamily="34" charset="0"/>
                <a:ea typeface="Calibri" pitchFamily="34" charset="-122"/>
                <a:cs typeface="Calibri" pitchFamily="34" charset="-120"/>
              </a:rPr>
              <a:t>Tesla sells only through its own showrooms and website — no dealers — to control price and experience. Apple blends its own Apple Stores and apple.com with retail. Online-only brands (Namshi, ASOS) and farm shops are other direct examples.</a:t>
            </a:r>
            <a:endParaRPr lang="en-US" sz="13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INTERMEDIARIES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The intermediaries in a channel</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194560"/>
                <a:gridCol w="4873752"/>
                <a:gridCol w="1554480"/>
                <a:gridCol w="2468880"/>
              </a:tblGrid>
              <a:tr h="41148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Intermediary</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What they do</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Holds stock?</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Example</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r>
              <a:tr h="841248">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Wholesaler</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Buys in bulk from producers and ‘breaks bulk’ to supply many retailers</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Cash-and-carry; Al Maya (UAE)</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749808">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Retailer</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Sells directly to the final consumer in convenient locations</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Supermarkets, Sephora, department stores</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841248">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Distributor</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Buys, stocks and sells on — often B2B, may give after-sales support</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Electronics / parts distributors</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749808">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Agent</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Sells on the producer's behalf for a commission — arranges the sale only</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Travel, insurance and export agents</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760720"/>
            <a:ext cx="11091672" cy="457200"/>
          </a:xfrm>
          <a:prstGeom prst="roundRect">
            <a:avLst>
              <a:gd name="adj" fmla="val 16000"/>
            </a:avLst>
          </a:prstGeom>
          <a:solidFill>
            <a:srgbClr val="FBF0D8"/>
          </a:solidFill>
          <a:ln/>
          <a:effectLst>
            <a:outerShdw sx="100000" sy="100000" kx="0" ky="0" algn="bl" rotWithShape="0" blurRad="76200" dist="25400" dir="5400000">
              <a:srgbClr val="9AAAB0">
                <a:alpha val="28000"/>
              </a:srgbClr>
            </a:outerShdw>
          </a:effectLst>
        </p:spPr>
      </p:sp>
      <p:sp>
        <p:nvSpPr>
          <p:cNvPr id="6" name="Text 3"/>
          <p:cNvSpPr txBox="1"/>
          <p:nvPr/>
        </p:nvSpPr>
        <p:spPr>
          <a:xfrm>
            <a:off x="777240" y="5779008"/>
            <a:ext cx="10698480" cy="420624"/>
          </a:xfrm>
          <a:prstGeom prst="rect">
            <a:avLst/>
          </a:prstGeom>
          <a:noFill/>
          <a:ln/>
        </p:spPr>
        <p:txBody>
          <a:bodyPr wrap="square" lIns="0" tIns="0" rIns="0" bIns="0" rtlCol="0" anchor="ctr"/>
          <a:lstStyle/>
          <a:p>
            <a:pPr indent="0" marL="0">
              <a:buNone/>
            </a:pPr>
            <a:r>
              <a:rPr lang="en-US" sz="1250" b="1" dirty="0">
                <a:solidFill>
                  <a:srgbClr val="8A5A06"/>
                </a:solidFill>
                <a:latin typeface="Calibri" pitchFamily="34" charset="0"/>
                <a:ea typeface="Calibri" pitchFamily="34" charset="-122"/>
                <a:cs typeface="Calibri" pitchFamily="34" charset="-120"/>
              </a:rPr>
              <a:t>Exam tip:  </a:t>
            </a:r>
            <a:pPr indent="0" marL="0">
              <a:buNone/>
            </a:pPr>
            <a:r>
              <a:rPr lang="en-US" sz="1250" dirty="0">
                <a:solidFill>
                  <a:srgbClr val="1F2A33"/>
                </a:solidFill>
                <a:latin typeface="Calibri" pitchFamily="34" charset="0"/>
                <a:ea typeface="Calibri" pitchFamily="34" charset="-122"/>
                <a:cs typeface="Calibri" pitchFamily="34" charset="-120"/>
              </a:rPr>
              <a:t>the key distinction examiners test is agent vs distributor — an agent only arranges the sale and holds no stock; a distributor buys, stocks and resells.</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EXAM PRACTICE</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Exam practice: distribution channels</a:t>
            </a:r>
            <a:endParaRPr lang="en-US" sz="2800" dirty="0"/>
          </a:p>
        </p:txBody>
      </p:sp>
      <p:sp>
        <p:nvSpPr>
          <p:cNvPr id="4" name="Shape 2"/>
          <p:cNvSpPr/>
          <p:nvPr/>
        </p:nvSpPr>
        <p:spPr>
          <a:xfrm>
            <a:off x="548640" y="1371600"/>
            <a:ext cx="11091672" cy="1874520"/>
          </a:xfrm>
          <a:prstGeom prst="roundRect">
            <a:avLst>
              <a:gd name="adj" fmla="val 3902"/>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5486400" cy="274320"/>
          </a:xfrm>
          <a:prstGeom prst="rect">
            <a:avLst/>
          </a:prstGeom>
          <a:noFill/>
          <a:ln/>
        </p:spPr>
        <p:txBody>
          <a:bodyPr wrap="square" lIns="0" tIns="0" rIns="0" bIns="0" rtlCol="0" anchor="ctr"/>
          <a:lstStyle/>
          <a:p>
            <a:pPr indent="0" marL="0">
              <a:buNone/>
            </a:pPr>
            <a:r>
              <a:rPr lang="en-US" sz="1100" b="1" spc="150" kern="0" dirty="0">
                <a:solidFill>
                  <a:srgbClr val="7FC4CB"/>
                </a:solidFill>
                <a:latin typeface="Calibri" pitchFamily="34" charset="0"/>
                <a:ea typeface="Calibri" pitchFamily="34" charset="-122"/>
                <a:cs typeface="Calibri" pitchFamily="34" charset="-120"/>
              </a:rPr>
              <a:t>EXAM QUESTIONS</a:t>
            </a:r>
            <a:endParaRPr lang="en-US" sz="1100" dirty="0"/>
          </a:p>
        </p:txBody>
      </p:sp>
      <p:sp>
        <p:nvSpPr>
          <p:cNvPr id="6" name="Text 4"/>
          <p:cNvSpPr txBox="1"/>
          <p:nvPr/>
        </p:nvSpPr>
        <p:spPr>
          <a:xfrm>
            <a:off x="777240" y="1792224"/>
            <a:ext cx="10607040" cy="132588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Define the term ‘channel of distribution’.  </a:t>
            </a:r>
            <a:pPr indent="0" marL="0">
              <a:spcAft>
                <a:spcPts val="800"/>
              </a:spcAft>
              <a:buNone/>
            </a:pPr>
            <a:r>
              <a:rPr lang="en-US" sz="1350" b="1" dirty="0">
                <a:solidFill>
                  <a:srgbClr val="E0940F"/>
                </a:solidFill>
                <a:latin typeface="Calibri" pitchFamily="34" charset="0"/>
                <a:ea typeface="Calibri" pitchFamily="34" charset="-122"/>
                <a:cs typeface="Calibri" pitchFamily="34" charset="-120"/>
              </a:rPr>
              <a:t>[2]</a:t>
            </a:r>
            <a:endParaRPr lang="en-US" sz="1350" dirty="0"/>
          </a:p>
          <a:p>
            <a:pPr indent="0" marL="0">
              <a:buNone/>
            </a:pPr>
            <a:r>
              <a:rPr lang="en-US" sz="1350" dirty="0">
                <a:solidFill>
                  <a:srgbClr val="FFFFFF"/>
                </a:solidFill>
                <a:latin typeface="Calibri" pitchFamily="34" charset="0"/>
                <a:ea typeface="Calibri" pitchFamily="34" charset="-122"/>
                <a:cs typeface="Calibri" pitchFamily="34" charset="-120"/>
              </a:rPr>
              <a:t>For a small producer selling nationwide, explain one benefit and one drawback of using a longer (4-stage) distribution channel.  </a:t>
            </a:r>
            <a:pPr indent="0" marL="0">
              <a:spcAft>
                <a:spcPts val="800"/>
              </a:spcAft>
              <a:buNone/>
            </a:pPr>
            <a:r>
              <a:rPr lang="en-US" sz="1350" b="1" dirty="0">
                <a:solidFill>
                  <a:srgbClr val="E0940F"/>
                </a:solidFill>
                <a:latin typeface="Calibri" pitchFamily="34" charset="0"/>
                <a:ea typeface="Calibri" pitchFamily="34" charset="-122"/>
                <a:cs typeface="Calibri" pitchFamily="34" charset="-120"/>
              </a:rPr>
              <a:t>[6]</a:t>
            </a:r>
            <a:endParaRPr lang="en-US" sz="1350" dirty="0"/>
          </a:p>
        </p:txBody>
      </p:sp>
      <p:sp>
        <p:nvSpPr>
          <p:cNvPr id="7" name="Shape 5"/>
          <p:cNvSpPr/>
          <p:nvPr/>
        </p:nvSpPr>
        <p:spPr>
          <a:xfrm>
            <a:off x="548640" y="3364992"/>
            <a:ext cx="5029200" cy="2834640"/>
          </a:xfrm>
          <a:prstGeom prst="roundRect">
            <a:avLst>
              <a:gd name="adj" fmla="val 2581"/>
            </a:avLst>
          </a:prstGeom>
          <a:solidFill>
            <a:srgbClr val="EAF3F4"/>
          </a:solidFill>
          <a:ln/>
          <a:effectLst>
            <a:outerShdw sx="100000" sy="100000" kx="0" ky="0" algn="bl" rotWithShape="0" blurRad="76200" dist="25400" dir="5400000">
              <a:srgbClr val="9AAAB0">
                <a:alpha val="28000"/>
              </a:srgbClr>
            </a:outerShdw>
          </a:effectLst>
        </p:spPr>
      </p:sp>
      <p:sp>
        <p:nvSpPr>
          <p:cNvPr id="8" name="Text 6"/>
          <p:cNvSpPr txBox="1"/>
          <p:nvPr/>
        </p:nvSpPr>
        <p:spPr>
          <a:xfrm>
            <a:off x="749808" y="3474720"/>
            <a:ext cx="4663440" cy="310896"/>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What the question is testing</a:t>
            </a:r>
            <a:endParaRPr lang="en-US" sz="1300" dirty="0"/>
          </a:p>
        </p:txBody>
      </p:sp>
      <p:sp>
        <p:nvSpPr>
          <p:cNvPr id="9" name="Text 7"/>
          <p:cNvSpPr txBox="1"/>
          <p:nvPr/>
        </p:nvSpPr>
        <p:spPr>
          <a:xfrm>
            <a:off x="749808" y="3840480"/>
            <a:ext cx="461772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2-mark Define: the path from producer to consumer (1) + an example or the ‘intermediaries’ idea (1).</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6-mark Explain: one benefit + one drawback, each applied to the small producer, each developed.</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Keep both points tied to a small producer selling nationwide.</a:t>
            </a:r>
            <a:endParaRPr lang="en-US" sz="1250" dirty="0"/>
          </a:p>
        </p:txBody>
      </p:sp>
      <p:sp>
        <p:nvSpPr>
          <p:cNvPr id="10" name="Shape 8"/>
          <p:cNvSpPr/>
          <p:nvPr/>
        </p:nvSpPr>
        <p:spPr>
          <a:xfrm>
            <a:off x="5788152" y="3364992"/>
            <a:ext cx="5852160" cy="2834640"/>
          </a:xfrm>
          <a:prstGeom prst="roundRect">
            <a:avLst>
              <a:gd name="adj" fmla="val 2581"/>
            </a:avLst>
          </a:prstGeom>
          <a:solidFill>
            <a:srgbClr val="FBF0D8"/>
          </a:solidFill>
          <a:ln/>
          <a:effectLst>
            <a:outerShdw sx="100000" sy="100000" kx="0" ky="0" algn="bl" rotWithShape="0" blurRad="76200" dist="25400" dir="5400000">
              <a:srgbClr val="9AAAB0">
                <a:alpha val="28000"/>
              </a:srgbClr>
            </a:outerShdw>
          </a:effectLst>
        </p:spPr>
      </p:sp>
      <p:sp>
        <p:nvSpPr>
          <p:cNvPr id="11" name="Text 9"/>
          <p:cNvSpPr txBox="1"/>
          <p:nvPr/>
        </p:nvSpPr>
        <p:spPr>
          <a:xfrm>
            <a:off x="5989320" y="3474720"/>
            <a:ext cx="5486400" cy="310896"/>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How to build it</a:t>
            </a:r>
            <a:endParaRPr lang="en-US" sz="1300" dirty="0"/>
          </a:p>
        </p:txBody>
      </p:sp>
      <p:sp>
        <p:nvSpPr>
          <p:cNvPr id="12" name="Text 10"/>
          <p:cNvSpPr txBox="1"/>
          <p:nvPr/>
        </p:nvSpPr>
        <p:spPr>
          <a:xfrm>
            <a:off x="5989320" y="3840480"/>
            <a:ext cx="544068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BENEFIT (K+A+An): a wholesaler reaches many scattered shops → “this means the small producer can sell nationwide without serving each shop itself.”</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DRAWBACK: each intermediary takes a margin → “so the producer earns less per unit, or the final price is higher, which may weaken competitiveness.”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Develop each with a chain — don't just state the benefit/drawback.</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B</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B</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300" b="1" dirty="0">
                <a:solidFill>
                  <a:srgbClr val="FFFFFF"/>
                </a:solidFill>
                <a:latin typeface="Cambria" pitchFamily="34" charset="0"/>
                <a:ea typeface="Cambria" pitchFamily="34" charset="-122"/>
                <a:cs typeface="Cambria" pitchFamily="34" charset="-120"/>
              </a:rPr>
              <a:t>Choosing a channel &amp; multi-channel</a:t>
            </a:r>
            <a:endParaRPr lang="en-US" sz="33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direct vs indirect  ·  multi-channel distribution and its benefits &amp; drawbacks  ·  the factors that decide the right channel</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DIRECT VS INDIRECT</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Direct vs indirect distribution</a:t>
            </a:r>
            <a:endParaRPr lang="en-US" sz="2800" dirty="0"/>
          </a:p>
        </p:txBody>
      </p:sp>
      <p:sp>
        <p:nvSpPr>
          <p:cNvPr id="4" name="Shape 2"/>
          <p:cNvSpPr/>
          <p:nvPr/>
        </p:nvSpPr>
        <p:spPr>
          <a:xfrm>
            <a:off x="548640" y="1417320"/>
            <a:ext cx="5440680" cy="3977640"/>
          </a:xfrm>
          <a:prstGeom prst="roundRect">
            <a:avLst>
              <a:gd name="adj" fmla="val 1839"/>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Shape 3"/>
          <p:cNvSpPr/>
          <p:nvPr/>
        </p:nvSpPr>
        <p:spPr>
          <a:xfrm>
            <a:off x="777240" y="1581912"/>
            <a:ext cx="2286000" cy="310896"/>
          </a:xfrm>
          <a:prstGeom prst="roundRect">
            <a:avLst>
              <a:gd name="adj" fmla="val 50000"/>
            </a:avLst>
          </a:prstGeom>
          <a:solidFill>
            <a:srgbClr val="0E7C86"/>
          </a:solidFill>
          <a:ln/>
        </p:spPr>
      </p:sp>
      <p:sp>
        <p:nvSpPr>
          <p:cNvPr id="6" name="Text 4"/>
          <p:cNvSpPr txBox="1"/>
          <p:nvPr/>
        </p:nvSpPr>
        <p:spPr>
          <a:xfrm>
            <a:off x="777240" y="1581912"/>
            <a:ext cx="22860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DIRECT</a:t>
            </a:r>
            <a:endParaRPr lang="en-US" sz="1050" dirty="0"/>
          </a:p>
        </p:txBody>
      </p:sp>
      <p:sp>
        <p:nvSpPr>
          <p:cNvPr id="7" name="Text 5"/>
          <p:cNvSpPr txBox="1"/>
          <p:nvPr/>
        </p:nvSpPr>
        <p:spPr>
          <a:xfrm>
            <a:off x="777240" y="2011680"/>
            <a:ext cx="4983480" cy="50292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Producer → consumer, with no intermediaries (own stores, website, factory shop).</a:t>
            </a:r>
            <a:endParaRPr lang="en-US" sz="1250" dirty="0"/>
          </a:p>
        </p:txBody>
      </p:sp>
      <p:sp>
        <p:nvSpPr>
          <p:cNvPr id="8" name="Text 6"/>
          <p:cNvSpPr txBox="1"/>
          <p:nvPr/>
        </p:nvSpPr>
        <p:spPr>
          <a:xfrm>
            <a:off x="777240" y="2560320"/>
            <a:ext cx="4983480" cy="1463040"/>
          </a:xfrm>
          <a:prstGeom prst="rect">
            <a:avLst/>
          </a:prstGeom>
          <a:noFill/>
          <a:ln/>
        </p:spPr>
        <p:txBody>
          <a:bodyPr wrap="square" lIns="0" tIns="0" rIns="0" bIns="0" rtlCol="0" anchor="t"/>
          <a:lstStyle/>
          <a:p>
            <a:pPr indent="0" marL="0">
              <a:spcAft>
                <a:spcPts val="600"/>
              </a:spcAft>
              <a:buNone/>
            </a:pPr>
            <a:r>
              <a:rPr lang="en-US" sz="1250" b="1" dirty="0">
                <a:solidFill>
                  <a:srgbClr val="2F8A5B"/>
                </a:solidFill>
                <a:latin typeface="Calibri" pitchFamily="34" charset="0"/>
                <a:ea typeface="Calibri" pitchFamily="34" charset="-122"/>
                <a:cs typeface="Calibri" pitchFamily="34" charset="-120"/>
              </a:rPr>
              <a:t>Good for:  </a:t>
            </a:r>
            <a:pPr indent="0" marL="0">
              <a:spcAft>
                <a:spcPts val="600"/>
              </a:spcAft>
              <a:buNone/>
            </a:pPr>
            <a:r>
              <a:rPr lang="en-US" sz="1250" dirty="0">
                <a:solidFill>
                  <a:srgbClr val="1F2A33"/>
                </a:solidFill>
                <a:latin typeface="Calibri" pitchFamily="34" charset="0"/>
                <a:ea typeface="Calibri" pitchFamily="34" charset="-122"/>
                <a:cs typeface="Calibri" pitchFamily="34" charset="-120"/>
              </a:rPr>
              <a:t>control, full margin, data and a premium image.
</a:t>
            </a:r>
            <a:pPr indent="0" marL="0">
              <a:spcAft>
                <a:spcPts val="600"/>
              </a:spcAft>
              <a:buNone/>
            </a:pPr>
            <a:r>
              <a:rPr lang="en-US" sz="1250" b="1" dirty="0">
                <a:solidFill>
                  <a:srgbClr val="C14B37"/>
                </a:solidFill>
                <a:latin typeface="Calibri" pitchFamily="34" charset="0"/>
                <a:ea typeface="Calibri" pitchFamily="34" charset="-122"/>
                <a:cs typeface="Calibri" pitchFamily="34" charset="-120"/>
              </a:rPr>
              <a:t>Watch out:  </a:t>
            </a:r>
            <a:pPr indent="0" marL="0">
              <a:spcAft>
                <a:spcPts val="600"/>
              </a:spcAft>
              <a:buNone/>
            </a:pPr>
            <a:r>
              <a:rPr lang="en-US" sz="1250" dirty="0">
                <a:solidFill>
                  <a:srgbClr val="1F2A33"/>
                </a:solidFill>
                <a:latin typeface="Calibri" pitchFamily="34" charset="0"/>
                <a:ea typeface="Calibri" pitchFamily="34" charset="-122"/>
                <a:cs typeface="Calibri" pitchFamily="34" charset="-120"/>
              </a:rPr>
              <a:t>all costs fall on the producer; limited reach; harder to scale.</a:t>
            </a:r>
            <a:endParaRPr lang="en-US" sz="1250" dirty="0"/>
          </a:p>
        </p:txBody>
      </p:sp>
      <p:sp>
        <p:nvSpPr>
          <p:cNvPr id="9" name="Text 7"/>
          <p:cNvSpPr txBox="1"/>
          <p:nvPr/>
        </p:nvSpPr>
        <p:spPr>
          <a:xfrm>
            <a:off x="777240" y="4114800"/>
            <a:ext cx="4983480" cy="1097280"/>
          </a:xfrm>
          <a:prstGeom prst="rect">
            <a:avLst/>
          </a:prstGeom>
          <a:noFill/>
          <a:ln/>
        </p:spPr>
        <p:txBody>
          <a:bodyPr wrap="square" lIns="0" tIns="0" rIns="0" bIns="0" rtlCol="0" anchor="t"/>
          <a:lstStyle/>
          <a:p>
            <a:pPr indent="0" marL="0">
              <a:buNone/>
            </a:pPr>
            <a:r>
              <a:rPr lang="en-US" sz="1150" b="1" dirty="0">
                <a:solidFill>
                  <a:srgbClr val="5B6B73"/>
                </a:solidFill>
                <a:latin typeface="Calibri" pitchFamily="34" charset="0"/>
                <a:ea typeface="Calibri" pitchFamily="34" charset="-122"/>
                <a:cs typeface="Calibri" pitchFamily="34" charset="-120"/>
              </a:rPr>
              <a:t>e.g.  </a:t>
            </a:r>
            <a:pPr indent="0" marL="0">
              <a:buNone/>
            </a:pPr>
            <a:r>
              <a:rPr lang="en-US" sz="1150" i="1" dirty="0">
                <a:solidFill>
                  <a:srgbClr val="5B6B73"/>
                </a:solidFill>
                <a:latin typeface="Calibri" pitchFamily="34" charset="0"/>
                <a:ea typeface="Calibri" pitchFamily="34" charset="-122"/>
                <a:cs typeface="Calibri" pitchFamily="34" charset="-120"/>
              </a:rPr>
              <a:t>Tesla, Apple Stores, online-only brands, insurance sold direct online.</a:t>
            </a:r>
            <a:endParaRPr lang="en-US" sz="1150" dirty="0"/>
          </a:p>
        </p:txBody>
      </p:sp>
      <p:sp>
        <p:nvSpPr>
          <p:cNvPr id="10" name="Shape 8"/>
          <p:cNvSpPr/>
          <p:nvPr/>
        </p:nvSpPr>
        <p:spPr>
          <a:xfrm>
            <a:off x="6199632" y="1417320"/>
            <a:ext cx="5440680" cy="3977640"/>
          </a:xfrm>
          <a:prstGeom prst="roundRect">
            <a:avLst>
              <a:gd name="adj" fmla="val 1839"/>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1" name="Shape 9"/>
          <p:cNvSpPr/>
          <p:nvPr/>
        </p:nvSpPr>
        <p:spPr>
          <a:xfrm>
            <a:off x="6428232" y="1581912"/>
            <a:ext cx="2560320" cy="310896"/>
          </a:xfrm>
          <a:prstGeom prst="roundRect">
            <a:avLst>
              <a:gd name="adj" fmla="val 50000"/>
            </a:avLst>
          </a:prstGeom>
          <a:solidFill>
            <a:srgbClr val="E0940F"/>
          </a:solidFill>
          <a:ln/>
        </p:spPr>
      </p:sp>
      <p:sp>
        <p:nvSpPr>
          <p:cNvPr id="12" name="Text 10"/>
          <p:cNvSpPr txBox="1"/>
          <p:nvPr/>
        </p:nvSpPr>
        <p:spPr>
          <a:xfrm>
            <a:off x="6428232" y="1581912"/>
            <a:ext cx="256032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INDIRECT</a:t>
            </a:r>
            <a:endParaRPr lang="en-US" sz="1050" dirty="0"/>
          </a:p>
        </p:txBody>
      </p:sp>
      <p:sp>
        <p:nvSpPr>
          <p:cNvPr id="13" name="Text 11"/>
          <p:cNvSpPr txBox="1"/>
          <p:nvPr/>
        </p:nvSpPr>
        <p:spPr>
          <a:xfrm>
            <a:off x="6428232" y="2011680"/>
            <a:ext cx="4983480" cy="50292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Producer → intermediaries (wholesaler / retailer / agent) → consumer.</a:t>
            </a:r>
            <a:endParaRPr lang="en-US" sz="1250" dirty="0"/>
          </a:p>
        </p:txBody>
      </p:sp>
      <p:sp>
        <p:nvSpPr>
          <p:cNvPr id="14" name="Text 12"/>
          <p:cNvSpPr txBox="1"/>
          <p:nvPr/>
        </p:nvSpPr>
        <p:spPr>
          <a:xfrm>
            <a:off x="6428232" y="2560320"/>
            <a:ext cx="4983480" cy="1463040"/>
          </a:xfrm>
          <a:prstGeom prst="rect">
            <a:avLst/>
          </a:prstGeom>
          <a:noFill/>
          <a:ln/>
        </p:spPr>
        <p:txBody>
          <a:bodyPr wrap="square" lIns="0" tIns="0" rIns="0" bIns="0" rtlCol="0" anchor="t"/>
          <a:lstStyle/>
          <a:p>
            <a:pPr indent="0" marL="0">
              <a:spcAft>
                <a:spcPts val="600"/>
              </a:spcAft>
              <a:buNone/>
            </a:pPr>
            <a:r>
              <a:rPr lang="en-US" sz="1250" b="1" dirty="0">
                <a:solidFill>
                  <a:srgbClr val="2F8A5B"/>
                </a:solidFill>
                <a:latin typeface="Calibri" pitchFamily="34" charset="0"/>
                <a:ea typeface="Calibri" pitchFamily="34" charset="-122"/>
                <a:cs typeface="Calibri" pitchFamily="34" charset="-120"/>
              </a:rPr>
              <a:t>Good for:  </a:t>
            </a:r>
            <a:pPr indent="0" marL="0">
              <a:spcAft>
                <a:spcPts val="600"/>
              </a:spcAft>
              <a:buNone/>
            </a:pPr>
            <a:r>
              <a:rPr lang="en-US" sz="1250" dirty="0">
                <a:solidFill>
                  <a:srgbClr val="1F2A33"/>
                </a:solidFill>
                <a:latin typeface="Calibri" pitchFamily="34" charset="0"/>
                <a:ea typeface="Calibri" pitchFamily="34" charset="-122"/>
                <a:cs typeface="Calibri" pitchFamily="34" charset="-120"/>
              </a:rPr>
              <a:t>wide reach; intermediaries handle logistics, storage and selling.
</a:t>
            </a:r>
            <a:pPr indent="0" marL="0">
              <a:spcAft>
                <a:spcPts val="600"/>
              </a:spcAft>
              <a:buNone/>
            </a:pPr>
            <a:r>
              <a:rPr lang="en-US" sz="1250" b="1" dirty="0">
                <a:solidFill>
                  <a:srgbClr val="C14B37"/>
                </a:solidFill>
                <a:latin typeface="Calibri" pitchFamily="34" charset="0"/>
                <a:ea typeface="Calibri" pitchFamily="34" charset="-122"/>
                <a:cs typeface="Calibri" pitchFamily="34" charset="-120"/>
              </a:rPr>
              <a:t>Watch out:  </a:t>
            </a:r>
            <a:pPr indent="0" marL="0">
              <a:spcAft>
                <a:spcPts val="600"/>
              </a:spcAft>
              <a:buNone/>
            </a:pPr>
            <a:r>
              <a:rPr lang="en-US" sz="1250" dirty="0">
                <a:solidFill>
                  <a:srgbClr val="1F2A33"/>
                </a:solidFill>
                <a:latin typeface="Calibri" pitchFamily="34" charset="0"/>
                <a:ea typeface="Calibri" pitchFamily="34" charset="-122"/>
                <a:cs typeface="Calibri" pitchFamily="34" charset="-120"/>
              </a:rPr>
              <a:t>margin shared; less control over price &amp; presentation; weaker customer link.</a:t>
            </a:r>
            <a:endParaRPr lang="en-US" sz="1250" dirty="0"/>
          </a:p>
        </p:txBody>
      </p:sp>
      <p:sp>
        <p:nvSpPr>
          <p:cNvPr id="15" name="Text 13"/>
          <p:cNvSpPr txBox="1"/>
          <p:nvPr/>
        </p:nvSpPr>
        <p:spPr>
          <a:xfrm>
            <a:off x="6428232" y="4114800"/>
            <a:ext cx="4983480" cy="1097280"/>
          </a:xfrm>
          <a:prstGeom prst="rect">
            <a:avLst/>
          </a:prstGeom>
          <a:noFill/>
          <a:ln/>
        </p:spPr>
        <p:txBody>
          <a:bodyPr wrap="square" lIns="0" tIns="0" rIns="0" bIns="0" rtlCol="0" anchor="t"/>
          <a:lstStyle/>
          <a:p>
            <a:pPr indent="0" marL="0">
              <a:buNone/>
            </a:pPr>
            <a:r>
              <a:rPr lang="en-US" sz="1150" b="1" dirty="0">
                <a:solidFill>
                  <a:srgbClr val="5B6B73"/>
                </a:solidFill>
                <a:latin typeface="Calibri" pitchFamily="34" charset="0"/>
                <a:ea typeface="Calibri" pitchFamily="34" charset="-122"/>
                <a:cs typeface="Calibri" pitchFamily="34" charset="-120"/>
              </a:rPr>
              <a:t>e.g.  </a:t>
            </a:r>
            <a:pPr indent="0" marL="0">
              <a:buNone/>
            </a:pPr>
            <a:r>
              <a:rPr lang="en-US" sz="1150" i="1" dirty="0">
                <a:solidFill>
                  <a:srgbClr val="5B6B73"/>
                </a:solidFill>
                <a:latin typeface="Calibri" pitchFamily="34" charset="0"/>
                <a:ea typeface="Calibri" pitchFamily="34" charset="-122"/>
                <a:cs typeface="Calibri" pitchFamily="34" charset="-120"/>
              </a:rPr>
              <a:t>Coca-Cola and Unilever via wholesalers and supermarkets worldwide.</a:t>
            </a:r>
            <a:endParaRPr lang="en-US" sz="1150" dirty="0"/>
          </a:p>
        </p:txBody>
      </p:sp>
      <p:sp>
        <p:nvSpPr>
          <p:cNvPr id="16" name="Shape 14"/>
          <p:cNvSpPr/>
          <p:nvPr/>
        </p:nvSpPr>
        <p:spPr>
          <a:xfrm>
            <a:off x="548640" y="5532120"/>
            <a:ext cx="11091672" cy="640080"/>
          </a:xfrm>
          <a:prstGeom prst="roundRect">
            <a:avLst>
              <a:gd name="adj" fmla="val 11429"/>
            </a:avLst>
          </a:prstGeom>
          <a:solidFill>
            <a:srgbClr val="EAF3F4"/>
          </a:solidFill>
          <a:ln/>
          <a:effectLst>
            <a:outerShdw sx="100000" sy="100000" kx="0" ky="0" algn="bl" rotWithShape="0" blurRad="76200" dist="25400" dir="5400000">
              <a:srgbClr val="9AAAB0">
                <a:alpha val="28000"/>
              </a:srgbClr>
            </a:outerShdw>
          </a:effectLst>
        </p:spPr>
      </p:sp>
      <p:sp>
        <p:nvSpPr>
          <p:cNvPr id="17" name="Text 15"/>
          <p:cNvSpPr txBox="1"/>
          <p:nvPr/>
        </p:nvSpPr>
        <p:spPr>
          <a:xfrm>
            <a:off x="777240" y="5614416"/>
            <a:ext cx="10698480" cy="493776"/>
          </a:xfrm>
          <a:prstGeom prst="rect">
            <a:avLst/>
          </a:prstGeom>
          <a:noFill/>
          <a:ln/>
        </p:spPr>
        <p:txBody>
          <a:bodyPr wrap="square" lIns="0" tIns="0" rIns="0" bIns="0" rtlCol="0" anchor="ctr"/>
          <a:lstStyle/>
          <a:p>
            <a:pPr indent="0" marL="0">
              <a:buNone/>
            </a:pPr>
            <a:r>
              <a:rPr lang="en-US" sz="1250" b="1" dirty="0">
                <a:solidFill>
                  <a:srgbClr val="0B5E66"/>
                </a:solidFill>
                <a:latin typeface="Calibri" pitchFamily="34" charset="0"/>
                <a:ea typeface="Calibri" pitchFamily="34" charset="-122"/>
                <a:cs typeface="Calibri" pitchFamily="34" charset="-120"/>
              </a:rPr>
              <a:t>The judgement:  </a:t>
            </a:r>
            <a:pPr indent="0" marL="0">
              <a:buNone/>
            </a:pPr>
            <a:r>
              <a:rPr lang="en-US" sz="1250" dirty="0">
                <a:solidFill>
                  <a:srgbClr val="1F2A33"/>
                </a:solidFill>
                <a:latin typeface="Calibri" pitchFamily="34" charset="0"/>
                <a:ea typeface="Calibri" pitchFamily="34" charset="-122"/>
                <a:cs typeface="Calibri" pitchFamily="34" charset="-120"/>
              </a:rPr>
              <a:t>premium brands wanting control lean direct; mass-market goods needing wide reach lean indirect — and many firms do both (multi-channel).</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MULTI-CHANNEL</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Multi-channel distribution</a:t>
            </a:r>
            <a:endParaRPr lang="en-US" sz="2800" dirty="0"/>
          </a:p>
        </p:txBody>
      </p:sp>
      <p:sp>
        <p:nvSpPr>
          <p:cNvPr id="4" name="Shape 2"/>
          <p:cNvSpPr/>
          <p:nvPr/>
        </p:nvSpPr>
        <p:spPr>
          <a:xfrm>
            <a:off x="548640" y="1371600"/>
            <a:ext cx="11091672" cy="731520"/>
          </a:xfrm>
          <a:prstGeom prst="roundRect">
            <a:avLst>
              <a:gd name="adj" fmla="val 10000"/>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10698480" cy="512064"/>
          </a:xfrm>
          <a:prstGeom prst="rect">
            <a:avLst/>
          </a:prstGeom>
          <a:noFill/>
          <a:ln/>
        </p:spPr>
        <p:txBody>
          <a:bodyPr wrap="square" lIns="0" tIns="0" rIns="0" bIns="0" rtlCol="0" anchor="ctr"/>
          <a:lstStyle/>
          <a:p>
            <a:pPr indent="0" marL="0">
              <a:buNone/>
            </a:pPr>
            <a:r>
              <a:rPr lang="en-US" sz="1350" b="1" dirty="0">
                <a:solidFill>
                  <a:srgbClr val="0B5E66"/>
                </a:solidFill>
                <a:latin typeface="Calibri" pitchFamily="34" charset="0"/>
                <a:ea typeface="Calibri" pitchFamily="34" charset="-122"/>
                <a:cs typeface="Calibri" pitchFamily="34" charset="-120"/>
              </a:rPr>
              <a:t>Definition:  </a:t>
            </a:r>
            <a:pPr indent="0" marL="0">
              <a:buNone/>
            </a:pPr>
            <a:r>
              <a:rPr lang="en-US" sz="1350" dirty="0">
                <a:solidFill>
                  <a:srgbClr val="1F2A33"/>
                </a:solidFill>
                <a:latin typeface="Calibri" pitchFamily="34" charset="0"/>
                <a:ea typeface="Calibri" pitchFamily="34" charset="-122"/>
                <a:cs typeface="Calibri" pitchFamily="34" charset="-120"/>
              </a:rPr>
              <a:t>using more than one type of distribution channel at the same time — e.g. an own website + a marketplace like Amazon + physical retail stores.</a:t>
            </a:r>
            <a:endParaRPr lang="en-US" sz="1350" dirty="0"/>
          </a:p>
        </p:txBody>
      </p:sp>
      <p:sp>
        <p:nvSpPr>
          <p:cNvPr id="6" name="Shape 4"/>
          <p:cNvSpPr/>
          <p:nvPr/>
        </p:nvSpPr>
        <p:spPr>
          <a:xfrm>
            <a:off x="548640" y="2286000"/>
            <a:ext cx="5440680" cy="2834640"/>
          </a:xfrm>
          <a:prstGeom prst="roundRect">
            <a:avLst>
              <a:gd name="adj" fmla="val 2581"/>
            </a:avLst>
          </a:prstGeom>
          <a:solidFill>
            <a:srgbClr val="E8F3EC"/>
          </a:solidFill>
          <a:ln/>
          <a:effectLst>
            <a:outerShdw sx="100000" sy="100000" kx="0" ky="0" algn="bl" rotWithShape="0" blurRad="76200" dist="25400" dir="5400000">
              <a:srgbClr val="9AAAB0">
                <a:alpha val="28000"/>
              </a:srgbClr>
            </a:outerShdw>
          </a:effectLst>
        </p:spPr>
      </p:sp>
      <p:sp>
        <p:nvSpPr>
          <p:cNvPr id="7" name="Shape 5"/>
          <p:cNvSpPr/>
          <p:nvPr/>
        </p:nvSpPr>
        <p:spPr>
          <a:xfrm>
            <a:off x="777240" y="2450592"/>
            <a:ext cx="2103120" cy="310896"/>
          </a:xfrm>
          <a:prstGeom prst="roundRect">
            <a:avLst>
              <a:gd name="adj" fmla="val 50000"/>
            </a:avLst>
          </a:prstGeom>
          <a:solidFill>
            <a:srgbClr val="2F8A5B"/>
          </a:solidFill>
          <a:ln/>
        </p:spPr>
      </p:sp>
      <p:sp>
        <p:nvSpPr>
          <p:cNvPr id="8" name="Text 6"/>
          <p:cNvSpPr txBox="1"/>
          <p:nvPr/>
        </p:nvSpPr>
        <p:spPr>
          <a:xfrm>
            <a:off x="777240" y="2450592"/>
            <a:ext cx="210312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BENEFITS</a:t>
            </a:r>
            <a:endParaRPr lang="en-US" sz="1050" dirty="0"/>
          </a:p>
        </p:txBody>
      </p:sp>
      <p:sp>
        <p:nvSpPr>
          <p:cNvPr id="9" name="Text 7"/>
          <p:cNvSpPr txBox="1"/>
          <p:nvPr/>
        </p:nvSpPr>
        <p:spPr>
          <a:xfrm>
            <a:off x="777240" y="2862072"/>
            <a:ext cx="4983480" cy="219456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Reaches more target-market segments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Customers increasingly expect several ways to buy</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Higher revenue — if one channel is out of stock, buyers use another</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Shares cost and risk with channel partners</a:t>
            </a:r>
            <a:endParaRPr lang="en-US" sz="1250" dirty="0"/>
          </a:p>
        </p:txBody>
      </p:sp>
      <p:sp>
        <p:nvSpPr>
          <p:cNvPr id="10" name="Shape 8"/>
          <p:cNvSpPr/>
          <p:nvPr/>
        </p:nvSpPr>
        <p:spPr>
          <a:xfrm>
            <a:off x="6199632" y="2286000"/>
            <a:ext cx="5440680" cy="2834640"/>
          </a:xfrm>
          <a:prstGeom prst="roundRect">
            <a:avLst>
              <a:gd name="adj" fmla="val 2581"/>
            </a:avLst>
          </a:prstGeom>
          <a:solidFill>
            <a:srgbClr val="F9EAE6"/>
          </a:solidFill>
          <a:ln/>
          <a:effectLst>
            <a:outerShdw sx="100000" sy="100000" kx="0" ky="0" algn="bl" rotWithShape="0" blurRad="76200" dist="25400" dir="5400000">
              <a:srgbClr val="9AAAB0">
                <a:alpha val="28000"/>
              </a:srgbClr>
            </a:outerShdw>
          </a:effectLst>
        </p:spPr>
      </p:sp>
      <p:sp>
        <p:nvSpPr>
          <p:cNvPr id="11" name="Shape 9"/>
          <p:cNvSpPr/>
          <p:nvPr/>
        </p:nvSpPr>
        <p:spPr>
          <a:xfrm>
            <a:off x="6428232" y="2450592"/>
            <a:ext cx="2468880" cy="310896"/>
          </a:xfrm>
          <a:prstGeom prst="roundRect">
            <a:avLst>
              <a:gd name="adj" fmla="val 50000"/>
            </a:avLst>
          </a:prstGeom>
          <a:solidFill>
            <a:srgbClr val="C14B37"/>
          </a:solidFill>
          <a:ln/>
        </p:spPr>
      </p:sp>
      <p:sp>
        <p:nvSpPr>
          <p:cNvPr id="12" name="Text 10"/>
          <p:cNvSpPr txBox="1"/>
          <p:nvPr/>
        </p:nvSpPr>
        <p:spPr>
          <a:xfrm>
            <a:off x="6428232" y="2450592"/>
            <a:ext cx="246888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DRAWBACKS</a:t>
            </a:r>
            <a:endParaRPr lang="en-US" sz="1050" dirty="0"/>
          </a:p>
        </p:txBody>
      </p:sp>
      <p:sp>
        <p:nvSpPr>
          <p:cNvPr id="13" name="Text 11"/>
          <p:cNvSpPr txBox="1"/>
          <p:nvPr/>
        </p:nvSpPr>
        <p:spPr>
          <a:xfrm>
            <a:off x="6428232" y="2862072"/>
            <a:ext cx="4983480" cy="219456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Channel conflict — selling direct competes with your own retailers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Complex and costly to manage</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Pricing can look confused or inconsistent across channels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After-sales service and delivery can become inconsistent</a:t>
            </a:r>
            <a:endParaRPr lang="en-US" sz="1250" dirty="0"/>
          </a:p>
        </p:txBody>
      </p:sp>
      <p:sp>
        <p:nvSpPr>
          <p:cNvPr id="14" name="Shape 12"/>
          <p:cNvSpPr/>
          <p:nvPr/>
        </p:nvSpPr>
        <p:spPr>
          <a:xfrm>
            <a:off x="548640" y="5257800"/>
            <a:ext cx="11091672" cy="914400"/>
          </a:xfrm>
          <a:prstGeom prst="roundRect">
            <a:avLst>
              <a:gd name="adj" fmla="val 8000"/>
            </a:avLst>
          </a:prstGeom>
          <a:solidFill>
            <a:srgbClr val="FBF0D8"/>
          </a:solidFill>
          <a:ln/>
          <a:effectLst>
            <a:outerShdw sx="100000" sy="100000" kx="0" ky="0" algn="bl" rotWithShape="0" blurRad="76200" dist="25400" dir="5400000">
              <a:srgbClr val="9AAAB0">
                <a:alpha val="28000"/>
              </a:srgbClr>
            </a:outerShdw>
          </a:effectLst>
        </p:spPr>
      </p:sp>
      <p:sp>
        <p:nvSpPr>
          <p:cNvPr id="15" name="Shape 13"/>
          <p:cNvSpPr/>
          <p:nvPr/>
        </p:nvSpPr>
        <p:spPr>
          <a:xfrm>
            <a:off x="548640" y="5257800"/>
            <a:ext cx="109728" cy="914400"/>
          </a:xfrm>
          <a:prstGeom prst="roundRect">
            <a:avLst/>
          </a:prstGeom>
          <a:solidFill>
            <a:srgbClr val="E0940F"/>
          </a:solidFill>
          <a:ln/>
        </p:spPr>
      </p:sp>
      <p:sp>
        <p:nvSpPr>
          <p:cNvPr id="16" name="Text 14"/>
          <p:cNvSpPr txBox="1"/>
          <p:nvPr/>
        </p:nvSpPr>
        <p:spPr>
          <a:xfrm>
            <a:off x="777240" y="5349240"/>
            <a:ext cx="10698480" cy="777240"/>
          </a:xfrm>
          <a:prstGeom prst="rect">
            <a:avLst/>
          </a:prstGeom>
          <a:noFill/>
          <a:ln/>
        </p:spPr>
        <p:txBody>
          <a:bodyPr wrap="square" lIns="0" tIns="0" rIns="0" bIns="0" rtlCol="0" anchor="ctr"/>
          <a:lstStyle/>
          <a:p>
            <a:pPr indent="0" marL="0">
              <a:buNone/>
            </a:pPr>
            <a:r>
              <a:rPr lang="en-US" sz="1250" b="1" dirty="0">
                <a:solidFill>
                  <a:srgbClr val="8A5A06"/>
                </a:solidFill>
                <a:latin typeface="Calibri" pitchFamily="34" charset="0"/>
                <a:ea typeface="Calibri" pitchFamily="34" charset="-122"/>
                <a:cs typeface="Calibri" pitchFamily="34" charset="-120"/>
              </a:rPr>
              <a:t>Case — Horizon:  </a:t>
            </a:r>
            <a:pPr indent="0" marL="0">
              <a:buNone/>
            </a:pPr>
            <a:r>
              <a:rPr lang="en-US" sz="1250" dirty="0">
                <a:solidFill>
                  <a:srgbClr val="1F2A33"/>
                </a:solidFill>
                <a:latin typeface="Calibri" pitchFamily="34" charset="0"/>
                <a:ea typeface="Calibri" pitchFamily="34" charset="-122"/>
                <a:cs typeface="Calibri" pitchFamily="34" charset="-120"/>
              </a:rPr>
              <a:t>sells direct online, through Amazon and via the Techworld high-street chain. Its website and Amazon sales are strong, but Techworld sales fell (Solace 6 down 6% vs Solace 5), and it faces after-sales inconsistencies and order delays — the classic multi-channel problems.</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CHOOSING</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What decides the right channel?</a:t>
            </a:r>
            <a:endParaRPr lang="en-US" sz="2800" dirty="0"/>
          </a:p>
        </p:txBody>
      </p:sp>
      <p:sp>
        <p:nvSpPr>
          <p:cNvPr id="4" name="Shape 2"/>
          <p:cNvSpPr/>
          <p:nvPr/>
        </p:nvSpPr>
        <p:spPr>
          <a:xfrm>
            <a:off x="548640" y="1463040"/>
            <a:ext cx="3575304" cy="2240280"/>
          </a:xfrm>
          <a:prstGeom prst="roundRect">
            <a:avLst>
              <a:gd name="adj" fmla="val 3265"/>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Shape 3"/>
          <p:cNvSpPr/>
          <p:nvPr/>
        </p:nvSpPr>
        <p:spPr>
          <a:xfrm>
            <a:off x="548640" y="1463040"/>
            <a:ext cx="3575304" cy="91440"/>
          </a:xfrm>
          <a:prstGeom prst="roundRect">
            <a:avLst/>
          </a:prstGeom>
          <a:solidFill>
            <a:srgbClr val="0E7C86"/>
          </a:solidFill>
          <a:ln/>
        </p:spPr>
      </p:sp>
      <p:sp>
        <p:nvSpPr>
          <p:cNvPr id="6" name="Text 4"/>
          <p:cNvSpPr txBox="1"/>
          <p:nvPr/>
        </p:nvSpPr>
        <p:spPr>
          <a:xfrm>
            <a:off x="749808" y="1700784"/>
            <a:ext cx="3172968" cy="685800"/>
          </a:xfrm>
          <a:prstGeom prst="rect">
            <a:avLst/>
          </a:prstGeom>
          <a:noFill/>
          <a:ln/>
        </p:spPr>
        <p:txBody>
          <a:bodyPr wrap="square" lIns="0" tIns="0" rIns="0" bIns="0" rtlCol="0" anchor="t"/>
          <a:lstStyle/>
          <a:p>
            <a:pPr indent="0" marL="0">
              <a:buNone/>
            </a:pPr>
            <a:r>
              <a:rPr lang="en-US" sz="1500" b="1" dirty="0">
                <a:solidFill>
                  <a:srgbClr val="0E7C86"/>
                </a:solidFill>
                <a:latin typeface="Calibri" pitchFamily="34" charset="0"/>
                <a:ea typeface="Calibri" pitchFamily="34" charset="-122"/>
                <a:cs typeface="Calibri" pitchFamily="34" charset="-120"/>
              </a:rPr>
              <a:t>Product type</a:t>
            </a:r>
            <a:endParaRPr lang="en-US" sz="1500" dirty="0"/>
          </a:p>
        </p:txBody>
      </p:sp>
      <p:sp>
        <p:nvSpPr>
          <p:cNvPr id="7" name="Text 5"/>
          <p:cNvSpPr txBox="1"/>
          <p:nvPr/>
        </p:nvSpPr>
        <p:spPr>
          <a:xfrm>
            <a:off x="749808" y="2377440"/>
            <a:ext cx="3172968" cy="118872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Perishable, fragile or complex/technical → shorter/direct; simple FMCG → longer/indirect</a:t>
            </a:r>
            <a:endParaRPr lang="en-US" sz="1250" dirty="0"/>
          </a:p>
        </p:txBody>
      </p:sp>
      <p:sp>
        <p:nvSpPr>
          <p:cNvPr id="8" name="Shape 6"/>
          <p:cNvSpPr/>
          <p:nvPr/>
        </p:nvSpPr>
        <p:spPr>
          <a:xfrm>
            <a:off x="4306824" y="1463040"/>
            <a:ext cx="3575304" cy="2240280"/>
          </a:xfrm>
          <a:prstGeom prst="roundRect">
            <a:avLst>
              <a:gd name="adj" fmla="val 3265"/>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9" name="Shape 7"/>
          <p:cNvSpPr/>
          <p:nvPr/>
        </p:nvSpPr>
        <p:spPr>
          <a:xfrm>
            <a:off x="4306824" y="1463040"/>
            <a:ext cx="3575304" cy="91440"/>
          </a:xfrm>
          <a:prstGeom prst="roundRect">
            <a:avLst/>
          </a:prstGeom>
          <a:solidFill>
            <a:srgbClr val="E0940F"/>
          </a:solidFill>
          <a:ln/>
        </p:spPr>
      </p:sp>
      <p:sp>
        <p:nvSpPr>
          <p:cNvPr id="10" name="Text 8"/>
          <p:cNvSpPr txBox="1"/>
          <p:nvPr/>
        </p:nvSpPr>
        <p:spPr>
          <a:xfrm>
            <a:off x="4507992" y="1700784"/>
            <a:ext cx="3172968" cy="685800"/>
          </a:xfrm>
          <a:prstGeom prst="rect">
            <a:avLst/>
          </a:prstGeom>
          <a:noFill/>
          <a:ln/>
        </p:spPr>
        <p:txBody>
          <a:bodyPr wrap="square" lIns="0" tIns="0" rIns="0" bIns="0" rtlCol="0" anchor="t"/>
          <a:lstStyle/>
          <a:p>
            <a:pPr indent="0" marL="0">
              <a:buNone/>
            </a:pPr>
            <a:r>
              <a:rPr lang="en-US" sz="1500" b="1" dirty="0">
                <a:solidFill>
                  <a:srgbClr val="E0940F"/>
                </a:solidFill>
                <a:latin typeface="Calibri" pitchFamily="34" charset="0"/>
                <a:ea typeface="Calibri" pitchFamily="34" charset="-122"/>
                <a:cs typeface="Calibri" pitchFamily="34" charset="-120"/>
              </a:rPr>
              <a:t>Market &amp; geography</a:t>
            </a:r>
            <a:endParaRPr lang="en-US" sz="1500" dirty="0"/>
          </a:p>
        </p:txBody>
      </p:sp>
      <p:sp>
        <p:nvSpPr>
          <p:cNvPr id="11" name="Text 9"/>
          <p:cNvSpPr txBox="1"/>
          <p:nvPr/>
        </p:nvSpPr>
        <p:spPr>
          <a:xfrm>
            <a:off x="4507992" y="2377440"/>
            <a:ext cx="3172968" cy="118872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Scattered or global customers → indirect for reach; concentrated → direct is viable</a:t>
            </a:r>
            <a:endParaRPr lang="en-US" sz="1250" dirty="0"/>
          </a:p>
        </p:txBody>
      </p:sp>
      <p:sp>
        <p:nvSpPr>
          <p:cNvPr id="12" name="Shape 10"/>
          <p:cNvSpPr/>
          <p:nvPr/>
        </p:nvSpPr>
        <p:spPr>
          <a:xfrm>
            <a:off x="8065008" y="1463040"/>
            <a:ext cx="3575304" cy="2240280"/>
          </a:xfrm>
          <a:prstGeom prst="roundRect">
            <a:avLst>
              <a:gd name="adj" fmla="val 3265"/>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3" name="Shape 11"/>
          <p:cNvSpPr/>
          <p:nvPr/>
        </p:nvSpPr>
        <p:spPr>
          <a:xfrm>
            <a:off x="8065008" y="1463040"/>
            <a:ext cx="3575304" cy="91440"/>
          </a:xfrm>
          <a:prstGeom prst="roundRect">
            <a:avLst/>
          </a:prstGeom>
          <a:solidFill>
            <a:srgbClr val="2F8A5B"/>
          </a:solidFill>
          <a:ln/>
        </p:spPr>
      </p:sp>
      <p:sp>
        <p:nvSpPr>
          <p:cNvPr id="14" name="Text 12"/>
          <p:cNvSpPr txBox="1"/>
          <p:nvPr/>
        </p:nvSpPr>
        <p:spPr>
          <a:xfrm>
            <a:off x="8266176" y="1700784"/>
            <a:ext cx="3172968" cy="685800"/>
          </a:xfrm>
          <a:prstGeom prst="rect">
            <a:avLst/>
          </a:prstGeom>
          <a:noFill/>
          <a:ln/>
        </p:spPr>
        <p:txBody>
          <a:bodyPr wrap="square" lIns="0" tIns="0" rIns="0" bIns="0" rtlCol="0" anchor="t"/>
          <a:lstStyle/>
          <a:p>
            <a:pPr indent="0" marL="0">
              <a:buNone/>
            </a:pPr>
            <a:r>
              <a:rPr lang="en-US" sz="1500" b="1" dirty="0">
                <a:solidFill>
                  <a:srgbClr val="2F8A5B"/>
                </a:solidFill>
                <a:latin typeface="Calibri" pitchFamily="34" charset="0"/>
                <a:ea typeface="Calibri" pitchFamily="34" charset="-122"/>
                <a:cs typeface="Calibri" pitchFamily="34" charset="-120"/>
              </a:rPr>
              <a:t>Cost vs control</a:t>
            </a:r>
            <a:endParaRPr lang="en-US" sz="1500" dirty="0"/>
          </a:p>
        </p:txBody>
      </p:sp>
      <p:sp>
        <p:nvSpPr>
          <p:cNvPr id="15" name="Text 13"/>
          <p:cNvSpPr txBox="1"/>
          <p:nvPr/>
        </p:nvSpPr>
        <p:spPr>
          <a:xfrm>
            <a:off x="8266176" y="2377440"/>
            <a:ext cx="3172968" cy="118872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Want control &amp; full margin → direct; want others to carry cost &amp; logistics → indirect</a:t>
            </a:r>
            <a:endParaRPr lang="en-US" sz="1250" dirty="0"/>
          </a:p>
        </p:txBody>
      </p:sp>
      <p:sp>
        <p:nvSpPr>
          <p:cNvPr id="16" name="Shape 14"/>
          <p:cNvSpPr/>
          <p:nvPr/>
        </p:nvSpPr>
        <p:spPr>
          <a:xfrm>
            <a:off x="548640" y="3886200"/>
            <a:ext cx="3575304" cy="2240280"/>
          </a:xfrm>
          <a:prstGeom prst="roundRect">
            <a:avLst>
              <a:gd name="adj" fmla="val 3265"/>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7" name="Shape 15"/>
          <p:cNvSpPr/>
          <p:nvPr/>
        </p:nvSpPr>
        <p:spPr>
          <a:xfrm>
            <a:off x="548640" y="3886200"/>
            <a:ext cx="3575304" cy="91440"/>
          </a:xfrm>
          <a:prstGeom prst="roundRect">
            <a:avLst/>
          </a:prstGeom>
          <a:solidFill>
            <a:srgbClr val="C14B37"/>
          </a:solidFill>
          <a:ln/>
        </p:spPr>
      </p:sp>
      <p:sp>
        <p:nvSpPr>
          <p:cNvPr id="18" name="Text 16"/>
          <p:cNvSpPr txBox="1"/>
          <p:nvPr/>
        </p:nvSpPr>
        <p:spPr>
          <a:xfrm>
            <a:off x="749808" y="4123944"/>
            <a:ext cx="3172968" cy="685800"/>
          </a:xfrm>
          <a:prstGeom prst="rect">
            <a:avLst/>
          </a:prstGeom>
          <a:noFill/>
          <a:ln/>
        </p:spPr>
        <p:txBody>
          <a:bodyPr wrap="square" lIns="0" tIns="0" rIns="0" bIns="0" rtlCol="0" anchor="t"/>
          <a:lstStyle/>
          <a:p>
            <a:pPr indent="0" marL="0">
              <a:buNone/>
            </a:pPr>
            <a:r>
              <a:rPr lang="en-US" sz="1500" b="1" dirty="0">
                <a:solidFill>
                  <a:srgbClr val="C14B37"/>
                </a:solidFill>
                <a:latin typeface="Calibri" pitchFamily="34" charset="0"/>
                <a:ea typeface="Calibri" pitchFamily="34" charset="-122"/>
                <a:cs typeface="Calibri" pitchFamily="34" charset="-120"/>
              </a:rPr>
              <a:t>Brand image</a:t>
            </a:r>
            <a:endParaRPr lang="en-US" sz="1500" dirty="0"/>
          </a:p>
        </p:txBody>
      </p:sp>
      <p:sp>
        <p:nvSpPr>
          <p:cNvPr id="19" name="Text 17"/>
          <p:cNvSpPr txBox="1"/>
          <p:nvPr/>
        </p:nvSpPr>
        <p:spPr>
          <a:xfrm>
            <a:off x="749808" y="4800600"/>
            <a:ext cx="3172968" cy="118872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Premium/exclusive → selective or direct; mass → wide, intensive distribution</a:t>
            </a:r>
            <a:endParaRPr lang="en-US" sz="1250" dirty="0"/>
          </a:p>
        </p:txBody>
      </p:sp>
      <p:sp>
        <p:nvSpPr>
          <p:cNvPr id="20" name="Shape 18"/>
          <p:cNvSpPr/>
          <p:nvPr/>
        </p:nvSpPr>
        <p:spPr>
          <a:xfrm>
            <a:off x="4306824" y="3886200"/>
            <a:ext cx="3575304" cy="2240280"/>
          </a:xfrm>
          <a:prstGeom prst="roundRect">
            <a:avLst>
              <a:gd name="adj" fmla="val 3265"/>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21" name="Shape 19"/>
          <p:cNvSpPr/>
          <p:nvPr/>
        </p:nvSpPr>
        <p:spPr>
          <a:xfrm>
            <a:off x="4306824" y="3886200"/>
            <a:ext cx="3575304" cy="91440"/>
          </a:xfrm>
          <a:prstGeom prst="roundRect">
            <a:avLst/>
          </a:prstGeom>
          <a:solidFill>
            <a:srgbClr val="0B5E66"/>
          </a:solidFill>
          <a:ln/>
        </p:spPr>
      </p:sp>
      <p:sp>
        <p:nvSpPr>
          <p:cNvPr id="22" name="Text 20"/>
          <p:cNvSpPr txBox="1"/>
          <p:nvPr/>
        </p:nvSpPr>
        <p:spPr>
          <a:xfrm>
            <a:off x="4507992" y="4123944"/>
            <a:ext cx="3172968" cy="685800"/>
          </a:xfrm>
          <a:prstGeom prst="rect">
            <a:avLst/>
          </a:prstGeom>
          <a:noFill/>
          <a:ln/>
        </p:spPr>
        <p:txBody>
          <a:bodyPr wrap="square" lIns="0" tIns="0" rIns="0" bIns="0" rtlCol="0" anchor="t"/>
          <a:lstStyle/>
          <a:p>
            <a:pPr indent="0" marL="0">
              <a:buNone/>
            </a:pPr>
            <a:r>
              <a:rPr lang="en-US" sz="1500" b="1" dirty="0">
                <a:solidFill>
                  <a:srgbClr val="0B5E66"/>
                </a:solidFill>
                <a:latin typeface="Calibri" pitchFamily="34" charset="0"/>
                <a:ea typeface="Calibri" pitchFamily="34" charset="-122"/>
                <a:cs typeface="Calibri" pitchFamily="34" charset="-120"/>
              </a:rPr>
              <a:t>Stage in the life cycle</a:t>
            </a:r>
            <a:endParaRPr lang="en-US" sz="1500" dirty="0"/>
          </a:p>
        </p:txBody>
      </p:sp>
      <p:sp>
        <p:nvSpPr>
          <p:cNvPr id="23" name="Text 21"/>
          <p:cNvSpPr txBox="1"/>
          <p:nvPr/>
        </p:nvSpPr>
        <p:spPr>
          <a:xfrm>
            <a:off x="4507992" y="4800600"/>
            <a:ext cx="3172968" cy="118872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Launch may need wide retail reach; a mature brand may shift to direct online</a:t>
            </a:r>
            <a:endParaRPr lang="en-US" sz="1250" dirty="0"/>
          </a:p>
        </p:txBody>
      </p:sp>
      <p:sp>
        <p:nvSpPr>
          <p:cNvPr id="24" name="Shape 22"/>
          <p:cNvSpPr/>
          <p:nvPr/>
        </p:nvSpPr>
        <p:spPr>
          <a:xfrm>
            <a:off x="8065008" y="3886200"/>
            <a:ext cx="3575304" cy="2240280"/>
          </a:xfrm>
          <a:prstGeom prst="roundRect">
            <a:avLst>
              <a:gd name="adj" fmla="val 3265"/>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25" name="Shape 23"/>
          <p:cNvSpPr/>
          <p:nvPr/>
        </p:nvSpPr>
        <p:spPr>
          <a:xfrm>
            <a:off x="8065008" y="3886200"/>
            <a:ext cx="3575304" cy="91440"/>
          </a:xfrm>
          <a:prstGeom prst="roundRect">
            <a:avLst/>
          </a:prstGeom>
          <a:solidFill>
            <a:srgbClr val="5B6B73"/>
          </a:solidFill>
          <a:ln/>
        </p:spPr>
      </p:sp>
      <p:sp>
        <p:nvSpPr>
          <p:cNvPr id="26" name="Text 24"/>
          <p:cNvSpPr txBox="1"/>
          <p:nvPr/>
        </p:nvSpPr>
        <p:spPr>
          <a:xfrm>
            <a:off x="8266176" y="4123944"/>
            <a:ext cx="3172968" cy="685800"/>
          </a:xfrm>
          <a:prstGeom prst="rect">
            <a:avLst/>
          </a:prstGeom>
          <a:noFill/>
          <a:ln/>
        </p:spPr>
        <p:txBody>
          <a:bodyPr wrap="square" lIns="0" tIns="0" rIns="0" bIns="0" rtlCol="0" anchor="t"/>
          <a:lstStyle/>
          <a:p>
            <a:pPr indent="0" marL="0">
              <a:buNone/>
            </a:pPr>
            <a:r>
              <a:rPr lang="en-US" sz="1500" b="1" dirty="0">
                <a:solidFill>
                  <a:srgbClr val="5B6B73"/>
                </a:solidFill>
                <a:latin typeface="Calibri" pitchFamily="34" charset="0"/>
                <a:ea typeface="Calibri" pitchFamily="34" charset="-122"/>
                <a:cs typeface="Calibri" pitchFamily="34" charset="-120"/>
              </a:rPr>
              <a:t>Margins &amp; finance</a:t>
            </a:r>
            <a:endParaRPr lang="en-US" sz="1500" dirty="0"/>
          </a:p>
        </p:txBody>
      </p:sp>
      <p:sp>
        <p:nvSpPr>
          <p:cNvPr id="27" name="Text 25"/>
          <p:cNvSpPr txBox="1"/>
          <p:nvPr/>
        </p:nvSpPr>
        <p:spPr>
          <a:xfrm>
            <a:off x="8266176" y="4800600"/>
            <a:ext cx="3172968" cy="118872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Thin margins can't fund own stores → use intermediaries; strong finance enables direct</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EXAM PRACTICE</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Exam practice: MAC Cosmetics (8 marks)</a:t>
            </a:r>
            <a:endParaRPr lang="en-US" sz="2800" dirty="0"/>
          </a:p>
        </p:txBody>
      </p:sp>
      <p:sp>
        <p:nvSpPr>
          <p:cNvPr id="4" name="Shape 2"/>
          <p:cNvSpPr/>
          <p:nvPr/>
        </p:nvSpPr>
        <p:spPr>
          <a:xfrm>
            <a:off x="548640" y="1371600"/>
            <a:ext cx="11091672" cy="1874520"/>
          </a:xfrm>
          <a:prstGeom prst="roundRect">
            <a:avLst>
              <a:gd name="adj" fmla="val 3902"/>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5486400" cy="274320"/>
          </a:xfrm>
          <a:prstGeom prst="rect">
            <a:avLst/>
          </a:prstGeom>
          <a:noFill/>
          <a:ln/>
        </p:spPr>
        <p:txBody>
          <a:bodyPr wrap="square" lIns="0" tIns="0" rIns="0" bIns="0" rtlCol="0" anchor="ctr"/>
          <a:lstStyle/>
          <a:p>
            <a:pPr indent="0" marL="0">
              <a:buNone/>
            </a:pPr>
            <a:r>
              <a:rPr lang="en-US" sz="1100" b="1" spc="150" kern="0" dirty="0">
                <a:solidFill>
                  <a:srgbClr val="7FC4CB"/>
                </a:solidFill>
                <a:latin typeface="Calibri" pitchFamily="34" charset="0"/>
                <a:ea typeface="Calibri" pitchFamily="34" charset="-122"/>
                <a:cs typeface="Calibri" pitchFamily="34" charset="-120"/>
              </a:rPr>
              <a:t>EXAM QUESTIONS</a:t>
            </a:r>
            <a:endParaRPr lang="en-US" sz="1100" dirty="0"/>
          </a:p>
        </p:txBody>
      </p:sp>
      <p:sp>
        <p:nvSpPr>
          <p:cNvPr id="6" name="Text 4"/>
          <p:cNvSpPr txBox="1"/>
          <p:nvPr/>
        </p:nvSpPr>
        <p:spPr>
          <a:xfrm>
            <a:off x="777240" y="1792224"/>
            <a:ext cx="10607040" cy="132588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Discuss the likely importance to MAC Cosmetics of using different distribution channels.  </a:t>
            </a:r>
            <a:pPr indent="0" marL="0">
              <a:spcAft>
                <a:spcPts val="800"/>
              </a:spcAft>
              <a:buNone/>
            </a:pPr>
            <a:r>
              <a:rPr lang="en-US" sz="1350" b="1" dirty="0">
                <a:solidFill>
                  <a:srgbClr val="E0940F"/>
                </a:solidFill>
                <a:latin typeface="Calibri" pitchFamily="34" charset="0"/>
                <a:ea typeface="Calibri" pitchFamily="34" charset="-122"/>
                <a:cs typeface="Calibri" pitchFamily="34" charset="-120"/>
              </a:rPr>
              <a:t>[8]</a:t>
            </a:r>
            <a:endParaRPr lang="en-US" sz="1350" dirty="0"/>
          </a:p>
        </p:txBody>
      </p:sp>
      <p:sp>
        <p:nvSpPr>
          <p:cNvPr id="7" name="Shape 5"/>
          <p:cNvSpPr/>
          <p:nvPr/>
        </p:nvSpPr>
        <p:spPr>
          <a:xfrm>
            <a:off x="548640" y="3364992"/>
            <a:ext cx="5029200" cy="2834640"/>
          </a:xfrm>
          <a:prstGeom prst="roundRect">
            <a:avLst>
              <a:gd name="adj" fmla="val 2581"/>
            </a:avLst>
          </a:prstGeom>
          <a:solidFill>
            <a:srgbClr val="EAF3F4"/>
          </a:solidFill>
          <a:ln/>
          <a:effectLst>
            <a:outerShdw sx="100000" sy="100000" kx="0" ky="0" algn="bl" rotWithShape="0" blurRad="76200" dist="25400" dir="5400000">
              <a:srgbClr val="9AAAB0">
                <a:alpha val="28000"/>
              </a:srgbClr>
            </a:outerShdw>
          </a:effectLst>
        </p:spPr>
      </p:sp>
      <p:sp>
        <p:nvSpPr>
          <p:cNvPr id="8" name="Text 6"/>
          <p:cNvSpPr txBox="1"/>
          <p:nvPr/>
        </p:nvSpPr>
        <p:spPr>
          <a:xfrm>
            <a:off x="749808" y="3474720"/>
            <a:ext cx="4663440" cy="310896"/>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What the question is testing</a:t>
            </a:r>
            <a:endParaRPr lang="en-US" sz="1300" dirty="0"/>
          </a:p>
        </p:txBody>
      </p:sp>
      <p:sp>
        <p:nvSpPr>
          <p:cNvPr id="9" name="Text 7"/>
          <p:cNvSpPr txBox="1"/>
          <p:nvPr/>
        </p:nvSpPr>
        <p:spPr>
          <a:xfrm>
            <a:off x="749808" y="3840480"/>
            <a:ext cx="461772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8-mark Discuss: one developed argument + one developed counter (‘However’), applied to MAC.</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MAC sells via its own 500 stores (run by makeup artists), its website, and retailers (Sephora, Ulta, Nordstrom, Macy's).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A separate conclusion is not required; Level 3 (6–8) is balanced and well-applied.</a:t>
            </a:r>
            <a:endParaRPr lang="en-US" sz="1250" dirty="0"/>
          </a:p>
        </p:txBody>
      </p:sp>
      <p:sp>
        <p:nvSpPr>
          <p:cNvPr id="10" name="Shape 8"/>
          <p:cNvSpPr/>
          <p:nvPr/>
        </p:nvSpPr>
        <p:spPr>
          <a:xfrm>
            <a:off x="5788152" y="3364992"/>
            <a:ext cx="5852160" cy="2834640"/>
          </a:xfrm>
          <a:prstGeom prst="roundRect">
            <a:avLst>
              <a:gd name="adj" fmla="val 2581"/>
            </a:avLst>
          </a:prstGeom>
          <a:solidFill>
            <a:srgbClr val="FBF0D8"/>
          </a:solidFill>
          <a:ln/>
          <a:effectLst>
            <a:outerShdw sx="100000" sy="100000" kx="0" ky="0" algn="bl" rotWithShape="0" blurRad="76200" dist="25400" dir="5400000">
              <a:srgbClr val="9AAAB0">
                <a:alpha val="28000"/>
              </a:srgbClr>
            </a:outerShdw>
          </a:effectLst>
        </p:spPr>
      </p:sp>
      <p:sp>
        <p:nvSpPr>
          <p:cNvPr id="11" name="Text 9"/>
          <p:cNvSpPr txBox="1"/>
          <p:nvPr/>
        </p:nvSpPr>
        <p:spPr>
          <a:xfrm>
            <a:off x="5989320" y="3474720"/>
            <a:ext cx="5486400" cy="310896"/>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Plan (one side, then However)</a:t>
            </a:r>
            <a:endParaRPr lang="en-US" sz="1300" dirty="0"/>
          </a:p>
        </p:txBody>
      </p:sp>
      <p:sp>
        <p:nvSpPr>
          <p:cNvPr id="12" name="Text 10"/>
          <p:cNvSpPr txBox="1"/>
          <p:nvPr/>
        </p:nvSpPr>
        <p:spPr>
          <a:xfrm>
            <a:off x="5989320" y="3840480"/>
            <a:ext cx="544068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FOR: multiple channels reach more customers and suit how they shop → own stores give brand control &amp; expert service, retailers give mass reach, online gives global access → more sales (the Selena range sold out across channels).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HOWEVER: many channels risk inconsistent brand experience and channel conflict, and cost more to manage.</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Judgement: different channels are important for reach, but MAC must keep the premium, artist-led experience consistent.</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C</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C</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300" b="1" dirty="0">
                <a:solidFill>
                  <a:srgbClr val="FFFFFF"/>
                </a:solidFill>
                <a:latin typeface="Cambria" pitchFamily="34" charset="0"/>
                <a:ea typeface="Cambria" pitchFamily="34" charset="-122"/>
                <a:cs typeface="Cambria" pitchFamily="34" charset="-120"/>
              </a:rPr>
              <a:t>Changes in distribution methods</a:t>
            </a:r>
            <a:endParaRPr lang="en-US" sz="33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e-commerce and online selling  ·  direct-to-consumer  ·  omnichannel ‘clicks &amp; bricks’ — how technology is reshaping ‘place’</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C · CHANGES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How distribution methods are changing</a:t>
            </a:r>
            <a:endParaRPr lang="en-US" sz="2800" dirty="0"/>
          </a:p>
        </p:txBody>
      </p:sp>
      <p:sp>
        <p:nvSpPr>
          <p:cNvPr id="4" name="Shape 2"/>
          <p:cNvSpPr/>
          <p:nvPr/>
        </p:nvSpPr>
        <p:spPr>
          <a:xfrm>
            <a:off x="548640" y="1371600"/>
            <a:ext cx="11091672" cy="658368"/>
          </a:xfrm>
          <a:prstGeom prst="roundRect">
            <a:avLst>
              <a:gd name="adj" fmla="val 11111"/>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44752"/>
            <a:ext cx="10698480" cy="512064"/>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Why it matters:  </a:t>
            </a:r>
            <a:pPr indent="0" marL="0">
              <a:buNone/>
            </a:pPr>
            <a:r>
              <a:rPr lang="en-US" sz="1300" dirty="0">
                <a:solidFill>
                  <a:srgbClr val="1F2A33"/>
                </a:solidFill>
                <a:latin typeface="Calibri" pitchFamily="34" charset="0"/>
                <a:ea typeface="Calibri" pitchFamily="34" charset="-122"/>
                <a:cs typeface="Calibri" pitchFamily="34" charset="-120"/>
              </a:rPr>
              <a:t>the internet has transformed ‘place’ — producers can now reach customers directly and globally, reshaping every channel.</a:t>
            </a:r>
            <a:endParaRPr lang="en-US" sz="1300" dirty="0"/>
          </a:p>
        </p:txBody>
      </p:sp>
      <p:sp>
        <p:nvSpPr>
          <p:cNvPr id="6" name="Shape 4"/>
          <p:cNvSpPr/>
          <p:nvPr/>
        </p:nvSpPr>
        <p:spPr>
          <a:xfrm>
            <a:off x="548640" y="2240280"/>
            <a:ext cx="3575304" cy="2651760"/>
          </a:xfrm>
          <a:prstGeom prst="roundRect">
            <a:avLst>
              <a:gd name="adj" fmla="val 2759"/>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7" name="Shape 5"/>
          <p:cNvSpPr/>
          <p:nvPr/>
        </p:nvSpPr>
        <p:spPr>
          <a:xfrm>
            <a:off x="548640" y="2240280"/>
            <a:ext cx="3575304" cy="91440"/>
          </a:xfrm>
          <a:prstGeom prst="roundRect">
            <a:avLst/>
          </a:prstGeom>
          <a:solidFill>
            <a:srgbClr val="2F8A5B"/>
          </a:solidFill>
          <a:ln/>
        </p:spPr>
      </p:sp>
      <p:sp>
        <p:nvSpPr>
          <p:cNvPr id="8" name="Text 6"/>
          <p:cNvSpPr txBox="1"/>
          <p:nvPr/>
        </p:nvSpPr>
        <p:spPr>
          <a:xfrm>
            <a:off x="749808" y="2450592"/>
            <a:ext cx="3172968" cy="685800"/>
          </a:xfrm>
          <a:prstGeom prst="rect">
            <a:avLst/>
          </a:prstGeom>
          <a:noFill/>
          <a:ln/>
        </p:spPr>
        <p:txBody>
          <a:bodyPr wrap="square" lIns="0" tIns="0" rIns="0" bIns="0" rtlCol="0" anchor="t"/>
          <a:lstStyle/>
          <a:p>
            <a:pPr indent="0" marL="0">
              <a:buNone/>
            </a:pPr>
            <a:r>
              <a:rPr lang="en-US" sz="1500" b="1" dirty="0">
                <a:solidFill>
                  <a:srgbClr val="2F8A5B"/>
                </a:solidFill>
                <a:latin typeface="Calibri" pitchFamily="34" charset="0"/>
                <a:ea typeface="Calibri" pitchFamily="34" charset="-122"/>
                <a:cs typeface="Calibri" pitchFamily="34" charset="-120"/>
              </a:rPr>
              <a:t>E-commerce / online</a:t>
            </a:r>
            <a:endParaRPr lang="en-US" sz="1500" dirty="0"/>
          </a:p>
        </p:txBody>
      </p:sp>
      <p:sp>
        <p:nvSpPr>
          <p:cNvPr id="9" name="Text 7"/>
          <p:cNvSpPr txBox="1"/>
          <p:nvPr/>
        </p:nvSpPr>
        <p:spPr>
          <a:xfrm>
            <a:off x="749808" y="3108960"/>
            <a:ext cx="3172968" cy="114300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Selling through websites and marketplaces — global reach, lower overheads, 24/7, niche products find a wide audience.</a:t>
            </a:r>
            <a:endParaRPr lang="en-US" sz="1250" dirty="0"/>
          </a:p>
        </p:txBody>
      </p:sp>
      <p:sp>
        <p:nvSpPr>
          <p:cNvPr id="10" name="Text 8"/>
          <p:cNvSpPr txBox="1"/>
          <p:nvPr/>
        </p:nvSpPr>
        <p:spPr>
          <a:xfrm>
            <a:off x="749808" y="4206240"/>
            <a:ext cx="3172968" cy="594360"/>
          </a:xfrm>
          <a:prstGeom prst="rect">
            <a:avLst/>
          </a:prstGeom>
          <a:noFill/>
          <a:ln/>
        </p:spPr>
        <p:txBody>
          <a:bodyPr wrap="square" lIns="0" tIns="0" rIns="0" bIns="0" rtlCol="0" anchor="t"/>
          <a:lstStyle/>
          <a:p>
            <a:pPr indent="0" marL="0">
              <a:buNone/>
            </a:pPr>
            <a:r>
              <a:rPr lang="en-US" sz="1150" i="1" dirty="0">
                <a:solidFill>
                  <a:srgbClr val="5B6B73"/>
                </a:solidFill>
                <a:latin typeface="Calibri" pitchFamily="34" charset="0"/>
                <a:ea typeface="Calibri" pitchFamily="34" charset="-122"/>
                <a:cs typeface="Calibri" pitchFamily="34" charset="-120"/>
              </a:rPr>
              <a:t>Wider reach &amp; lower cost — but fierce price competition &amp; delivery costs</a:t>
            </a:r>
            <a:endParaRPr lang="en-US" sz="1150" dirty="0"/>
          </a:p>
        </p:txBody>
      </p:sp>
      <p:sp>
        <p:nvSpPr>
          <p:cNvPr id="11" name="Shape 9"/>
          <p:cNvSpPr/>
          <p:nvPr/>
        </p:nvSpPr>
        <p:spPr>
          <a:xfrm>
            <a:off x="4306824" y="2240280"/>
            <a:ext cx="3575304" cy="2651760"/>
          </a:xfrm>
          <a:prstGeom prst="roundRect">
            <a:avLst>
              <a:gd name="adj" fmla="val 2759"/>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2" name="Shape 10"/>
          <p:cNvSpPr/>
          <p:nvPr/>
        </p:nvSpPr>
        <p:spPr>
          <a:xfrm>
            <a:off x="4306824" y="2240280"/>
            <a:ext cx="3575304" cy="91440"/>
          </a:xfrm>
          <a:prstGeom prst="roundRect">
            <a:avLst/>
          </a:prstGeom>
          <a:solidFill>
            <a:srgbClr val="0E7C86"/>
          </a:solidFill>
          <a:ln/>
        </p:spPr>
      </p:sp>
      <p:sp>
        <p:nvSpPr>
          <p:cNvPr id="13" name="Text 11"/>
          <p:cNvSpPr txBox="1"/>
          <p:nvPr/>
        </p:nvSpPr>
        <p:spPr>
          <a:xfrm>
            <a:off x="4507992" y="2450592"/>
            <a:ext cx="3172968" cy="685800"/>
          </a:xfrm>
          <a:prstGeom prst="rect">
            <a:avLst/>
          </a:prstGeom>
          <a:noFill/>
          <a:ln/>
        </p:spPr>
        <p:txBody>
          <a:bodyPr wrap="square" lIns="0" tIns="0" rIns="0" bIns="0" rtlCol="0" anchor="t"/>
          <a:lstStyle/>
          <a:p>
            <a:pPr indent="0" marL="0">
              <a:buNone/>
            </a:pPr>
            <a:r>
              <a:rPr lang="en-US" sz="1500" b="1" dirty="0">
                <a:solidFill>
                  <a:srgbClr val="0E7C86"/>
                </a:solidFill>
                <a:latin typeface="Calibri" pitchFamily="34" charset="0"/>
                <a:ea typeface="Calibri" pitchFamily="34" charset="-122"/>
                <a:cs typeface="Calibri" pitchFamily="34" charset="-120"/>
              </a:rPr>
              <a:t>Direct-to-consumer (DTC)</a:t>
            </a:r>
            <a:endParaRPr lang="en-US" sz="1500" dirty="0"/>
          </a:p>
        </p:txBody>
      </p:sp>
      <p:sp>
        <p:nvSpPr>
          <p:cNvPr id="14" name="Text 12"/>
          <p:cNvSpPr txBox="1"/>
          <p:nvPr/>
        </p:nvSpPr>
        <p:spPr>
          <a:xfrm>
            <a:off x="4507992" y="3108960"/>
            <a:ext cx="3172968" cy="114300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Brands bypass retailers to sell straight to customers online, keeping control, margin and data.</a:t>
            </a:r>
            <a:endParaRPr lang="en-US" sz="1250" dirty="0"/>
          </a:p>
        </p:txBody>
      </p:sp>
      <p:sp>
        <p:nvSpPr>
          <p:cNvPr id="15" name="Text 13"/>
          <p:cNvSpPr txBox="1"/>
          <p:nvPr/>
        </p:nvSpPr>
        <p:spPr>
          <a:xfrm>
            <a:off x="4507992" y="4206240"/>
            <a:ext cx="3172968" cy="594360"/>
          </a:xfrm>
          <a:prstGeom prst="rect">
            <a:avLst/>
          </a:prstGeom>
          <a:noFill/>
          <a:ln/>
        </p:spPr>
        <p:txBody>
          <a:bodyPr wrap="square" lIns="0" tIns="0" rIns="0" bIns="0" rtlCol="0" anchor="t"/>
          <a:lstStyle/>
          <a:p>
            <a:pPr indent="0" marL="0">
              <a:buNone/>
            </a:pPr>
            <a:r>
              <a:rPr lang="en-US" sz="1150" i="1" dirty="0">
                <a:solidFill>
                  <a:srgbClr val="5B6B73"/>
                </a:solidFill>
                <a:latin typeface="Calibri" pitchFamily="34" charset="0"/>
                <a:ea typeface="Calibri" pitchFamily="34" charset="-122"/>
                <a:cs typeface="Calibri" pitchFamily="34" charset="-120"/>
              </a:rPr>
              <a:t>Control &amp; data — but the firm carries all logistics &amp; marketing</a:t>
            </a:r>
            <a:endParaRPr lang="en-US" sz="1150" dirty="0"/>
          </a:p>
        </p:txBody>
      </p:sp>
      <p:sp>
        <p:nvSpPr>
          <p:cNvPr id="16" name="Shape 14"/>
          <p:cNvSpPr/>
          <p:nvPr/>
        </p:nvSpPr>
        <p:spPr>
          <a:xfrm>
            <a:off x="8065008" y="2240280"/>
            <a:ext cx="3575304" cy="2651760"/>
          </a:xfrm>
          <a:prstGeom prst="roundRect">
            <a:avLst>
              <a:gd name="adj" fmla="val 2759"/>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7" name="Shape 15"/>
          <p:cNvSpPr/>
          <p:nvPr/>
        </p:nvSpPr>
        <p:spPr>
          <a:xfrm>
            <a:off x="8065008" y="2240280"/>
            <a:ext cx="3575304" cy="91440"/>
          </a:xfrm>
          <a:prstGeom prst="roundRect">
            <a:avLst/>
          </a:prstGeom>
          <a:solidFill>
            <a:srgbClr val="E0940F"/>
          </a:solidFill>
          <a:ln/>
        </p:spPr>
      </p:sp>
      <p:sp>
        <p:nvSpPr>
          <p:cNvPr id="18" name="Text 16"/>
          <p:cNvSpPr txBox="1"/>
          <p:nvPr/>
        </p:nvSpPr>
        <p:spPr>
          <a:xfrm>
            <a:off x="8266176" y="2450592"/>
            <a:ext cx="3172968" cy="685800"/>
          </a:xfrm>
          <a:prstGeom prst="rect">
            <a:avLst/>
          </a:prstGeom>
          <a:noFill/>
          <a:ln/>
        </p:spPr>
        <p:txBody>
          <a:bodyPr wrap="square" lIns="0" tIns="0" rIns="0" bIns="0" rtlCol="0" anchor="t"/>
          <a:lstStyle/>
          <a:p>
            <a:pPr indent="0" marL="0">
              <a:buNone/>
            </a:pPr>
            <a:r>
              <a:rPr lang="en-US" sz="1500" b="1" dirty="0">
                <a:solidFill>
                  <a:srgbClr val="E0940F"/>
                </a:solidFill>
                <a:latin typeface="Calibri" pitchFamily="34" charset="0"/>
                <a:ea typeface="Calibri" pitchFamily="34" charset="-122"/>
                <a:cs typeface="Calibri" pitchFamily="34" charset="-120"/>
              </a:rPr>
              <a:t>Omnichannel</a:t>
            </a:r>
            <a:endParaRPr lang="en-US" sz="1500" dirty="0"/>
          </a:p>
        </p:txBody>
      </p:sp>
      <p:sp>
        <p:nvSpPr>
          <p:cNvPr id="19" name="Text 17"/>
          <p:cNvSpPr txBox="1"/>
          <p:nvPr/>
        </p:nvSpPr>
        <p:spPr>
          <a:xfrm>
            <a:off x="8266176" y="3108960"/>
            <a:ext cx="3172968" cy="114300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A seamless mix of store, web and app — ‘clicks &amp; bricks’, click-and-collect, in-store returns.</a:t>
            </a:r>
            <a:endParaRPr lang="en-US" sz="1250" dirty="0"/>
          </a:p>
        </p:txBody>
      </p:sp>
      <p:sp>
        <p:nvSpPr>
          <p:cNvPr id="20" name="Text 18"/>
          <p:cNvSpPr txBox="1"/>
          <p:nvPr/>
        </p:nvSpPr>
        <p:spPr>
          <a:xfrm>
            <a:off x="8266176" y="4206240"/>
            <a:ext cx="3172968" cy="594360"/>
          </a:xfrm>
          <a:prstGeom prst="rect">
            <a:avLst/>
          </a:prstGeom>
          <a:noFill/>
          <a:ln/>
        </p:spPr>
        <p:txBody>
          <a:bodyPr wrap="square" lIns="0" tIns="0" rIns="0" bIns="0" rtlCol="0" anchor="t"/>
          <a:lstStyle/>
          <a:p>
            <a:pPr indent="0" marL="0">
              <a:buNone/>
            </a:pPr>
            <a:r>
              <a:rPr lang="en-US" sz="1150" i="1" dirty="0">
                <a:solidFill>
                  <a:srgbClr val="5B6B73"/>
                </a:solidFill>
                <a:latin typeface="Calibri" pitchFamily="34" charset="0"/>
                <a:ea typeface="Calibri" pitchFamily="34" charset="-122"/>
                <a:cs typeface="Calibri" pitchFamily="34" charset="-120"/>
              </a:rPr>
              <a:t>Convenience &amp; higher sales — but complex and costly to run</a:t>
            </a:r>
            <a:endParaRPr lang="en-US" sz="1150" dirty="0"/>
          </a:p>
        </p:txBody>
      </p:sp>
      <p:sp>
        <p:nvSpPr>
          <p:cNvPr id="21" name="Shape 19"/>
          <p:cNvSpPr/>
          <p:nvPr/>
        </p:nvSpPr>
        <p:spPr>
          <a:xfrm>
            <a:off x="548640" y="5074920"/>
            <a:ext cx="11091672" cy="1097280"/>
          </a:xfrm>
          <a:prstGeom prst="roundRect">
            <a:avLst>
              <a:gd name="adj" fmla="val 6667"/>
            </a:avLst>
          </a:prstGeom>
          <a:solidFill>
            <a:srgbClr val="FBF0D8"/>
          </a:solidFill>
          <a:ln/>
          <a:effectLst>
            <a:outerShdw sx="100000" sy="100000" kx="0" ky="0" algn="bl" rotWithShape="0" blurRad="76200" dist="25400" dir="5400000">
              <a:srgbClr val="9AAAB0">
                <a:alpha val="28000"/>
              </a:srgbClr>
            </a:outerShdw>
          </a:effectLst>
        </p:spPr>
      </p:sp>
      <p:sp>
        <p:nvSpPr>
          <p:cNvPr id="22" name="Shape 20"/>
          <p:cNvSpPr/>
          <p:nvPr/>
        </p:nvSpPr>
        <p:spPr>
          <a:xfrm>
            <a:off x="548640" y="5074920"/>
            <a:ext cx="109728" cy="1097280"/>
          </a:xfrm>
          <a:prstGeom prst="roundRect">
            <a:avLst/>
          </a:prstGeom>
          <a:solidFill>
            <a:srgbClr val="E0940F"/>
          </a:solidFill>
          <a:ln/>
        </p:spPr>
      </p:sp>
      <p:sp>
        <p:nvSpPr>
          <p:cNvPr id="23" name="Text 21"/>
          <p:cNvSpPr txBox="1"/>
          <p:nvPr/>
        </p:nvSpPr>
        <p:spPr>
          <a:xfrm>
            <a:off x="777240" y="5175504"/>
            <a:ext cx="10607040" cy="274320"/>
          </a:xfrm>
          <a:prstGeom prst="rect">
            <a:avLst/>
          </a:prstGeom>
          <a:noFill/>
          <a:ln/>
        </p:spPr>
        <p:txBody>
          <a:bodyPr wrap="square" lIns="0" tIns="0" rIns="0" bIns="0" rtlCol="0" anchor="ctr"/>
          <a:lstStyle/>
          <a:p>
            <a:pPr indent="0" marL="0">
              <a:buNone/>
            </a:pPr>
            <a:r>
              <a:rPr lang="en-US" sz="1150" b="1" spc="100" kern="0" dirty="0">
                <a:solidFill>
                  <a:srgbClr val="8A5A06"/>
                </a:solidFill>
                <a:latin typeface="Calibri" pitchFamily="34" charset="0"/>
                <a:ea typeface="Calibri" pitchFamily="34" charset="-122"/>
                <a:cs typeface="Calibri" pitchFamily="34" charset="-120"/>
              </a:rPr>
              <a:t>REAL EXAMPLES</a:t>
            </a:r>
            <a:endParaRPr lang="en-US" sz="1150" dirty="0"/>
          </a:p>
        </p:txBody>
      </p:sp>
      <p:sp>
        <p:nvSpPr>
          <p:cNvPr id="24" name="Text 22"/>
          <p:cNvSpPr txBox="1"/>
          <p:nvPr/>
        </p:nvSpPr>
        <p:spPr>
          <a:xfrm>
            <a:off x="777240" y="5458968"/>
            <a:ext cx="10698480" cy="68580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Amazon is ‘pure clicks’ (online only); most supermarkets are ‘clicks &amp; bricks’, blending stores with delivery and click-and-collect. The internet lets niche producers — e.g. a Scottish salmon fishery — sell nationwide; software and tickets are now distributed entirely online.</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C · EXAM PRACTICE</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Exam practice: Horizon (10 marks)</a:t>
            </a:r>
            <a:endParaRPr lang="en-US" sz="2800" dirty="0"/>
          </a:p>
        </p:txBody>
      </p:sp>
      <p:sp>
        <p:nvSpPr>
          <p:cNvPr id="4" name="Shape 2"/>
          <p:cNvSpPr/>
          <p:nvPr/>
        </p:nvSpPr>
        <p:spPr>
          <a:xfrm>
            <a:off x="548640" y="1371600"/>
            <a:ext cx="11091672" cy="1874520"/>
          </a:xfrm>
          <a:prstGeom prst="roundRect">
            <a:avLst>
              <a:gd name="adj" fmla="val 3902"/>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5486400" cy="274320"/>
          </a:xfrm>
          <a:prstGeom prst="rect">
            <a:avLst/>
          </a:prstGeom>
          <a:noFill/>
          <a:ln/>
        </p:spPr>
        <p:txBody>
          <a:bodyPr wrap="square" lIns="0" tIns="0" rIns="0" bIns="0" rtlCol="0" anchor="ctr"/>
          <a:lstStyle/>
          <a:p>
            <a:pPr indent="0" marL="0">
              <a:buNone/>
            </a:pPr>
            <a:r>
              <a:rPr lang="en-US" sz="1100" b="1" spc="150" kern="0" dirty="0">
                <a:solidFill>
                  <a:srgbClr val="7FC4CB"/>
                </a:solidFill>
                <a:latin typeface="Calibri" pitchFamily="34" charset="0"/>
                <a:ea typeface="Calibri" pitchFamily="34" charset="-122"/>
                <a:cs typeface="Calibri" pitchFamily="34" charset="-120"/>
              </a:rPr>
              <a:t>EXAM QUESTIONS</a:t>
            </a:r>
            <a:endParaRPr lang="en-US" sz="1100" dirty="0"/>
          </a:p>
        </p:txBody>
      </p:sp>
      <p:sp>
        <p:nvSpPr>
          <p:cNvPr id="6" name="Text 4"/>
          <p:cNvSpPr txBox="1"/>
          <p:nvPr/>
        </p:nvSpPr>
        <p:spPr>
          <a:xfrm>
            <a:off x="777240" y="1792224"/>
            <a:ext cx="10607040" cy="132588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Assess the problems that Horizon may face when using multi-channel distribution.  </a:t>
            </a:r>
            <a:pPr indent="0" marL="0">
              <a:spcAft>
                <a:spcPts val="800"/>
              </a:spcAft>
              <a:buNone/>
            </a:pPr>
            <a:r>
              <a:rPr lang="en-US" sz="1350" b="1" dirty="0">
                <a:solidFill>
                  <a:srgbClr val="E0940F"/>
                </a:solidFill>
                <a:latin typeface="Calibri" pitchFamily="34" charset="0"/>
                <a:ea typeface="Calibri" pitchFamily="34" charset="-122"/>
                <a:cs typeface="Calibri" pitchFamily="34" charset="-120"/>
              </a:rPr>
              <a:t>[10]</a:t>
            </a:r>
            <a:endParaRPr lang="en-US" sz="1350" dirty="0"/>
          </a:p>
        </p:txBody>
      </p:sp>
      <p:sp>
        <p:nvSpPr>
          <p:cNvPr id="7" name="Shape 5"/>
          <p:cNvSpPr/>
          <p:nvPr/>
        </p:nvSpPr>
        <p:spPr>
          <a:xfrm>
            <a:off x="548640" y="3364992"/>
            <a:ext cx="5029200" cy="2834640"/>
          </a:xfrm>
          <a:prstGeom prst="roundRect">
            <a:avLst>
              <a:gd name="adj" fmla="val 2581"/>
            </a:avLst>
          </a:prstGeom>
          <a:solidFill>
            <a:srgbClr val="EAF3F4"/>
          </a:solidFill>
          <a:ln/>
          <a:effectLst>
            <a:outerShdw sx="100000" sy="100000" kx="0" ky="0" algn="bl" rotWithShape="0" blurRad="76200" dist="25400" dir="5400000">
              <a:srgbClr val="9AAAB0">
                <a:alpha val="28000"/>
              </a:srgbClr>
            </a:outerShdw>
          </a:effectLst>
        </p:spPr>
      </p:sp>
      <p:sp>
        <p:nvSpPr>
          <p:cNvPr id="8" name="Text 6"/>
          <p:cNvSpPr txBox="1"/>
          <p:nvPr/>
        </p:nvSpPr>
        <p:spPr>
          <a:xfrm>
            <a:off x="749808" y="3474720"/>
            <a:ext cx="4663440" cy="310896"/>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What the question is testing</a:t>
            </a:r>
            <a:endParaRPr lang="en-US" sz="1300" dirty="0"/>
          </a:p>
        </p:txBody>
      </p:sp>
      <p:sp>
        <p:nvSpPr>
          <p:cNvPr id="9" name="Text 7"/>
          <p:cNvSpPr txBox="1"/>
          <p:nvPr/>
        </p:nvSpPr>
        <p:spPr>
          <a:xfrm>
            <a:off x="749808" y="3840480"/>
            <a:ext cx="461772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10-mark Assess: weigh the problems of multi-channel against its upsides, with a supported judgement.</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Horizon sells direct online, via Amazon, and via Techworld; it reports after-sales issues and order delays.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Apply the case throughout; Level 4 (8–10) is balanced with a clear judgement.</a:t>
            </a:r>
            <a:endParaRPr lang="en-US" sz="1250" dirty="0"/>
          </a:p>
        </p:txBody>
      </p:sp>
      <p:sp>
        <p:nvSpPr>
          <p:cNvPr id="10" name="Shape 8"/>
          <p:cNvSpPr/>
          <p:nvPr/>
        </p:nvSpPr>
        <p:spPr>
          <a:xfrm>
            <a:off x="5788152" y="3364992"/>
            <a:ext cx="5852160" cy="2834640"/>
          </a:xfrm>
          <a:prstGeom prst="roundRect">
            <a:avLst>
              <a:gd name="adj" fmla="val 2581"/>
            </a:avLst>
          </a:prstGeom>
          <a:solidFill>
            <a:srgbClr val="FBF0D8"/>
          </a:solidFill>
          <a:ln/>
          <a:effectLst>
            <a:outerShdw sx="100000" sy="100000" kx="0" ky="0" algn="bl" rotWithShape="0" blurRad="76200" dist="25400" dir="5400000">
              <a:srgbClr val="9AAAB0">
                <a:alpha val="28000"/>
              </a:srgbClr>
            </a:outerShdw>
          </a:effectLst>
        </p:spPr>
      </p:sp>
      <p:sp>
        <p:nvSpPr>
          <p:cNvPr id="11" name="Text 9"/>
          <p:cNvSpPr txBox="1"/>
          <p:nvPr/>
        </p:nvSpPr>
        <p:spPr>
          <a:xfrm>
            <a:off x="5989320" y="3474720"/>
            <a:ext cx="5486400" cy="310896"/>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Plan (10-mark template)</a:t>
            </a:r>
            <a:endParaRPr lang="en-US" sz="1300" dirty="0"/>
          </a:p>
        </p:txBody>
      </p:sp>
      <p:sp>
        <p:nvSpPr>
          <p:cNvPr id="12" name="Text 10"/>
          <p:cNvSpPr txBox="1"/>
          <p:nvPr/>
        </p:nvSpPr>
        <p:spPr>
          <a:xfrm>
            <a:off x="5989320" y="3840480"/>
            <a:ext cx="544068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¶1 (problem): channel conflict — Horizon's strong own-website sales compete with Techworld, whose sales fell (Solace 6 down 6%).</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¶2 (problem): inconsistent after-sales service and order delays across channels damage the brand and customer experience.</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Balance: multi-channel also shares costs and boosts reach (Amazon + website strong), so the issue may be management, not the model.</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Conclusion (4Ws): the problems are real but manageable — it depends on whether Horizon fixes logistics and the weak Techworld channel.</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D</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D</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300" b="1" dirty="0">
                <a:solidFill>
                  <a:srgbClr val="FFFFFF"/>
                </a:solidFill>
                <a:latin typeface="Cambria" pitchFamily="34" charset="0"/>
                <a:ea typeface="Cambria" pitchFamily="34" charset="-122"/>
                <a:cs typeface="Cambria" pitchFamily="34" charset="-120"/>
              </a:rPr>
              <a:t>A-grade exam skills</a:t>
            </a:r>
            <a:endParaRPr lang="en-US" sz="33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the Horizon 20-mark  ·  decode and plan with 5×5  ·  a model answer and how to reach the top band</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D · EXAM MASTERY</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The 20-mark: decode it, then plan with 5×5</a:t>
            </a:r>
            <a:endParaRPr lang="en-US" sz="2800" dirty="0"/>
          </a:p>
        </p:txBody>
      </p:sp>
      <p:sp>
        <p:nvSpPr>
          <p:cNvPr id="4" name="Shape 2"/>
          <p:cNvSpPr/>
          <p:nvPr/>
        </p:nvSpPr>
        <p:spPr>
          <a:xfrm>
            <a:off x="548640" y="1371600"/>
            <a:ext cx="11091672" cy="1005840"/>
          </a:xfrm>
          <a:prstGeom prst="roundRect">
            <a:avLst>
              <a:gd name="adj" fmla="val 7273"/>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63040"/>
            <a:ext cx="5486400" cy="274320"/>
          </a:xfrm>
          <a:prstGeom prst="rect">
            <a:avLst/>
          </a:prstGeom>
          <a:noFill/>
          <a:ln/>
        </p:spPr>
        <p:txBody>
          <a:bodyPr wrap="square" lIns="0" tIns="0" rIns="0" bIns="0" rtlCol="0" anchor="ctr"/>
          <a:lstStyle/>
          <a:p>
            <a:pPr indent="0" marL="0">
              <a:buNone/>
            </a:pPr>
            <a:r>
              <a:rPr lang="en-US" sz="1050" b="1" spc="150" kern="0" dirty="0">
                <a:solidFill>
                  <a:srgbClr val="7FC4CB"/>
                </a:solidFill>
                <a:latin typeface="Calibri" pitchFamily="34" charset="0"/>
                <a:ea typeface="Calibri" pitchFamily="34" charset="-122"/>
                <a:cs typeface="Calibri" pitchFamily="34" charset="-120"/>
              </a:rPr>
              <a:t>THE QUESTION</a:t>
            </a:r>
            <a:endParaRPr lang="en-US" sz="1050" dirty="0"/>
          </a:p>
        </p:txBody>
      </p:sp>
      <p:sp>
        <p:nvSpPr>
          <p:cNvPr id="6" name="Text 4"/>
          <p:cNvSpPr txBox="1"/>
          <p:nvPr/>
        </p:nvSpPr>
        <p:spPr>
          <a:xfrm>
            <a:off x="777240" y="1773936"/>
            <a:ext cx="10607040" cy="54864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Evaluate whether Horizon should consider selling their product range solely through a direct distribution channel.  </a:t>
            </a:r>
            <a:pPr indent="0" marL="0">
              <a:buNone/>
            </a:pPr>
            <a:r>
              <a:rPr lang="en-US" sz="1350" b="1" dirty="0">
                <a:solidFill>
                  <a:srgbClr val="E0940F"/>
                </a:solidFill>
                <a:latin typeface="Calibri" pitchFamily="34" charset="0"/>
                <a:ea typeface="Calibri" pitchFamily="34" charset="-122"/>
                <a:cs typeface="Calibri" pitchFamily="34" charset="-120"/>
              </a:rPr>
              <a:t>[20]</a:t>
            </a:r>
            <a:endParaRPr lang="en-US" sz="1350" dirty="0"/>
          </a:p>
        </p:txBody>
      </p:sp>
      <p:sp>
        <p:nvSpPr>
          <p:cNvPr id="7" name="Shape 5"/>
          <p:cNvSpPr/>
          <p:nvPr/>
        </p:nvSpPr>
        <p:spPr>
          <a:xfrm>
            <a:off x="548640" y="2514600"/>
            <a:ext cx="5029200" cy="3685032"/>
          </a:xfrm>
          <a:prstGeom prst="roundRect">
            <a:avLst>
              <a:gd name="adj" fmla="val 1985"/>
            </a:avLst>
          </a:prstGeom>
          <a:solidFill>
            <a:srgbClr val="EAF3F4"/>
          </a:solidFill>
          <a:ln/>
          <a:effectLst>
            <a:outerShdw sx="100000" sy="100000" kx="0" ky="0" algn="bl" rotWithShape="0" blurRad="76200" dist="25400" dir="5400000">
              <a:srgbClr val="9AAAB0">
                <a:alpha val="28000"/>
              </a:srgbClr>
            </a:outerShdw>
          </a:effectLst>
        </p:spPr>
      </p:sp>
      <p:sp>
        <p:nvSpPr>
          <p:cNvPr id="8" name="Text 6"/>
          <p:cNvSpPr txBox="1"/>
          <p:nvPr/>
        </p:nvSpPr>
        <p:spPr>
          <a:xfrm>
            <a:off x="749808" y="2624328"/>
            <a:ext cx="4663440" cy="310896"/>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Decode the command</a:t>
            </a:r>
            <a:endParaRPr lang="en-US" sz="1300" dirty="0"/>
          </a:p>
        </p:txBody>
      </p:sp>
      <p:sp>
        <p:nvSpPr>
          <p:cNvPr id="9" name="Text 7"/>
          <p:cNvSpPr txBox="1"/>
          <p:nvPr/>
        </p:nvSpPr>
        <p:spPr>
          <a:xfrm>
            <a:off x="749808" y="2990088"/>
            <a:ext cx="4617720" cy="3108960"/>
          </a:xfrm>
          <a:prstGeom prst="rect">
            <a:avLst/>
          </a:prstGeom>
          <a:noFill/>
          <a:ln/>
        </p:spPr>
        <p:txBody>
          <a:bodyPr wrap="square" lIns="0" tIns="0" rIns="0" bIns="0" rtlCol="0" anchor="t"/>
          <a:lstStyle/>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‘SOLELY direct’ — judge dropping Amazon &amp; Techworld for direct only</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Evaluate = argue both sides, then a supported judgement</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Use the case: strong website sales, falling Techworld sales, after-sales issues</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Level 4 (16–20): balanced, well-contextualised, competing arguments, supported judgement</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Timing ~30 min: 5 plan, ~20 write, 3–5 conclude</a:t>
            </a:r>
            <a:endParaRPr lang="en-US" sz="1180" dirty="0"/>
          </a:p>
        </p:txBody>
      </p:sp>
      <p:sp>
        <p:nvSpPr>
          <p:cNvPr id="10" name="Shape 8"/>
          <p:cNvSpPr/>
          <p:nvPr/>
        </p:nvSpPr>
        <p:spPr>
          <a:xfrm>
            <a:off x="5788152" y="2514600"/>
            <a:ext cx="5852160" cy="3685032"/>
          </a:xfrm>
          <a:prstGeom prst="roundRect">
            <a:avLst>
              <a:gd name="adj" fmla="val 1985"/>
            </a:avLst>
          </a:prstGeom>
          <a:solidFill>
            <a:srgbClr val="FBF0D8"/>
          </a:solidFill>
          <a:ln/>
          <a:effectLst>
            <a:outerShdw sx="100000" sy="100000" kx="0" ky="0" algn="bl" rotWithShape="0" blurRad="76200" dist="25400" dir="5400000">
              <a:srgbClr val="9AAAB0">
                <a:alpha val="28000"/>
              </a:srgbClr>
            </a:outerShdw>
          </a:effectLst>
        </p:spPr>
      </p:sp>
      <p:sp>
        <p:nvSpPr>
          <p:cNvPr id="11" name="Text 9"/>
          <p:cNvSpPr txBox="1"/>
          <p:nvPr/>
        </p:nvSpPr>
        <p:spPr>
          <a:xfrm>
            <a:off x="5989320" y="2624328"/>
            <a:ext cx="5486400" cy="310896"/>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Plan — 5×5 PECAN, 5 paragraphs</a:t>
            </a:r>
            <a:endParaRPr lang="en-US" sz="1300" dirty="0"/>
          </a:p>
        </p:txBody>
      </p:sp>
      <p:sp>
        <p:nvSpPr>
          <p:cNvPr id="12" name="Text 10"/>
          <p:cNvSpPr txBox="1"/>
          <p:nvPr/>
        </p:nvSpPr>
        <p:spPr>
          <a:xfrm>
            <a:off x="5989320" y="2990088"/>
            <a:ext cx="5440680" cy="3108960"/>
          </a:xfrm>
          <a:prstGeom prst="rect">
            <a:avLst/>
          </a:prstGeom>
          <a:noFill/>
          <a:ln/>
        </p:spPr>
        <p:txBody>
          <a:bodyPr wrap="square" lIns="0" tIns="0" rIns="0" bIns="0" rtlCol="0" anchor="t"/>
          <a:lstStyle/>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¶1 For: direct gives control, full margin &amp; fixes after-sales (website already very strong)</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¶2 For: avoids channel conflict and reliance on failing Techworld</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¶3 However: loses the reach of Amazon and high-street stores → lost sales</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¶4 However: going solo is costly &amp; risky — multi-channel shares the cost burden</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¶5 Conclusion (4Ws): which, why, why it matters, what it depends on</a:t>
            </a:r>
            <a:endParaRPr lang="en-US" sz="118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D · MODEL ANSWER</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A model 20-mark answer (Horizon) — the body</a:t>
            </a:r>
            <a:endParaRPr lang="en-US" sz="2800" dirty="0"/>
          </a:p>
        </p:txBody>
      </p:sp>
      <p:sp>
        <p:nvSpPr>
          <p:cNvPr id="4" name="Shape 2"/>
          <p:cNvSpPr/>
          <p:nvPr/>
        </p:nvSpPr>
        <p:spPr>
          <a:xfrm>
            <a:off x="548640" y="1371600"/>
            <a:ext cx="11091672" cy="1572768"/>
          </a:xfrm>
          <a:prstGeom prst="roundRect">
            <a:avLst>
              <a:gd name="adj" fmla="val 4651"/>
            </a:avLst>
          </a:prstGeom>
          <a:solidFill>
            <a:srgbClr val="E8F3EC"/>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10607040" cy="1371600"/>
          </a:xfrm>
          <a:prstGeom prst="rect">
            <a:avLst/>
          </a:prstGeom>
          <a:noFill/>
          <a:ln/>
        </p:spPr>
        <p:txBody>
          <a:bodyPr wrap="square" lIns="0" tIns="0" rIns="0" bIns="0" rtlCol="0" anchor="t"/>
          <a:lstStyle/>
          <a:p>
            <a:pPr indent="0" marL="0">
              <a:buNone/>
            </a:pPr>
            <a:r>
              <a:rPr lang="en-US" sz="1180" b="1" dirty="0">
                <a:solidFill>
                  <a:srgbClr val="2F8A5B"/>
                </a:solidFill>
                <a:latin typeface="Calibri" pitchFamily="34" charset="0"/>
                <a:ea typeface="Calibri" pitchFamily="34" charset="-122"/>
                <a:cs typeface="Calibri" pitchFamily="34" charset="-120"/>
              </a:rPr>
              <a:t>¶ Direct has real merit (for).  </a:t>
            </a:r>
            <a:pPr indent="0" marL="0">
              <a:buNone/>
            </a:pPr>
            <a:r>
              <a:rPr lang="en-US" sz="1180" dirty="0">
                <a:solidFill>
                  <a:srgbClr val="1F2A33"/>
                </a:solidFill>
                <a:latin typeface="Calibri" pitchFamily="34" charset="0"/>
                <a:ea typeface="Calibri" pitchFamily="34" charset="-122"/>
                <a:cs typeface="Calibri" pitchFamily="34" charset="-120"/>
              </a:rPr>
              <a:t>Going direct would give Horizon full control and the whole margin on each sale. Its own website sales are already ‘very strong’, so customers clearly will buy direct. Selling direct also lets Horizon fix the after-sales inconsistencies and order delays its COO identified, because it would no longer depend on third parties — improving the experience for a premium electronics brand.</a:t>
            </a:r>
            <a:endParaRPr lang="en-US" sz="1180" dirty="0"/>
          </a:p>
        </p:txBody>
      </p:sp>
      <p:sp>
        <p:nvSpPr>
          <p:cNvPr id="6" name="Shape 4"/>
          <p:cNvSpPr/>
          <p:nvPr/>
        </p:nvSpPr>
        <p:spPr>
          <a:xfrm>
            <a:off x="548640" y="3017520"/>
            <a:ext cx="11091672" cy="1572768"/>
          </a:xfrm>
          <a:prstGeom prst="roundRect">
            <a:avLst>
              <a:gd name="adj" fmla="val 4651"/>
            </a:avLst>
          </a:prstGeom>
          <a:solidFill>
            <a:srgbClr val="EAF3F4"/>
          </a:solidFill>
          <a:ln/>
          <a:effectLst>
            <a:outerShdw sx="100000" sy="100000" kx="0" ky="0" algn="bl" rotWithShape="0" blurRad="76200" dist="25400" dir="5400000">
              <a:srgbClr val="9AAAB0">
                <a:alpha val="28000"/>
              </a:srgbClr>
            </a:outerShdw>
          </a:effectLst>
        </p:spPr>
      </p:sp>
      <p:sp>
        <p:nvSpPr>
          <p:cNvPr id="7" name="Text 5"/>
          <p:cNvSpPr txBox="1"/>
          <p:nvPr/>
        </p:nvSpPr>
        <p:spPr>
          <a:xfrm>
            <a:off x="777240" y="3127248"/>
            <a:ext cx="10607040" cy="1371600"/>
          </a:xfrm>
          <a:prstGeom prst="rect">
            <a:avLst/>
          </a:prstGeom>
          <a:noFill/>
          <a:ln/>
        </p:spPr>
        <p:txBody>
          <a:bodyPr wrap="square" lIns="0" tIns="0" rIns="0" bIns="0" rtlCol="0" anchor="t"/>
          <a:lstStyle/>
          <a:p>
            <a:pPr indent="0" marL="0">
              <a:buNone/>
            </a:pPr>
            <a:r>
              <a:rPr lang="en-US" sz="1180" b="1" dirty="0">
                <a:solidFill>
                  <a:srgbClr val="0B5E66"/>
                </a:solidFill>
                <a:latin typeface="Calibri" pitchFamily="34" charset="0"/>
                <a:ea typeface="Calibri" pitchFamily="34" charset="-122"/>
                <a:cs typeface="Calibri" pitchFamily="34" charset="-120"/>
              </a:rPr>
              <a:t>¶ It removes weak links (for).  </a:t>
            </a:r>
            <a:pPr indent="0" marL="0">
              <a:buNone/>
            </a:pPr>
            <a:r>
              <a:rPr lang="en-US" sz="1180" dirty="0">
                <a:solidFill>
                  <a:srgbClr val="1F2A33"/>
                </a:solidFill>
                <a:latin typeface="Calibri" pitchFamily="34" charset="0"/>
                <a:ea typeface="Calibri" pitchFamily="34" charset="-122"/>
                <a:cs typeface="Calibri" pitchFamily="34" charset="-120"/>
              </a:rPr>
              <a:t>Direct selling would also end channel conflict and reliance on Techworld, whose high-street sales are falling — the Solace 6 sold 6% fewer than the Solace 5. Cutting an underperforming partner and selling through its own strong website could protect both brand prestige and revenue.</a:t>
            </a:r>
            <a:endParaRPr lang="en-US" sz="1180" dirty="0"/>
          </a:p>
        </p:txBody>
      </p:sp>
      <p:sp>
        <p:nvSpPr>
          <p:cNvPr id="8" name="Shape 6"/>
          <p:cNvSpPr/>
          <p:nvPr/>
        </p:nvSpPr>
        <p:spPr>
          <a:xfrm>
            <a:off x="548640" y="4663440"/>
            <a:ext cx="11091672" cy="1517904"/>
          </a:xfrm>
          <a:prstGeom prst="roundRect">
            <a:avLst>
              <a:gd name="adj" fmla="val 4819"/>
            </a:avLst>
          </a:prstGeom>
          <a:solidFill>
            <a:srgbClr val="F9EAE6"/>
          </a:solidFill>
          <a:ln/>
          <a:effectLst>
            <a:outerShdw sx="100000" sy="100000" kx="0" ky="0" algn="bl" rotWithShape="0" blurRad="76200" dist="25400" dir="5400000">
              <a:srgbClr val="9AAAB0">
                <a:alpha val="28000"/>
              </a:srgbClr>
            </a:outerShdw>
          </a:effectLst>
        </p:spPr>
      </p:sp>
      <p:sp>
        <p:nvSpPr>
          <p:cNvPr id="9" name="Text 7"/>
          <p:cNvSpPr txBox="1"/>
          <p:nvPr/>
        </p:nvSpPr>
        <p:spPr>
          <a:xfrm>
            <a:off x="777240" y="4773168"/>
            <a:ext cx="10607040" cy="1316736"/>
          </a:xfrm>
          <a:prstGeom prst="rect">
            <a:avLst/>
          </a:prstGeom>
          <a:noFill/>
          <a:ln/>
        </p:spPr>
        <p:txBody>
          <a:bodyPr wrap="square" lIns="0" tIns="0" rIns="0" bIns="0" rtlCol="0" anchor="t"/>
          <a:lstStyle/>
          <a:p>
            <a:pPr indent="0" marL="0">
              <a:buNone/>
            </a:pPr>
            <a:r>
              <a:rPr lang="en-US" sz="1180" b="1" dirty="0">
                <a:solidFill>
                  <a:srgbClr val="C14B37"/>
                </a:solidFill>
                <a:latin typeface="Calibri" pitchFamily="34" charset="0"/>
                <a:ea typeface="Calibri" pitchFamily="34" charset="-122"/>
                <a:cs typeface="Calibri" pitchFamily="34" charset="-120"/>
              </a:rPr>
              <a:t>¶ But solely direct is risky (however).  </a:t>
            </a:r>
            <a:pPr indent="0" marL="0">
              <a:buNone/>
            </a:pPr>
            <a:r>
              <a:rPr lang="en-US" sz="1180" dirty="0">
                <a:solidFill>
                  <a:srgbClr val="1F2A33"/>
                </a:solidFill>
                <a:latin typeface="Calibri" pitchFamily="34" charset="0"/>
                <a:ea typeface="Calibri" pitchFamily="34" charset="-122"/>
                <a:cs typeface="Calibri" pitchFamily="34" charset="-120"/>
              </a:rPr>
              <a:t>However, going SOLELY direct would sacrifice huge reach: Amazon sales were good and many customers still want to buy electronics in person. Losing those channels could cut total sales. Running all distribution alone is also costly and risky — multi-channel lets Horizon share the cost burden, as its COO argued.</a:t>
            </a:r>
            <a:endParaRPr lang="en-US" sz="118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D · MODEL ANSWER</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The conclusion — and how to reach the top band</a:t>
            </a:r>
            <a:endParaRPr lang="en-US" sz="2800" dirty="0"/>
          </a:p>
        </p:txBody>
      </p:sp>
      <p:sp>
        <p:nvSpPr>
          <p:cNvPr id="4" name="Shape 2"/>
          <p:cNvSpPr/>
          <p:nvPr/>
        </p:nvSpPr>
        <p:spPr>
          <a:xfrm>
            <a:off x="548640" y="1371600"/>
            <a:ext cx="11091672" cy="1920240"/>
          </a:xfrm>
          <a:prstGeom prst="roundRect">
            <a:avLst>
              <a:gd name="adj" fmla="val 3810"/>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63040"/>
            <a:ext cx="5486400" cy="274320"/>
          </a:xfrm>
          <a:prstGeom prst="rect">
            <a:avLst/>
          </a:prstGeom>
          <a:noFill/>
          <a:ln/>
        </p:spPr>
        <p:txBody>
          <a:bodyPr wrap="square" lIns="0" tIns="0" rIns="0" bIns="0" rtlCol="0" anchor="ctr"/>
          <a:lstStyle/>
          <a:p>
            <a:pPr indent="0" marL="0">
              <a:buNone/>
            </a:pPr>
            <a:r>
              <a:rPr lang="en-US" sz="1050" b="1" spc="150" kern="0" dirty="0">
                <a:solidFill>
                  <a:srgbClr val="7FC4CB"/>
                </a:solidFill>
                <a:latin typeface="Calibri" pitchFamily="34" charset="0"/>
                <a:ea typeface="Calibri" pitchFamily="34" charset="-122"/>
                <a:cs typeface="Calibri" pitchFamily="34" charset="-120"/>
              </a:rPr>
              <a:t>CONCLUSION (4Ws)</a:t>
            </a:r>
            <a:endParaRPr lang="en-US" sz="1050" dirty="0"/>
          </a:p>
        </p:txBody>
      </p:sp>
      <p:sp>
        <p:nvSpPr>
          <p:cNvPr id="6" name="Text 4"/>
          <p:cNvSpPr txBox="1"/>
          <p:nvPr/>
        </p:nvSpPr>
        <p:spPr>
          <a:xfrm>
            <a:off x="777240" y="1773936"/>
            <a:ext cx="10607040" cy="146304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Overall, Horizon should NOT sell solely through a direct channel. Direct selling is attractive for control and margin, but abandoning Amazon and high-street retail would sacrifice too much reach and raise cost and risk. The better option is a selective multi-channel mix — keep its strong website and Amazon, and fix or replace the failing Techworld channel. This depends on whether Horizon's real problem is the multi-channel model itself or simply poor management of logistics and after-sales — if the latter, the model is worth keeping.</a:t>
            </a:r>
            <a:endParaRPr lang="en-US" sz="1250" dirty="0"/>
          </a:p>
        </p:txBody>
      </p:sp>
      <p:sp>
        <p:nvSpPr>
          <p:cNvPr id="7" name="Shape 5"/>
          <p:cNvSpPr/>
          <p:nvPr/>
        </p:nvSpPr>
        <p:spPr>
          <a:xfrm>
            <a:off x="548640" y="3474720"/>
            <a:ext cx="5440680" cy="2697480"/>
          </a:xfrm>
          <a:prstGeom prst="roundRect">
            <a:avLst>
              <a:gd name="adj" fmla="val 2712"/>
            </a:avLst>
          </a:prstGeom>
          <a:solidFill>
            <a:srgbClr val="E8F3EC"/>
          </a:solidFill>
          <a:ln/>
          <a:effectLst>
            <a:outerShdw sx="100000" sy="100000" kx="0" ky="0" algn="bl" rotWithShape="0" blurRad="76200" dist="25400" dir="5400000">
              <a:srgbClr val="9AAAB0">
                <a:alpha val="28000"/>
              </a:srgbClr>
            </a:outerShdw>
          </a:effectLst>
        </p:spPr>
      </p:sp>
      <p:sp>
        <p:nvSpPr>
          <p:cNvPr id="8" name="Shape 6"/>
          <p:cNvSpPr/>
          <p:nvPr/>
        </p:nvSpPr>
        <p:spPr>
          <a:xfrm>
            <a:off x="777240" y="3630168"/>
            <a:ext cx="3291840" cy="310896"/>
          </a:xfrm>
          <a:prstGeom prst="roundRect">
            <a:avLst>
              <a:gd name="adj" fmla="val 50000"/>
            </a:avLst>
          </a:prstGeom>
          <a:solidFill>
            <a:srgbClr val="2F8A5B"/>
          </a:solidFill>
          <a:ln/>
        </p:spPr>
      </p:sp>
      <p:sp>
        <p:nvSpPr>
          <p:cNvPr id="9" name="Text 7"/>
          <p:cNvSpPr txBox="1"/>
          <p:nvPr/>
        </p:nvSpPr>
        <p:spPr>
          <a:xfrm>
            <a:off x="777240" y="3630168"/>
            <a:ext cx="329184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TO REACH LEVEL 4</a:t>
            </a:r>
            <a:endParaRPr lang="en-US" sz="1050" dirty="0"/>
          </a:p>
        </p:txBody>
      </p:sp>
      <p:sp>
        <p:nvSpPr>
          <p:cNvPr id="10" name="Text 8"/>
          <p:cNvSpPr txBox="1"/>
          <p:nvPr/>
        </p:nvSpPr>
        <p:spPr>
          <a:xfrm>
            <a:off x="777240" y="4069080"/>
            <a:ext cx="4983480" cy="192024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Answer the exact question (‘SOLELY direct?’)</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Argue both sides with case detail</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Use the channel factors as reasons</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Build 2+ step chains with connectives</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Judge AND say what it depends on</a:t>
            </a:r>
            <a:endParaRPr lang="en-US" sz="1200" dirty="0"/>
          </a:p>
        </p:txBody>
      </p:sp>
      <p:sp>
        <p:nvSpPr>
          <p:cNvPr id="11" name="Shape 9"/>
          <p:cNvSpPr/>
          <p:nvPr/>
        </p:nvSpPr>
        <p:spPr>
          <a:xfrm>
            <a:off x="6199632" y="3474720"/>
            <a:ext cx="5440680" cy="2697480"/>
          </a:xfrm>
          <a:prstGeom prst="roundRect">
            <a:avLst>
              <a:gd name="adj" fmla="val 2712"/>
            </a:avLst>
          </a:prstGeom>
          <a:solidFill>
            <a:srgbClr val="F9EAE6"/>
          </a:solidFill>
          <a:ln/>
          <a:effectLst>
            <a:outerShdw sx="100000" sy="100000" kx="0" ky="0" algn="bl" rotWithShape="0" blurRad="76200" dist="25400" dir="5400000">
              <a:srgbClr val="9AAAB0">
                <a:alpha val="28000"/>
              </a:srgbClr>
            </a:outerShdw>
          </a:effectLst>
        </p:spPr>
      </p:sp>
      <p:sp>
        <p:nvSpPr>
          <p:cNvPr id="12" name="Shape 10"/>
          <p:cNvSpPr/>
          <p:nvPr/>
        </p:nvSpPr>
        <p:spPr>
          <a:xfrm>
            <a:off x="6428232" y="3630168"/>
            <a:ext cx="3840480" cy="310896"/>
          </a:xfrm>
          <a:prstGeom prst="roundRect">
            <a:avLst>
              <a:gd name="adj" fmla="val 50000"/>
            </a:avLst>
          </a:prstGeom>
          <a:solidFill>
            <a:srgbClr val="C14B37"/>
          </a:solidFill>
          <a:ln/>
        </p:spPr>
      </p:sp>
      <p:sp>
        <p:nvSpPr>
          <p:cNvPr id="13" name="Text 11"/>
          <p:cNvSpPr txBox="1"/>
          <p:nvPr/>
        </p:nvSpPr>
        <p:spPr>
          <a:xfrm>
            <a:off x="6428232" y="3630168"/>
            <a:ext cx="384048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WHAT DROPS TO LEVEL 2–3</a:t>
            </a:r>
            <a:endParaRPr lang="en-US" sz="1050" dirty="0"/>
          </a:p>
        </p:txBody>
      </p:sp>
      <p:sp>
        <p:nvSpPr>
          <p:cNvPr id="14" name="Text 12"/>
          <p:cNvSpPr txBox="1"/>
          <p:nvPr/>
        </p:nvSpPr>
        <p:spPr>
          <a:xfrm>
            <a:off x="6428232" y="4069080"/>
            <a:ext cx="4983480" cy="192024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Describing channels with no Horizon context</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Only arguing one side</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Chains that stop at 'it saves money'</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Ignoring the word ‘solely’</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No judgement, or no 'depends on'</a:t>
            </a:r>
            <a:endParaRPr lang="en-US" sz="12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822960" y="640080"/>
            <a:ext cx="10515600" cy="365760"/>
          </a:xfrm>
          <a:prstGeom prst="rect">
            <a:avLst/>
          </a:prstGeom>
          <a:noFill/>
          <a:ln/>
        </p:spPr>
        <p:txBody>
          <a:bodyPr wrap="square" lIns="0" tIns="0" rIns="0" bIns="0" rtlCol="0" anchor="ctr"/>
          <a:lstStyle/>
          <a:p>
            <a:pPr indent="0" marL="0">
              <a:buNone/>
            </a:pPr>
            <a:r>
              <a:rPr lang="en-US" sz="1300" b="1" spc="200" kern="0" dirty="0">
                <a:solidFill>
                  <a:srgbClr val="E0940F"/>
                </a:solidFill>
                <a:latin typeface="Calibri" pitchFamily="34" charset="0"/>
                <a:ea typeface="Calibri" pitchFamily="34" charset="-122"/>
                <a:cs typeface="Calibri" pitchFamily="34" charset="-120"/>
              </a:rPr>
              <a:t>PUTTING IT TOGETHER</a:t>
            </a:r>
            <a:endParaRPr lang="en-US" sz="1300" dirty="0"/>
          </a:p>
        </p:txBody>
      </p:sp>
      <p:sp>
        <p:nvSpPr>
          <p:cNvPr id="3" name="Text 1"/>
          <p:cNvSpPr txBox="1"/>
          <p:nvPr/>
        </p:nvSpPr>
        <p:spPr>
          <a:xfrm>
            <a:off x="822960" y="1005840"/>
            <a:ext cx="10515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Answering distribution questions</a:t>
            </a:r>
            <a:endParaRPr lang="en-US" sz="3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822960" y="1828800"/>
          <a:ext cx="10543032" cy="914400"/>
        </p:xfrm>
        <a:graphic>
          <a:graphicData uri="http://schemas.openxmlformats.org/drawingml/2006/table">
            <a:tbl>
              <a:tblPr/>
              <a:tblGrid>
                <a:gridCol w="1188720"/>
                <a:gridCol w="2377440"/>
                <a:gridCol w="6976872"/>
              </a:tblGrid>
              <a:tr h="457200">
                <a:tc>
                  <a:txBody>
                    <a:bodyPr/>
                    <a:lstStyle/>
                    <a:p>
                      <a:pPr algn="l" indent="0" marL="0">
                        <a:buNone/>
                      </a:pPr>
                      <a:r>
                        <a:rPr lang="en-US" sz="1350" b="1" dirty="0">
                          <a:solidFill>
                            <a:srgbClr val="0E3A43"/>
                          </a:solidFill>
                          <a:latin typeface="Calibri" pitchFamily="34" charset="0"/>
                          <a:ea typeface="Calibri" pitchFamily="34" charset="-122"/>
                          <a:cs typeface="Calibri" pitchFamily="34" charset="-120"/>
                        </a:rPr>
                        <a:t>Marks</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E0940F"/>
                    </a:solidFill>
                  </a:tcPr>
                </a:tc>
                <a:tc>
                  <a:txBody>
                    <a:bodyPr/>
                    <a:lstStyle/>
                    <a:p>
                      <a:pPr algn="l" indent="0" marL="0">
                        <a:buNone/>
                      </a:pPr>
                      <a:r>
                        <a:rPr lang="en-US" sz="1350" b="1" dirty="0">
                          <a:solidFill>
                            <a:srgbClr val="0E3A43"/>
                          </a:solidFill>
                          <a:latin typeface="Calibri" pitchFamily="34" charset="0"/>
                          <a:ea typeface="Calibri" pitchFamily="34" charset="-122"/>
                          <a:cs typeface="Calibri" pitchFamily="34" charset="-120"/>
                        </a:rPr>
                        <a:t>Command</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E0940F"/>
                    </a:solidFill>
                  </a:tcPr>
                </a:tc>
                <a:tc>
                  <a:txBody>
                    <a:bodyPr/>
                    <a:lstStyle/>
                    <a:p>
                      <a:pPr algn="l" indent="0" marL="0">
                        <a:buNone/>
                      </a:pPr>
                      <a:r>
                        <a:rPr lang="en-US" sz="1350" b="1" dirty="0">
                          <a:solidFill>
                            <a:srgbClr val="0E3A43"/>
                          </a:solidFill>
                          <a:latin typeface="Calibri" pitchFamily="34" charset="0"/>
                          <a:ea typeface="Calibri" pitchFamily="34" charset="-122"/>
                          <a:cs typeface="Calibri" pitchFamily="34" charset="-120"/>
                        </a:rPr>
                        <a:t>What to do</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E0940F"/>
                    </a:solidFill>
                  </a:tcPr>
                </a:tc>
              </a:tr>
              <a:tr h="566928">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2</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Define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Meaning + an example (a channel, or an intermediary such as a wholesaler).</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713232">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4</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Explain</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Knowledge + two pieces of evidence + one consequence.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658368">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6</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Analyse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One or two points, each applied, each with a developed chain. No judgement.</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658368">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8 / 10</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Discuss / Assess</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Both sides, applied, + a supported judgement (4Ws).</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749808">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20</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Evaluate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5×5 PECAN: weigh the channel choice against the factors, then an ‘it depends’ judgement.</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bl>
          </a:graphicData>
        </a:graphic>
      </p:graphicFrame>
      <p:sp>
        <p:nvSpPr>
          <p:cNvPr id="5" name="Text 2"/>
          <p:cNvSpPr txBox="1"/>
          <p:nvPr/>
        </p:nvSpPr>
        <p:spPr>
          <a:xfrm>
            <a:off x="822960" y="5989320"/>
            <a:ext cx="10515600" cy="457200"/>
          </a:xfrm>
          <a:prstGeom prst="rect">
            <a:avLst/>
          </a:prstGeom>
          <a:noFill/>
          <a:ln/>
        </p:spPr>
        <p:txBody>
          <a:bodyPr wrap="square" lIns="0" tIns="0" rIns="0" bIns="0" rtlCol="0" anchor="ctr"/>
          <a:lstStyle/>
          <a:p>
            <a:pPr indent="0" marL="0">
              <a:buNone/>
            </a:pPr>
            <a:r>
              <a:rPr lang="en-US" sz="1300" i="1" dirty="0">
                <a:solidFill>
                  <a:srgbClr val="9FBCC0"/>
                </a:solidFill>
                <a:latin typeface="Calibri" pitchFamily="34" charset="0"/>
                <a:ea typeface="Calibri" pitchFamily="34" charset="-122"/>
                <a:cs typeface="Calibri" pitchFamily="34" charset="-120"/>
              </a:rPr>
              <a:t>Golden rule for distribution answers: a shorter/direct channel buys control &amp; margin; a longer/multi-channel one buys reach &amp; convenience — the best choice depends on the product, market and brand.</a:t>
            </a:r>
            <a:endParaRPr lang="en-US" sz="1300" dirty="0"/>
          </a:p>
        </p:txBody>
      </p:sp>
    </p:spTree>
  </p:cSld>
  <p:clrMapOvr>
    <a:masterClrMapping/>
  </p:clrMapOvr>
</p:sld>
</file>

<file path=ppt/theme/theme1.xml><?xml version="1.0" encoding="utf-8"?>
<a:theme xmlns:a="http://schemas.openxmlformats.org/drawingml/2006/main" name="IAL Marketing">
  <a:themeElements>
    <a:clrScheme name="IAL Marketing">
      <a:dk1>
        <a:srgbClr val="1F2A33"/>
      </a:dk1>
      <a:lt1>
        <a:srgbClr val="FFFFFF"/>
      </a:lt1>
      <a:dk2>
        <a:srgbClr val="0E3A43"/>
      </a:dk2>
      <a:lt2>
        <a:srgbClr val="EAF3F4"/>
      </a:lt2>
      <a:accent1>
        <a:srgbClr val="0E7C86"/>
      </a:accent1>
      <a:accent2>
        <a:srgbClr val="E0940F"/>
      </a:accent2>
      <a:accent3>
        <a:srgbClr val="2F8A5B"/>
      </a:accent3>
      <a:accent4>
        <a:srgbClr val="C14B37"/>
      </a:accent4>
      <a:accent5>
        <a:srgbClr val="5B6B73"/>
      </a:accent5>
      <a:accent6>
        <a:srgbClr val="6B4FA0"/>
      </a:accent6>
      <a:hlink>
        <a:srgbClr val="0E7C86"/>
      </a:hlink>
      <a:folHlink>
        <a:srgbClr val="0B5E66"/>
      </a:folHlink>
    </a:clrScheme>
    <a:fontScheme name="IAL Market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GEMS Metropole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Mr. Akram</dc:creator>
  <cp:lastModifiedBy>Mr. Akram</cp:lastModifiedBy>
  <cp:revision>1</cp:revision>
  <dcterms:created xsi:type="dcterms:W3CDTF">2026-10-20T03:06:44Z</dcterms:created>
  <dcterms:modified xsi:type="dcterms:W3CDTF">2026-10-20T03:06:44Z</dcterms:modified>
</cp:coreProperties>
</file>