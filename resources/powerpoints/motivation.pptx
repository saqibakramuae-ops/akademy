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Why it matters" id="{0e3e105c-4f06-da04-3c40-1bee36040e11}">
          <p14:sldIdLst>
            <p14:sldId id="259"/>
            <p14:sldId id="260"/>
          </p14:sldIdLst>
        </p14:section>
        <p14:section name="B · The theories" id="{78e97cea-f2ed-7072-b8da-411ae1ea801e}">
          <p14:sldIdLst>
            <p14:sldId id="261"/>
            <p14:sldId id="262"/>
            <p14:sldId id="263"/>
            <p14:sldId id="264"/>
            <p14:sldId id="265"/>
            <p14:sldId id="266"/>
          </p14:sldIdLst>
        </p14:section>
        <p14:section name="C · Financial methods" id="{97ea874a-fc40-dade-6248-6ab16cc54cc1}">
          <p14:sldIdLst>
            <p14:sldId id="267"/>
            <p14:sldId id="268"/>
            <p14:sldId id="269"/>
          </p14:sldIdLst>
        </p14:section>
        <p14:section name="D · Non-financial methods" id="{ccb6995f-bb30-4550-769e-941187056f54}">
          <p14:sldIdLst>
            <p14:sldId id="270"/>
            <p14:sldId id="271"/>
            <p14:sldId id="272"/>
            <p14:sldId id="273"/>
          </p14:sldIdLst>
        </p14:section>
        <p14:section name="E · A-grade exam skills" id="{fc004e63-d141-f5c7-9a1d-4ed9e813da79}">
          <p14:sldIdLst>
            <p14:sldId id="274"/>
            <p14:sldId id="275"/>
            <p14:sldId id="276"/>
            <p14:sldId id="277"/>
          </p14:sldIdLst>
        </p14:section>
        <p14:section name="Default-1" id="{4859f50c-c6c3-5683-132d-0a9fe82131e7}">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motivation in theory &amp; practice (spec 1.3.4 'Managing people', section 4 of 5) - the largest section, pitched for A-grade students. Covers ALL spec parts: the importance of motivation; the four theorists (Taylor, Mayo, Maslow, Herzberg); financial methods (piecework, commission, bonus, profit share, PRP); and non-financial methods (delegation, consultation, empowerment, team working, flexible working, job enrichment/rotation/enlargement). Cases: Barclays, Emirates, Sports Direct, Amazon. Fourth of five decks for 1.3.4. NOTE: the student calls Managing people '1.4'; in the spec it is 1.3.4.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part of spec 1.3.4(4) is covered: 4a importance, 4b the four theories, 4c financial methods, 4d non-financial methods. The golden theme: pay matters but is not everything - the theorists (especially Herzberg) and non-financial methods show that recognition, responsibility and the work itself drive real motivation. This is the biggest section, so pace it over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of 5 - and the heart of Managing people. Motivation theory explains WHY the earlier staffing, structure and training choices work (or don't), and it feeds directly into leadership (section 5). It is heavily examined, including in 20-mark evaluations that ask students to apply theory to a real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4a. The benefits chain to remember: motivation → productivity, quality, retention, lower absence → lower costs &amp; better service → competitive advantage &amp; profit. This is why firms invest in motivation beyond pay. Link forward: the theories (Part B) explain HOW to achieve it, and the methods (Parts C &amp; D) are the practical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pyramid live if you can. Five levels, bottom to top: Physiological, Safety, Social, Esteem, Self-actualisation. Key rule: lower needs must be satisfied before higher ones motivate - so once pay (physiological) and security (safety) are met, a firm motivates through social, esteem and self-actualisation needs. The right-hand panel shows the business tool for each level. Limitation: the order varies between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Herzberg's two factors: HYGIENE (pay, conditions, security, policy - prevent dissatisfaction but can't motivate) vs MOTIVATORS (achievement, recognition, responsibility, the work itself - create satisfaction). The exam-winning point: pay only stops dissatisfaction; true motivation needs job enrichment (motivators). This directly challenges Taylor. Use it in 20-markers to argue why financial rewards alone aren't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reference comparing all four. The theories aren't just to describe - they JUSTIFY the methods in Parts C &amp; D and add synoptic depth to evaluation answers. The central tension (Taylor: pay motivates / Herzberg: pay only prevents dissatisfaction, the job itself motivates) frames almost every motivation 20-marker, including Barclays.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4c: piecework, commission, bonus, profit share, PRP. Each suits different roles: piecework/commission for output/sales; bonus/PRP for targets; profit share for shared success. Watch the Herzberg critique: these are financial (hygiene) - they can prevent dissatisfaction and drive short-term effort but may not deliver lasting motivation. Barclays (bonus) and Emirates (profit share) are the exam anchors.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4d (part 1). These four are about giving staff a say and responsibility. Tie each to theory: empowerment/delegation = Herzberg motivators (responsibility) &amp; Maslow esteem; team working = Mayo &amp; Maslow social needs; consultation = recognition. The key selling point: they motivate at low cost, and often more durably than pay (Herzberg).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4d (part 2). The three job-design methods are a classic exam trap: ENRICHMENT = more responsibility/challenge (vertical, Herzberg's real motivator); ENLARGEMENT = more tasks of the same level (horizontal); ROTATION = switching tasks for variety. Only enrichment genuinely adds responsibility. Flexible working links to the flexible workforce (section 1) and aids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Financial = good for measurable output, short-term effort, lower-paid/repetitive roles (Taylor). Non-financial = good once pay is fair, for lasting motivation, skilled staff and quality work (Herzberg/Maslow). The realistic answer is a BALANCE tailored to the business - exactly the judgement the Barclays 20-marker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your Barclays sample response. The case is perfect for the financial-vs-non-financial debate: old sales bonuses (Taylor, financial) drove the PPI mis-selling scandal (£1bn fines); the new service bonuses align with Herzberg's motivators and ethics. The A-grade judgement is a BALANCE - keep financial incentives but tie them to service/behaviour, not raw sales - and it depends on the mix of Taylor-motivated vs Herzberg-motivated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applied paragraphs weaving theory (Taylor, Herzberg) and case facts (PPI, £1bn fines, £20m saving). Note the balanced structure: financial for+against, then non-financial for, then the however. The synoptic theory use and the specific figures are what lift this to Level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balanced judgement (keep financial but tie to service, not sales) is the Level 4 move - it commits while staying conditional (depends on the employee mix &amp; priorities). The synoptic theory (Taylor vs Herzberg) and specific figures distinguish a top answer. Use this slide for peer-marking a sample against the two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completes section 4 of 5, with every spec part covered: 4a importance, 4b theories (Taylor/Mayo/Maslow/Herzberg), 4c financial methods, 4d non-financial methods. Students should be able to explain &amp; apply all four theorists (incl. drawing Maslow's pyramid and Herzberg's two factors), evaluate financial &amp; non-financial methods, and use theory to justify points in 20-markers. Leadership is the final deck for 1.3.4.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1.3.4 Managing people  (Motivation in theory &amp; practice)</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88136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Motivation</a:t>
            </a:r>
            <a:endParaRPr lang="en-US" sz="4800" dirty="0"/>
          </a:p>
        </p:txBody>
      </p:sp>
      <p:sp>
        <p:nvSpPr>
          <p:cNvPr id="4" name="Text 2"/>
          <p:cNvSpPr txBox="1"/>
          <p:nvPr/>
        </p:nvSpPr>
        <p:spPr>
          <a:xfrm>
            <a:off x="822960" y="2697480"/>
            <a:ext cx="10515600" cy="457200"/>
          </a:xfrm>
          <a:prstGeom prst="rect">
            <a:avLst/>
          </a:prstGeom>
          <a:noFill/>
          <a:ln/>
        </p:spPr>
        <p:txBody>
          <a:bodyPr wrap="square" lIns="0" tIns="0" rIns="0" bIns="0" rtlCol="0" anchor="ctr"/>
          <a:lstStyle/>
          <a:p>
            <a:pPr indent="0" marL="0">
              <a:buNone/>
            </a:pPr>
            <a:r>
              <a:rPr lang="en-US" sz="1500" i="1" dirty="0">
                <a:solidFill>
                  <a:srgbClr val="D7E6E8"/>
                </a:solidFill>
                <a:latin typeface="Calibri" pitchFamily="34" charset="0"/>
                <a:ea typeface="Calibri" pitchFamily="34" charset="-122"/>
                <a:cs typeface="Calibri" pitchFamily="34" charset="-120"/>
              </a:rPr>
              <a:t>Spec 1.3.4 Managing people (section 4 of 5)  —  in theory &amp; practice: the theorists, the methods, and A-grade exam practice</a:t>
            </a:r>
            <a:endParaRPr lang="en-US" sz="1500" dirty="0"/>
          </a:p>
        </p:txBody>
      </p:sp>
      <p:sp>
        <p:nvSpPr>
          <p:cNvPr id="5" name="Shape 3"/>
          <p:cNvSpPr/>
          <p:nvPr/>
        </p:nvSpPr>
        <p:spPr>
          <a:xfrm>
            <a:off x="822960" y="3749040"/>
            <a:ext cx="1689811"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49040"/>
            <a:ext cx="1689811"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Why it matters</a:t>
            </a:r>
            <a:endParaRPr lang="en-US" sz="1250" dirty="0"/>
          </a:p>
        </p:txBody>
      </p:sp>
      <p:sp>
        <p:nvSpPr>
          <p:cNvPr id="7" name="Shape 5"/>
          <p:cNvSpPr/>
          <p:nvPr/>
        </p:nvSpPr>
        <p:spPr>
          <a:xfrm>
            <a:off x="2695651" y="3749040"/>
            <a:ext cx="3635654"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2695651" y="3749040"/>
            <a:ext cx="3635654"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Taylor · Mayo · Maslow · Herzberg</a:t>
            </a:r>
            <a:endParaRPr lang="en-US" sz="1250" dirty="0"/>
          </a:p>
        </p:txBody>
      </p:sp>
      <p:sp>
        <p:nvSpPr>
          <p:cNvPr id="9" name="Shape 7"/>
          <p:cNvSpPr/>
          <p:nvPr/>
        </p:nvSpPr>
        <p:spPr>
          <a:xfrm>
            <a:off x="6514186" y="3749040"/>
            <a:ext cx="1997050"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6514186" y="3749040"/>
            <a:ext cx="1997050"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Financial methods</a:t>
            </a:r>
            <a:endParaRPr lang="en-US" sz="1250" dirty="0"/>
          </a:p>
        </p:txBody>
      </p:sp>
      <p:sp>
        <p:nvSpPr>
          <p:cNvPr id="11" name="Shape 9"/>
          <p:cNvSpPr/>
          <p:nvPr/>
        </p:nvSpPr>
        <p:spPr>
          <a:xfrm>
            <a:off x="8694115" y="3749040"/>
            <a:ext cx="2406701"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8694115" y="3749040"/>
            <a:ext cx="2406701"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Non-financial methods</a:t>
            </a:r>
            <a:endParaRPr lang="en-US" sz="1250" dirty="0"/>
          </a:p>
        </p:txBody>
      </p:sp>
      <p:sp>
        <p:nvSpPr>
          <p:cNvPr id="13" name="Text 11"/>
          <p:cNvSpPr txBox="1"/>
          <p:nvPr/>
        </p:nvSpPr>
        <p:spPr>
          <a:xfrm>
            <a:off x="822960" y="5989320"/>
            <a:ext cx="1060704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Cases: Barclays · Emirates · Sports Direct · Amazon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What this lesson covers — the full spec</a:t>
            </a:r>
            <a:endParaRPr lang="en-US" sz="2600" dirty="0"/>
          </a:p>
        </p:txBody>
      </p:sp>
      <p:sp>
        <p:nvSpPr>
          <p:cNvPr id="4" name="Shape 2"/>
          <p:cNvSpPr/>
          <p:nvPr/>
        </p:nvSpPr>
        <p:spPr>
          <a:xfrm>
            <a:off x="548640" y="1417320"/>
            <a:ext cx="11091672" cy="841248"/>
          </a:xfrm>
          <a:prstGeom prst="roundRect">
            <a:avLst>
              <a:gd name="adj" fmla="val 8696"/>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13232" y="1600200"/>
            <a:ext cx="475488" cy="475488"/>
          </a:xfrm>
          <a:prstGeom prst="roundRect">
            <a:avLst>
              <a:gd name="adj" fmla="val 19231"/>
            </a:avLst>
          </a:prstGeom>
          <a:solidFill>
            <a:srgbClr val="0E7C86"/>
          </a:solidFill>
          <a:ln/>
        </p:spPr>
      </p:sp>
      <p:sp>
        <p:nvSpPr>
          <p:cNvPr id="6" name="Text 4"/>
          <p:cNvSpPr txBox="1"/>
          <p:nvPr/>
        </p:nvSpPr>
        <p:spPr>
          <a:xfrm>
            <a:off x="713232" y="1600200"/>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A</a:t>
            </a:r>
            <a:endParaRPr lang="en-US" sz="2100" dirty="0"/>
          </a:p>
        </p:txBody>
      </p:sp>
      <p:sp>
        <p:nvSpPr>
          <p:cNvPr id="7" name="Text 5"/>
          <p:cNvSpPr txBox="1"/>
          <p:nvPr/>
        </p:nvSpPr>
        <p:spPr>
          <a:xfrm>
            <a:off x="1371600" y="1545336"/>
            <a:ext cx="36576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Why motivation matters</a:t>
            </a:r>
            <a:endParaRPr lang="en-US" sz="1450" dirty="0"/>
          </a:p>
        </p:txBody>
      </p:sp>
      <p:sp>
        <p:nvSpPr>
          <p:cNvPr id="8" name="Text 6"/>
          <p:cNvSpPr txBox="1"/>
          <p:nvPr/>
        </p:nvSpPr>
        <p:spPr>
          <a:xfrm>
            <a:off x="5120640" y="1545336"/>
            <a:ext cx="553212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The importance of employee motivation to a business</a:t>
            </a:r>
            <a:endParaRPr lang="en-US" sz="1150" dirty="0"/>
          </a:p>
        </p:txBody>
      </p:sp>
      <p:sp>
        <p:nvSpPr>
          <p:cNvPr id="9" name="Shape 7"/>
          <p:cNvSpPr/>
          <p:nvPr/>
        </p:nvSpPr>
        <p:spPr>
          <a:xfrm>
            <a:off x="10744200" y="1673352"/>
            <a:ext cx="749808" cy="347472"/>
          </a:xfrm>
          <a:prstGeom prst="roundRect">
            <a:avLst>
              <a:gd name="adj" fmla="val 26316"/>
            </a:avLst>
          </a:prstGeom>
          <a:solidFill>
            <a:srgbClr val="FBF0D8"/>
          </a:solidFill>
          <a:ln/>
        </p:spPr>
      </p:sp>
      <p:sp>
        <p:nvSpPr>
          <p:cNvPr id="10" name="Text 8"/>
          <p:cNvSpPr txBox="1"/>
          <p:nvPr/>
        </p:nvSpPr>
        <p:spPr>
          <a:xfrm>
            <a:off x="10744200" y="1673352"/>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4a</a:t>
            </a:r>
            <a:endParaRPr lang="en-US" sz="950" dirty="0"/>
          </a:p>
        </p:txBody>
      </p:sp>
      <p:sp>
        <p:nvSpPr>
          <p:cNvPr id="11" name="Shape 9"/>
          <p:cNvSpPr/>
          <p:nvPr/>
        </p:nvSpPr>
        <p:spPr>
          <a:xfrm>
            <a:off x="548640" y="2350008"/>
            <a:ext cx="11091672" cy="841248"/>
          </a:xfrm>
          <a:prstGeom prst="roundRect">
            <a:avLst>
              <a:gd name="adj" fmla="val 869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713232" y="2532888"/>
            <a:ext cx="475488" cy="475488"/>
          </a:xfrm>
          <a:prstGeom prst="roundRect">
            <a:avLst>
              <a:gd name="adj" fmla="val 19231"/>
            </a:avLst>
          </a:prstGeom>
          <a:solidFill>
            <a:srgbClr val="0E7C86"/>
          </a:solidFill>
          <a:ln/>
        </p:spPr>
      </p:sp>
      <p:sp>
        <p:nvSpPr>
          <p:cNvPr id="13" name="Text 11"/>
          <p:cNvSpPr txBox="1"/>
          <p:nvPr/>
        </p:nvSpPr>
        <p:spPr>
          <a:xfrm>
            <a:off x="713232" y="2532888"/>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B</a:t>
            </a:r>
            <a:endParaRPr lang="en-US" sz="2100" dirty="0"/>
          </a:p>
        </p:txBody>
      </p:sp>
      <p:sp>
        <p:nvSpPr>
          <p:cNvPr id="14" name="Text 12"/>
          <p:cNvSpPr txBox="1"/>
          <p:nvPr/>
        </p:nvSpPr>
        <p:spPr>
          <a:xfrm>
            <a:off x="1371600" y="2478024"/>
            <a:ext cx="36576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The four theories</a:t>
            </a:r>
            <a:endParaRPr lang="en-US" sz="1450" dirty="0"/>
          </a:p>
        </p:txBody>
      </p:sp>
      <p:sp>
        <p:nvSpPr>
          <p:cNvPr id="15" name="Text 13"/>
          <p:cNvSpPr txBox="1"/>
          <p:nvPr/>
        </p:nvSpPr>
        <p:spPr>
          <a:xfrm>
            <a:off x="5120640" y="2478024"/>
            <a:ext cx="553212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Taylor · Mayo · Maslow · Herzberg — with diagrams</a:t>
            </a:r>
            <a:endParaRPr lang="en-US" sz="1150" dirty="0"/>
          </a:p>
        </p:txBody>
      </p:sp>
      <p:sp>
        <p:nvSpPr>
          <p:cNvPr id="16" name="Shape 14"/>
          <p:cNvSpPr/>
          <p:nvPr/>
        </p:nvSpPr>
        <p:spPr>
          <a:xfrm>
            <a:off x="10744200" y="2606040"/>
            <a:ext cx="749808" cy="347472"/>
          </a:xfrm>
          <a:prstGeom prst="roundRect">
            <a:avLst>
              <a:gd name="adj" fmla="val 26316"/>
            </a:avLst>
          </a:prstGeom>
          <a:solidFill>
            <a:srgbClr val="FBF0D8"/>
          </a:solidFill>
          <a:ln/>
        </p:spPr>
      </p:sp>
      <p:sp>
        <p:nvSpPr>
          <p:cNvPr id="17" name="Text 15"/>
          <p:cNvSpPr txBox="1"/>
          <p:nvPr/>
        </p:nvSpPr>
        <p:spPr>
          <a:xfrm>
            <a:off x="10744200" y="2606040"/>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4b</a:t>
            </a:r>
            <a:endParaRPr lang="en-US" sz="950" dirty="0"/>
          </a:p>
        </p:txBody>
      </p:sp>
      <p:sp>
        <p:nvSpPr>
          <p:cNvPr id="18" name="Shape 16"/>
          <p:cNvSpPr/>
          <p:nvPr/>
        </p:nvSpPr>
        <p:spPr>
          <a:xfrm>
            <a:off x="548640" y="3282696"/>
            <a:ext cx="11091672" cy="841248"/>
          </a:xfrm>
          <a:prstGeom prst="roundRect">
            <a:avLst>
              <a:gd name="adj" fmla="val 869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713232" y="3465576"/>
            <a:ext cx="475488" cy="475488"/>
          </a:xfrm>
          <a:prstGeom prst="roundRect">
            <a:avLst>
              <a:gd name="adj" fmla="val 19231"/>
            </a:avLst>
          </a:prstGeom>
          <a:solidFill>
            <a:srgbClr val="0E7C86"/>
          </a:solidFill>
          <a:ln/>
        </p:spPr>
      </p:sp>
      <p:sp>
        <p:nvSpPr>
          <p:cNvPr id="20" name="Text 18"/>
          <p:cNvSpPr txBox="1"/>
          <p:nvPr/>
        </p:nvSpPr>
        <p:spPr>
          <a:xfrm>
            <a:off x="713232" y="3465576"/>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C</a:t>
            </a:r>
            <a:endParaRPr lang="en-US" sz="2100" dirty="0"/>
          </a:p>
        </p:txBody>
      </p:sp>
      <p:sp>
        <p:nvSpPr>
          <p:cNvPr id="21" name="Text 19"/>
          <p:cNvSpPr txBox="1"/>
          <p:nvPr/>
        </p:nvSpPr>
        <p:spPr>
          <a:xfrm>
            <a:off x="1371600" y="3410712"/>
            <a:ext cx="36576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Financial methods</a:t>
            </a:r>
            <a:endParaRPr lang="en-US" sz="1450" dirty="0"/>
          </a:p>
        </p:txBody>
      </p:sp>
      <p:sp>
        <p:nvSpPr>
          <p:cNvPr id="22" name="Text 20"/>
          <p:cNvSpPr txBox="1"/>
          <p:nvPr/>
        </p:nvSpPr>
        <p:spPr>
          <a:xfrm>
            <a:off x="5120640" y="3410712"/>
            <a:ext cx="553212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Piecework · commission · bonus · profit share · performance-related pay</a:t>
            </a:r>
            <a:endParaRPr lang="en-US" sz="1150" dirty="0"/>
          </a:p>
        </p:txBody>
      </p:sp>
      <p:sp>
        <p:nvSpPr>
          <p:cNvPr id="23" name="Shape 21"/>
          <p:cNvSpPr/>
          <p:nvPr/>
        </p:nvSpPr>
        <p:spPr>
          <a:xfrm>
            <a:off x="10744200" y="3538728"/>
            <a:ext cx="749808" cy="347472"/>
          </a:xfrm>
          <a:prstGeom prst="roundRect">
            <a:avLst>
              <a:gd name="adj" fmla="val 26316"/>
            </a:avLst>
          </a:prstGeom>
          <a:solidFill>
            <a:srgbClr val="FBF0D8"/>
          </a:solidFill>
          <a:ln/>
        </p:spPr>
      </p:sp>
      <p:sp>
        <p:nvSpPr>
          <p:cNvPr id="24" name="Text 22"/>
          <p:cNvSpPr txBox="1"/>
          <p:nvPr/>
        </p:nvSpPr>
        <p:spPr>
          <a:xfrm>
            <a:off x="10744200" y="3538728"/>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4c</a:t>
            </a:r>
            <a:endParaRPr lang="en-US" sz="950" dirty="0"/>
          </a:p>
        </p:txBody>
      </p:sp>
      <p:sp>
        <p:nvSpPr>
          <p:cNvPr id="25" name="Shape 23"/>
          <p:cNvSpPr/>
          <p:nvPr/>
        </p:nvSpPr>
        <p:spPr>
          <a:xfrm>
            <a:off x="548640" y="4215384"/>
            <a:ext cx="11091672" cy="841248"/>
          </a:xfrm>
          <a:prstGeom prst="roundRect">
            <a:avLst>
              <a:gd name="adj" fmla="val 869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6" name="Shape 24"/>
          <p:cNvSpPr/>
          <p:nvPr/>
        </p:nvSpPr>
        <p:spPr>
          <a:xfrm>
            <a:off x="713232" y="4398264"/>
            <a:ext cx="475488" cy="475488"/>
          </a:xfrm>
          <a:prstGeom prst="roundRect">
            <a:avLst>
              <a:gd name="adj" fmla="val 19231"/>
            </a:avLst>
          </a:prstGeom>
          <a:solidFill>
            <a:srgbClr val="0E7C86"/>
          </a:solidFill>
          <a:ln/>
        </p:spPr>
      </p:sp>
      <p:sp>
        <p:nvSpPr>
          <p:cNvPr id="27" name="Text 25"/>
          <p:cNvSpPr txBox="1"/>
          <p:nvPr/>
        </p:nvSpPr>
        <p:spPr>
          <a:xfrm>
            <a:off x="713232" y="4398264"/>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D</a:t>
            </a:r>
            <a:endParaRPr lang="en-US" sz="2100" dirty="0"/>
          </a:p>
        </p:txBody>
      </p:sp>
      <p:sp>
        <p:nvSpPr>
          <p:cNvPr id="28" name="Text 26"/>
          <p:cNvSpPr txBox="1"/>
          <p:nvPr/>
        </p:nvSpPr>
        <p:spPr>
          <a:xfrm>
            <a:off x="1371600" y="4343400"/>
            <a:ext cx="36576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Non-financial methods</a:t>
            </a:r>
            <a:endParaRPr lang="en-US" sz="1450" dirty="0"/>
          </a:p>
        </p:txBody>
      </p:sp>
      <p:sp>
        <p:nvSpPr>
          <p:cNvPr id="29" name="Text 27"/>
          <p:cNvSpPr txBox="1"/>
          <p:nvPr/>
        </p:nvSpPr>
        <p:spPr>
          <a:xfrm>
            <a:off x="5120640" y="4343400"/>
            <a:ext cx="553212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Delegation · consultation · empowerment · team working · flexible working · job enrichment/rotation/enlargement</a:t>
            </a:r>
            <a:endParaRPr lang="en-US" sz="1150" dirty="0"/>
          </a:p>
        </p:txBody>
      </p:sp>
      <p:sp>
        <p:nvSpPr>
          <p:cNvPr id="30" name="Shape 28"/>
          <p:cNvSpPr/>
          <p:nvPr/>
        </p:nvSpPr>
        <p:spPr>
          <a:xfrm>
            <a:off x="10744200" y="4471416"/>
            <a:ext cx="749808" cy="347472"/>
          </a:xfrm>
          <a:prstGeom prst="roundRect">
            <a:avLst>
              <a:gd name="adj" fmla="val 26316"/>
            </a:avLst>
          </a:prstGeom>
          <a:solidFill>
            <a:srgbClr val="FBF0D8"/>
          </a:solidFill>
          <a:ln/>
        </p:spPr>
      </p:sp>
      <p:sp>
        <p:nvSpPr>
          <p:cNvPr id="31" name="Text 29"/>
          <p:cNvSpPr txBox="1"/>
          <p:nvPr/>
        </p:nvSpPr>
        <p:spPr>
          <a:xfrm>
            <a:off x="10744200" y="4471416"/>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4d</a:t>
            </a:r>
            <a:endParaRPr lang="en-US" sz="950" dirty="0"/>
          </a:p>
        </p:txBody>
      </p:sp>
      <p:sp>
        <p:nvSpPr>
          <p:cNvPr id="32" name="Shape 30"/>
          <p:cNvSpPr/>
          <p:nvPr/>
        </p:nvSpPr>
        <p:spPr>
          <a:xfrm>
            <a:off x="548640" y="5148072"/>
            <a:ext cx="11091672" cy="841248"/>
          </a:xfrm>
          <a:prstGeom prst="roundRect">
            <a:avLst>
              <a:gd name="adj" fmla="val 8696"/>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33" name="Shape 31"/>
          <p:cNvSpPr/>
          <p:nvPr/>
        </p:nvSpPr>
        <p:spPr>
          <a:xfrm>
            <a:off x="713232" y="5330952"/>
            <a:ext cx="475488" cy="475488"/>
          </a:xfrm>
          <a:prstGeom prst="roundRect">
            <a:avLst>
              <a:gd name="adj" fmla="val 19231"/>
            </a:avLst>
          </a:prstGeom>
          <a:solidFill>
            <a:srgbClr val="0E7C86"/>
          </a:solidFill>
          <a:ln/>
        </p:spPr>
      </p:sp>
      <p:sp>
        <p:nvSpPr>
          <p:cNvPr id="34" name="Text 32"/>
          <p:cNvSpPr txBox="1"/>
          <p:nvPr/>
        </p:nvSpPr>
        <p:spPr>
          <a:xfrm>
            <a:off x="713232" y="5330952"/>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E</a:t>
            </a:r>
            <a:endParaRPr lang="en-US" sz="2100" dirty="0"/>
          </a:p>
        </p:txBody>
      </p:sp>
      <p:sp>
        <p:nvSpPr>
          <p:cNvPr id="35" name="Text 33"/>
          <p:cNvSpPr txBox="1"/>
          <p:nvPr/>
        </p:nvSpPr>
        <p:spPr>
          <a:xfrm>
            <a:off x="1371600" y="5276088"/>
            <a:ext cx="3657600" cy="585216"/>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A-grade exam skills</a:t>
            </a:r>
            <a:endParaRPr lang="en-US" sz="1450" dirty="0"/>
          </a:p>
        </p:txBody>
      </p:sp>
      <p:sp>
        <p:nvSpPr>
          <p:cNvPr id="36" name="Text 34"/>
          <p:cNvSpPr txBox="1"/>
          <p:nvPr/>
        </p:nvSpPr>
        <p:spPr>
          <a:xfrm>
            <a:off x="5120640" y="5276088"/>
            <a:ext cx="5532120" cy="585216"/>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The Barclays financial vs non-financial 20-marker</a:t>
            </a:r>
            <a:endParaRPr lang="en-US" sz="1150" dirty="0"/>
          </a:p>
        </p:txBody>
      </p:sp>
      <p:sp>
        <p:nvSpPr>
          <p:cNvPr id="37" name="Shape 35"/>
          <p:cNvSpPr/>
          <p:nvPr/>
        </p:nvSpPr>
        <p:spPr>
          <a:xfrm>
            <a:off x="10744200" y="5404104"/>
            <a:ext cx="749808" cy="347472"/>
          </a:xfrm>
          <a:prstGeom prst="roundRect">
            <a:avLst>
              <a:gd name="adj" fmla="val 26316"/>
            </a:avLst>
          </a:prstGeom>
          <a:solidFill>
            <a:srgbClr val="FBF0D8"/>
          </a:solidFill>
          <a:ln/>
        </p:spPr>
      </p:sp>
      <p:sp>
        <p:nvSpPr>
          <p:cNvPr id="38" name="Text 36"/>
          <p:cNvSpPr txBox="1"/>
          <p:nvPr/>
        </p:nvSpPr>
        <p:spPr>
          <a:xfrm>
            <a:off x="10744200" y="5404104"/>
            <a:ext cx="749808" cy="347472"/>
          </a:xfrm>
          <a:prstGeom prst="rect">
            <a:avLst/>
          </a:prstGeom>
          <a:noFill/>
          <a:ln/>
        </p:spPr>
        <p:txBody>
          <a:bodyPr wrap="square" lIns="0" tIns="0" rIns="0" bIns="0" rtlCol="0" anchor="ctr"/>
          <a:lstStyle/>
          <a:p>
            <a:pPr algn="ctr" indent="0" marL="0">
              <a:buNone/>
            </a:pPr>
            <a:r>
              <a:rPr lang="en-US" sz="950" b="1" dirty="0">
                <a:solidFill>
                  <a:srgbClr val="8A5A06"/>
                </a:solidFill>
                <a:latin typeface="Calibri" pitchFamily="34" charset="0"/>
                <a:ea typeface="Calibri" pitchFamily="34" charset="-122"/>
                <a:cs typeface="Calibri" pitchFamily="34" charset="-120"/>
              </a:rPr>
              <a:t>—</a:t>
            </a:r>
            <a:endParaRPr lang="en-US" sz="9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Where this sits in Managing people (1.3.4)</a:t>
            </a:r>
            <a:endParaRPr lang="en-US" sz="26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Section 1.3.4  Managing people</a:t>
            </a:r>
            <a:endParaRPr lang="en-US" sz="1350" dirty="0"/>
          </a:p>
        </p:txBody>
      </p:sp>
      <p:sp>
        <p:nvSpPr>
          <p:cNvPr id="6" name="Shape 4"/>
          <p:cNvSpPr/>
          <p:nvPr/>
        </p:nvSpPr>
        <p:spPr>
          <a:xfrm>
            <a:off x="749808" y="1901952"/>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084832"/>
            <a:ext cx="457200" cy="457200"/>
          </a:xfrm>
          <a:prstGeom prst="roundRect">
            <a:avLst>
              <a:gd name="adj" fmla="val 20000"/>
            </a:avLst>
          </a:prstGeom>
          <a:solidFill>
            <a:srgbClr val="0E7C86"/>
          </a:solidFill>
          <a:ln/>
        </p:spPr>
      </p:sp>
      <p:sp>
        <p:nvSpPr>
          <p:cNvPr id="8" name="Text 6"/>
          <p:cNvSpPr txBox="1"/>
          <p:nvPr/>
        </p:nvSpPr>
        <p:spPr>
          <a:xfrm>
            <a:off x="914400" y="20848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011680"/>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Approaches to staffing</a:t>
            </a:r>
            <a:endParaRPr lang="en-US" sz="1250" dirty="0"/>
          </a:p>
        </p:txBody>
      </p:sp>
      <p:sp>
        <p:nvSpPr>
          <p:cNvPr id="10" name="Text 8"/>
          <p:cNvSpPr txBox="1"/>
          <p:nvPr/>
        </p:nvSpPr>
        <p:spPr>
          <a:xfrm>
            <a:off x="1508760" y="2313432"/>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asset vs cost, flexible workforce — done</a:t>
            </a:r>
            <a:endParaRPr lang="en-US" sz="1030" dirty="0"/>
          </a:p>
        </p:txBody>
      </p:sp>
      <p:sp>
        <p:nvSpPr>
          <p:cNvPr id="11" name="Shape 9"/>
          <p:cNvSpPr/>
          <p:nvPr/>
        </p:nvSpPr>
        <p:spPr>
          <a:xfrm>
            <a:off x="749808" y="2761488"/>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2944368"/>
            <a:ext cx="457200" cy="457200"/>
          </a:xfrm>
          <a:prstGeom prst="roundRect">
            <a:avLst>
              <a:gd name="adj" fmla="val 20000"/>
            </a:avLst>
          </a:prstGeom>
          <a:solidFill>
            <a:srgbClr val="0E7C86"/>
          </a:solidFill>
          <a:ln/>
        </p:spPr>
      </p:sp>
      <p:sp>
        <p:nvSpPr>
          <p:cNvPr id="13" name="Text 11"/>
          <p:cNvSpPr txBox="1"/>
          <p:nvPr/>
        </p:nvSpPr>
        <p:spPr>
          <a:xfrm>
            <a:off x="91440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2871216"/>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Recruitment, selection &amp; training</a:t>
            </a:r>
            <a:endParaRPr lang="en-US" sz="1250" dirty="0"/>
          </a:p>
        </p:txBody>
      </p:sp>
      <p:sp>
        <p:nvSpPr>
          <p:cNvPr id="15" name="Text 13"/>
          <p:cNvSpPr txBox="1"/>
          <p:nvPr/>
        </p:nvSpPr>
        <p:spPr>
          <a:xfrm>
            <a:off x="1508760" y="3172968"/>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internal/external, costs, training types — done</a:t>
            </a:r>
            <a:endParaRPr lang="en-US" sz="1030" dirty="0"/>
          </a:p>
        </p:txBody>
      </p:sp>
      <p:sp>
        <p:nvSpPr>
          <p:cNvPr id="16" name="Shape 14"/>
          <p:cNvSpPr/>
          <p:nvPr/>
        </p:nvSpPr>
        <p:spPr>
          <a:xfrm>
            <a:off x="749808" y="3621024"/>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17" name="Shape 15"/>
          <p:cNvSpPr/>
          <p:nvPr/>
        </p:nvSpPr>
        <p:spPr>
          <a:xfrm>
            <a:off x="914400" y="3803904"/>
            <a:ext cx="457200" cy="457200"/>
          </a:xfrm>
          <a:prstGeom prst="roundRect">
            <a:avLst>
              <a:gd name="adj" fmla="val 20000"/>
            </a:avLst>
          </a:prstGeom>
          <a:solidFill>
            <a:srgbClr val="0E7C86"/>
          </a:solidFill>
          <a:ln/>
        </p:spPr>
      </p:sp>
      <p:sp>
        <p:nvSpPr>
          <p:cNvPr id="18" name="Text 16"/>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9" name="Text 17"/>
          <p:cNvSpPr txBox="1"/>
          <p:nvPr/>
        </p:nvSpPr>
        <p:spPr>
          <a:xfrm>
            <a:off x="1508760" y="3730752"/>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Organisational design</a:t>
            </a:r>
            <a:endParaRPr lang="en-US" sz="1250" dirty="0"/>
          </a:p>
        </p:txBody>
      </p:sp>
      <p:sp>
        <p:nvSpPr>
          <p:cNvPr id="20" name="Text 18"/>
          <p:cNvSpPr txBox="1"/>
          <p:nvPr/>
        </p:nvSpPr>
        <p:spPr>
          <a:xfrm>
            <a:off x="1508760" y="4032504"/>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hierarchy, span, tall/flat/matrix — done</a:t>
            </a:r>
            <a:endParaRPr lang="en-US" sz="1030" dirty="0"/>
          </a:p>
        </p:txBody>
      </p:sp>
      <p:sp>
        <p:nvSpPr>
          <p:cNvPr id="21" name="Shape 19"/>
          <p:cNvSpPr/>
          <p:nvPr/>
        </p:nvSpPr>
        <p:spPr>
          <a:xfrm>
            <a:off x="749808" y="4480560"/>
            <a:ext cx="6272784" cy="841248"/>
          </a:xfrm>
          <a:prstGeom prst="roundRect">
            <a:avLst>
              <a:gd name="adj" fmla="val 8696"/>
            </a:avLst>
          </a:prstGeom>
          <a:solidFill>
            <a:srgbClr val="FBF0D8"/>
          </a:solidFill>
          <a:ln/>
          <a:effectLst>
            <a:outerShdw sx="100000" sy="100000" kx="0" ky="0" algn="bl" rotWithShape="0" blurRad="76200" dist="25400" dir="5400000">
              <a:srgbClr val="9AAAB0">
                <a:alpha val="28000"/>
              </a:srgbClr>
            </a:outerShdw>
          </a:effectLst>
        </p:spPr>
      </p:sp>
      <p:sp>
        <p:nvSpPr>
          <p:cNvPr id="22" name="Shape 20"/>
          <p:cNvSpPr/>
          <p:nvPr/>
        </p:nvSpPr>
        <p:spPr>
          <a:xfrm>
            <a:off x="749808" y="4480560"/>
            <a:ext cx="91440" cy="841248"/>
          </a:xfrm>
          <a:prstGeom prst="roundRect">
            <a:avLst/>
          </a:prstGeom>
          <a:solidFill>
            <a:srgbClr val="E0940F"/>
          </a:solidFill>
          <a:ln/>
        </p:spPr>
      </p:sp>
      <p:sp>
        <p:nvSpPr>
          <p:cNvPr id="23" name="Shape 21"/>
          <p:cNvSpPr/>
          <p:nvPr/>
        </p:nvSpPr>
        <p:spPr>
          <a:xfrm>
            <a:off x="914400" y="4663440"/>
            <a:ext cx="457200" cy="457200"/>
          </a:xfrm>
          <a:prstGeom prst="roundRect">
            <a:avLst>
              <a:gd name="adj" fmla="val 20000"/>
            </a:avLst>
          </a:prstGeom>
          <a:solidFill>
            <a:srgbClr val="E0940F"/>
          </a:solidFill>
          <a:ln/>
        </p:spPr>
      </p:sp>
      <p:sp>
        <p:nvSpPr>
          <p:cNvPr id="24" name="Text 22"/>
          <p:cNvSpPr txBox="1"/>
          <p:nvPr/>
        </p:nvSpPr>
        <p:spPr>
          <a:xfrm>
            <a:off x="914400" y="46634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4590288"/>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Motivation in theory &amp; practice   ← this lesson</a:t>
            </a:r>
            <a:endParaRPr lang="en-US" sz="1250" dirty="0"/>
          </a:p>
        </p:txBody>
      </p:sp>
      <p:sp>
        <p:nvSpPr>
          <p:cNvPr id="26" name="Text 24"/>
          <p:cNvSpPr txBox="1"/>
          <p:nvPr/>
        </p:nvSpPr>
        <p:spPr>
          <a:xfrm>
            <a:off x="1508760" y="4892040"/>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importance, theories, financial &amp; non-financial methods</a:t>
            </a:r>
            <a:endParaRPr lang="en-US" sz="1030" dirty="0"/>
          </a:p>
        </p:txBody>
      </p:sp>
      <p:sp>
        <p:nvSpPr>
          <p:cNvPr id="27" name="Shape 25"/>
          <p:cNvSpPr/>
          <p:nvPr/>
        </p:nvSpPr>
        <p:spPr>
          <a:xfrm>
            <a:off x="749808" y="5340096"/>
            <a:ext cx="6272784"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28" name="Shape 26"/>
          <p:cNvSpPr/>
          <p:nvPr/>
        </p:nvSpPr>
        <p:spPr>
          <a:xfrm>
            <a:off x="914400" y="5522976"/>
            <a:ext cx="457200" cy="457200"/>
          </a:xfrm>
          <a:prstGeom prst="roundRect">
            <a:avLst>
              <a:gd name="adj" fmla="val 20000"/>
            </a:avLst>
          </a:prstGeom>
          <a:solidFill>
            <a:srgbClr val="0E7C86"/>
          </a:solidFill>
          <a:ln/>
        </p:spPr>
      </p:sp>
      <p:sp>
        <p:nvSpPr>
          <p:cNvPr id="29" name="Text 27"/>
          <p:cNvSpPr txBox="1"/>
          <p:nvPr/>
        </p:nvSpPr>
        <p:spPr>
          <a:xfrm>
            <a:off x="914400" y="55229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30" name="Text 28"/>
          <p:cNvSpPr txBox="1"/>
          <p:nvPr/>
        </p:nvSpPr>
        <p:spPr>
          <a:xfrm>
            <a:off x="1508760" y="5449824"/>
            <a:ext cx="5440680" cy="310896"/>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Leadership</a:t>
            </a:r>
            <a:endParaRPr lang="en-US" sz="1250" dirty="0"/>
          </a:p>
        </p:txBody>
      </p:sp>
      <p:sp>
        <p:nvSpPr>
          <p:cNvPr id="31" name="Text 29"/>
          <p:cNvSpPr txBox="1"/>
          <p:nvPr/>
        </p:nvSpPr>
        <p:spPr>
          <a:xfrm>
            <a:off x="1508760" y="575157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management vs leadership; autocratic → laissez-faire — next</a:t>
            </a:r>
            <a:endParaRPr lang="en-US" sz="1030" dirty="0"/>
          </a:p>
        </p:txBody>
      </p:sp>
      <p:sp>
        <p:nvSpPr>
          <p:cNvPr id="32" name="Shape 30"/>
          <p:cNvSpPr/>
          <p:nvPr/>
        </p:nvSpPr>
        <p:spPr>
          <a:xfrm>
            <a:off x="7360920" y="1371600"/>
            <a:ext cx="4279392" cy="4800600"/>
          </a:xfrm>
          <a:prstGeom prst="roundRect">
            <a:avLst>
              <a:gd name="adj" fmla="val 1709"/>
            </a:avLst>
          </a:prstGeom>
          <a:solidFill>
            <a:srgbClr val="EAF3F4"/>
          </a:solidFill>
          <a:ln/>
          <a:effectLst>
            <a:outerShdw sx="100000" sy="100000" kx="0" ky="0" algn="bl" rotWithShape="0" blurRad="76200" dist="25400" dir="5400000">
              <a:srgbClr val="9AAAB0">
                <a:alpha val="28000"/>
              </a:srgbClr>
            </a:outerShdw>
          </a:effectLst>
        </p:spPr>
      </p:sp>
      <p:sp>
        <p:nvSpPr>
          <p:cNvPr id="33" name="Text 31"/>
          <p:cNvSpPr txBox="1"/>
          <p:nvPr/>
        </p:nvSpPr>
        <p:spPr>
          <a:xfrm>
            <a:off x="7571232" y="1508760"/>
            <a:ext cx="3840480" cy="36576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How it links across the course</a:t>
            </a:r>
            <a:endParaRPr lang="en-US" sz="1400" dirty="0"/>
          </a:p>
        </p:txBody>
      </p:sp>
      <p:sp>
        <p:nvSpPr>
          <p:cNvPr id="34" name="Text 32"/>
          <p:cNvSpPr txBox="1"/>
          <p:nvPr/>
        </p:nvSpPr>
        <p:spPr>
          <a:xfrm>
            <a:off x="7571232"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Motivation builds on asset-vs-cost (section 1)</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Delegation &amp; empowerment link to structure (section 3)</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Motivation theory underpins leadership style (section 5)</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 motivated workforce raises productivity → profit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In Unit 3, labour turnover &amp; productivity measure it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Why motivation matters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what motivation is  ·  the benefits of a motivated workforce to a business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IMPORTANCE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Why motivation matters to a business</a:t>
            </a:r>
            <a:endParaRPr lang="en-US" sz="2600" dirty="0"/>
          </a:p>
        </p:txBody>
      </p:sp>
      <p:sp>
        <p:nvSpPr>
          <p:cNvPr id="4" name="Shape 2"/>
          <p:cNvSpPr/>
          <p:nvPr/>
        </p:nvSpPr>
        <p:spPr>
          <a:xfrm>
            <a:off x="548640" y="1371600"/>
            <a:ext cx="11091672" cy="749808"/>
          </a:xfrm>
          <a:prstGeom prst="roundRect">
            <a:avLst>
              <a:gd name="adj" fmla="val 975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48640"/>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Motivation  </a:t>
            </a:r>
            <a:pPr indent="0" marL="0">
              <a:buNone/>
            </a:pPr>
            <a:r>
              <a:rPr lang="en-US" sz="1350" dirty="0">
                <a:solidFill>
                  <a:srgbClr val="1F2A33"/>
                </a:solidFill>
                <a:latin typeface="Calibri" pitchFamily="34" charset="0"/>
                <a:ea typeface="Calibri" pitchFamily="34" charset="-122"/>
                <a:cs typeface="Calibri" pitchFamily="34" charset="-120"/>
              </a:rPr>
              <a:t>= the desire and drive to work hard and achieve goals. A motivated workforce is one of a firm's greatest assets — and a source of competitive advantage.</a:t>
            </a:r>
            <a:endParaRPr lang="en-US" sz="1350" dirty="0"/>
          </a:p>
        </p:txBody>
      </p:sp>
      <p:sp>
        <p:nvSpPr>
          <p:cNvPr id="6" name="Shape 4"/>
          <p:cNvSpPr/>
          <p:nvPr/>
        </p:nvSpPr>
        <p:spPr>
          <a:xfrm>
            <a:off x="548640" y="2286000"/>
            <a:ext cx="3575304"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7" name="Shape 5"/>
          <p:cNvSpPr/>
          <p:nvPr/>
        </p:nvSpPr>
        <p:spPr>
          <a:xfrm>
            <a:off x="548640" y="2286000"/>
            <a:ext cx="3575304" cy="91440"/>
          </a:xfrm>
          <a:prstGeom prst="roundRect">
            <a:avLst/>
          </a:prstGeom>
          <a:solidFill>
            <a:srgbClr val="0E7C86"/>
          </a:solidFill>
          <a:ln/>
        </p:spPr>
      </p:sp>
      <p:sp>
        <p:nvSpPr>
          <p:cNvPr id="8" name="Text 6"/>
          <p:cNvSpPr txBox="1"/>
          <p:nvPr/>
        </p:nvSpPr>
        <p:spPr>
          <a:xfrm>
            <a:off x="749808" y="2560320"/>
            <a:ext cx="3172968" cy="457200"/>
          </a:xfrm>
          <a:prstGeom prst="rect">
            <a:avLst/>
          </a:prstGeom>
          <a:noFill/>
          <a:ln/>
        </p:spPr>
        <p:txBody>
          <a:bodyPr wrap="square" lIns="0" tIns="0" rIns="0" bIns="0" rtlCol="0" anchor="t"/>
          <a:lstStyle/>
          <a:p>
            <a:pPr indent="0" marL="0">
              <a:buNone/>
            </a:pPr>
            <a:r>
              <a:rPr lang="en-US" sz="1450" b="1" dirty="0">
                <a:solidFill>
                  <a:srgbClr val="0E7C86"/>
                </a:solidFill>
                <a:latin typeface="Calibri" pitchFamily="34" charset="0"/>
                <a:ea typeface="Calibri" pitchFamily="34" charset="-122"/>
                <a:cs typeface="Calibri" pitchFamily="34" charset="-120"/>
              </a:rPr>
              <a:t>Higher productivity</a:t>
            </a:r>
            <a:endParaRPr lang="en-US" sz="1450" dirty="0"/>
          </a:p>
        </p:txBody>
      </p:sp>
      <p:sp>
        <p:nvSpPr>
          <p:cNvPr id="9" name="Text 7"/>
          <p:cNvSpPr txBox="1"/>
          <p:nvPr/>
        </p:nvSpPr>
        <p:spPr>
          <a:xfrm>
            <a:off x="749808" y="3063240"/>
            <a:ext cx="3172968" cy="86868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Motivated staff work harder &amp; faster → more output per worker</a:t>
            </a:r>
            <a:endParaRPr lang="en-US" sz="1200" dirty="0"/>
          </a:p>
        </p:txBody>
      </p:sp>
      <p:sp>
        <p:nvSpPr>
          <p:cNvPr id="10" name="Shape 8"/>
          <p:cNvSpPr/>
          <p:nvPr/>
        </p:nvSpPr>
        <p:spPr>
          <a:xfrm>
            <a:off x="4306824" y="2286000"/>
            <a:ext cx="3575304"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Shape 9"/>
          <p:cNvSpPr/>
          <p:nvPr/>
        </p:nvSpPr>
        <p:spPr>
          <a:xfrm>
            <a:off x="4306824" y="2286000"/>
            <a:ext cx="3575304" cy="91440"/>
          </a:xfrm>
          <a:prstGeom prst="roundRect">
            <a:avLst/>
          </a:prstGeom>
          <a:solidFill>
            <a:srgbClr val="E0940F"/>
          </a:solidFill>
          <a:ln/>
        </p:spPr>
      </p:sp>
      <p:sp>
        <p:nvSpPr>
          <p:cNvPr id="12" name="Text 10"/>
          <p:cNvSpPr txBox="1"/>
          <p:nvPr/>
        </p:nvSpPr>
        <p:spPr>
          <a:xfrm>
            <a:off x="4507992" y="2560320"/>
            <a:ext cx="3172968" cy="457200"/>
          </a:xfrm>
          <a:prstGeom prst="rect">
            <a:avLst/>
          </a:prstGeom>
          <a:noFill/>
          <a:ln/>
        </p:spPr>
        <p:txBody>
          <a:bodyPr wrap="square" lIns="0" tIns="0" rIns="0" bIns="0" rtlCol="0" anchor="t"/>
          <a:lstStyle/>
          <a:p>
            <a:pPr indent="0" marL="0">
              <a:buNone/>
            </a:pPr>
            <a:r>
              <a:rPr lang="en-US" sz="1450" b="1" dirty="0">
                <a:solidFill>
                  <a:srgbClr val="E0940F"/>
                </a:solidFill>
                <a:latin typeface="Calibri" pitchFamily="34" charset="0"/>
                <a:ea typeface="Calibri" pitchFamily="34" charset="-122"/>
                <a:cs typeface="Calibri" pitchFamily="34" charset="-120"/>
              </a:rPr>
              <a:t>Better quality &amp; service</a:t>
            </a:r>
            <a:endParaRPr lang="en-US" sz="1450" dirty="0"/>
          </a:p>
        </p:txBody>
      </p:sp>
      <p:sp>
        <p:nvSpPr>
          <p:cNvPr id="13" name="Text 11"/>
          <p:cNvSpPr txBox="1"/>
          <p:nvPr/>
        </p:nvSpPr>
        <p:spPr>
          <a:xfrm>
            <a:off x="4507992" y="3063240"/>
            <a:ext cx="3172968" cy="86868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Engaged staff take more care → better products &amp; customer experience</a:t>
            </a:r>
            <a:endParaRPr lang="en-US" sz="1200" dirty="0"/>
          </a:p>
        </p:txBody>
      </p:sp>
      <p:sp>
        <p:nvSpPr>
          <p:cNvPr id="14" name="Shape 12"/>
          <p:cNvSpPr/>
          <p:nvPr/>
        </p:nvSpPr>
        <p:spPr>
          <a:xfrm>
            <a:off x="8065008" y="2286000"/>
            <a:ext cx="3575304"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8065008" y="2286000"/>
            <a:ext cx="3575304" cy="91440"/>
          </a:xfrm>
          <a:prstGeom prst="roundRect">
            <a:avLst/>
          </a:prstGeom>
          <a:solidFill>
            <a:srgbClr val="2F8A5B"/>
          </a:solidFill>
          <a:ln/>
        </p:spPr>
      </p:sp>
      <p:sp>
        <p:nvSpPr>
          <p:cNvPr id="16" name="Text 14"/>
          <p:cNvSpPr txBox="1"/>
          <p:nvPr/>
        </p:nvSpPr>
        <p:spPr>
          <a:xfrm>
            <a:off x="8266176" y="2560320"/>
            <a:ext cx="3172968" cy="457200"/>
          </a:xfrm>
          <a:prstGeom prst="rect">
            <a:avLst/>
          </a:prstGeom>
          <a:noFill/>
          <a:ln/>
        </p:spPr>
        <p:txBody>
          <a:bodyPr wrap="square" lIns="0" tIns="0" rIns="0" bIns="0" rtlCol="0" anchor="t"/>
          <a:lstStyle/>
          <a:p>
            <a:pPr indent="0" marL="0">
              <a:buNone/>
            </a:pPr>
            <a:r>
              <a:rPr lang="en-US" sz="1450" b="1" dirty="0">
                <a:solidFill>
                  <a:srgbClr val="2F8A5B"/>
                </a:solidFill>
                <a:latin typeface="Calibri" pitchFamily="34" charset="0"/>
                <a:ea typeface="Calibri" pitchFamily="34" charset="-122"/>
                <a:cs typeface="Calibri" pitchFamily="34" charset="-120"/>
              </a:rPr>
              <a:t>Higher retention</a:t>
            </a:r>
            <a:endParaRPr lang="en-US" sz="1450" dirty="0"/>
          </a:p>
        </p:txBody>
      </p:sp>
      <p:sp>
        <p:nvSpPr>
          <p:cNvPr id="17" name="Text 15"/>
          <p:cNvSpPr txBox="1"/>
          <p:nvPr/>
        </p:nvSpPr>
        <p:spPr>
          <a:xfrm>
            <a:off x="8266176" y="3063240"/>
            <a:ext cx="3172968" cy="86868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Motivated staff stay → lower turnover &amp; recruitment costs</a:t>
            </a:r>
            <a:endParaRPr lang="en-US" sz="1200" dirty="0"/>
          </a:p>
        </p:txBody>
      </p:sp>
      <p:sp>
        <p:nvSpPr>
          <p:cNvPr id="18" name="Shape 16"/>
          <p:cNvSpPr/>
          <p:nvPr/>
        </p:nvSpPr>
        <p:spPr>
          <a:xfrm>
            <a:off x="548640" y="4206240"/>
            <a:ext cx="3575304"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548640" y="4206240"/>
            <a:ext cx="3575304" cy="91440"/>
          </a:xfrm>
          <a:prstGeom prst="roundRect">
            <a:avLst/>
          </a:prstGeom>
          <a:solidFill>
            <a:srgbClr val="6B4FA0"/>
          </a:solidFill>
          <a:ln/>
        </p:spPr>
      </p:sp>
      <p:sp>
        <p:nvSpPr>
          <p:cNvPr id="20" name="Text 18"/>
          <p:cNvSpPr txBox="1"/>
          <p:nvPr/>
        </p:nvSpPr>
        <p:spPr>
          <a:xfrm>
            <a:off x="749808" y="4480560"/>
            <a:ext cx="3172968" cy="457200"/>
          </a:xfrm>
          <a:prstGeom prst="rect">
            <a:avLst/>
          </a:prstGeom>
          <a:noFill/>
          <a:ln/>
        </p:spPr>
        <p:txBody>
          <a:bodyPr wrap="square" lIns="0" tIns="0" rIns="0" bIns="0" rtlCol="0" anchor="t"/>
          <a:lstStyle/>
          <a:p>
            <a:pPr indent="0" marL="0">
              <a:buNone/>
            </a:pPr>
            <a:r>
              <a:rPr lang="en-US" sz="1450" b="1" dirty="0">
                <a:solidFill>
                  <a:srgbClr val="6B4FA0"/>
                </a:solidFill>
                <a:latin typeface="Calibri" pitchFamily="34" charset="0"/>
                <a:ea typeface="Calibri" pitchFamily="34" charset="-122"/>
                <a:cs typeface="Calibri" pitchFamily="34" charset="-120"/>
              </a:rPr>
              <a:t>Lower absenteeism</a:t>
            </a:r>
            <a:endParaRPr lang="en-US" sz="1450" dirty="0"/>
          </a:p>
        </p:txBody>
      </p:sp>
      <p:sp>
        <p:nvSpPr>
          <p:cNvPr id="21" name="Text 19"/>
          <p:cNvSpPr txBox="1"/>
          <p:nvPr/>
        </p:nvSpPr>
        <p:spPr>
          <a:xfrm>
            <a:off x="749808" y="4983480"/>
            <a:ext cx="3172968" cy="86868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Happier staff take fewer days off → less disruption</a:t>
            </a:r>
            <a:endParaRPr lang="en-US" sz="1200" dirty="0"/>
          </a:p>
        </p:txBody>
      </p:sp>
      <p:sp>
        <p:nvSpPr>
          <p:cNvPr id="22" name="Shape 20"/>
          <p:cNvSpPr/>
          <p:nvPr/>
        </p:nvSpPr>
        <p:spPr>
          <a:xfrm>
            <a:off x="4306824" y="4206240"/>
            <a:ext cx="3575304"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3" name="Shape 21"/>
          <p:cNvSpPr/>
          <p:nvPr/>
        </p:nvSpPr>
        <p:spPr>
          <a:xfrm>
            <a:off x="4306824" y="4206240"/>
            <a:ext cx="3575304" cy="91440"/>
          </a:xfrm>
          <a:prstGeom prst="roundRect">
            <a:avLst/>
          </a:prstGeom>
          <a:solidFill>
            <a:srgbClr val="C14B37"/>
          </a:solidFill>
          <a:ln/>
        </p:spPr>
      </p:sp>
      <p:sp>
        <p:nvSpPr>
          <p:cNvPr id="24" name="Text 22"/>
          <p:cNvSpPr txBox="1"/>
          <p:nvPr/>
        </p:nvSpPr>
        <p:spPr>
          <a:xfrm>
            <a:off x="4507992" y="4480560"/>
            <a:ext cx="3172968" cy="457200"/>
          </a:xfrm>
          <a:prstGeom prst="rect">
            <a:avLst/>
          </a:prstGeom>
          <a:noFill/>
          <a:ln/>
        </p:spPr>
        <p:txBody>
          <a:bodyPr wrap="square" lIns="0" tIns="0" rIns="0" bIns="0" rtlCol="0" anchor="t"/>
          <a:lstStyle/>
          <a:p>
            <a:pPr indent="0" marL="0">
              <a:buNone/>
            </a:pPr>
            <a:r>
              <a:rPr lang="en-US" sz="1450" b="1" dirty="0">
                <a:solidFill>
                  <a:srgbClr val="C14B37"/>
                </a:solidFill>
                <a:latin typeface="Calibri" pitchFamily="34" charset="0"/>
                <a:ea typeface="Calibri" pitchFamily="34" charset="-122"/>
                <a:cs typeface="Calibri" pitchFamily="34" charset="-120"/>
              </a:rPr>
              <a:t>Creativity &amp; loyalty</a:t>
            </a:r>
            <a:endParaRPr lang="en-US" sz="1450" dirty="0"/>
          </a:p>
        </p:txBody>
      </p:sp>
      <p:sp>
        <p:nvSpPr>
          <p:cNvPr id="25" name="Text 23"/>
          <p:cNvSpPr txBox="1"/>
          <p:nvPr/>
        </p:nvSpPr>
        <p:spPr>
          <a:xfrm>
            <a:off x="4507992" y="4983480"/>
            <a:ext cx="3172968" cy="86868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Motivated staff share ideas &amp; commit to the firm's goals</a:t>
            </a:r>
            <a:endParaRPr lang="en-US" sz="1200" dirty="0"/>
          </a:p>
        </p:txBody>
      </p:sp>
      <p:sp>
        <p:nvSpPr>
          <p:cNvPr id="26" name="Shape 24"/>
          <p:cNvSpPr/>
          <p:nvPr/>
        </p:nvSpPr>
        <p:spPr>
          <a:xfrm>
            <a:off x="8065008" y="4206240"/>
            <a:ext cx="3575304" cy="1783080"/>
          </a:xfrm>
          <a:prstGeom prst="roundRect">
            <a:avLst>
              <a:gd name="adj" fmla="val 410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7" name="Shape 25"/>
          <p:cNvSpPr/>
          <p:nvPr/>
        </p:nvSpPr>
        <p:spPr>
          <a:xfrm>
            <a:off x="8065008" y="4206240"/>
            <a:ext cx="3575304" cy="91440"/>
          </a:xfrm>
          <a:prstGeom prst="roundRect">
            <a:avLst/>
          </a:prstGeom>
          <a:solidFill>
            <a:srgbClr val="0B5E66"/>
          </a:solidFill>
          <a:ln/>
        </p:spPr>
      </p:sp>
      <p:sp>
        <p:nvSpPr>
          <p:cNvPr id="28" name="Text 26"/>
          <p:cNvSpPr txBox="1"/>
          <p:nvPr/>
        </p:nvSpPr>
        <p:spPr>
          <a:xfrm>
            <a:off x="8266176" y="4480560"/>
            <a:ext cx="3172968" cy="457200"/>
          </a:xfrm>
          <a:prstGeom prst="rect">
            <a:avLst/>
          </a:prstGeom>
          <a:noFill/>
          <a:ln/>
        </p:spPr>
        <p:txBody>
          <a:bodyPr wrap="square" lIns="0" tIns="0" rIns="0" bIns="0" rtlCol="0" anchor="t"/>
          <a:lstStyle/>
          <a:p>
            <a:pPr indent="0" marL="0">
              <a:buNone/>
            </a:pPr>
            <a:r>
              <a:rPr lang="en-US" sz="1450" b="1" dirty="0">
                <a:solidFill>
                  <a:srgbClr val="0B5E66"/>
                </a:solidFill>
                <a:latin typeface="Calibri" pitchFamily="34" charset="0"/>
                <a:ea typeface="Calibri" pitchFamily="34" charset="-122"/>
                <a:cs typeface="Calibri" pitchFamily="34" charset="-120"/>
              </a:rPr>
              <a:t>Competitive advantage</a:t>
            </a:r>
            <a:endParaRPr lang="en-US" sz="1450" dirty="0"/>
          </a:p>
        </p:txBody>
      </p:sp>
      <p:sp>
        <p:nvSpPr>
          <p:cNvPr id="29" name="Text 27"/>
          <p:cNvSpPr txBox="1"/>
          <p:nvPr/>
        </p:nvSpPr>
        <p:spPr>
          <a:xfrm>
            <a:off x="8266176" y="4983480"/>
            <a:ext cx="3172968" cy="868680"/>
          </a:xfrm>
          <a:prstGeom prst="rect">
            <a:avLst/>
          </a:prstGeom>
          <a:noFill/>
          <a:ln/>
        </p:spPr>
        <p:txBody>
          <a:bodyPr wrap="square" lIns="0" tIns="0" rIns="0" bIns="0" rtlCol="0" anchor="t"/>
          <a:lstStyle/>
          <a:p>
            <a:pPr indent="0" marL="0">
              <a:buNone/>
            </a:pPr>
            <a:r>
              <a:rPr lang="en-US" sz="1200" dirty="0">
                <a:solidFill>
                  <a:srgbClr val="1F2A33"/>
                </a:solidFill>
                <a:latin typeface="Calibri" pitchFamily="34" charset="0"/>
                <a:ea typeface="Calibri" pitchFamily="34" charset="-122"/>
                <a:cs typeface="Calibri" pitchFamily="34" charset="-120"/>
              </a:rPr>
              <a:t>All of the above → lower costs, stronger reputation, higher profit</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The four motivation theories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Taylor (scientific management)  ·  Mayo (human relations)  ·  Maslow (hierarchy of needs)  ·  Herzberg (two-factor theory)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THEORY 1</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Taylor — scientific management (1909)</a:t>
            </a:r>
            <a:endParaRPr lang="en-US" sz="26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THE IDEA</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Workers are motivated mainly by MONEY. Break jobs into simple tasks, train the ‘one best way’, and pay by results.</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3108960" cy="310896"/>
          </a:xfrm>
          <a:prstGeom prst="roundRect">
            <a:avLst>
              <a:gd name="adj" fmla="val 50000"/>
            </a:avLst>
          </a:prstGeom>
          <a:solidFill>
            <a:srgbClr val="2F8A5B"/>
          </a:solidFill>
          <a:ln/>
        </p:spPr>
      </p:sp>
      <p:sp>
        <p:nvSpPr>
          <p:cNvPr id="9" name="Text 7"/>
          <p:cNvSpPr txBox="1"/>
          <p:nvPr/>
        </p:nvSpPr>
        <p:spPr>
          <a:xfrm>
            <a:off x="777240" y="2560320"/>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HOW TO MOTIVATE</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Pay by results — piece-rate / payment by output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Close supervision and clear targets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Efficiency through specialisation &amp; standard methods</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743200" cy="310896"/>
          </a:xfrm>
          <a:prstGeom prst="roundRect">
            <a:avLst>
              <a:gd name="adj" fmla="val 50000"/>
            </a:avLst>
          </a:prstGeom>
          <a:solidFill>
            <a:srgbClr val="C14B37"/>
          </a:solidFill>
          <a:ln/>
        </p:spPr>
      </p:sp>
      <p:sp>
        <p:nvSpPr>
          <p:cNvPr id="13" name="Text 11"/>
          <p:cNvSpPr txBox="1"/>
          <p:nvPr/>
        </p:nvSpPr>
        <p:spPr>
          <a:xfrm>
            <a:off x="6428232" y="2560320"/>
            <a:ext cx="2743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LIMITATION</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Ignores social &amp; higher needs — treats workers like machines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Can demotivate; monotony lowers morale</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Quality may fall if workers rush for output</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Amazon warehouses</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Amazon has been criticised for a piece-rate, target-driven approach to managing warehouse staff — fast and productive, but blamed for pressure and low morale. A modern echo of Taylorism, showing both its power and its human cost.</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THEORY 2</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Mayo — human relations (1930)</a:t>
            </a:r>
            <a:endParaRPr lang="en-US" sz="2600" dirty="0"/>
          </a:p>
        </p:txBody>
      </p:sp>
      <p:sp>
        <p:nvSpPr>
          <p:cNvPr id="4" name="Shape 2"/>
          <p:cNvSpPr/>
          <p:nvPr/>
        </p:nvSpPr>
        <p:spPr>
          <a:xfrm>
            <a:off x="548640" y="1371600"/>
            <a:ext cx="11091672" cy="841248"/>
          </a:xfrm>
          <a:prstGeom prst="roundRect">
            <a:avLst>
              <a:gd name="adj" fmla="val 8696"/>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828800" cy="274320"/>
          </a:xfrm>
          <a:prstGeom prst="rect">
            <a:avLst/>
          </a:prstGeom>
          <a:noFill/>
          <a:ln/>
        </p:spPr>
        <p:txBody>
          <a:bodyPr wrap="square" lIns="0" tIns="0" rIns="0" bIns="0" rtlCol="0" anchor="ctr"/>
          <a:lstStyle/>
          <a:p>
            <a:pPr indent="0" marL="0">
              <a:buNone/>
            </a:pPr>
            <a:r>
              <a:rPr lang="en-US" sz="1100" b="1" spc="100" kern="0" dirty="0">
                <a:solidFill>
                  <a:srgbClr val="0B5E66"/>
                </a:solidFill>
                <a:latin typeface="Calibri" pitchFamily="34" charset="0"/>
                <a:ea typeface="Calibri" pitchFamily="34" charset="-122"/>
                <a:cs typeface="Calibri" pitchFamily="34" charset="-120"/>
              </a:rPr>
              <a:t>THE IDEA</a:t>
            </a:r>
            <a:endParaRPr lang="en-US" sz="1100" dirty="0"/>
          </a:p>
        </p:txBody>
      </p:sp>
      <p:sp>
        <p:nvSpPr>
          <p:cNvPr id="6" name="Text 4"/>
          <p:cNvSpPr txBox="1"/>
          <p:nvPr/>
        </p:nvSpPr>
        <p:spPr>
          <a:xfrm>
            <a:off x="777240" y="1737360"/>
            <a:ext cx="10607040" cy="420624"/>
          </a:xfrm>
          <a:prstGeom prst="rect">
            <a:avLst/>
          </a:prstGeom>
          <a:noFill/>
          <a:ln/>
        </p:spPr>
        <p:txBody>
          <a:bodyPr wrap="square" lIns="0" tIns="0" rIns="0" bIns="0" rtlCol="0" anchor="t"/>
          <a:lstStyle/>
          <a:p>
            <a:pPr indent="0" marL="0">
              <a:buNone/>
            </a:pPr>
            <a:r>
              <a:rPr lang="en-US" sz="1350" dirty="0">
                <a:solidFill>
                  <a:srgbClr val="1F2A33"/>
                </a:solidFill>
                <a:latin typeface="Calibri" pitchFamily="34" charset="0"/>
                <a:ea typeface="Calibri" pitchFamily="34" charset="-122"/>
                <a:cs typeface="Calibri" pitchFamily="34" charset="-120"/>
              </a:rPr>
              <a:t>Workers are motivated by SOCIAL needs, not just money. Attention, teamwork and feeling valued raise productivity (the Hawthorne effect).</a:t>
            </a:r>
            <a:endParaRPr lang="en-US" sz="1350" dirty="0"/>
          </a:p>
        </p:txBody>
      </p:sp>
      <p:sp>
        <p:nvSpPr>
          <p:cNvPr id="7" name="Shape 5"/>
          <p:cNvSpPr/>
          <p:nvPr/>
        </p:nvSpPr>
        <p:spPr>
          <a:xfrm>
            <a:off x="548640" y="2395728"/>
            <a:ext cx="5440680" cy="2240280"/>
          </a:xfrm>
          <a:prstGeom prst="roundRect">
            <a:avLst>
              <a:gd name="adj" fmla="val 3265"/>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2560320"/>
            <a:ext cx="3108960" cy="310896"/>
          </a:xfrm>
          <a:prstGeom prst="roundRect">
            <a:avLst>
              <a:gd name="adj" fmla="val 50000"/>
            </a:avLst>
          </a:prstGeom>
          <a:solidFill>
            <a:srgbClr val="2F8A5B"/>
          </a:solidFill>
          <a:ln/>
        </p:spPr>
      </p:sp>
      <p:sp>
        <p:nvSpPr>
          <p:cNvPr id="9" name="Text 7"/>
          <p:cNvSpPr txBox="1"/>
          <p:nvPr/>
        </p:nvSpPr>
        <p:spPr>
          <a:xfrm>
            <a:off x="777240" y="2560320"/>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HOW TO MOTIVATE</a:t>
            </a:r>
            <a:endParaRPr lang="en-US" sz="1050" dirty="0"/>
          </a:p>
        </p:txBody>
      </p:sp>
      <p:sp>
        <p:nvSpPr>
          <p:cNvPr id="10" name="Text 8"/>
          <p:cNvSpPr txBox="1"/>
          <p:nvPr/>
        </p:nvSpPr>
        <p:spPr>
          <a:xfrm>
            <a:off x="777240"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Teamwork and good working relationships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Communication &amp; involving staff in decisions</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Showing workers they are valued &amp; listened to</a:t>
            </a:r>
            <a:endParaRPr lang="en-US" sz="1300" dirty="0"/>
          </a:p>
        </p:txBody>
      </p:sp>
      <p:sp>
        <p:nvSpPr>
          <p:cNvPr id="11" name="Shape 9"/>
          <p:cNvSpPr/>
          <p:nvPr/>
        </p:nvSpPr>
        <p:spPr>
          <a:xfrm>
            <a:off x="6199632" y="2395728"/>
            <a:ext cx="5440680" cy="2240280"/>
          </a:xfrm>
          <a:prstGeom prst="roundRect">
            <a:avLst>
              <a:gd name="adj" fmla="val 3265"/>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560320"/>
            <a:ext cx="2743200" cy="310896"/>
          </a:xfrm>
          <a:prstGeom prst="roundRect">
            <a:avLst>
              <a:gd name="adj" fmla="val 50000"/>
            </a:avLst>
          </a:prstGeom>
          <a:solidFill>
            <a:srgbClr val="C14B37"/>
          </a:solidFill>
          <a:ln/>
        </p:spPr>
      </p:sp>
      <p:sp>
        <p:nvSpPr>
          <p:cNvPr id="13" name="Text 11"/>
          <p:cNvSpPr txBox="1"/>
          <p:nvPr/>
        </p:nvSpPr>
        <p:spPr>
          <a:xfrm>
            <a:off x="6428232" y="2560320"/>
            <a:ext cx="2743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LIMITATION</a:t>
            </a:r>
            <a:endParaRPr lang="en-US" sz="1050" dirty="0"/>
          </a:p>
        </p:txBody>
      </p:sp>
      <p:sp>
        <p:nvSpPr>
          <p:cNvPr id="14" name="Text 12"/>
          <p:cNvSpPr txBox="1"/>
          <p:nvPr/>
        </p:nvSpPr>
        <p:spPr>
          <a:xfrm>
            <a:off x="6428232" y="2980944"/>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Underplays the role of pay</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Social factors alone don't always raise output</a:t>
            </a:r>
            <a:endParaRPr lang="en-US" sz="1300" dirty="0"/>
          </a:p>
          <a:p>
            <a:pPr marL="177800" indent="-177800">
              <a:spcAft>
                <a:spcPts val="700"/>
              </a:spcAft>
              <a:buSzPct val="100000"/>
              <a:buChar char="•"/>
            </a:pPr>
            <a:r>
              <a:rPr lang="en-US" sz="1300" dirty="0">
                <a:solidFill>
                  <a:srgbClr val="1F2A33"/>
                </a:solidFill>
                <a:latin typeface="Calibri" pitchFamily="34" charset="0"/>
                <a:ea typeface="Calibri" pitchFamily="34" charset="-122"/>
                <a:cs typeface="Calibri" pitchFamily="34" charset="-120"/>
              </a:rPr>
              <a:t>Harder to apply to isolated or repetitive jobs</a:t>
            </a:r>
            <a:endParaRPr lang="en-US" sz="1300" dirty="0"/>
          </a:p>
        </p:txBody>
      </p:sp>
      <p:sp>
        <p:nvSpPr>
          <p:cNvPr id="15" name="Shape 13"/>
          <p:cNvSpPr/>
          <p:nvPr/>
        </p:nvSpPr>
        <p:spPr>
          <a:xfrm>
            <a:off x="548640" y="4818888"/>
            <a:ext cx="11091672" cy="1371600"/>
          </a:xfrm>
          <a:prstGeom prst="roundRect">
            <a:avLst>
              <a:gd name="adj" fmla="val 5333"/>
            </a:avLst>
          </a:prstGeom>
          <a:solidFill>
            <a:srgbClr val="FBF0D8"/>
          </a:solidFill>
          <a:ln/>
          <a:effectLst>
            <a:outerShdw sx="100000" sy="100000" kx="0" ky="0" algn="bl" rotWithShape="0" blurRad="76200" dist="25400" dir="5400000">
              <a:srgbClr val="9AAAB0">
                <a:alpha val="28000"/>
              </a:srgbClr>
            </a:outerShdw>
          </a:effectLst>
        </p:spPr>
      </p:sp>
      <p:sp>
        <p:nvSpPr>
          <p:cNvPr id="16" name="Shape 14"/>
          <p:cNvSpPr/>
          <p:nvPr/>
        </p:nvSpPr>
        <p:spPr>
          <a:xfrm>
            <a:off x="548640" y="4818888"/>
            <a:ext cx="109728" cy="1371600"/>
          </a:xfrm>
          <a:prstGeom prst="roundRect">
            <a:avLst/>
          </a:prstGeom>
          <a:solidFill>
            <a:srgbClr val="E0940F"/>
          </a:solidFill>
          <a:ln/>
        </p:spPr>
      </p:sp>
      <p:sp>
        <p:nvSpPr>
          <p:cNvPr id="17" name="Text 15"/>
          <p:cNvSpPr txBox="1"/>
          <p:nvPr/>
        </p:nvSpPr>
        <p:spPr>
          <a:xfrm>
            <a:off x="777240" y="4937760"/>
            <a:ext cx="10607040" cy="292608"/>
          </a:xfrm>
          <a:prstGeom prst="rect">
            <a:avLst/>
          </a:prstGeom>
          <a:noFill/>
          <a:ln/>
        </p:spPr>
        <p:txBody>
          <a:bodyPr wrap="square" lIns="0" tIns="0" rIns="0" bIns="0" rtlCol="0" anchor="ctr"/>
          <a:lstStyle/>
          <a:p>
            <a:pPr indent="0" marL="0">
              <a:buNone/>
            </a:pPr>
            <a:r>
              <a:rPr lang="en-US" sz="1150" b="1" spc="100" kern="0" dirty="0">
                <a:solidFill>
                  <a:srgbClr val="8A5A06"/>
                </a:solidFill>
                <a:latin typeface="Calibri" pitchFamily="34" charset="0"/>
                <a:ea typeface="Calibri" pitchFamily="34" charset="-122"/>
                <a:cs typeface="Calibri" pitchFamily="34" charset="-120"/>
              </a:rPr>
              <a:t>REAL EXAMPLE  ·  The Hawthorne studies</a:t>
            </a:r>
            <a:endParaRPr lang="en-US" sz="1150" dirty="0"/>
          </a:p>
        </p:txBody>
      </p:sp>
      <p:sp>
        <p:nvSpPr>
          <p:cNvPr id="18" name="Text 16"/>
          <p:cNvSpPr txBox="1"/>
          <p:nvPr/>
        </p:nvSpPr>
        <p:spPr>
          <a:xfrm>
            <a:off x="777240" y="5230368"/>
            <a:ext cx="10698480" cy="8686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Mayo's research at the Hawthorne factory found output rose simply because workers were given attention and worked as a team — not because of pay or conditions. The lesson: people are social, and feeling noticed and part of a group motivates them (something Taylor ignored).</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THEORY 3</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Maslow — the hierarchy of needs</a:t>
            </a:r>
            <a:endParaRPr lang="en-US" sz="26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The idea:  </a:t>
            </a:r>
            <a:pPr indent="0" marL="0">
              <a:buNone/>
            </a:pPr>
            <a:r>
              <a:rPr lang="en-US" sz="1300" dirty="0">
                <a:solidFill>
                  <a:srgbClr val="1F2A33"/>
                </a:solidFill>
                <a:latin typeface="Calibri" pitchFamily="34" charset="0"/>
                <a:ea typeface="Calibri" pitchFamily="34" charset="-122"/>
                <a:cs typeface="Calibri" pitchFamily="34" charset="-120"/>
              </a:rPr>
              <a:t>we have five levels of need. Lower needs must be met before higher ones motivate — so a firm must meet each level in turn to keep motivating staff.</a:t>
            </a:r>
            <a:endParaRPr lang="en-US" sz="1300" dirty="0"/>
          </a:p>
        </p:txBody>
      </p:sp>
      <p:sp>
        <p:nvSpPr>
          <p:cNvPr id="6" name="Shape 4"/>
          <p:cNvSpPr/>
          <p:nvPr/>
        </p:nvSpPr>
        <p:spPr>
          <a:xfrm>
            <a:off x="2240280" y="2286000"/>
            <a:ext cx="1737360" cy="603504"/>
          </a:xfrm>
          <a:prstGeom prst="roundRect">
            <a:avLst>
              <a:gd name="adj" fmla="val 6061"/>
            </a:avLst>
          </a:prstGeom>
          <a:solidFill>
            <a:srgbClr val="6B4FA0"/>
          </a:solidFill>
          <a:ln/>
        </p:spPr>
      </p:sp>
      <p:sp>
        <p:nvSpPr>
          <p:cNvPr id="7" name="Text 5"/>
          <p:cNvSpPr txBox="1"/>
          <p:nvPr/>
        </p:nvSpPr>
        <p:spPr>
          <a:xfrm>
            <a:off x="2240280" y="2286000"/>
            <a:ext cx="173736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Self-actualisation</a:t>
            </a:r>
            <a:endParaRPr lang="en-US" sz="1250" dirty="0"/>
          </a:p>
        </p:txBody>
      </p:sp>
      <p:sp>
        <p:nvSpPr>
          <p:cNvPr id="8" name="Shape 6"/>
          <p:cNvSpPr/>
          <p:nvPr/>
        </p:nvSpPr>
        <p:spPr>
          <a:xfrm>
            <a:off x="1874520" y="2944368"/>
            <a:ext cx="2468880" cy="603504"/>
          </a:xfrm>
          <a:prstGeom prst="roundRect">
            <a:avLst>
              <a:gd name="adj" fmla="val 6061"/>
            </a:avLst>
          </a:prstGeom>
          <a:solidFill>
            <a:srgbClr val="C14B37"/>
          </a:solidFill>
          <a:ln/>
        </p:spPr>
      </p:sp>
      <p:sp>
        <p:nvSpPr>
          <p:cNvPr id="9" name="Text 7"/>
          <p:cNvSpPr txBox="1"/>
          <p:nvPr/>
        </p:nvSpPr>
        <p:spPr>
          <a:xfrm>
            <a:off x="1874520" y="2944368"/>
            <a:ext cx="246888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Esteem</a:t>
            </a:r>
            <a:endParaRPr lang="en-US" sz="1250" dirty="0"/>
          </a:p>
        </p:txBody>
      </p:sp>
      <p:sp>
        <p:nvSpPr>
          <p:cNvPr id="10" name="Shape 8"/>
          <p:cNvSpPr/>
          <p:nvPr/>
        </p:nvSpPr>
        <p:spPr>
          <a:xfrm>
            <a:off x="1508760" y="3602736"/>
            <a:ext cx="3200400" cy="603504"/>
          </a:xfrm>
          <a:prstGeom prst="roundRect">
            <a:avLst>
              <a:gd name="adj" fmla="val 6061"/>
            </a:avLst>
          </a:prstGeom>
          <a:solidFill>
            <a:srgbClr val="E0940F"/>
          </a:solidFill>
          <a:ln/>
        </p:spPr>
      </p:sp>
      <p:sp>
        <p:nvSpPr>
          <p:cNvPr id="11" name="Text 9"/>
          <p:cNvSpPr txBox="1"/>
          <p:nvPr/>
        </p:nvSpPr>
        <p:spPr>
          <a:xfrm>
            <a:off x="1508760" y="3602736"/>
            <a:ext cx="320040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Social</a:t>
            </a:r>
            <a:endParaRPr lang="en-US" sz="1250" dirty="0"/>
          </a:p>
        </p:txBody>
      </p:sp>
      <p:sp>
        <p:nvSpPr>
          <p:cNvPr id="12" name="Shape 10"/>
          <p:cNvSpPr/>
          <p:nvPr/>
        </p:nvSpPr>
        <p:spPr>
          <a:xfrm>
            <a:off x="1143000" y="4261104"/>
            <a:ext cx="3931920" cy="603504"/>
          </a:xfrm>
          <a:prstGeom prst="roundRect">
            <a:avLst>
              <a:gd name="adj" fmla="val 6061"/>
            </a:avLst>
          </a:prstGeom>
          <a:solidFill>
            <a:srgbClr val="2F8A5B"/>
          </a:solidFill>
          <a:ln/>
        </p:spPr>
      </p:sp>
      <p:sp>
        <p:nvSpPr>
          <p:cNvPr id="13" name="Text 11"/>
          <p:cNvSpPr txBox="1"/>
          <p:nvPr/>
        </p:nvSpPr>
        <p:spPr>
          <a:xfrm>
            <a:off x="1143000" y="4261104"/>
            <a:ext cx="393192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Safety</a:t>
            </a:r>
            <a:endParaRPr lang="en-US" sz="1250" dirty="0"/>
          </a:p>
        </p:txBody>
      </p:sp>
      <p:sp>
        <p:nvSpPr>
          <p:cNvPr id="14" name="Shape 12"/>
          <p:cNvSpPr/>
          <p:nvPr/>
        </p:nvSpPr>
        <p:spPr>
          <a:xfrm>
            <a:off x="777240" y="4919472"/>
            <a:ext cx="4663440" cy="603504"/>
          </a:xfrm>
          <a:prstGeom prst="roundRect">
            <a:avLst>
              <a:gd name="adj" fmla="val 6061"/>
            </a:avLst>
          </a:prstGeom>
          <a:solidFill>
            <a:srgbClr val="0E7C86"/>
          </a:solidFill>
          <a:ln/>
        </p:spPr>
      </p:sp>
      <p:sp>
        <p:nvSpPr>
          <p:cNvPr id="15" name="Text 13"/>
          <p:cNvSpPr txBox="1"/>
          <p:nvPr/>
        </p:nvSpPr>
        <p:spPr>
          <a:xfrm>
            <a:off x="777240" y="4919472"/>
            <a:ext cx="466344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Physiological</a:t>
            </a:r>
            <a:endParaRPr lang="en-US" sz="1250" dirty="0"/>
          </a:p>
        </p:txBody>
      </p:sp>
      <p:sp>
        <p:nvSpPr>
          <p:cNvPr id="16" name="Shape 14"/>
          <p:cNvSpPr/>
          <p:nvPr/>
        </p:nvSpPr>
        <p:spPr>
          <a:xfrm>
            <a:off x="685800" y="2331720"/>
            <a:ext cx="0" cy="3108960"/>
          </a:xfrm>
          <a:prstGeom prst="line">
            <a:avLst/>
          </a:prstGeom>
          <a:noFill/>
          <a:ln w="19050">
            <a:solidFill>
              <a:srgbClr val="5B6B73"/>
            </a:solidFill>
            <a:prstDash val="solid"/>
          </a:ln>
        </p:spPr>
      </p:sp>
      <p:sp>
        <p:nvSpPr>
          <p:cNvPr id="17" name="Text 15"/>
          <p:cNvSpPr txBox="1"/>
          <p:nvPr/>
        </p:nvSpPr>
        <p:spPr>
          <a:xfrm>
            <a:off x="91440" y="2331720"/>
            <a:ext cx="548640" cy="548640"/>
          </a:xfrm>
          <a:prstGeom prst="rect">
            <a:avLst/>
          </a:prstGeom>
          <a:noFill/>
          <a:ln/>
        </p:spPr>
        <p:txBody>
          <a:bodyPr wrap="square" lIns="0" tIns="0" rIns="0" bIns="0" rtlCol="0" anchor="ctr"/>
          <a:lstStyle/>
          <a:p>
            <a:pPr algn="ctr" indent="0" marL="0">
              <a:buNone/>
            </a:pPr>
            <a:r>
              <a:rPr lang="en-US" sz="900" i="1" dirty="0">
                <a:solidFill>
                  <a:srgbClr val="5B6B73"/>
                </a:solidFill>
                <a:latin typeface="Calibri" pitchFamily="34" charset="0"/>
                <a:ea typeface="Calibri" pitchFamily="34" charset="-122"/>
                <a:cs typeface="Calibri" pitchFamily="34" charset="-120"/>
              </a:rPr>
              <a:t>higher</a:t>
            </a:r>
            <a:endParaRPr lang="en-US" sz="900" dirty="0"/>
          </a:p>
          <a:p>
            <a:pPr algn="ctr" indent="0" marL="0">
              <a:buNone/>
            </a:pPr>
            <a:r>
              <a:rPr lang="en-US" sz="900" i="1" dirty="0">
                <a:solidFill>
                  <a:srgbClr val="5B6B73"/>
                </a:solidFill>
                <a:latin typeface="Calibri" pitchFamily="34" charset="0"/>
                <a:ea typeface="Calibri" pitchFamily="34" charset="-122"/>
                <a:cs typeface="Calibri" pitchFamily="34" charset="-120"/>
              </a:rPr>
              <a:t>needs</a:t>
            </a:r>
            <a:endParaRPr lang="en-US" sz="900" dirty="0"/>
          </a:p>
        </p:txBody>
      </p:sp>
      <p:sp>
        <p:nvSpPr>
          <p:cNvPr id="18" name="Text 16"/>
          <p:cNvSpPr txBox="1"/>
          <p:nvPr/>
        </p:nvSpPr>
        <p:spPr>
          <a:xfrm>
            <a:off x="91440" y="4846320"/>
            <a:ext cx="548640" cy="548640"/>
          </a:xfrm>
          <a:prstGeom prst="rect">
            <a:avLst/>
          </a:prstGeom>
          <a:noFill/>
          <a:ln/>
        </p:spPr>
        <p:txBody>
          <a:bodyPr wrap="square" lIns="0" tIns="0" rIns="0" bIns="0" rtlCol="0" anchor="ctr"/>
          <a:lstStyle/>
          <a:p>
            <a:pPr algn="ctr" indent="0" marL="0">
              <a:buNone/>
            </a:pPr>
            <a:r>
              <a:rPr lang="en-US" sz="900" i="1" dirty="0">
                <a:solidFill>
                  <a:srgbClr val="5B6B73"/>
                </a:solidFill>
                <a:latin typeface="Calibri" pitchFamily="34" charset="0"/>
                <a:ea typeface="Calibri" pitchFamily="34" charset="-122"/>
                <a:cs typeface="Calibri" pitchFamily="34" charset="-120"/>
              </a:rPr>
              <a:t>basic</a:t>
            </a:r>
            <a:endParaRPr lang="en-US" sz="900" dirty="0"/>
          </a:p>
          <a:p>
            <a:pPr algn="ctr" indent="0" marL="0">
              <a:buNone/>
            </a:pPr>
            <a:r>
              <a:rPr lang="en-US" sz="900" i="1" dirty="0">
                <a:solidFill>
                  <a:srgbClr val="5B6B73"/>
                </a:solidFill>
                <a:latin typeface="Calibri" pitchFamily="34" charset="0"/>
                <a:ea typeface="Calibri" pitchFamily="34" charset="-122"/>
                <a:cs typeface="Calibri" pitchFamily="34" charset="-120"/>
              </a:rPr>
              <a:t>needs</a:t>
            </a:r>
            <a:endParaRPr lang="en-US" sz="900" dirty="0"/>
          </a:p>
        </p:txBody>
      </p:sp>
      <p:sp>
        <p:nvSpPr>
          <p:cNvPr id="19" name="Shape 17"/>
          <p:cNvSpPr/>
          <p:nvPr/>
        </p:nvSpPr>
        <p:spPr>
          <a:xfrm>
            <a:off x="5943600" y="2194560"/>
            <a:ext cx="5696712" cy="3977640"/>
          </a:xfrm>
          <a:prstGeom prst="roundRect">
            <a:avLst>
              <a:gd name="adj" fmla="val 1839"/>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0" name="Text 18"/>
          <p:cNvSpPr txBox="1"/>
          <p:nvPr/>
        </p:nvSpPr>
        <p:spPr>
          <a:xfrm>
            <a:off x="6144768" y="2304288"/>
            <a:ext cx="5303520" cy="320040"/>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How a business meets each level</a:t>
            </a:r>
            <a:endParaRPr lang="en-US" sz="1350" dirty="0"/>
          </a:p>
        </p:txBody>
      </p:sp>
      <p:sp>
        <p:nvSpPr>
          <p:cNvPr id="21" name="Text 19"/>
          <p:cNvSpPr txBox="1"/>
          <p:nvPr/>
        </p:nvSpPr>
        <p:spPr>
          <a:xfrm>
            <a:off x="6144768" y="2697480"/>
            <a:ext cx="5349240" cy="2377440"/>
          </a:xfrm>
          <a:prstGeom prst="rect">
            <a:avLst/>
          </a:prstGeom>
          <a:noFill/>
          <a:ln/>
        </p:spPr>
        <p:txBody>
          <a:bodyPr wrap="square" lIns="0" tIns="0" rIns="0" bIns="0" rtlCol="0" anchor="t"/>
          <a:lstStyle/>
          <a:p>
            <a:pPr indent="0" marL="0">
              <a:spcAft>
                <a:spcPts val="800"/>
              </a:spcAft>
              <a:buNone/>
            </a:pPr>
            <a:r>
              <a:rPr lang="en-US" sz="1250" b="1" dirty="0">
                <a:solidFill>
                  <a:srgbClr val="0E7C86"/>
                </a:solidFill>
                <a:latin typeface="Calibri" pitchFamily="34" charset="0"/>
                <a:ea typeface="Calibri" pitchFamily="34" charset="-122"/>
                <a:cs typeface="Calibri" pitchFamily="34" charset="-120"/>
              </a:rPr>
              <a:t>Physiological — </a:t>
            </a:r>
            <a:pPr indent="0" marL="0">
              <a:spcAft>
                <a:spcPts val="800"/>
              </a:spcAft>
              <a:buNone/>
            </a:pPr>
            <a:r>
              <a:rPr lang="en-US" sz="1250" dirty="0">
                <a:solidFill>
                  <a:srgbClr val="1F2A33"/>
                </a:solidFill>
                <a:latin typeface="Calibri" pitchFamily="34" charset="0"/>
                <a:ea typeface="Calibri" pitchFamily="34" charset="-122"/>
                <a:cs typeface="Calibri" pitchFamily="34" charset="-120"/>
              </a:rPr>
              <a:t>fair pay, breaks, reasonable conditions
</a:t>
            </a:r>
            <a:pPr indent="0" marL="0">
              <a:spcAft>
                <a:spcPts val="800"/>
              </a:spcAft>
              <a:buNone/>
            </a:pPr>
            <a:r>
              <a:rPr lang="en-US" sz="1250" b="1" dirty="0">
                <a:solidFill>
                  <a:srgbClr val="2F8A5B"/>
                </a:solidFill>
                <a:latin typeface="Calibri" pitchFamily="34" charset="0"/>
                <a:ea typeface="Calibri" pitchFamily="34" charset="-122"/>
                <a:cs typeface="Calibri" pitchFamily="34" charset="-120"/>
              </a:rPr>
              <a:t>Safety — </a:t>
            </a:r>
            <a:pPr indent="0" marL="0">
              <a:spcAft>
                <a:spcPts val="800"/>
              </a:spcAft>
              <a:buNone/>
            </a:pPr>
            <a:r>
              <a:rPr lang="en-US" sz="1250" dirty="0">
                <a:solidFill>
                  <a:srgbClr val="1F2A33"/>
                </a:solidFill>
                <a:latin typeface="Calibri" pitchFamily="34" charset="0"/>
                <a:ea typeface="Calibri" pitchFamily="34" charset="-122"/>
                <a:cs typeface="Calibri" pitchFamily="34" charset="-120"/>
              </a:rPr>
              <a:t>secure contract, safe &amp; healthy workplace
</a:t>
            </a:r>
            <a:pPr indent="0" marL="0">
              <a:spcAft>
                <a:spcPts val="800"/>
              </a:spcAft>
              <a:buNone/>
            </a:pPr>
            <a:r>
              <a:rPr lang="en-US" sz="1250" b="1" dirty="0">
                <a:solidFill>
                  <a:srgbClr val="E0940F"/>
                </a:solidFill>
                <a:latin typeface="Calibri" pitchFamily="34" charset="0"/>
                <a:ea typeface="Calibri" pitchFamily="34" charset="-122"/>
                <a:cs typeface="Calibri" pitchFamily="34" charset="-120"/>
              </a:rPr>
              <a:t>Social — </a:t>
            </a:r>
            <a:pPr indent="0" marL="0">
              <a:spcAft>
                <a:spcPts val="800"/>
              </a:spcAft>
              <a:buNone/>
            </a:pPr>
            <a:r>
              <a:rPr lang="en-US" sz="1250" dirty="0">
                <a:solidFill>
                  <a:srgbClr val="1F2A33"/>
                </a:solidFill>
                <a:latin typeface="Calibri" pitchFamily="34" charset="0"/>
                <a:ea typeface="Calibri" pitchFamily="34" charset="-122"/>
                <a:cs typeface="Calibri" pitchFamily="34" charset="-120"/>
              </a:rPr>
              <a:t>teamwork, social events, belonging
</a:t>
            </a:r>
            <a:pPr indent="0" marL="0">
              <a:spcAft>
                <a:spcPts val="800"/>
              </a:spcAft>
              <a:buNone/>
            </a:pPr>
            <a:r>
              <a:rPr lang="en-US" sz="1250" b="1" dirty="0">
                <a:solidFill>
                  <a:srgbClr val="C14B37"/>
                </a:solidFill>
                <a:latin typeface="Calibri" pitchFamily="34" charset="0"/>
                <a:ea typeface="Calibri" pitchFamily="34" charset="-122"/>
                <a:cs typeface="Calibri" pitchFamily="34" charset="-120"/>
              </a:rPr>
              <a:t>Esteem — </a:t>
            </a:r>
            <a:pPr indent="0" marL="0">
              <a:spcAft>
                <a:spcPts val="800"/>
              </a:spcAft>
              <a:buNone/>
            </a:pPr>
            <a:r>
              <a:rPr lang="en-US" sz="1250" dirty="0">
                <a:solidFill>
                  <a:srgbClr val="1F2A33"/>
                </a:solidFill>
                <a:latin typeface="Calibri" pitchFamily="34" charset="0"/>
                <a:ea typeface="Calibri" pitchFamily="34" charset="-122"/>
                <a:cs typeface="Calibri" pitchFamily="34" charset="-120"/>
              </a:rPr>
              <a:t>recognition, praise, status, promotion
</a:t>
            </a:r>
            <a:pPr indent="0" marL="0">
              <a:spcAft>
                <a:spcPts val="800"/>
              </a:spcAft>
              <a:buNone/>
            </a:pPr>
            <a:r>
              <a:rPr lang="en-US" sz="1250" b="1" dirty="0">
                <a:solidFill>
                  <a:srgbClr val="6B4FA0"/>
                </a:solidFill>
                <a:latin typeface="Calibri" pitchFamily="34" charset="0"/>
                <a:ea typeface="Calibri" pitchFamily="34" charset="-122"/>
                <a:cs typeface="Calibri" pitchFamily="34" charset="-120"/>
              </a:rPr>
              <a:t>Self-actualisation — </a:t>
            </a:r>
            <a:pPr indent="0" marL="0">
              <a:spcAft>
                <a:spcPts val="800"/>
              </a:spcAft>
              <a:buNone/>
            </a:pPr>
            <a:r>
              <a:rPr lang="en-US" sz="1250" dirty="0">
                <a:solidFill>
                  <a:srgbClr val="1F2A33"/>
                </a:solidFill>
                <a:latin typeface="Calibri" pitchFamily="34" charset="0"/>
                <a:ea typeface="Calibri" pitchFamily="34" charset="-122"/>
                <a:cs typeface="Calibri" pitchFamily="34" charset="-120"/>
              </a:rPr>
              <a:t>challenging work, development, autonomy</a:t>
            </a:r>
            <a:endParaRPr lang="en-US" sz="1250" dirty="0"/>
          </a:p>
        </p:txBody>
      </p:sp>
      <p:sp>
        <p:nvSpPr>
          <p:cNvPr id="22" name="Text 20"/>
          <p:cNvSpPr txBox="1"/>
          <p:nvPr/>
        </p:nvSpPr>
        <p:spPr>
          <a:xfrm>
            <a:off x="6144768" y="5440680"/>
            <a:ext cx="5349240" cy="640080"/>
          </a:xfrm>
          <a:prstGeom prst="rect">
            <a:avLst/>
          </a:prstGeom>
          <a:noFill/>
          <a:ln/>
        </p:spPr>
        <p:txBody>
          <a:bodyPr wrap="square" lIns="0" tIns="0" rIns="0" bIns="0" rtlCol="0" anchor="t"/>
          <a:lstStyle/>
          <a:p>
            <a:pPr indent="0" marL="0">
              <a:buNone/>
            </a:pPr>
            <a:r>
              <a:rPr lang="en-US" sz="1150" b="1" dirty="0">
                <a:solidFill>
                  <a:srgbClr val="C14B37"/>
                </a:solidFill>
                <a:latin typeface="Calibri" pitchFamily="34" charset="0"/>
                <a:ea typeface="Calibri" pitchFamily="34" charset="-122"/>
                <a:cs typeface="Calibri" pitchFamily="34" charset="-120"/>
              </a:rPr>
              <a:t>Limitation:  </a:t>
            </a:r>
            <a:pPr indent="0" marL="0">
              <a:buNone/>
            </a:pPr>
            <a:r>
              <a:rPr lang="en-US" sz="1150" i="1" dirty="0">
                <a:solidFill>
                  <a:srgbClr val="5B6B73"/>
                </a:solidFill>
                <a:latin typeface="Calibri" pitchFamily="34" charset="0"/>
                <a:ea typeface="Calibri" pitchFamily="34" charset="-122"/>
                <a:cs typeface="Calibri" pitchFamily="34" charset="-120"/>
              </a:rPr>
              <a:t>not everyone follows the same order, and it's hard to know which level a worker is at.</a:t>
            </a:r>
            <a:endParaRPr lang="en-US" sz="11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THEORY 4</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Herzberg — the two-factor theory</a:t>
            </a:r>
            <a:endParaRPr lang="en-US" sz="2600" dirty="0"/>
          </a:p>
        </p:txBody>
      </p:sp>
      <p:sp>
        <p:nvSpPr>
          <p:cNvPr id="4" name="Shape 2"/>
          <p:cNvSpPr/>
          <p:nvPr/>
        </p:nvSpPr>
        <p:spPr>
          <a:xfrm>
            <a:off x="548640" y="1371600"/>
            <a:ext cx="11091672" cy="658368"/>
          </a:xfrm>
          <a:prstGeom prst="roundRect">
            <a:avLst>
              <a:gd name="adj" fmla="val 1111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44752"/>
            <a:ext cx="10698480" cy="512064"/>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The idea:  </a:t>
            </a:r>
            <a:pPr indent="0" marL="0">
              <a:buNone/>
            </a:pPr>
            <a:r>
              <a:rPr lang="en-US" sz="1300" dirty="0">
                <a:solidFill>
                  <a:srgbClr val="1F2A33"/>
                </a:solidFill>
                <a:latin typeface="Calibri" pitchFamily="34" charset="0"/>
                <a:ea typeface="Calibri" pitchFamily="34" charset="-122"/>
                <a:cs typeface="Calibri" pitchFamily="34" charset="-120"/>
              </a:rPr>
              <a:t>two separate sets of factors. Hygiene factors prevent dissatisfaction but don't motivate; motivators create real satisfaction and drive.</a:t>
            </a:r>
            <a:endParaRPr lang="en-US" sz="1300" dirty="0"/>
          </a:p>
        </p:txBody>
      </p:sp>
      <p:sp>
        <p:nvSpPr>
          <p:cNvPr id="6" name="Shape 4"/>
          <p:cNvSpPr/>
          <p:nvPr/>
        </p:nvSpPr>
        <p:spPr>
          <a:xfrm>
            <a:off x="548640" y="2240280"/>
            <a:ext cx="5440680" cy="2834640"/>
          </a:xfrm>
          <a:prstGeom prst="roundRect">
            <a:avLst>
              <a:gd name="adj" fmla="val 2581"/>
            </a:avLst>
          </a:prstGeom>
          <a:solidFill>
            <a:srgbClr val="F9EAE6"/>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395728"/>
            <a:ext cx="3566160" cy="310896"/>
          </a:xfrm>
          <a:prstGeom prst="roundRect">
            <a:avLst>
              <a:gd name="adj" fmla="val 50000"/>
            </a:avLst>
          </a:prstGeom>
          <a:solidFill>
            <a:srgbClr val="C14B37"/>
          </a:solidFill>
          <a:ln/>
        </p:spPr>
      </p:sp>
      <p:sp>
        <p:nvSpPr>
          <p:cNvPr id="8" name="Text 6"/>
          <p:cNvSpPr txBox="1"/>
          <p:nvPr/>
        </p:nvSpPr>
        <p:spPr>
          <a:xfrm>
            <a:off x="777240" y="2395728"/>
            <a:ext cx="35661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HYGIENE FACTORS</a:t>
            </a:r>
            <a:endParaRPr lang="en-US" sz="1050" dirty="0"/>
          </a:p>
        </p:txBody>
      </p:sp>
      <p:sp>
        <p:nvSpPr>
          <p:cNvPr id="9" name="Text 7"/>
          <p:cNvSpPr txBox="1"/>
          <p:nvPr/>
        </p:nvSpPr>
        <p:spPr>
          <a:xfrm>
            <a:off x="777240" y="2816352"/>
            <a:ext cx="4983480" cy="6400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Prevent DISSATISFACTION — but do NOT motivate. If poor → unhappy; if good → merely ‘not unhappy’.</a:t>
            </a:r>
            <a:endParaRPr lang="en-US" sz="1250" dirty="0"/>
          </a:p>
        </p:txBody>
      </p:sp>
      <p:sp>
        <p:nvSpPr>
          <p:cNvPr id="10" name="Text 8"/>
          <p:cNvSpPr txBox="1"/>
          <p:nvPr/>
        </p:nvSpPr>
        <p:spPr>
          <a:xfrm>
            <a:off x="777240" y="3474720"/>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Pay &amp; working conditions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Job security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Company policy &amp; supervision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Relationships with colleagues</a:t>
            </a:r>
            <a:endParaRPr lang="en-US" sz="1250" dirty="0"/>
          </a:p>
        </p:txBody>
      </p:sp>
      <p:sp>
        <p:nvSpPr>
          <p:cNvPr id="11" name="Shape 9"/>
          <p:cNvSpPr/>
          <p:nvPr/>
        </p:nvSpPr>
        <p:spPr>
          <a:xfrm>
            <a:off x="6199632" y="2240280"/>
            <a:ext cx="5440680" cy="2834640"/>
          </a:xfrm>
          <a:prstGeom prst="roundRect">
            <a:avLst>
              <a:gd name="adj" fmla="val 2581"/>
            </a:avLst>
          </a:prstGeom>
          <a:solidFill>
            <a:srgbClr val="E8F3EC"/>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2395728"/>
            <a:ext cx="3108960" cy="310896"/>
          </a:xfrm>
          <a:prstGeom prst="roundRect">
            <a:avLst>
              <a:gd name="adj" fmla="val 50000"/>
            </a:avLst>
          </a:prstGeom>
          <a:solidFill>
            <a:srgbClr val="2F8A5B"/>
          </a:solidFill>
          <a:ln/>
        </p:spPr>
      </p:sp>
      <p:sp>
        <p:nvSpPr>
          <p:cNvPr id="13" name="Text 11"/>
          <p:cNvSpPr txBox="1"/>
          <p:nvPr/>
        </p:nvSpPr>
        <p:spPr>
          <a:xfrm>
            <a:off x="6428232" y="239572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MOTIVATORS</a:t>
            </a:r>
            <a:endParaRPr lang="en-US" sz="1050" dirty="0"/>
          </a:p>
        </p:txBody>
      </p:sp>
      <p:sp>
        <p:nvSpPr>
          <p:cNvPr id="14" name="Text 12"/>
          <p:cNvSpPr txBox="1"/>
          <p:nvPr/>
        </p:nvSpPr>
        <p:spPr>
          <a:xfrm>
            <a:off x="6428232" y="2816352"/>
            <a:ext cx="4983480" cy="640080"/>
          </a:xfrm>
          <a:prstGeom prst="rect">
            <a:avLst/>
          </a:prstGeom>
          <a:noFill/>
          <a:ln/>
        </p:spPr>
        <p:txBody>
          <a:bodyPr wrap="square" lIns="0" tIns="0" rIns="0" bIns="0" rtlCol="0" anchor="t"/>
          <a:lstStyle/>
          <a:p>
            <a:pPr indent="0" marL="0">
              <a:buNone/>
            </a:pPr>
            <a:r>
              <a:rPr lang="en-US" sz="1250" dirty="0">
                <a:solidFill>
                  <a:srgbClr val="1F2A33"/>
                </a:solidFill>
                <a:latin typeface="Calibri" pitchFamily="34" charset="0"/>
                <a:ea typeface="Calibri" pitchFamily="34" charset="-122"/>
                <a:cs typeface="Calibri" pitchFamily="34" charset="-120"/>
              </a:rPr>
              <a:t>Create real SATISFACTION &amp; motivation — these come from the job itself.</a:t>
            </a:r>
            <a:endParaRPr lang="en-US" sz="1250" dirty="0"/>
          </a:p>
        </p:txBody>
      </p:sp>
      <p:sp>
        <p:nvSpPr>
          <p:cNvPr id="15" name="Text 13"/>
          <p:cNvSpPr txBox="1"/>
          <p:nvPr/>
        </p:nvSpPr>
        <p:spPr>
          <a:xfrm>
            <a:off x="6428232" y="3474720"/>
            <a:ext cx="4983480" cy="15544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Achievement &amp; recognition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Responsibility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work itself (interesting tasks)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Advancement &amp; personal growth</a:t>
            </a:r>
            <a:endParaRPr lang="en-US" sz="1250" dirty="0"/>
          </a:p>
        </p:txBody>
      </p:sp>
      <p:sp>
        <p:nvSpPr>
          <p:cNvPr id="16" name="Shape 14"/>
          <p:cNvSpPr/>
          <p:nvPr/>
        </p:nvSpPr>
        <p:spPr>
          <a:xfrm>
            <a:off x="548640" y="5212080"/>
            <a:ext cx="11091672" cy="960120"/>
          </a:xfrm>
          <a:prstGeom prst="roundRect">
            <a:avLst>
              <a:gd name="adj" fmla="val 7619"/>
            </a:avLst>
          </a:prstGeom>
          <a:solidFill>
            <a:srgbClr val="FBF0D8"/>
          </a:solidFill>
          <a:ln/>
          <a:effectLst>
            <a:outerShdw sx="100000" sy="100000" kx="0" ky="0" algn="bl" rotWithShape="0" blurRad="76200" dist="25400" dir="5400000">
              <a:srgbClr val="9AAAB0">
                <a:alpha val="28000"/>
              </a:srgbClr>
            </a:outerShdw>
          </a:effectLst>
        </p:spPr>
      </p:sp>
      <p:sp>
        <p:nvSpPr>
          <p:cNvPr id="17" name="Text 15"/>
          <p:cNvSpPr txBox="1"/>
          <p:nvPr/>
        </p:nvSpPr>
        <p:spPr>
          <a:xfrm>
            <a:off x="777240" y="5303520"/>
            <a:ext cx="10698480" cy="82296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The killer idea:  </a:t>
            </a:r>
            <a:pPr indent="0" marL="0">
              <a:buNone/>
            </a:pPr>
            <a:r>
              <a:rPr lang="en-US" sz="1250" dirty="0">
                <a:solidFill>
                  <a:srgbClr val="1F2A33"/>
                </a:solidFill>
                <a:latin typeface="Calibri" pitchFamily="34" charset="0"/>
                <a:ea typeface="Calibri" pitchFamily="34" charset="-122"/>
                <a:cs typeface="Calibri" pitchFamily="34" charset="-120"/>
              </a:rPr>
              <a:t>PAY is only a hygiene factor — it stops dissatisfaction but doesn't truly motivate. Real motivation comes from the job itself, which is why JOB ENRICHMENT (giving more responsibility and meaningful work) is Herzberg's practical answer. </a:t>
            </a:r>
            <a:pPr indent="0" marL="0">
              <a:buNone/>
            </a:pPr>
            <a:r>
              <a:rPr lang="en-US" sz="1250" i="1" dirty="0">
                <a:solidFill>
                  <a:srgbClr val="5B6B73"/>
                </a:solidFill>
                <a:latin typeface="Calibri" pitchFamily="34" charset="0"/>
                <a:ea typeface="Calibri" pitchFamily="34" charset="-122"/>
                <a:cs typeface="Calibri" pitchFamily="34" charset="-120"/>
              </a:rPr>
              <a:t>Limitation: not everyone agrees pay isn't a motivator.</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COMPARED</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four theories at a glance</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828800"/>
                <a:gridCol w="4114800"/>
                <a:gridCol w="5148072"/>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Theory</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idea</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How to motivate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777240">
                <a:tc>
                  <a:txBody>
                    <a:bodyPr/>
                    <a:lstStyle/>
                    <a:p>
                      <a:pPr algn="l" indent="0" marL="0">
                        <a:buNone/>
                      </a:pPr>
                      <a:r>
                        <a:rPr lang="en-US" sz="1300" b="1" dirty="0">
                          <a:solidFill>
                            <a:srgbClr val="0E7C86"/>
                          </a:solidFill>
                          <a:latin typeface="Calibri" pitchFamily="34" charset="0"/>
                          <a:ea typeface="Calibri" pitchFamily="34" charset="-122"/>
                          <a:cs typeface="Calibri" pitchFamily="34" charset="-120"/>
                        </a:rPr>
                        <a:t>Taylor</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Workers motivated by money</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Pay by results (piece-rate); efficiency</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77240">
                <a:tc>
                  <a:txBody>
                    <a:bodyPr/>
                    <a:lstStyle/>
                    <a:p>
                      <a:pPr algn="l" indent="0" marL="0">
                        <a:buNone/>
                      </a:pPr>
                      <a:r>
                        <a:rPr lang="en-US" sz="1300" b="1" dirty="0">
                          <a:solidFill>
                            <a:srgbClr val="E0940F"/>
                          </a:solidFill>
                          <a:latin typeface="Calibri" pitchFamily="34" charset="0"/>
                          <a:ea typeface="Calibri" pitchFamily="34" charset="-122"/>
                          <a:cs typeface="Calibri" pitchFamily="34" charset="-120"/>
                        </a:rPr>
                        <a:t>Mayo</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Workers motivated by social needs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Teamwork, communication, feeling valued</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22960">
                <a:tc>
                  <a:txBody>
                    <a:bodyPr/>
                    <a:lstStyle/>
                    <a:p>
                      <a:pPr algn="l" indent="0" marL="0">
                        <a:buNone/>
                      </a:pPr>
                      <a:r>
                        <a:rPr lang="en-US" sz="1300" b="1" dirty="0">
                          <a:solidFill>
                            <a:srgbClr val="2F8A5B"/>
                          </a:solidFill>
                          <a:latin typeface="Calibri" pitchFamily="34" charset="0"/>
                          <a:ea typeface="Calibri" pitchFamily="34" charset="-122"/>
                          <a:cs typeface="Calibri" pitchFamily="34" charset="-120"/>
                        </a:rPr>
                        <a:t>Maslow</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A hierarchy of five needs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Meet each level in turn, from pay to self-actualisation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822960">
                <a:tc>
                  <a:txBody>
                    <a:bodyPr/>
                    <a:lstStyle/>
                    <a:p>
                      <a:pPr algn="l" indent="0" marL="0">
                        <a:buNone/>
                      </a:pPr>
                      <a:r>
                        <a:rPr lang="en-US" sz="1300" b="1" dirty="0">
                          <a:solidFill>
                            <a:srgbClr val="6B4FA0"/>
                          </a:solidFill>
                          <a:latin typeface="Calibri" pitchFamily="34" charset="0"/>
                          <a:ea typeface="Calibri" pitchFamily="34" charset="-122"/>
                          <a:cs typeface="Calibri" pitchFamily="34" charset="-120"/>
                        </a:rPr>
                        <a:t>Herzberg</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Hygiene factors vs motivators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Fix hygiene (pay/conditions), then enrich the job</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166360"/>
            <a:ext cx="11091672" cy="1005840"/>
          </a:xfrm>
          <a:prstGeom prst="roundRect">
            <a:avLst>
              <a:gd name="adj" fmla="val 7273"/>
            </a:avLst>
          </a:prstGeom>
          <a:solidFill>
            <a:srgbClr val="FBF0D8"/>
          </a:solidFill>
          <a:ln/>
          <a:effectLst>
            <a:outerShdw sx="100000" sy="100000" kx="0" ky="0" algn="bl" rotWithShape="0" blurRad="76200" dist="25400" dir="5400000">
              <a:srgbClr val="9AAAB0">
                <a:alpha val="28000"/>
              </a:srgbClr>
            </a:outerShdw>
          </a:effectLst>
        </p:spPr>
      </p:sp>
      <p:sp>
        <p:nvSpPr>
          <p:cNvPr id="6" name="Text 3"/>
          <p:cNvSpPr txBox="1"/>
          <p:nvPr/>
        </p:nvSpPr>
        <p:spPr>
          <a:xfrm>
            <a:off x="777240" y="5276088"/>
            <a:ext cx="10698480" cy="82296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How to use them in the exam:  </a:t>
            </a:r>
            <a:pPr indent="0" marL="0">
              <a:buNone/>
            </a:pPr>
            <a:r>
              <a:rPr lang="en-US" sz="1250" dirty="0">
                <a:solidFill>
                  <a:srgbClr val="1F2A33"/>
                </a:solidFill>
                <a:latin typeface="Calibri" pitchFamily="34" charset="0"/>
                <a:ea typeface="Calibri" pitchFamily="34" charset="-122"/>
                <a:cs typeface="Calibri" pitchFamily="34" charset="-120"/>
              </a:rPr>
              <a:t>name a theory to JUSTIFY a method — e.g. ‘profit-share meets Maslow's esteem needs’, or ‘job enrichment works because of Herzberg's motivators’. The big debate (Taylor's money vs Herzberg's job itself) is the backbone of the 20-marker.</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Financial methods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five financial methods — piecework, commission, bonus, profit share, performance-related pay — with their pros &amp; cons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FINANCIAL METHODS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Paying for performance</a:t>
            </a:r>
            <a:endParaRPr lang="en-US" sz="2600" dirty="0"/>
          </a:p>
        </p:txBody>
      </p:sp>
      <p:sp>
        <p:nvSpPr>
          <p:cNvPr id="4" name="Shape 2"/>
          <p:cNvSpPr/>
          <p:nvPr/>
        </p:nvSpPr>
        <p:spPr>
          <a:xfrm>
            <a:off x="548640" y="1371600"/>
            <a:ext cx="3419856"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371600"/>
            <a:ext cx="3419856" cy="91440"/>
          </a:xfrm>
          <a:prstGeom prst="roundRect">
            <a:avLst/>
          </a:prstGeom>
          <a:solidFill>
            <a:srgbClr val="0E7C86"/>
          </a:solidFill>
          <a:ln/>
        </p:spPr>
      </p:sp>
      <p:sp>
        <p:nvSpPr>
          <p:cNvPr id="6" name="Text 4"/>
          <p:cNvSpPr txBox="1"/>
          <p:nvPr/>
        </p:nvSpPr>
        <p:spPr>
          <a:xfrm>
            <a:off x="731520" y="1536192"/>
            <a:ext cx="3054096" cy="329184"/>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Piecework (piece rate)</a:t>
            </a:r>
            <a:endParaRPr lang="en-US" sz="1300" dirty="0"/>
          </a:p>
        </p:txBody>
      </p:sp>
      <p:sp>
        <p:nvSpPr>
          <p:cNvPr id="7" name="Text 5"/>
          <p:cNvSpPr txBox="1"/>
          <p:nvPr/>
        </p:nvSpPr>
        <p:spPr>
          <a:xfrm>
            <a:off x="731520" y="1874520"/>
            <a:ext cx="3054096"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Paid per unit produced.</a:t>
            </a:r>
            <a:endParaRPr lang="en-US" sz="1080" dirty="0"/>
          </a:p>
        </p:txBody>
      </p:sp>
      <p:sp>
        <p:nvSpPr>
          <p:cNvPr id="8" name="Text 6"/>
          <p:cNvSpPr txBox="1"/>
          <p:nvPr/>
        </p:nvSpPr>
        <p:spPr>
          <a:xfrm>
            <a:off x="731520" y="2578608"/>
            <a:ext cx="3054096"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Encourages speed &amp; output</a:t>
            </a:r>
            <a:endParaRPr lang="en-US" sz="1030" dirty="0"/>
          </a:p>
        </p:txBody>
      </p:sp>
      <p:sp>
        <p:nvSpPr>
          <p:cNvPr id="9" name="Text 7"/>
          <p:cNvSpPr txBox="1"/>
          <p:nvPr/>
        </p:nvSpPr>
        <p:spPr>
          <a:xfrm>
            <a:off x="731520" y="3090672"/>
            <a:ext cx="3054096"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Quality may fall; unsuitable for services</a:t>
            </a:r>
            <a:endParaRPr lang="en-US" sz="1030" dirty="0"/>
          </a:p>
        </p:txBody>
      </p:sp>
      <p:sp>
        <p:nvSpPr>
          <p:cNvPr id="10" name="Shape 8"/>
          <p:cNvSpPr/>
          <p:nvPr/>
        </p:nvSpPr>
        <p:spPr>
          <a:xfrm>
            <a:off x="4133088" y="1371600"/>
            <a:ext cx="3419856"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Shape 9"/>
          <p:cNvSpPr/>
          <p:nvPr/>
        </p:nvSpPr>
        <p:spPr>
          <a:xfrm>
            <a:off x="4133088" y="1371600"/>
            <a:ext cx="3419856" cy="91440"/>
          </a:xfrm>
          <a:prstGeom prst="roundRect">
            <a:avLst/>
          </a:prstGeom>
          <a:solidFill>
            <a:srgbClr val="E0940F"/>
          </a:solidFill>
          <a:ln/>
        </p:spPr>
      </p:sp>
      <p:sp>
        <p:nvSpPr>
          <p:cNvPr id="12" name="Text 10"/>
          <p:cNvSpPr txBox="1"/>
          <p:nvPr/>
        </p:nvSpPr>
        <p:spPr>
          <a:xfrm>
            <a:off x="4315968" y="1536192"/>
            <a:ext cx="3054096" cy="329184"/>
          </a:xfrm>
          <a:prstGeom prst="rect">
            <a:avLst/>
          </a:prstGeom>
          <a:noFill/>
          <a:ln/>
        </p:spPr>
        <p:txBody>
          <a:bodyPr wrap="square" lIns="0" tIns="0" rIns="0" bIns="0" rtlCol="0" anchor="ctr"/>
          <a:lstStyle/>
          <a:p>
            <a:pPr indent="0" marL="0">
              <a:buNone/>
            </a:pPr>
            <a:r>
              <a:rPr lang="en-US" sz="1300" b="1" dirty="0">
                <a:solidFill>
                  <a:srgbClr val="E0940F"/>
                </a:solidFill>
                <a:latin typeface="Calibri" pitchFamily="34" charset="0"/>
                <a:ea typeface="Calibri" pitchFamily="34" charset="-122"/>
                <a:cs typeface="Calibri" pitchFamily="34" charset="-120"/>
              </a:rPr>
              <a:t>Commission</a:t>
            </a:r>
            <a:endParaRPr lang="en-US" sz="1300" dirty="0"/>
          </a:p>
        </p:txBody>
      </p:sp>
      <p:sp>
        <p:nvSpPr>
          <p:cNvPr id="13" name="Text 11"/>
          <p:cNvSpPr txBox="1"/>
          <p:nvPr/>
        </p:nvSpPr>
        <p:spPr>
          <a:xfrm>
            <a:off x="4315968" y="1874520"/>
            <a:ext cx="3054096"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Paid a % for each sale made.</a:t>
            </a:r>
            <a:endParaRPr lang="en-US" sz="1080" dirty="0"/>
          </a:p>
        </p:txBody>
      </p:sp>
      <p:sp>
        <p:nvSpPr>
          <p:cNvPr id="14" name="Text 12"/>
          <p:cNvSpPr txBox="1"/>
          <p:nvPr/>
        </p:nvSpPr>
        <p:spPr>
          <a:xfrm>
            <a:off x="4315968" y="2578608"/>
            <a:ext cx="3054096"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Strongly motivates selling</a:t>
            </a:r>
            <a:endParaRPr lang="en-US" sz="1030" dirty="0"/>
          </a:p>
        </p:txBody>
      </p:sp>
      <p:sp>
        <p:nvSpPr>
          <p:cNvPr id="15" name="Text 13"/>
          <p:cNvSpPr txBox="1"/>
          <p:nvPr/>
        </p:nvSpPr>
        <p:spPr>
          <a:xfrm>
            <a:off x="4315968" y="3090672"/>
            <a:ext cx="3054096"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Can push hard-selling; income insecurity</a:t>
            </a:r>
            <a:endParaRPr lang="en-US" sz="1030" dirty="0"/>
          </a:p>
        </p:txBody>
      </p:sp>
      <p:sp>
        <p:nvSpPr>
          <p:cNvPr id="16" name="Shape 14"/>
          <p:cNvSpPr/>
          <p:nvPr/>
        </p:nvSpPr>
        <p:spPr>
          <a:xfrm>
            <a:off x="7717536" y="1371600"/>
            <a:ext cx="3419856"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7717536" y="1371600"/>
            <a:ext cx="3419856" cy="91440"/>
          </a:xfrm>
          <a:prstGeom prst="roundRect">
            <a:avLst/>
          </a:prstGeom>
          <a:solidFill>
            <a:srgbClr val="2F8A5B"/>
          </a:solidFill>
          <a:ln/>
        </p:spPr>
      </p:sp>
      <p:sp>
        <p:nvSpPr>
          <p:cNvPr id="18" name="Text 16"/>
          <p:cNvSpPr txBox="1"/>
          <p:nvPr/>
        </p:nvSpPr>
        <p:spPr>
          <a:xfrm>
            <a:off x="7900416" y="1536192"/>
            <a:ext cx="3054096" cy="329184"/>
          </a:xfrm>
          <a:prstGeom prst="rect">
            <a:avLst/>
          </a:prstGeom>
          <a:noFill/>
          <a:ln/>
        </p:spPr>
        <p:txBody>
          <a:bodyPr wrap="square" lIns="0" tIns="0" rIns="0" bIns="0" rtlCol="0" anchor="ctr"/>
          <a:lstStyle/>
          <a:p>
            <a:pPr indent="0" marL="0">
              <a:buNone/>
            </a:pPr>
            <a:r>
              <a:rPr lang="en-US" sz="1300" b="1" dirty="0">
                <a:solidFill>
                  <a:srgbClr val="2F8A5B"/>
                </a:solidFill>
                <a:latin typeface="Calibri" pitchFamily="34" charset="0"/>
                <a:ea typeface="Calibri" pitchFamily="34" charset="-122"/>
                <a:cs typeface="Calibri" pitchFamily="34" charset="-120"/>
              </a:rPr>
              <a:t>Bonus</a:t>
            </a:r>
            <a:endParaRPr lang="en-US" sz="1300" dirty="0"/>
          </a:p>
        </p:txBody>
      </p:sp>
      <p:sp>
        <p:nvSpPr>
          <p:cNvPr id="19" name="Text 17"/>
          <p:cNvSpPr txBox="1"/>
          <p:nvPr/>
        </p:nvSpPr>
        <p:spPr>
          <a:xfrm>
            <a:off x="7900416" y="1874520"/>
            <a:ext cx="3054096"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A lump sum for hitting a target.</a:t>
            </a:r>
            <a:endParaRPr lang="en-US" sz="1080" dirty="0"/>
          </a:p>
        </p:txBody>
      </p:sp>
      <p:sp>
        <p:nvSpPr>
          <p:cNvPr id="20" name="Text 18"/>
          <p:cNvSpPr txBox="1"/>
          <p:nvPr/>
        </p:nvSpPr>
        <p:spPr>
          <a:xfrm>
            <a:off x="7900416" y="2578608"/>
            <a:ext cx="3054096"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Flexible incentive; rewards results</a:t>
            </a:r>
            <a:endParaRPr lang="en-US" sz="1030" dirty="0"/>
          </a:p>
        </p:txBody>
      </p:sp>
      <p:sp>
        <p:nvSpPr>
          <p:cNvPr id="21" name="Text 19"/>
          <p:cNvSpPr txBox="1"/>
          <p:nvPr/>
        </p:nvSpPr>
        <p:spPr>
          <a:xfrm>
            <a:off x="7900416" y="3090672"/>
            <a:ext cx="3054096"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Can drive short-termism (Barclays PPI)</a:t>
            </a:r>
            <a:endParaRPr lang="en-US" sz="1030" dirty="0"/>
          </a:p>
        </p:txBody>
      </p:sp>
      <p:sp>
        <p:nvSpPr>
          <p:cNvPr id="22" name="Shape 20"/>
          <p:cNvSpPr/>
          <p:nvPr/>
        </p:nvSpPr>
        <p:spPr>
          <a:xfrm>
            <a:off x="2331720" y="3794760"/>
            <a:ext cx="3419856"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3" name="Shape 21"/>
          <p:cNvSpPr/>
          <p:nvPr/>
        </p:nvSpPr>
        <p:spPr>
          <a:xfrm>
            <a:off x="2331720" y="3794760"/>
            <a:ext cx="3419856" cy="91440"/>
          </a:xfrm>
          <a:prstGeom prst="roundRect">
            <a:avLst/>
          </a:prstGeom>
          <a:solidFill>
            <a:srgbClr val="6B4FA0"/>
          </a:solidFill>
          <a:ln/>
        </p:spPr>
      </p:sp>
      <p:sp>
        <p:nvSpPr>
          <p:cNvPr id="24" name="Text 22"/>
          <p:cNvSpPr txBox="1"/>
          <p:nvPr/>
        </p:nvSpPr>
        <p:spPr>
          <a:xfrm>
            <a:off x="2514600" y="3959352"/>
            <a:ext cx="3054096" cy="329184"/>
          </a:xfrm>
          <a:prstGeom prst="rect">
            <a:avLst/>
          </a:prstGeom>
          <a:noFill/>
          <a:ln/>
        </p:spPr>
        <p:txBody>
          <a:bodyPr wrap="square" lIns="0" tIns="0" rIns="0" bIns="0" rtlCol="0" anchor="ctr"/>
          <a:lstStyle/>
          <a:p>
            <a:pPr indent="0" marL="0">
              <a:buNone/>
            </a:pPr>
            <a:r>
              <a:rPr lang="en-US" sz="1300" b="1" dirty="0">
                <a:solidFill>
                  <a:srgbClr val="6B4FA0"/>
                </a:solidFill>
                <a:latin typeface="Calibri" pitchFamily="34" charset="0"/>
                <a:ea typeface="Calibri" pitchFamily="34" charset="-122"/>
                <a:cs typeface="Calibri" pitchFamily="34" charset="-120"/>
              </a:rPr>
              <a:t>Profit share</a:t>
            </a:r>
            <a:endParaRPr lang="en-US" sz="1300" dirty="0"/>
          </a:p>
        </p:txBody>
      </p:sp>
      <p:sp>
        <p:nvSpPr>
          <p:cNvPr id="25" name="Text 23"/>
          <p:cNvSpPr txBox="1"/>
          <p:nvPr/>
        </p:nvSpPr>
        <p:spPr>
          <a:xfrm>
            <a:off x="2514600" y="4297680"/>
            <a:ext cx="3054096"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Employees get a share of profits.</a:t>
            </a:r>
            <a:endParaRPr lang="en-US" sz="1080" dirty="0"/>
          </a:p>
        </p:txBody>
      </p:sp>
      <p:sp>
        <p:nvSpPr>
          <p:cNvPr id="26" name="Text 24"/>
          <p:cNvSpPr txBox="1"/>
          <p:nvPr/>
        </p:nvSpPr>
        <p:spPr>
          <a:xfrm>
            <a:off x="2514600" y="5001768"/>
            <a:ext cx="3054096"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Aligns staff with firm's success; loyalty</a:t>
            </a:r>
            <a:endParaRPr lang="en-US" sz="1030" dirty="0"/>
          </a:p>
        </p:txBody>
      </p:sp>
      <p:sp>
        <p:nvSpPr>
          <p:cNvPr id="27" name="Text 25"/>
          <p:cNvSpPr txBox="1"/>
          <p:nvPr/>
        </p:nvSpPr>
        <p:spPr>
          <a:xfrm>
            <a:off x="2514600" y="5513832"/>
            <a:ext cx="3054096"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Varies with profit; weak individual link</a:t>
            </a:r>
            <a:endParaRPr lang="en-US" sz="1030" dirty="0"/>
          </a:p>
        </p:txBody>
      </p:sp>
      <p:sp>
        <p:nvSpPr>
          <p:cNvPr id="28" name="Shape 26"/>
          <p:cNvSpPr/>
          <p:nvPr/>
        </p:nvSpPr>
        <p:spPr>
          <a:xfrm>
            <a:off x="5916168" y="3794760"/>
            <a:ext cx="3419856"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9" name="Shape 27"/>
          <p:cNvSpPr/>
          <p:nvPr/>
        </p:nvSpPr>
        <p:spPr>
          <a:xfrm>
            <a:off x="5916168" y="3794760"/>
            <a:ext cx="3419856" cy="91440"/>
          </a:xfrm>
          <a:prstGeom prst="roundRect">
            <a:avLst/>
          </a:prstGeom>
          <a:solidFill>
            <a:srgbClr val="C14B37"/>
          </a:solidFill>
          <a:ln/>
        </p:spPr>
      </p:sp>
      <p:sp>
        <p:nvSpPr>
          <p:cNvPr id="30" name="Text 28"/>
          <p:cNvSpPr txBox="1"/>
          <p:nvPr/>
        </p:nvSpPr>
        <p:spPr>
          <a:xfrm>
            <a:off x="6099048" y="3959352"/>
            <a:ext cx="3054096" cy="329184"/>
          </a:xfrm>
          <a:prstGeom prst="rect">
            <a:avLst/>
          </a:prstGeom>
          <a:noFill/>
          <a:ln/>
        </p:spPr>
        <p:txBody>
          <a:bodyPr wrap="square" lIns="0" tIns="0" rIns="0" bIns="0" rtlCol="0" anchor="ctr"/>
          <a:lstStyle/>
          <a:p>
            <a:pPr indent="0" marL="0">
              <a:buNone/>
            </a:pPr>
            <a:r>
              <a:rPr lang="en-US" sz="1300" b="1" dirty="0">
                <a:solidFill>
                  <a:srgbClr val="C14B37"/>
                </a:solidFill>
                <a:latin typeface="Calibri" pitchFamily="34" charset="0"/>
                <a:ea typeface="Calibri" pitchFamily="34" charset="-122"/>
                <a:cs typeface="Calibri" pitchFamily="34" charset="-120"/>
              </a:rPr>
              <a:t>Performance-related pay</a:t>
            </a:r>
            <a:endParaRPr lang="en-US" sz="1300" dirty="0"/>
          </a:p>
        </p:txBody>
      </p:sp>
      <p:sp>
        <p:nvSpPr>
          <p:cNvPr id="31" name="Text 29"/>
          <p:cNvSpPr txBox="1"/>
          <p:nvPr/>
        </p:nvSpPr>
        <p:spPr>
          <a:xfrm>
            <a:off x="6099048" y="4297680"/>
            <a:ext cx="3054096"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Pay rises linked to appraised performance.</a:t>
            </a:r>
            <a:endParaRPr lang="en-US" sz="1080" dirty="0"/>
          </a:p>
        </p:txBody>
      </p:sp>
      <p:sp>
        <p:nvSpPr>
          <p:cNvPr id="32" name="Text 30"/>
          <p:cNvSpPr txBox="1"/>
          <p:nvPr/>
        </p:nvSpPr>
        <p:spPr>
          <a:xfrm>
            <a:off x="6099048" y="5001768"/>
            <a:ext cx="3054096"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Rewards &amp; retains good performers</a:t>
            </a:r>
            <a:endParaRPr lang="en-US" sz="1030" dirty="0"/>
          </a:p>
        </p:txBody>
      </p:sp>
      <p:sp>
        <p:nvSpPr>
          <p:cNvPr id="33" name="Text 31"/>
          <p:cNvSpPr txBox="1"/>
          <p:nvPr/>
        </p:nvSpPr>
        <p:spPr>
          <a:xfrm>
            <a:off x="6099048" y="5513832"/>
            <a:ext cx="3054096"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Subjective; can divide &amp; demotivate staff</a:t>
            </a:r>
            <a:endParaRPr lang="en-US" sz="103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EXAM PRACTICE</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Exam practice: profit share (Emirates)</a:t>
            </a:r>
            <a:endParaRPr lang="en-US" sz="26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5486400" cy="274320"/>
          </a:xfrm>
          <a:prstGeom prst="rect">
            <a:avLst/>
          </a:prstGeom>
          <a:noFill/>
          <a:ln/>
        </p:spPr>
        <p:txBody>
          <a:bodyPr wrap="square" lIns="0" tIns="0" rIns="0" bIns="0" rtlCol="0" anchor="ctr"/>
          <a:lstStyle/>
          <a:p>
            <a:pPr indent="0" marL="0">
              <a:buNone/>
            </a:pPr>
            <a:r>
              <a:rPr lang="en-US" sz="1100" b="1" spc="150" kern="0" dirty="0">
                <a:solidFill>
                  <a:srgbClr val="7FC4CB"/>
                </a:solidFill>
                <a:latin typeface="Calibri" pitchFamily="34" charset="0"/>
                <a:ea typeface="Calibri" pitchFamily="34" charset="-122"/>
                <a:cs typeface="Calibri" pitchFamily="34" charset="-120"/>
              </a:rPr>
              <a:t>EXAM QUESTIONS</a:t>
            </a:r>
            <a:endParaRPr lang="en-US" sz="1100" dirty="0"/>
          </a:p>
        </p:txBody>
      </p:sp>
      <p:sp>
        <p:nvSpPr>
          <p:cNvPr id="6" name="Text 4"/>
          <p:cNvSpPr txBox="1"/>
          <p:nvPr/>
        </p:nvSpPr>
        <p:spPr>
          <a:xfrm>
            <a:off x="777240" y="1792224"/>
            <a:ext cx="10607040" cy="13258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Assess the benefits to Emirates of using profit-share bonuses with their employees.  </a:t>
            </a:r>
            <a:pPr indent="0" marL="0">
              <a:spcAft>
                <a:spcPts val="600"/>
              </a:spcAft>
              <a:buNone/>
            </a:pPr>
            <a:r>
              <a:rPr lang="en-US" sz="1300" b="1" dirty="0">
                <a:solidFill>
                  <a:srgbClr val="E0940F"/>
                </a:solidFill>
                <a:latin typeface="Calibri" pitchFamily="34" charset="0"/>
                <a:ea typeface="Calibri" pitchFamily="34" charset="-122"/>
                <a:cs typeface="Calibri" pitchFamily="34" charset="-120"/>
              </a:rPr>
              <a:t>[10]</a:t>
            </a:r>
            <a:endParaRPr lang="en-US" sz="1300" dirty="0"/>
          </a:p>
        </p:txBody>
      </p:sp>
      <p:sp>
        <p:nvSpPr>
          <p:cNvPr id="7" name="Shape 5"/>
          <p:cNvSpPr/>
          <p:nvPr/>
        </p:nvSpPr>
        <p:spPr>
          <a:xfrm>
            <a:off x="548640" y="3364992"/>
            <a:ext cx="5029200" cy="2834640"/>
          </a:xfrm>
          <a:prstGeom prst="roundRect">
            <a:avLst>
              <a:gd name="adj" fmla="val 2581"/>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3474720"/>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What the question is testing</a:t>
            </a:r>
            <a:endParaRPr lang="en-US" sz="1300" dirty="0"/>
          </a:p>
        </p:txBody>
      </p:sp>
      <p:sp>
        <p:nvSpPr>
          <p:cNvPr id="9" name="Text 7"/>
          <p:cNvSpPr txBox="1"/>
          <p:nvPr/>
        </p:nvSpPr>
        <p:spPr>
          <a:xfrm>
            <a:off x="749808" y="3840480"/>
            <a:ext cx="461772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10-mark Assess: weigh the benefits of profit-share against its limits, with a supported judgement.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Apply the case: record 20-week profit-share payout; service-based airline reliant on staff.</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Bring in theory — Herzberg (hygiene), Maslow (esteem) — for synoptic depth.</a:t>
            </a:r>
            <a:endParaRPr lang="en-US" sz="1250" dirty="0"/>
          </a:p>
        </p:txBody>
      </p:sp>
      <p:sp>
        <p:nvSpPr>
          <p:cNvPr id="10" name="Shape 8"/>
          <p:cNvSpPr/>
          <p:nvPr/>
        </p:nvSpPr>
        <p:spPr>
          <a:xfrm>
            <a:off x="5788152" y="3364992"/>
            <a:ext cx="5852160" cy="2834640"/>
          </a:xfrm>
          <a:prstGeom prst="roundRect">
            <a:avLst>
              <a:gd name="adj" fmla="val 2581"/>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3474720"/>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(10-mark template)</a:t>
            </a:r>
            <a:endParaRPr lang="en-US" sz="1300" dirty="0"/>
          </a:p>
        </p:txBody>
      </p:sp>
      <p:sp>
        <p:nvSpPr>
          <p:cNvPr id="12" name="Text 10"/>
          <p:cNvSpPr txBox="1"/>
          <p:nvPr/>
        </p:nvSpPr>
        <p:spPr>
          <a:xfrm>
            <a:off x="5989320" y="3840480"/>
            <a:ext cx="5440680" cy="22402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¶1 (benefit): profit-share links reward to company success → staff feel valued (Maslow esteem) &amp; motivated → better customer service → loyalty &amp; repeat business; aids retention of experienced staff.</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¶2 (limit): bonuses depend on profit, so vary year to year → inconsistent motivation; high payouts raise expectations that are hard to meet in weak years.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Conclusion (4Ws): valuable for motivation, loyalty &amp; recruitment in a service industry, but depends on managing expectations and clear communication about the variable nature of the payout.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D</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D</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Non-financial methods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delegation, consultation, empowerment &amp; team working  ·  flexible working  ·  job enrichment, rotation &amp; enlargement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NON-FINANCIAL (1)</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Delegation · consultation · empowerment · team working</a:t>
            </a:r>
            <a:endParaRPr lang="en-US" sz="2600" dirty="0"/>
          </a:p>
        </p:txBody>
      </p:sp>
      <p:sp>
        <p:nvSpPr>
          <p:cNvPr id="4" name="Shape 2"/>
          <p:cNvSpPr/>
          <p:nvPr/>
        </p:nvSpPr>
        <p:spPr>
          <a:xfrm>
            <a:off x="548640" y="1371600"/>
            <a:ext cx="2679192"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371600"/>
            <a:ext cx="2679192" cy="91440"/>
          </a:xfrm>
          <a:prstGeom prst="roundRect">
            <a:avLst/>
          </a:prstGeom>
          <a:solidFill>
            <a:srgbClr val="0E7C86"/>
          </a:solidFill>
          <a:ln/>
        </p:spPr>
      </p:sp>
      <p:sp>
        <p:nvSpPr>
          <p:cNvPr id="6" name="Text 4"/>
          <p:cNvSpPr txBox="1"/>
          <p:nvPr/>
        </p:nvSpPr>
        <p:spPr>
          <a:xfrm>
            <a:off x="731520" y="1536192"/>
            <a:ext cx="2313432" cy="329184"/>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Delegation</a:t>
            </a:r>
            <a:endParaRPr lang="en-US" sz="1300" dirty="0"/>
          </a:p>
        </p:txBody>
      </p:sp>
      <p:sp>
        <p:nvSpPr>
          <p:cNvPr id="7" name="Text 5"/>
          <p:cNvSpPr txBox="1"/>
          <p:nvPr/>
        </p:nvSpPr>
        <p:spPr>
          <a:xfrm>
            <a:off x="731520" y="1874520"/>
            <a:ext cx="2313432"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Giving subordinates authority &amp; responsibility for tasks.</a:t>
            </a:r>
            <a:endParaRPr lang="en-US" sz="1080" dirty="0"/>
          </a:p>
        </p:txBody>
      </p:sp>
      <p:sp>
        <p:nvSpPr>
          <p:cNvPr id="8" name="Text 6"/>
          <p:cNvSpPr txBox="1"/>
          <p:nvPr/>
        </p:nvSpPr>
        <p:spPr>
          <a:xfrm>
            <a:off x="731520" y="2578608"/>
            <a:ext cx="2313432"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Builds trust &amp; esteem; develops staff</a:t>
            </a:r>
            <a:endParaRPr lang="en-US" sz="1030" dirty="0"/>
          </a:p>
        </p:txBody>
      </p:sp>
      <p:sp>
        <p:nvSpPr>
          <p:cNvPr id="9" name="Text 7"/>
          <p:cNvSpPr txBox="1"/>
          <p:nvPr/>
        </p:nvSpPr>
        <p:spPr>
          <a:xfrm>
            <a:off x="731520" y="3090672"/>
            <a:ext cx="2313432"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Risk if the person lacks skill/experience</a:t>
            </a:r>
            <a:endParaRPr lang="en-US" sz="1030" dirty="0"/>
          </a:p>
        </p:txBody>
      </p:sp>
      <p:sp>
        <p:nvSpPr>
          <p:cNvPr id="10" name="Shape 8"/>
          <p:cNvSpPr/>
          <p:nvPr/>
        </p:nvSpPr>
        <p:spPr>
          <a:xfrm>
            <a:off x="3319272" y="1371600"/>
            <a:ext cx="2679192"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Shape 9"/>
          <p:cNvSpPr/>
          <p:nvPr/>
        </p:nvSpPr>
        <p:spPr>
          <a:xfrm>
            <a:off x="3319272" y="1371600"/>
            <a:ext cx="2679192" cy="91440"/>
          </a:xfrm>
          <a:prstGeom prst="roundRect">
            <a:avLst/>
          </a:prstGeom>
          <a:solidFill>
            <a:srgbClr val="E0940F"/>
          </a:solidFill>
          <a:ln/>
        </p:spPr>
      </p:sp>
      <p:sp>
        <p:nvSpPr>
          <p:cNvPr id="12" name="Text 10"/>
          <p:cNvSpPr txBox="1"/>
          <p:nvPr/>
        </p:nvSpPr>
        <p:spPr>
          <a:xfrm>
            <a:off x="3502152" y="1536192"/>
            <a:ext cx="2313432" cy="329184"/>
          </a:xfrm>
          <a:prstGeom prst="rect">
            <a:avLst/>
          </a:prstGeom>
          <a:noFill/>
          <a:ln/>
        </p:spPr>
        <p:txBody>
          <a:bodyPr wrap="square" lIns="0" tIns="0" rIns="0" bIns="0" rtlCol="0" anchor="ctr"/>
          <a:lstStyle/>
          <a:p>
            <a:pPr indent="0" marL="0">
              <a:buNone/>
            </a:pPr>
            <a:r>
              <a:rPr lang="en-US" sz="1300" b="1" dirty="0">
                <a:solidFill>
                  <a:srgbClr val="E0940F"/>
                </a:solidFill>
                <a:latin typeface="Calibri" pitchFamily="34" charset="0"/>
                <a:ea typeface="Calibri" pitchFamily="34" charset="-122"/>
                <a:cs typeface="Calibri" pitchFamily="34" charset="-120"/>
              </a:rPr>
              <a:t>Consultation</a:t>
            </a:r>
            <a:endParaRPr lang="en-US" sz="1300" dirty="0"/>
          </a:p>
        </p:txBody>
      </p:sp>
      <p:sp>
        <p:nvSpPr>
          <p:cNvPr id="13" name="Text 11"/>
          <p:cNvSpPr txBox="1"/>
          <p:nvPr/>
        </p:nvSpPr>
        <p:spPr>
          <a:xfrm>
            <a:off x="3502152" y="1874520"/>
            <a:ext cx="2313432"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Asking employees' views before making decisions.</a:t>
            </a:r>
            <a:endParaRPr lang="en-US" sz="1080" dirty="0"/>
          </a:p>
        </p:txBody>
      </p:sp>
      <p:sp>
        <p:nvSpPr>
          <p:cNvPr id="14" name="Text 12"/>
          <p:cNvSpPr txBox="1"/>
          <p:nvPr/>
        </p:nvSpPr>
        <p:spPr>
          <a:xfrm>
            <a:off x="3502152" y="2578608"/>
            <a:ext cx="2313432"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Staff feel valued; better decisions</a:t>
            </a:r>
            <a:endParaRPr lang="en-US" sz="1030" dirty="0"/>
          </a:p>
        </p:txBody>
      </p:sp>
      <p:sp>
        <p:nvSpPr>
          <p:cNvPr id="15" name="Text 13"/>
          <p:cNvSpPr txBox="1"/>
          <p:nvPr/>
        </p:nvSpPr>
        <p:spPr>
          <a:xfrm>
            <a:off x="3502152" y="3090672"/>
            <a:ext cx="2313432"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Slower; can raise expectations</a:t>
            </a:r>
            <a:endParaRPr lang="en-US" sz="1030" dirty="0"/>
          </a:p>
        </p:txBody>
      </p:sp>
      <p:sp>
        <p:nvSpPr>
          <p:cNvPr id="16" name="Shape 14"/>
          <p:cNvSpPr/>
          <p:nvPr/>
        </p:nvSpPr>
        <p:spPr>
          <a:xfrm>
            <a:off x="6089904" y="1371600"/>
            <a:ext cx="2679192"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6089904" y="1371600"/>
            <a:ext cx="2679192" cy="91440"/>
          </a:xfrm>
          <a:prstGeom prst="roundRect">
            <a:avLst/>
          </a:prstGeom>
          <a:solidFill>
            <a:srgbClr val="2F8A5B"/>
          </a:solidFill>
          <a:ln/>
        </p:spPr>
      </p:sp>
      <p:sp>
        <p:nvSpPr>
          <p:cNvPr id="18" name="Text 16"/>
          <p:cNvSpPr txBox="1"/>
          <p:nvPr/>
        </p:nvSpPr>
        <p:spPr>
          <a:xfrm>
            <a:off x="6272784" y="1536192"/>
            <a:ext cx="2313432" cy="329184"/>
          </a:xfrm>
          <a:prstGeom prst="rect">
            <a:avLst/>
          </a:prstGeom>
          <a:noFill/>
          <a:ln/>
        </p:spPr>
        <p:txBody>
          <a:bodyPr wrap="square" lIns="0" tIns="0" rIns="0" bIns="0" rtlCol="0" anchor="ctr"/>
          <a:lstStyle/>
          <a:p>
            <a:pPr indent="0" marL="0">
              <a:buNone/>
            </a:pPr>
            <a:r>
              <a:rPr lang="en-US" sz="1300" b="1" dirty="0">
                <a:solidFill>
                  <a:srgbClr val="2F8A5B"/>
                </a:solidFill>
                <a:latin typeface="Calibri" pitchFamily="34" charset="0"/>
                <a:ea typeface="Calibri" pitchFamily="34" charset="-122"/>
                <a:cs typeface="Calibri" pitchFamily="34" charset="-120"/>
              </a:rPr>
              <a:t>Empowerment</a:t>
            </a:r>
            <a:endParaRPr lang="en-US" sz="1300" dirty="0"/>
          </a:p>
        </p:txBody>
      </p:sp>
      <p:sp>
        <p:nvSpPr>
          <p:cNvPr id="19" name="Text 17"/>
          <p:cNvSpPr txBox="1"/>
          <p:nvPr/>
        </p:nvSpPr>
        <p:spPr>
          <a:xfrm>
            <a:off x="6272784" y="1874520"/>
            <a:ext cx="2313432"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Giving staff control over how they do their work.</a:t>
            </a:r>
            <a:endParaRPr lang="en-US" sz="1080" dirty="0"/>
          </a:p>
        </p:txBody>
      </p:sp>
      <p:sp>
        <p:nvSpPr>
          <p:cNvPr id="20" name="Text 18"/>
          <p:cNvSpPr txBox="1"/>
          <p:nvPr/>
        </p:nvSpPr>
        <p:spPr>
          <a:xfrm>
            <a:off x="6272784" y="2578608"/>
            <a:ext cx="2313432"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Autonomy &amp; esteem (Maslow/Herzberg)</a:t>
            </a:r>
            <a:endParaRPr lang="en-US" sz="1030" dirty="0"/>
          </a:p>
        </p:txBody>
      </p:sp>
      <p:sp>
        <p:nvSpPr>
          <p:cNvPr id="21" name="Text 19"/>
          <p:cNvSpPr txBox="1"/>
          <p:nvPr/>
        </p:nvSpPr>
        <p:spPr>
          <a:xfrm>
            <a:off x="6272784" y="3090672"/>
            <a:ext cx="2313432"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Needs trust, training &amp; support</a:t>
            </a:r>
            <a:endParaRPr lang="en-US" sz="1030" dirty="0"/>
          </a:p>
        </p:txBody>
      </p:sp>
      <p:sp>
        <p:nvSpPr>
          <p:cNvPr id="22" name="Shape 20"/>
          <p:cNvSpPr/>
          <p:nvPr/>
        </p:nvSpPr>
        <p:spPr>
          <a:xfrm>
            <a:off x="8860536" y="1371600"/>
            <a:ext cx="2679192"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3" name="Shape 21"/>
          <p:cNvSpPr/>
          <p:nvPr/>
        </p:nvSpPr>
        <p:spPr>
          <a:xfrm>
            <a:off x="8860536" y="1371600"/>
            <a:ext cx="2679192" cy="91440"/>
          </a:xfrm>
          <a:prstGeom prst="roundRect">
            <a:avLst/>
          </a:prstGeom>
          <a:solidFill>
            <a:srgbClr val="6B4FA0"/>
          </a:solidFill>
          <a:ln/>
        </p:spPr>
      </p:sp>
      <p:sp>
        <p:nvSpPr>
          <p:cNvPr id="24" name="Text 22"/>
          <p:cNvSpPr txBox="1"/>
          <p:nvPr/>
        </p:nvSpPr>
        <p:spPr>
          <a:xfrm>
            <a:off x="9043416" y="1536192"/>
            <a:ext cx="2313432" cy="329184"/>
          </a:xfrm>
          <a:prstGeom prst="rect">
            <a:avLst/>
          </a:prstGeom>
          <a:noFill/>
          <a:ln/>
        </p:spPr>
        <p:txBody>
          <a:bodyPr wrap="square" lIns="0" tIns="0" rIns="0" bIns="0" rtlCol="0" anchor="ctr"/>
          <a:lstStyle/>
          <a:p>
            <a:pPr indent="0" marL="0">
              <a:buNone/>
            </a:pPr>
            <a:r>
              <a:rPr lang="en-US" sz="1300" b="1" dirty="0">
                <a:solidFill>
                  <a:srgbClr val="6B4FA0"/>
                </a:solidFill>
                <a:latin typeface="Calibri" pitchFamily="34" charset="0"/>
                <a:ea typeface="Calibri" pitchFamily="34" charset="-122"/>
                <a:cs typeface="Calibri" pitchFamily="34" charset="-120"/>
              </a:rPr>
              <a:t>Team working</a:t>
            </a:r>
            <a:endParaRPr lang="en-US" sz="1300" dirty="0"/>
          </a:p>
        </p:txBody>
      </p:sp>
      <p:sp>
        <p:nvSpPr>
          <p:cNvPr id="25" name="Text 23"/>
          <p:cNvSpPr txBox="1"/>
          <p:nvPr/>
        </p:nvSpPr>
        <p:spPr>
          <a:xfrm>
            <a:off x="9043416" y="1874520"/>
            <a:ext cx="2313432"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Organising staff into teams to work together.</a:t>
            </a:r>
            <a:endParaRPr lang="en-US" sz="1080" dirty="0"/>
          </a:p>
        </p:txBody>
      </p:sp>
      <p:sp>
        <p:nvSpPr>
          <p:cNvPr id="26" name="Text 24"/>
          <p:cNvSpPr txBox="1"/>
          <p:nvPr/>
        </p:nvSpPr>
        <p:spPr>
          <a:xfrm>
            <a:off x="9043416" y="2578608"/>
            <a:ext cx="2313432"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Meets Mayo's social needs; shares ideas</a:t>
            </a:r>
            <a:endParaRPr lang="en-US" sz="1030" dirty="0"/>
          </a:p>
        </p:txBody>
      </p:sp>
      <p:sp>
        <p:nvSpPr>
          <p:cNvPr id="27" name="Text 25"/>
          <p:cNvSpPr txBox="1"/>
          <p:nvPr/>
        </p:nvSpPr>
        <p:spPr>
          <a:xfrm>
            <a:off x="9043416" y="3090672"/>
            <a:ext cx="2313432"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Conflict; ‘free-riders’ who coast</a:t>
            </a:r>
            <a:endParaRPr lang="en-US" sz="1030" dirty="0"/>
          </a:p>
        </p:txBody>
      </p:sp>
      <p:sp>
        <p:nvSpPr>
          <p:cNvPr id="28" name="Shape 26"/>
          <p:cNvSpPr/>
          <p:nvPr/>
        </p:nvSpPr>
        <p:spPr>
          <a:xfrm>
            <a:off x="548640" y="3931920"/>
            <a:ext cx="11091672" cy="1828800"/>
          </a:xfrm>
          <a:prstGeom prst="roundRect">
            <a:avLst>
              <a:gd name="adj" fmla="val 4000"/>
            </a:avLst>
          </a:prstGeom>
          <a:solidFill>
            <a:srgbClr val="EAF3F4"/>
          </a:solidFill>
          <a:ln/>
          <a:effectLst>
            <a:outerShdw sx="100000" sy="100000" kx="0" ky="0" algn="bl" rotWithShape="0" blurRad="76200" dist="25400" dir="5400000">
              <a:srgbClr val="9AAAB0">
                <a:alpha val="28000"/>
              </a:srgbClr>
            </a:outerShdw>
          </a:effectLst>
        </p:spPr>
      </p:sp>
      <p:sp>
        <p:nvSpPr>
          <p:cNvPr id="29" name="Text 27"/>
          <p:cNvSpPr txBox="1"/>
          <p:nvPr/>
        </p:nvSpPr>
        <p:spPr>
          <a:xfrm>
            <a:off x="777240" y="4069080"/>
            <a:ext cx="1060704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Why non-financial methods work (the theory link)</a:t>
            </a:r>
            <a:endParaRPr lang="en-US" sz="1400" dirty="0"/>
          </a:p>
        </p:txBody>
      </p:sp>
      <p:sp>
        <p:nvSpPr>
          <p:cNvPr id="30" name="Text 28"/>
          <p:cNvSpPr txBox="1"/>
          <p:nvPr/>
        </p:nvSpPr>
        <p:spPr>
          <a:xfrm>
            <a:off x="777240" y="4407408"/>
            <a:ext cx="10698480" cy="128016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These methods motivate without extra pay — exactly what Herzberg's MOTIVATORS and Maslow's higher needs (esteem, self-actualisation) predict. Delegation and empowerment give responsibility; consultation gives recognition; team working meets social needs. For many employees, feeling trusted, valued and listened to motivates more than money — and it is often cheaper for the business too.</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NON-FINANCIAL (2)</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Flexible working &amp; job design</a:t>
            </a:r>
            <a:endParaRPr lang="en-US" sz="2600" dirty="0"/>
          </a:p>
        </p:txBody>
      </p:sp>
      <p:sp>
        <p:nvSpPr>
          <p:cNvPr id="4" name="Shape 2"/>
          <p:cNvSpPr/>
          <p:nvPr/>
        </p:nvSpPr>
        <p:spPr>
          <a:xfrm>
            <a:off x="548640" y="1371600"/>
            <a:ext cx="2679192"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548640" y="1371600"/>
            <a:ext cx="2679192" cy="91440"/>
          </a:xfrm>
          <a:prstGeom prst="roundRect">
            <a:avLst/>
          </a:prstGeom>
          <a:solidFill>
            <a:srgbClr val="0E7C86"/>
          </a:solidFill>
          <a:ln/>
        </p:spPr>
      </p:sp>
      <p:sp>
        <p:nvSpPr>
          <p:cNvPr id="6" name="Text 4"/>
          <p:cNvSpPr txBox="1"/>
          <p:nvPr/>
        </p:nvSpPr>
        <p:spPr>
          <a:xfrm>
            <a:off x="731520" y="1536192"/>
            <a:ext cx="2313432" cy="329184"/>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Flexible working</a:t>
            </a:r>
            <a:endParaRPr lang="en-US" sz="1300" dirty="0"/>
          </a:p>
        </p:txBody>
      </p:sp>
      <p:sp>
        <p:nvSpPr>
          <p:cNvPr id="7" name="Text 5"/>
          <p:cNvSpPr txBox="1"/>
          <p:nvPr/>
        </p:nvSpPr>
        <p:spPr>
          <a:xfrm>
            <a:off x="731520" y="1874520"/>
            <a:ext cx="2313432"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Choice over hours and/or location (flexitime, remote).</a:t>
            </a:r>
            <a:endParaRPr lang="en-US" sz="1080" dirty="0"/>
          </a:p>
        </p:txBody>
      </p:sp>
      <p:sp>
        <p:nvSpPr>
          <p:cNvPr id="8" name="Text 6"/>
          <p:cNvSpPr txBox="1"/>
          <p:nvPr/>
        </p:nvSpPr>
        <p:spPr>
          <a:xfrm>
            <a:off x="731520" y="2578608"/>
            <a:ext cx="2313432"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Work-life balance → retention</a:t>
            </a:r>
            <a:endParaRPr lang="en-US" sz="1030" dirty="0"/>
          </a:p>
        </p:txBody>
      </p:sp>
      <p:sp>
        <p:nvSpPr>
          <p:cNvPr id="9" name="Text 7"/>
          <p:cNvSpPr txBox="1"/>
          <p:nvPr/>
        </p:nvSpPr>
        <p:spPr>
          <a:xfrm>
            <a:off x="731520" y="3090672"/>
            <a:ext cx="2313432"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Harder to coordinate &amp; supervise</a:t>
            </a:r>
            <a:endParaRPr lang="en-US" sz="1030" dirty="0"/>
          </a:p>
        </p:txBody>
      </p:sp>
      <p:sp>
        <p:nvSpPr>
          <p:cNvPr id="10" name="Shape 8"/>
          <p:cNvSpPr/>
          <p:nvPr/>
        </p:nvSpPr>
        <p:spPr>
          <a:xfrm>
            <a:off x="3319272" y="1371600"/>
            <a:ext cx="2679192"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1" name="Shape 9"/>
          <p:cNvSpPr/>
          <p:nvPr/>
        </p:nvSpPr>
        <p:spPr>
          <a:xfrm>
            <a:off x="3319272" y="1371600"/>
            <a:ext cx="2679192" cy="91440"/>
          </a:xfrm>
          <a:prstGeom prst="roundRect">
            <a:avLst/>
          </a:prstGeom>
          <a:solidFill>
            <a:srgbClr val="2F8A5B"/>
          </a:solidFill>
          <a:ln/>
        </p:spPr>
      </p:sp>
      <p:sp>
        <p:nvSpPr>
          <p:cNvPr id="12" name="Text 10"/>
          <p:cNvSpPr txBox="1"/>
          <p:nvPr/>
        </p:nvSpPr>
        <p:spPr>
          <a:xfrm>
            <a:off x="3502152" y="1536192"/>
            <a:ext cx="2313432" cy="329184"/>
          </a:xfrm>
          <a:prstGeom prst="rect">
            <a:avLst/>
          </a:prstGeom>
          <a:noFill/>
          <a:ln/>
        </p:spPr>
        <p:txBody>
          <a:bodyPr wrap="square" lIns="0" tIns="0" rIns="0" bIns="0" rtlCol="0" anchor="ctr"/>
          <a:lstStyle/>
          <a:p>
            <a:pPr indent="0" marL="0">
              <a:buNone/>
            </a:pPr>
            <a:r>
              <a:rPr lang="en-US" sz="1300" b="1" dirty="0">
                <a:solidFill>
                  <a:srgbClr val="2F8A5B"/>
                </a:solidFill>
                <a:latin typeface="Calibri" pitchFamily="34" charset="0"/>
                <a:ea typeface="Calibri" pitchFamily="34" charset="-122"/>
                <a:cs typeface="Calibri" pitchFamily="34" charset="-120"/>
              </a:rPr>
              <a:t>Job enrichment</a:t>
            </a:r>
            <a:endParaRPr lang="en-US" sz="1300" dirty="0"/>
          </a:p>
        </p:txBody>
      </p:sp>
      <p:sp>
        <p:nvSpPr>
          <p:cNvPr id="13" name="Text 11"/>
          <p:cNvSpPr txBox="1"/>
          <p:nvPr/>
        </p:nvSpPr>
        <p:spPr>
          <a:xfrm>
            <a:off x="3502152" y="1874520"/>
            <a:ext cx="2313432"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Giving more CHALLENGING, meaningful tasks (vertical).</a:t>
            </a:r>
            <a:endParaRPr lang="en-US" sz="1080" dirty="0"/>
          </a:p>
        </p:txBody>
      </p:sp>
      <p:sp>
        <p:nvSpPr>
          <p:cNvPr id="14" name="Text 12"/>
          <p:cNvSpPr txBox="1"/>
          <p:nvPr/>
        </p:nvSpPr>
        <p:spPr>
          <a:xfrm>
            <a:off x="3502152" y="2578608"/>
            <a:ext cx="2313432"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Herzberg motivators → real satisfaction</a:t>
            </a:r>
            <a:endParaRPr lang="en-US" sz="1030" dirty="0"/>
          </a:p>
        </p:txBody>
      </p:sp>
      <p:sp>
        <p:nvSpPr>
          <p:cNvPr id="15" name="Text 13"/>
          <p:cNvSpPr txBox="1"/>
          <p:nvPr/>
        </p:nvSpPr>
        <p:spPr>
          <a:xfrm>
            <a:off x="3502152" y="3090672"/>
            <a:ext cx="2313432"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May need training; some resist</a:t>
            </a:r>
            <a:endParaRPr lang="en-US" sz="1030" dirty="0"/>
          </a:p>
        </p:txBody>
      </p:sp>
      <p:sp>
        <p:nvSpPr>
          <p:cNvPr id="16" name="Shape 14"/>
          <p:cNvSpPr/>
          <p:nvPr/>
        </p:nvSpPr>
        <p:spPr>
          <a:xfrm>
            <a:off x="6089904" y="1371600"/>
            <a:ext cx="2679192"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7" name="Shape 15"/>
          <p:cNvSpPr/>
          <p:nvPr/>
        </p:nvSpPr>
        <p:spPr>
          <a:xfrm>
            <a:off x="6089904" y="1371600"/>
            <a:ext cx="2679192" cy="91440"/>
          </a:xfrm>
          <a:prstGeom prst="roundRect">
            <a:avLst/>
          </a:prstGeom>
          <a:solidFill>
            <a:srgbClr val="E0940F"/>
          </a:solidFill>
          <a:ln/>
        </p:spPr>
      </p:sp>
      <p:sp>
        <p:nvSpPr>
          <p:cNvPr id="18" name="Text 16"/>
          <p:cNvSpPr txBox="1"/>
          <p:nvPr/>
        </p:nvSpPr>
        <p:spPr>
          <a:xfrm>
            <a:off x="6272784" y="1536192"/>
            <a:ext cx="2313432" cy="329184"/>
          </a:xfrm>
          <a:prstGeom prst="rect">
            <a:avLst/>
          </a:prstGeom>
          <a:noFill/>
          <a:ln/>
        </p:spPr>
        <p:txBody>
          <a:bodyPr wrap="square" lIns="0" tIns="0" rIns="0" bIns="0" rtlCol="0" anchor="ctr"/>
          <a:lstStyle/>
          <a:p>
            <a:pPr indent="0" marL="0">
              <a:buNone/>
            </a:pPr>
            <a:r>
              <a:rPr lang="en-US" sz="1300" b="1" dirty="0">
                <a:solidFill>
                  <a:srgbClr val="E0940F"/>
                </a:solidFill>
                <a:latin typeface="Calibri" pitchFamily="34" charset="0"/>
                <a:ea typeface="Calibri" pitchFamily="34" charset="-122"/>
                <a:cs typeface="Calibri" pitchFamily="34" charset="-120"/>
              </a:rPr>
              <a:t>Job rotation</a:t>
            </a:r>
            <a:endParaRPr lang="en-US" sz="1300" dirty="0"/>
          </a:p>
        </p:txBody>
      </p:sp>
      <p:sp>
        <p:nvSpPr>
          <p:cNvPr id="19" name="Text 17"/>
          <p:cNvSpPr txBox="1"/>
          <p:nvPr/>
        </p:nvSpPr>
        <p:spPr>
          <a:xfrm>
            <a:off x="6272784" y="1874520"/>
            <a:ext cx="2313432"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Moving staff between different tasks.</a:t>
            </a:r>
            <a:endParaRPr lang="en-US" sz="1080" dirty="0"/>
          </a:p>
        </p:txBody>
      </p:sp>
      <p:sp>
        <p:nvSpPr>
          <p:cNvPr id="20" name="Text 18"/>
          <p:cNvSpPr txBox="1"/>
          <p:nvPr/>
        </p:nvSpPr>
        <p:spPr>
          <a:xfrm>
            <a:off x="6272784" y="2578608"/>
            <a:ext cx="2313432"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Variety, multi-skilling, less boredom</a:t>
            </a:r>
            <a:endParaRPr lang="en-US" sz="1030" dirty="0"/>
          </a:p>
        </p:txBody>
      </p:sp>
      <p:sp>
        <p:nvSpPr>
          <p:cNvPr id="21" name="Text 19"/>
          <p:cNvSpPr txBox="1"/>
          <p:nvPr/>
        </p:nvSpPr>
        <p:spPr>
          <a:xfrm>
            <a:off x="6272784" y="3090672"/>
            <a:ext cx="2313432"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No extra responsibility; training time</a:t>
            </a:r>
            <a:endParaRPr lang="en-US" sz="1030" dirty="0"/>
          </a:p>
        </p:txBody>
      </p:sp>
      <p:sp>
        <p:nvSpPr>
          <p:cNvPr id="22" name="Shape 20"/>
          <p:cNvSpPr/>
          <p:nvPr/>
        </p:nvSpPr>
        <p:spPr>
          <a:xfrm>
            <a:off x="8860536" y="1371600"/>
            <a:ext cx="2679192" cy="2286000"/>
          </a:xfrm>
          <a:prstGeom prst="roundRect">
            <a:avLst>
              <a:gd name="adj" fmla="val 3200"/>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3" name="Shape 21"/>
          <p:cNvSpPr/>
          <p:nvPr/>
        </p:nvSpPr>
        <p:spPr>
          <a:xfrm>
            <a:off x="8860536" y="1371600"/>
            <a:ext cx="2679192" cy="91440"/>
          </a:xfrm>
          <a:prstGeom prst="roundRect">
            <a:avLst/>
          </a:prstGeom>
          <a:solidFill>
            <a:srgbClr val="6B4FA0"/>
          </a:solidFill>
          <a:ln/>
        </p:spPr>
      </p:sp>
      <p:sp>
        <p:nvSpPr>
          <p:cNvPr id="24" name="Text 22"/>
          <p:cNvSpPr txBox="1"/>
          <p:nvPr/>
        </p:nvSpPr>
        <p:spPr>
          <a:xfrm>
            <a:off x="9043416" y="1536192"/>
            <a:ext cx="2313432" cy="329184"/>
          </a:xfrm>
          <a:prstGeom prst="rect">
            <a:avLst/>
          </a:prstGeom>
          <a:noFill/>
          <a:ln/>
        </p:spPr>
        <p:txBody>
          <a:bodyPr wrap="square" lIns="0" tIns="0" rIns="0" bIns="0" rtlCol="0" anchor="ctr"/>
          <a:lstStyle/>
          <a:p>
            <a:pPr indent="0" marL="0">
              <a:buNone/>
            </a:pPr>
            <a:r>
              <a:rPr lang="en-US" sz="1300" b="1" dirty="0">
                <a:solidFill>
                  <a:srgbClr val="6B4FA0"/>
                </a:solidFill>
                <a:latin typeface="Calibri" pitchFamily="34" charset="0"/>
                <a:ea typeface="Calibri" pitchFamily="34" charset="-122"/>
                <a:cs typeface="Calibri" pitchFamily="34" charset="-120"/>
              </a:rPr>
              <a:t>Job enlargement</a:t>
            </a:r>
            <a:endParaRPr lang="en-US" sz="1300" dirty="0"/>
          </a:p>
        </p:txBody>
      </p:sp>
      <p:sp>
        <p:nvSpPr>
          <p:cNvPr id="25" name="Text 23"/>
          <p:cNvSpPr txBox="1"/>
          <p:nvPr/>
        </p:nvSpPr>
        <p:spPr>
          <a:xfrm>
            <a:off x="9043416" y="1874520"/>
            <a:ext cx="2313432" cy="713232"/>
          </a:xfrm>
          <a:prstGeom prst="rect">
            <a:avLst/>
          </a:prstGeom>
          <a:noFill/>
          <a:ln/>
        </p:spPr>
        <p:txBody>
          <a:bodyPr wrap="square" lIns="0" tIns="0" rIns="0" bIns="0" rtlCol="0" anchor="t"/>
          <a:lstStyle/>
          <a:p>
            <a:pPr indent="0" marL="0">
              <a:buNone/>
            </a:pPr>
            <a:r>
              <a:rPr lang="en-US" sz="1080" dirty="0">
                <a:solidFill>
                  <a:srgbClr val="1F2A33"/>
                </a:solidFill>
                <a:latin typeface="Calibri" pitchFamily="34" charset="0"/>
                <a:ea typeface="Calibri" pitchFamily="34" charset="-122"/>
                <a:cs typeface="Calibri" pitchFamily="34" charset="-120"/>
              </a:rPr>
              <a:t>Adding more tasks of a SIMILAR level (horizontal).</a:t>
            </a:r>
            <a:endParaRPr lang="en-US" sz="1080" dirty="0"/>
          </a:p>
        </p:txBody>
      </p:sp>
      <p:sp>
        <p:nvSpPr>
          <p:cNvPr id="26" name="Text 24"/>
          <p:cNvSpPr txBox="1"/>
          <p:nvPr/>
        </p:nvSpPr>
        <p:spPr>
          <a:xfrm>
            <a:off x="9043416" y="2578608"/>
            <a:ext cx="2313432" cy="512064"/>
          </a:xfrm>
          <a:prstGeom prst="rect">
            <a:avLst/>
          </a:prstGeom>
          <a:noFill/>
          <a:ln/>
        </p:spPr>
        <p:txBody>
          <a:bodyPr wrap="square" lIns="0" tIns="0" rIns="0" bIns="0" rtlCol="0" anchor="t"/>
          <a:lstStyle/>
          <a:p>
            <a:pPr indent="0" marL="0">
              <a:buNone/>
            </a:pPr>
            <a:r>
              <a:rPr lang="en-US" sz="1030" b="1" dirty="0">
                <a:solidFill>
                  <a:srgbClr val="2F8A5B"/>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More variety; reduces monotony</a:t>
            </a:r>
            <a:endParaRPr lang="en-US" sz="1030" dirty="0"/>
          </a:p>
        </p:txBody>
      </p:sp>
      <p:sp>
        <p:nvSpPr>
          <p:cNvPr id="27" name="Text 25"/>
          <p:cNvSpPr txBox="1"/>
          <p:nvPr/>
        </p:nvSpPr>
        <p:spPr>
          <a:xfrm>
            <a:off x="9043416" y="3090672"/>
            <a:ext cx="2313432" cy="512064"/>
          </a:xfrm>
          <a:prstGeom prst="rect">
            <a:avLst/>
          </a:prstGeom>
          <a:noFill/>
          <a:ln/>
        </p:spPr>
        <p:txBody>
          <a:bodyPr wrap="square" lIns="0" tIns="0" rIns="0" bIns="0" rtlCol="0" anchor="t"/>
          <a:lstStyle/>
          <a:p>
            <a:pPr indent="0" marL="0">
              <a:buNone/>
            </a:pPr>
            <a:r>
              <a:rPr lang="en-US" sz="1030" b="1" dirty="0">
                <a:solidFill>
                  <a:srgbClr val="C14B37"/>
                </a:solidFill>
                <a:latin typeface="Calibri" pitchFamily="34" charset="0"/>
                <a:ea typeface="Calibri" pitchFamily="34" charset="-122"/>
                <a:cs typeface="Calibri" pitchFamily="34" charset="-120"/>
              </a:rPr>
              <a:t>✗ </a:t>
            </a:r>
            <a:pPr indent="0" marL="0">
              <a:buNone/>
            </a:pPr>
            <a:r>
              <a:rPr lang="en-US" sz="1030" dirty="0">
                <a:solidFill>
                  <a:srgbClr val="1F2A33"/>
                </a:solidFill>
                <a:latin typeface="Calibri" pitchFamily="34" charset="0"/>
                <a:ea typeface="Calibri" pitchFamily="34" charset="-122"/>
                <a:cs typeface="Calibri" pitchFamily="34" charset="-120"/>
              </a:rPr>
              <a:t>Just ‘more of the same’ if not enriching</a:t>
            </a:r>
            <a:endParaRPr lang="en-US" sz="1030" dirty="0"/>
          </a:p>
        </p:txBody>
      </p:sp>
      <p:sp>
        <p:nvSpPr>
          <p:cNvPr id="28" name="Shape 26"/>
          <p:cNvSpPr/>
          <p:nvPr/>
        </p:nvSpPr>
        <p:spPr>
          <a:xfrm>
            <a:off x="548640" y="3931920"/>
            <a:ext cx="11091672" cy="1828800"/>
          </a:xfrm>
          <a:prstGeom prst="roundRect">
            <a:avLst>
              <a:gd name="adj" fmla="val 4000"/>
            </a:avLst>
          </a:prstGeom>
          <a:solidFill>
            <a:srgbClr val="FBF0D8"/>
          </a:solidFill>
          <a:ln/>
          <a:effectLst>
            <a:outerShdw sx="100000" sy="100000" kx="0" ky="0" algn="bl" rotWithShape="0" blurRad="76200" dist="25400" dir="5400000">
              <a:srgbClr val="9AAAB0">
                <a:alpha val="28000"/>
              </a:srgbClr>
            </a:outerShdw>
          </a:effectLst>
        </p:spPr>
      </p:sp>
      <p:sp>
        <p:nvSpPr>
          <p:cNvPr id="29" name="Shape 27"/>
          <p:cNvSpPr/>
          <p:nvPr/>
        </p:nvSpPr>
        <p:spPr>
          <a:xfrm>
            <a:off x="548640" y="3931920"/>
            <a:ext cx="109728" cy="1828800"/>
          </a:xfrm>
          <a:prstGeom prst="roundRect">
            <a:avLst/>
          </a:prstGeom>
          <a:solidFill>
            <a:srgbClr val="E0940F"/>
          </a:solidFill>
          <a:ln/>
        </p:spPr>
      </p:sp>
      <p:sp>
        <p:nvSpPr>
          <p:cNvPr id="30" name="Text 28"/>
          <p:cNvSpPr txBox="1"/>
          <p:nvPr/>
        </p:nvSpPr>
        <p:spPr>
          <a:xfrm>
            <a:off x="777240" y="4069080"/>
            <a:ext cx="10607040" cy="274320"/>
          </a:xfrm>
          <a:prstGeom prst="rect">
            <a:avLst/>
          </a:prstGeom>
          <a:noFill/>
          <a:ln/>
        </p:spPr>
        <p:txBody>
          <a:bodyPr wrap="square" lIns="0" tIns="0" rIns="0" bIns="0" rtlCol="0" anchor="ctr"/>
          <a:lstStyle/>
          <a:p>
            <a:pPr indent="0" marL="0">
              <a:buNone/>
            </a:pPr>
            <a:r>
              <a:rPr lang="en-US" sz="1150" b="1" spc="50" kern="0" dirty="0">
                <a:solidFill>
                  <a:srgbClr val="8A5A06"/>
                </a:solidFill>
                <a:latin typeface="Calibri" pitchFamily="34" charset="0"/>
                <a:ea typeface="Calibri" pitchFamily="34" charset="-122"/>
                <a:cs typeface="Calibri" pitchFamily="34" charset="-120"/>
              </a:rPr>
              <a:t>THE JOB-DESIGN TRIO — don't confuse them</a:t>
            </a:r>
            <a:endParaRPr lang="en-US" sz="1150" dirty="0"/>
          </a:p>
        </p:txBody>
      </p:sp>
      <p:sp>
        <p:nvSpPr>
          <p:cNvPr id="31" name="Text 29"/>
          <p:cNvSpPr txBox="1"/>
          <p:nvPr/>
        </p:nvSpPr>
        <p:spPr>
          <a:xfrm>
            <a:off x="777240" y="4389120"/>
            <a:ext cx="10698480" cy="1280160"/>
          </a:xfrm>
          <a:prstGeom prst="rect">
            <a:avLst/>
          </a:prstGeom>
          <a:noFill/>
          <a:ln/>
        </p:spPr>
        <p:txBody>
          <a:bodyPr wrap="square" lIns="0" tIns="0" rIns="0" bIns="0" rtlCol="0" anchor="t"/>
          <a:lstStyle/>
          <a:p>
            <a:pPr indent="0" marL="0">
              <a:buNone/>
            </a:pPr>
            <a:r>
              <a:rPr lang="en-US" sz="1250" b="1" dirty="0">
                <a:solidFill>
                  <a:srgbClr val="1F2A33"/>
                </a:solidFill>
                <a:latin typeface="Calibri" pitchFamily="34" charset="0"/>
                <a:ea typeface="Calibri" pitchFamily="34" charset="-122"/>
                <a:cs typeface="Calibri" pitchFamily="34" charset="-120"/>
              </a:rPr>
              <a:t>Job ENRICHMENT = </a:t>
            </a:r>
            <a:pPr indent="0" marL="0">
              <a:buNone/>
            </a:pPr>
            <a:r>
              <a:rPr lang="en-US" sz="1250" dirty="0">
                <a:solidFill>
                  <a:srgbClr val="5B6B73"/>
                </a:solidFill>
                <a:latin typeface="Calibri" pitchFamily="34" charset="0"/>
                <a:ea typeface="Calibri" pitchFamily="34" charset="-122"/>
                <a:cs typeface="Calibri" pitchFamily="34" charset="-120"/>
              </a:rPr>
              <a:t>deeper — more responsibility &amp; challenge (vertical; the true motivator for Herzberg).
</a:t>
            </a:r>
            <a:pPr indent="0" marL="0">
              <a:buNone/>
            </a:pPr>
            <a:r>
              <a:rPr lang="en-US" sz="1250" b="1" dirty="0">
                <a:solidFill>
                  <a:srgbClr val="1F2A33"/>
                </a:solidFill>
                <a:latin typeface="Calibri" pitchFamily="34" charset="0"/>
                <a:ea typeface="Calibri" pitchFamily="34" charset="-122"/>
                <a:cs typeface="Calibri" pitchFamily="34" charset="-120"/>
              </a:rPr>
              <a:t>Job ENLARGEMENT = </a:t>
            </a:r>
            <a:pPr indent="0" marL="0">
              <a:buNone/>
            </a:pPr>
            <a:r>
              <a:rPr lang="en-US" sz="1250" dirty="0">
                <a:solidFill>
                  <a:srgbClr val="5B6B73"/>
                </a:solidFill>
                <a:latin typeface="Calibri" pitchFamily="34" charset="0"/>
                <a:ea typeface="Calibri" pitchFamily="34" charset="-122"/>
                <a:cs typeface="Calibri" pitchFamily="34" charset="-120"/>
              </a:rPr>
              <a:t>wider — more tasks at the same level (horizontal).
</a:t>
            </a:r>
            <a:pPr indent="0" marL="0">
              <a:buNone/>
            </a:pPr>
            <a:r>
              <a:rPr lang="en-US" sz="1250" b="1" dirty="0">
                <a:solidFill>
                  <a:srgbClr val="1F2A33"/>
                </a:solidFill>
                <a:latin typeface="Calibri" pitchFamily="34" charset="0"/>
                <a:ea typeface="Calibri" pitchFamily="34" charset="-122"/>
                <a:cs typeface="Calibri" pitchFamily="34" charset="-120"/>
              </a:rPr>
              <a:t>Job ROTATION = </a:t>
            </a:r>
            <a:pPr indent="0" marL="0">
              <a:buNone/>
            </a:pPr>
            <a:r>
              <a:rPr lang="en-US" sz="1250" dirty="0">
                <a:solidFill>
                  <a:srgbClr val="5B6B73"/>
                </a:solidFill>
                <a:latin typeface="Calibri" pitchFamily="34" charset="0"/>
                <a:ea typeface="Calibri" pitchFamily="34" charset="-122"/>
                <a:cs typeface="Calibri" pitchFamily="34" charset="-120"/>
              </a:rPr>
              <a:t>moving between tasks for variety and multi-skilling.</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D · CHOOSING</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Financial vs non-financial — when each works</a:t>
            </a:r>
            <a:endParaRPr lang="en-US" sz="2600" dirty="0"/>
          </a:p>
        </p:txBody>
      </p:sp>
      <p:sp>
        <p:nvSpPr>
          <p:cNvPr id="4" name="Shape 2"/>
          <p:cNvSpPr/>
          <p:nvPr/>
        </p:nvSpPr>
        <p:spPr>
          <a:xfrm>
            <a:off x="548640" y="1463040"/>
            <a:ext cx="5440680" cy="3657600"/>
          </a:xfrm>
          <a:prstGeom prst="roundRect">
            <a:avLst>
              <a:gd name="adj" fmla="val 2000"/>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581912"/>
            <a:ext cx="5029200" cy="320040"/>
          </a:xfrm>
          <a:prstGeom prst="rect">
            <a:avLst/>
          </a:prstGeom>
          <a:noFill/>
          <a:ln/>
        </p:spPr>
        <p:txBody>
          <a:bodyPr wrap="square" lIns="0" tIns="0" rIns="0" bIns="0" rtlCol="0" anchor="ctr"/>
          <a:lstStyle/>
          <a:p>
            <a:pPr indent="0" marL="0">
              <a:buNone/>
            </a:pPr>
            <a:r>
              <a:rPr lang="en-US" sz="1400" b="1" dirty="0">
                <a:solidFill>
                  <a:srgbClr val="2F8A5B"/>
                </a:solidFill>
                <a:latin typeface="Calibri" pitchFamily="34" charset="0"/>
                <a:ea typeface="Calibri" pitchFamily="34" charset="-122"/>
                <a:cs typeface="Calibri" pitchFamily="34" charset="-120"/>
              </a:rPr>
              <a:t>Financial works best when…</a:t>
            </a:r>
            <a:endParaRPr lang="en-US" sz="1400" dirty="0"/>
          </a:p>
        </p:txBody>
      </p:sp>
      <p:sp>
        <p:nvSpPr>
          <p:cNvPr id="6" name="Text 4"/>
          <p:cNvSpPr txBox="1"/>
          <p:nvPr/>
        </p:nvSpPr>
        <p:spPr>
          <a:xfrm>
            <a:off x="777240" y="1938528"/>
            <a:ext cx="4983480" cy="31089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Output or sales are easily measured (Taylor)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Short-term effort is needed quickly</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Staff are on lower pay (basic needs unmet)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Roles are repetitive / low-skill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e.g. piece-rate in a factory; commission in sales</a:t>
            </a:r>
            <a:endParaRPr lang="en-US" sz="1250" dirty="0"/>
          </a:p>
        </p:txBody>
      </p:sp>
      <p:sp>
        <p:nvSpPr>
          <p:cNvPr id="7" name="Shape 5"/>
          <p:cNvSpPr/>
          <p:nvPr/>
        </p:nvSpPr>
        <p:spPr>
          <a:xfrm>
            <a:off x="6199632" y="1463040"/>
            <a:ext cx="5440680" cy="3657600"/>
          </a:xfrm>
          <a:prstGeom prst="roundRect">
            <a:avLst>
              <a:gd name="adj" fmla="val 2000"/>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6428232" y="1581912"/>
            <a:ext cx="5029200" cy="320040"/>
          </a:xfrm>
          <a:prstGeom prst="rect">
            <a:avLst/>
          </a:prstGeom>
          <a:noFill/>
          <a:ln/>
        </p:spPr>
        <p:txBody>
          <a:bodyPr wrap="square" lIns="0" tIns="0" rIns="0" bIns="0" rtlCol="0" anchor="ctr"/>
          <a:lstStyle/>
          <a:p>
            <a:pPr indent="0" marL="0">
              <a:buNone/>
            </a:pPr>
            <a:r>
              <a:rPr lang="en-US" sz="1400" b="1" dirty="0">
                <a:solidFill>
                  <a:srgbClr val="0B5E66"/>
                </a:solidFill>
                <a:latin typeface="Calibri" pitchFamily="34" charset="0"/>
                <a:ea typeface="Calibri" pitchFamily="34" charset="-122"/>
                <a:cs typeface="Calibri" pitchFamily="34" charset="-120"/>
              </a:rPr>
              <a:t>Non-financial works best when…</a:t>
            </a:r>
            <a:endParaRPr lang="en-US" sz="1400" dirty="0"/>
          </a:p>
        </p:txBody>
      </p:sp>
      <p:sp>
        <p:nvSpPr>
          <p:cNvPr id="9" name="Text 7"/>
          <p:cNvSpPr txBox="1"/>
          <p:nvPr/>
        </p:nvSpPr>
        <p:spPr>
          <a:xfrm>
            <a:off x="6428232" y="1938528"/>
            <a:ext cx="4983480" cy="31089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Pay is already fair (Herzberg — hygiene met)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Long-term, lasting motivation is the goal</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Staff are skilled &amp; seek esteem/growth (Maslow)</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Quality, creativity &amp; service matter</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e.g. empowerment &amp; enrichment for professionals</a:t>
            </a:r>
            <a:endParaRPr lang="en-US" sz="1250" dirty="0"/>
          </a:p>
        </p:txBody>
      </p:sp>
      <p:sp>
        <p:nvSpPr>
          <p:cNvPr id="10" name="Shape 8"/>
          <p:cNvSpPr/>
          <p:nvPr/>
        </p:nvSpPr>
        <p:spPr>
          <a:xfrm>
            <a:off x="548640" y="5257800"/>
            <a:ext cx="11091672" cy="914400"/>
          </a:xfrm>
          <a:prstGeom prst="roundRect">
            <a:avLst>
              <a:gd name="adj" fmla="val 8000"/>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777240" y="5349240"/>
            <a:ext cx="10698480" cy="73152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The A-grade judgement:  </a:t>
            </a:r>
            <a:pPr indent="0" marL="0">
              <a:buNone/>
            </a:pPr>
            <a:r>
              <a:rPr lang="en-US" sz="1250" dirty="0">
                <a:solidFill>
                  <a:srgbClr val="1F2A33"/>
                </a:solidFill>
                <a:latin typeface="Calibri" pitchFamily="34" charset="0"/>
                <a:ea typeface="Calibri" pitchFamily="34" charset="-122"/>
                <a:cs typeface="Calibri" pitchFamily="34" charset="-120"/>
              </a:rPr>
              <a:t>most firms use BOTH — financial to meet basic needs and reward results, non-financial to build lasting engagement. The best balance depends on the type of work, the staff and the firm's goals. That ‘it depends’ is what the 20-marker rewards.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E</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E</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A-grade exam skills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Barclays financial vs non-financial 20-marker  ·  decode, plan, model answer and how to reach the top band</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EXAM MASTERY</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20-mark: decode it, then plan with 5×5</a:t>
            </a:r>
            <a:endParaRPr lang="en-US" sz="2600" dirty="0"/>
          </a:p>
        </p:txBody>
      </p:sp>
      <p:sp>
        <p:nvSpPr>
          <p:cNvPr id="4" name="Shape 2"/>
          <p:cNvSpPr/>
          <p:nvPr/>
        </p:nvSpPr>
        <p:spPr>
          <a:xfrm>
            <a:off x="548640" y="1371600"/>
            <a:ext cx="11091672" cy="1005840"/>
          </a:xfrm>
          <a:prstGeom prst="roundRect">
            <a:avLst>
              <a:gd name="adj" fmla="val 7273"/>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THE QUESTION</a:t>
            </a:r>
            <a:endParaRPr lang="en-US" sz="1050" dirty="0"/>
          </a:p>
        </p:txBody>
      </p:sp>
      <p:sp>
        <p:nvSpPr>
          <p:cNvPr id="6" name="Text 4"/>
          <p:cNvSpPr txBox="1"/>
          <p:nvPr/>
        </p:nvSpPr>
        <p:spPr>
          <a:xfrm>
            <a:off x="777240" y="1755648"/>
            <a:ext cx="10607040" cy="73152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Barclays is moving from sales-based bonuses to a customer-service-based bonus system. Evaluate the effectiveness of using financial and non-financial techniques to motivate Barclays' employees.  </a:t>
            </a:r>
            <a:pPr indent="0" marL="0">
              <a:buNone/>
            </a:pPr>
            <a:r>
              <a:rPr lang="en-US" sz="1250" b="1" dirty="0">
                <a:solidFill>
                  <a:srgbClr val="E0940F"/>
                </a:solidFill>
                <a:latin typeface="Calibri" pitchFamily="34" charset="0"/>
                <a:ea typeface="Calibri" pitchFamily="34" charset="-122"/>
                <a:cs typeface="Calibri" pitchFamily="34" charset="-120"/>
              </a:rPr>
              <a:t>[20]</a:t>
            </a:r>
            <a:endParaRPr lang="en-US" sz="1250" dirty="0"/>
          </a:p>
        </p:txBody>
      </p:sp>
      <p:sp>
        <p:nvSpPr>
          <p:cNvPr id="7" name="Shape 5"/>
          <p:cNvSpPr/>
          <p:nvPr/>
        </p:nvSpPr>
        <p:spPr>
          <a:xfrm>
            <a:off x="548640" y="2514600"/>
            <a:ext cx="5029200" cy="3685032"/>
          </a:xfrm>
          <a:prstGeom prst="roundRect">
            <a:avLst>
              <a:gd name="adj" fmla="val 1985"/>
            </a:avLst>
          </a:prstGeom>
          <a:solidFill>
            <a:srgbClr val="EAF3F4"/>
          </a:solidFill>
          <a:ln/>
          <a:effectLst>
            <a:outerShdw sx="100000" sy="100000" kx="0" ky="0" algn="bl" rotWithShape="0" blurRad="76200" dist="25400" dir="5400000">
              <a:srgbClr val="9AAAB0">
                <a:alpha val="28000"/>
              </a:srgbClr>
            </a:outerShdw>
          </a:effectLst>
        </p:spPr>
      </p:sp>
      <p:sp>
        <p:nvSpPr>
          <p:cNvPr id="8" name="Text 6"/>
          <p:cNvSpPr txBox="1"/>
          <p:nvPr/>
        </p:nvSpPr>
        <p:spPr>
          <a:xfrm>
            <a:off x="749808" y="262432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9" name="Text 7"/>
          <p:cNvSpPr txBox="1"/>
          <p:nvPr/>
        </p:nvSpPr>
        <p:spPr>
          <a:xfrm>
            <a:off x="749808" y="2990088"/>
            <a:ext cx="4617720" cy="310896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Evaluate = weigh financial AND non-financial, then a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Apply Barclays: old sales bonuses → PPI mis-selling, £1bn fines; new service bonuses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Use theory: Taylor (money), Herzberg (hygiene vs motivators)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(16–20): balanced, applied, competing arguments, supported judgement</a:t>
            </a:r>
            <a:endParaRPr lang="en-US" sz="1180" dirty="0"/>
          </a:p>
        </p:txBody>
      </p:sp>
      <p:sp>
        <p:nvSpPr>
          <p:cNvPr id="10" name="Shape 8"/>
          <p:cNvSpPr/>
          <p:nvPr/>
        </p:nvSpPr>
        <p:spPr>
          <a:xfrm>
            <a:off x="5788152" y="2514600"/>
            <a:ext cx="5852160" cy="3685032"/>
          </a:xfrm>
          <a:prstGeom prst="roundRect">
            <a:avLst>
              <a:gd name="adj" fmla="val 1985"/>
            </a:avLst>
          </a:prstGeom>
          <a:solidFill>
            <a:srgbClr val="FBF0D8"/>
          </a:solidFill>
          <a:ln/>
          <a:effectLst>
            <a:outerShdw sx="100000" sy="100000" kx="0" ky="0" algn="bl" rotWithShape="0" blurRad="76200" dist="25400" dir="5400000">
              <a:srgbClr val="9AAAB0">
                <a:alpha val="28000"/>
              </a:srgbClr>
            </a:outerShdw>
          </a:effectLst>
        </p:spPr>
      </p:sp>
      <p:sp>
        <p:nvSpPr>
          <p:cNvPr id="11" name="Text 9"/>
          <p:cNvSpPr txBox="1"/>
          <p:nvPr/>
        </p:nvSpPr>
        <p:spPr>
          <a:xfrm>
            <a:off x="5989320" y="262432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5×5, 4–5 paragraphs</a:t>
            </a:r>
            <a:endParaRPr lang="en-US" sz="1300" dirty="0"/>
          </a:p>
        </p:txBody>
      </p:sp>
      <p:sp>
        <p:nvSpPr>
          <p:cNvPr id="12" name="Text 10"/>
          <p:cNvSpPr txBox="1"/>
          <p:nvPr/>
        </p:nvSpPr>
        <p:spPr>
          <a:xfrm>
            <a:off x="5989320" y="2990088"/>
            <a:ext cx="5440680" cy="3108960"/>
          </a:xfrm>
          <a:prstGeom prst="rect">
            <a:avLst/>
          </a:prstGeom>
          <a:noFill/>
          <a:ln/>
        </p:spPr>
        <p:txBody>
          <a:bodyPr wrap="square" lIns="0" tIns="0" rIns="0" bIns="0" rtlCol="0" anchor="t"/>
          <a:lstStyle/>
          <a:p>
            <a:pPr marL="177800" indent="-177800">
              <a:spcAft>
                <a:spcPts val="700"/>
              </a:spcAft>
              <a:buSzPct val="100000"/>
              <a:buChar char="•"/>
            </a:pPr>
            <a:r>
              <a:rPr lang="en-US" sz="1130" dirty="0">
                <a:solidFill>
                  <a:srgbClr val="1F2A33"/>
                </a:solidFill>
                <a:latin typeface="Calibri" pitchFamily="34" charset="0"/>
                <a:ea typeface="Calibri" pitchFamily="34" charset="-122"/>
                <a:cs typeface="Calibri" pitchFamily="34" charset="-120"/>
              </a:rPr>
              <a:t>¶1 Financial (old bonuses): drove sales &amp; revenue (Taylor) — but caused PPI mis-selling, fines &amp; reputational damage</a:t>
            </a:r>
            <a:endParaRPr lang="en-US" sz="1130" dirty="0"/>
          </a:p>
          <a:p>
            <a:pPr marL="177800" indent="-177800">
              <a:spcAft>
                <a:spcPts val="700"/>
              </a:spcAft>
              <a:buSzPct val="100000"/>
              <a:buChar char="•"/>
            </a:pPr>
            <a:r>
              <a:rPr lang="en-US" sz="1130" dirty="0">
                <a:solidFill>
                  <a:srgbClr val="1F2A33"/>
                </a:solidFill>
                <a:latin typeface="Calibri" pitchFamily="34" charset="0"/>
                <a:ea typeface="Calibri" pitchFamily="34" charset="-122"/>
                <a:cs typeface="Calibri" pitchFamily="34" charset="-120"/>
              </a:rPr>
              <a:t>¶2 Service-based / non-financial: ethical, customer-centric culture, trust, loyalty, lower regulatory risk (Herzberg motivators)</a:t>
            </a:r>
            <a:endParaRPr lang="en-US" sz="1130" dirty="0"/>
          </a:p>
          <a:p>
            <a:pPr marL="177800" indent="-177800">
              <a:spcAft>
                <a:spcPts val="700"/>
              </a:spcAft>
              <a:buSzPct val="100000"/>
              <a:buChar char="•"/>
            </a:pPr>
            <a:r>
              <a:rPr lang="en-US" sz="1130" dirty="0">
                <a:solidFill>
                  <a:srgbClr val="1F2A33"/>
                </a:solidFill>
                <a:latin typeface="Calibri" pitchFamily="34" charset="0"/>
                <a:ea typeface="Calibri" pitchFamily="34" charset="-122"/>
                <a:cs typeface="Calibri" pitchFamily="34" charset="-120"/>
              </a:rPr>
              <a:t>¶3 However: may cut short-term sales; sales-driven staff (Taylor) may feel demotivated by smaller bonuses</a:t>
            </a:r>
            <a:endParaRPr lang="en-US" sz="1130" dirty="0"/>
          </a:p>
          <a:p>
            <a:pPr marL="177800" indent="-177800">
              <a:spcAft>
                <a:spcPts val="700"/>
              </a:spcAft>
              <a:buSzPct val="100000"/>
              <a:buChar char="•"/>
            </a:pPr>
            <a:r>
              <a:rPr lang="en-US" sz="1130" dirty="0">
                <a:solidFill>
                  <a:srgbClr val="1F2A33"/>
                </a:solidFill>
                <a:latin typeface="Calibri" pitchFamily="34" charset="0"/>
                <a:ea typeface="Calibri" pitchFamily="34" charset="-122"/>
                <a:cs typeface="Calibri" pitchFamily="34" charset="-120"/>
              </a:rPr>
              <a:t>¶4 Conclusion (4Ws): a BALANCED strategy — keep some financial incentives tied to service, not just sales — depends on the type of employee &amp; the firm's priorities</a:t>
            </a:r>
            <a:endParaRPr lang="en-US" sz="113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A model 20-mark answer (Barclays) — the body</a:t>
            </a:r>
            <a:endParaRPr lang="en-US" sz="2600" dirty="0"/>
          </a:p>
        </p:txBody>
      </p:sp>
      <p:sp>
        <p:nvSpPr>
          <p:cNvPr id="4" name="Shape 2"/>
          <p:cNvSpPr/>
          <p:nvPr/>
        </p:nvSpPr>
        <p:spPr>
          <a:xfrm>
            <a:off x="548640" y="1371600"/>
            <a:ext cx="11091672" cy="1572768"/>
          </a:xfrm>
          <a:prstGeom prst="roundRect">
            <a:avLst>
              <a:gd name="adj" fmla="val 4651"/>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37160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Financial (for, then against).  </a:t>
            </a:r>
            <a:pPr indent="0" marL="0">
              <a:buNone/>
            </a:pPr>
            <a:r>
              <a:rPr lang="en-US" sz="1180" dirty="0">
                <a:solidFill>
                  <a:srgbClr val="1F2A33"/>
                </a:solidFill>
                <a:latin typeface="Calibri" pitchFamily="34" charset="0"/>
                <a:ea typeface="Calibri" pitchFamily="34" charset="-122"/>
                <a:cs typeface="Calibri" pitchFamily="34" charset="-120"/>
              </a:rPr>
              <a:t>Barclays' old sales-based bonuses used financial motivation, which — as Taylor argued — can drive effort: staff chased sales targets, boosting revenue in the short term. However, tying bonuses to sales created a high-pressure culture that led to the mis-selling of PPI, over £1 billion in fines and serious reputational damage. This shows financial incentives focused purely on sales can compromise ethics and ultimately harm the business.</a:t>
            </a:r>
            <a:endParaRPr lang="en-US" sz="1180" dirty="0"/>
          </a:p>
        </p:txBody>
      </p:sp>
      <p:sp>
        <p:nvSpPr>
          <p:cNvPr id="6" name="Shape 4"/>
          <p:cNvSpPr/>
          <p:nvPr/>
        </p:nvSpPr>
        <p:spPr>
          <a:xfrm>
            <a:off x="548640" y="3017520"/>
            <a:ext cx="11091672" cy="1572768"/>
          </a:xfrm>
          <a:prstGeom prst="roundRect">
            <a:avLst>
              <a:gd name="adj" fmla="val 4651"/>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127248"/>
            <a:ext cx="10607040" cy="1371600"/>
          </a:xfrm>
          <a:prstGeom prst="rect">
            <a:avLst/>
          </a:prstGeom>
          <a:noFill/>
          <a:ln/>
        </p:spPr>
        <p:txBody>
          <a:bodyPr wrap="square" lIns="0" tIns="0" rIns="0" bIns="0" rtlCol="0" anchor="t"/>
          <a:lstStyle/>
          <a:p>
            <a:pPr indent="0" marL="0">
              <a:buNone/>
            </a:pPr>
            <a:r>
              <a:rPr lang="en-US" sz="1180" b="1" dirty="0">
                <a:solidFill>
                  <a:srgbClr val="0B5E66"/>
                </a:solidFill>
                <a:latin typeface="Calibri" pitchFamily="34" charset="0"/>
                <a:ea typeface="Calibri" pitchFamily="34" charset="-122"/>
                <a:cs typeface="Calibri" pitchFamily="34" charset="-120"/>
              </a:rPr>
              <a:t>¶ Service-based / non-financial (for).  </a:t>
            </a:r>
            <a:pPr indent="0" marL="0">
              <a:buNone/>
            </a:pPr>
            <a:r>
              <a:rPr lang="en-US" sz="1180" dirty="0">
                <a:solidFill>
                  <a:srgbClr val="1F2A33"/>
                </a:solidFill>
                <a:latin typeface="Calibri" pitchFamily="34" charset="0"/>
                <a:ea typeface="Calibri" pitchFamily="34" charset="-122"/>
                <a:cs typeface="Calibri" pitchFamily="34" charset="-120"/>
              </a:rPr>
              <a:t>The new customer-service bonus rewards satisfaction rather than raw sales, encouraging an ethical, customer-focused culture. This aligns with Herzberg's motivators — staff feel recognised for doing good work — and should rebuild trust, improve brand reputation and foster long-term loyalty while cutting regulatory risk. It is also cheaper, saving around £20 million a year.</a:t>
            </a:r>
            <a:endParaRPr lang="en-US" sz="1180" dirty="0"/>
          </a:p>
        </p:txBody>
      </p:sp>
      <p:sp>
        <p:nvSpPr>
          <p:cNvPr id="8" name="Shape 6"/>
          <p:cNvSpPr/>
          <p:nvPr/>
        </p:nvSpPr>
        <p:spPr>
          <a:xfrm>
            <a:off x="548640" y="4663440"/>
            <a:ext cx="11091672" cy="1517904"/>
          </a:xfrm>
          <a:prstGeom prst="roundRect">
            <a:avLst>
              <a:gd name="adj" fmla="val 4819"/>
            </a:avLst>
          </a:prstGeom>
          <a:solidFill>
            <a:srgbClr val="F9EAE6"/>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773168"/>
            <a:ext cx="10607040" cy="1316736"/>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However (balance).  </a:t>
            </a:r>
            <a:pPr indent="0" marL="0">
              <a:buNone/>
            </a:pPr>
            <a:r>
              <a:rPr lang="en-US" sz="1180" dirty="0">
                <a:solidFill>
                  <a:srgbClr val="1F2A33"/>
                </a:solidFill>
                <a:latin typeface="Calibri" pitchFamily="34" charset="0"/>
                <a:ea typeface="Calibri" pitchFamily="34" charset="-122"/>
                <a:cs typeface="Calibri" pitchFamily="34" charset="-120"/>
              </a:rPr>
              <a:t>However, moving away from sales incentives may lower short-term sales and revenue. Staff used to high sales bonuses — the Taylor-motivated employees — may feel demotivated by smaller, service-linked payouts, which could hurt morale and retention just as the new system beds in.</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E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conclusion — and how to reach the top band</a:t>
            </a:r>
            <a:endParaRPr lang="en-US" sz="2600" dirty="0"/>
          </a:p>
        </p:txBody>
      </p:sp>
      <p:sp>
        <p:nvSpPr>
          <p:cNvPr id="4" name="Shape 2"/>
          <p:cNvSpPr/>
          <p:nvPr/>
        </p:nvSpPr>
        <p:spPr>
          <a:xfrm>
            <a:off x="548640" y="1371600"/>
            <a:ext cx="11091672" cy="1874520"/>
          </a:xfrm>
          <a:prstGeom prst="roundRect">
            <a:avLst>
              <a:gd name="adj" fmla="val 3902"/>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5486400" cy="274320"/>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CONCLUSION (4Ws)</a:t>
            </a:r>
            <a:endParaRPr lang="en-US" sz="1050" dirty="0"/>
          </a:p>
        </p:txBody>
      </p:sp>
      <p:sp>
        <p:nvSpPr>
          <p:cNvPr id="6" name="Text 4"/>
          <p:cNvSpPr txBox="1"/>
          <p:nvPr/>
        </p:nvSpPr>
        <p:spPr>
          <a:xfrm>
            <a:off x="777240" y="1773936"/>
            <a:ext cx="10607040" cy="141732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Overall, the most effective approach for Barclays is a BALANCED strategy that keeps some financial incentives but ties them to customer service and ethical behaviour rather than raw sales. This protects the firm's reputation and meets Herzberg's motivators, while still rewarding results for the more sales-driven, Taylor-motivated staff. A purely financial, sales-based system caused the mis-selling scandal, but removing financial reward entirely could demotivate some employees. The right balance therefore depends on the mix of employees and on Barclays prioritising long-term trust over short-term sales — which, after £1 billion in fines, it clearly must.</a:t>
            </a:r>
            <a:endParaRPr lang="en-US" sz="1250" dirty="0"/>
          </a:p>
        </p:txBody>
      </p:sp>
      <p:sp>
        <p:nvSpPr>
          <p:cNvPr id="7" name="Shape 5"/>
          <p:cNvSpPr/>
          <p:nvPr/>
        </p:nvSpPr>
        <p:spPr>
          <a:xfrm>
            <a:off x="548640" y="3474720"/>
            <a:ext cx="5440680" cy="2697480"/>
          </a:xfrm>
          <a:prstGeom prst="roundRect">
            <a:avLst>
              <a:gd name="adj" fmla="val 2712"/>
            </a:avLst>
          </a:prstGeom>
          <a:solidFill>
            <a:srgbClr val="E8F3EC"/>
          </a:solidFill>
          <a:ln/>
          <a:effectLst>
            <a:outerShdw sx="100000" sy="100000" kx="0" ky="0" algn="bl" rotWithShape="0" blurRad="76200" dist="25400" dir="5400000">
              <a:srgbClr val="9AAAB0">
                <a:alpha val="28000"/>
              </a:srgbClr>
            </a:outerShdw>
          </a:effectLst>
        </p:spPr>
      </p:sp>
      <p:sp>
        <p:nvSpPr>
          <p:cNvPr id="8" name="Shape 6"/>
          <p:cNvSpPr/>
          <p:nvPr/>
        </p:nvSpPr>
        <p:spPr>
          <a:xfrm>
            <a:off x="777240" y="3630168"/>
            <a:ext cx="3291840" cy="310896"/>
          </a:xfrm>
          <a:prstGeom prst="roundRect">
            <a:avLst>
              <a:gd name="adj" fmla="val 50000"/>
            </a:avLst>
          </a:prstGeom>
          <a:solidFill>
            <a:srgbClr val="2F8A5B"/>
          </a:solidFill>
          <a:ln/>
        </p:spPr>
      </p:sp>
      <p:sp>
        <p:nvSpPr>
          <p:cNvPr id="9" name="Text 7"/>
          <p:cNvSpPr txBox="1"/>
          <p:nvPr/>
        </p:nvSpPr>
        <p:spPr>
          <a:xfrm>
            <a:off x="777240" y="3630168"/>
            <a:ext cx="3291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TO REACH LEVEL 4</a:t>
            </a:r>
            <a:endParaRPr lang="en-US" sz="1050" dirty="0"/>
          </a:p>
        </p:txBody>
      </p:sp>
      <p:sp>
        <p:nvSpPr>
          <p:cNvPr id="10" name="Text 8"/>
          <p:cNvSpPr txBox="1"/>
          <p:nvPr/>
        </p:nvSpPr>
        <p:spPr>
          <a:xfrm>
            <a:off x="777240"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Argue BOTH financial and non-financial</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Apply Barclays facts (PPI, £1bn fines, £20m saving)</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Weave in theory (Taylor, Herzberg)</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Build 2+ step chains with connectives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Reach a BALANCED judgement + what it depends on</a:t>
            </a:r>
            <a:endParaRPr lang="en-US" sz="1200" dirty="0"/>
          </a:p>
        </p:txBody>
      </p:sp>
      <p:sp>
        <p:nvSpPr>
          <p:cNvPr id="11" name="Shape 9"/>
          <p:cNvSpPr/>
          <p:nvPr/>
        </p:nvSpPr>
        <p:spPr>
          <a:xfrm>
            <a:off x="6199632" y="3474720"/>
            <a:ext cx="5440680" cy="2697480"/>
          </a:xfrm>
          <a:prstGeom prst="roundRect">
            <a:avLst>
              <a:gd name="adj" fmla="val 2712"/>
            </a:avLst>
          </a:prstGeom>
          <a:solidFill>
            <a:srgbClr val="F9EAE6"/>
          </a:solidFill>
          <a:ln/>
          <a:effectLst>
            <a:outerShdw sx="100000" sy="100000" kx="0" ky="0" algn="bl" rotWithShape="0" blurRad="76200" dist="25400" dir="5400000">
              <a:srgbClr val="9AAAB0">
                <a:alpha val="28000"/>
              </a:srgbClr>
            </a:outerShdw>
          </a:effectLst>
        </p:spPr>
      </p:sp>
      <p:sp>
        <p:nvSpPr>
          <p:cNvPr id="12" name="Shape 10"/>
          <p:cNvSpPr/>
          <p:nvPr/>
        </p:nvSpPr>
        <p:spPr>
          <a:xfrm>
            <a:off x="6428232" y="3630168"/>
            <a:ext cx="3840480" cy="310896"/>
          </a:xfrm>
          <a:prstGeom prst="roundRect">
            <a:avLst>
              <a:gd name="adj" fmla="val 50000"/>
            </a:avLst>
          </a:prstGeom>
          <a:solidFill>
            <a:srgbClr val="C14B37"/>
          </a:solidFill>
          <a:ln/>
        </p:spPr>
      </p:sp>
      <p:sp>
        <p:nvSpPr>
          <p:cNvPr id="13" name="Text 11"/>
          <p:cNvSpPr txBox="1"/>
          <p:nvPr/>
        </p:nvSpPr>
        <p:spPr>
          <a:xfrm>
            <a:off x="6428232" y="3630168"/>
            <a:ext cx="3840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WHAT DROPS TO LEVEL 2–3</a:t>
            </a:r>
            <a:endParaRPr lang="en-US" sz="1050" dirty="0"/>
          </a:p>
        </p:txBody>
      </p:sp>
      <p:sp>
        <p:nvSpPr>
          <p:cNvPr id="14" name="Text 12"/>
          <p:cNvSpPr txBox="1"/>
          <p:nvPr/>
        </p:nvSpPr>
        <p:spPr>
          <a:xfrm>
            <a:off x="6428232" y="4069080"/>
            <a:ext cx="4983480" cy="19202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Describing theories with no Barclays context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Only arguing one side (just financial or just non-financial)</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No theory applied to justify points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Chains that stop at ‘staff are motivated’</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No judgement, or no ‘depends on’</a:t>
            </a:r>
            <a:endParaRPr lang="en-US" sz="12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Answering motivation questions</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651760"/>
                <a:gridCol w="6702552"/>
              </a:tblGrid>
              <a:tr h="457200">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Marks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Command</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50" b="1" dirty="0">
                          <a:solidFill>
                            <a:srgbClr val="0E3A43"/>
                          </a:solidFill>
                          <a:latin typeface="Calibri" pitchFamily="34" charset="0"/>
                          <a:ea typeface="Calibri" pitchFamily="34" charset="-122"/>
                          <a:cs typeface="Calibri" pitchFamily="34" charset="-120"/>
                        </a:rPr>
                        <a:t>What to do</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Meaning + an example (profit share, job enrichment, motivator…).</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Explain</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Knowledge + two pieces of evidence + one consequence.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Analyse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Two points, each applied, each with a developed chain. No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8 / 10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Discuss / Assess</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Both sides, applied, + a supported judgement — bring in a theory.</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Evaluate</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50" dirty="0">
                          <a:solidFill>
                            <a:srgbClr val="FFFFFF"/>
                          </a:solidFill>
                          <a:latin typeface="Calibri" pitchFamily="34" charset="0"/>
                          <a:ea typeface="Calibri" pitchFamily="34" charset="-122"/>
                          <a:cs typeface="Calibri" pitchFamily="34" charset="-120"/>
                        </a:rPr>
                        <a:t>5×5: both sides, applied, theory used, + a supported ‘it depends’ judgement.</a:t>
                      </a:r>
                      <a:endParaRPr lang="en-US" sz="135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715000"/>
            <a:ext cx="10515600" cy="457200"/>
          </a:xfrm>
          <a:prstGeom prst="rect">
            <a:avLst/>
          </a:prstGeom>
          <a:noFill/>
          <a:ln/>
        </p:spPr>
        <p:txBody>
          <a:bodyPr wrap="square" lIns="0" tIns="0" rIns="0" bIns="0" rtlCol="0" anchor="ctr"/>
          <a:lstStyle/>
          <a:p>
            <a:pPr indent="0" marL="0">
              <a:buNone/>
            </a:pPr>
            <a:r>
              <a:rPr lang="en-US" sz="1250" i="1" dirty="0">
                <a:solidFill>
                  <a:srgbClr val="9FBCC0"/>
                </a:solidFill>
                <a:latin typeface="Calibri" pitchFamily="34" charset="0"/>
                <a:ea typeface="Calibri" pitchFamily="34" charset="-122"/>
                <a:cs typeface="Calibri" pitchFamily="34" charset="-120"/>
              </a:rPr>
              <a:t>Golden idea (Herzberg): pay stops dissatisfaction but doesn't truly motivate — real, lasting motivation comes from the job itself. Use a theory to justify every method.</a:t>
            </a:r>
            <a:endParaRPr lang="en-US" sz="1250" dirty="0"/>
          </a:p>
        </p:txBody>
      </p:sp>
      <p:sp>
        <p:nvSpPr>
          <p:cNvPr id="6" name="Text 3"/>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Next in 1.3.4: Leadership — the final section.</a:t>
            </a:r>
            <a:endParaRPr lang="en-US" sz="1250" dirty="0"/>
          </a:p>
        </p:txBody>
      </p:sp>
    </p:spTree>
  </p:cSld>
  <p:clrMapOvr>
    <a:masterClrMapping/>
  </p:clrMapOvr>
</p:sld>
</file>

<file path=ppt/theme/theme1.xml><?xml version="1.0" encoding="utf-8"?>
<a:theme xmlns:a="http://schemas.openxmlformats.org/drawingml/2006/main" name="IAL Managing People">
  <a:themeElements>
    <a:clrScheme name="IAL Managing People">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Managing Peo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2026-10-20T13:55:31Z</dcterms:created>
  <dcterms:modified xsi:type="dcterms:W3CDTF">2026-10-20T13:55:31Z</dcterms:modified>
</cp:coreProperties>
</file>