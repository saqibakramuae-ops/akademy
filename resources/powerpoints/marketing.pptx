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Marketing objectives" id="{bb5bd8bd-02ca-5603-5376-bbe2bf80edef}">
          <p14:sldIdLst>
            <p14:sldId id="258"/>
            <p14:sldId id="259"/>
            <p14:sldId id="260"/>
            <p14:sldId id="261"/>
            <p14:sldId id="262"/>
            <p14:sldId id="263"/>
          </p14:sldIdLst>
        </p14:section>
        <p14:section name="B · Product life cycle" id="{171db2b5-98de-aa9a-4624-7d3f0f162f7d}">
          <p14:sldIdLst>
            <p14:sldId id="264"/>
            <p14:sldId id="265"/>
            <p14:sldId id="266"/>
            <p14:sldId id="267"/>
            <p14:sldId id="268"/>
            <p14:sldId id="269"/>
            <p14:sldId id="270"/>
            <p14:sldId id="271"/>
          </p14:sldIdLst>
        </p14:section>
        <p14:section name="C · Boston Matrix" id="{7ebd97da-013a-e91c-4b1d-14d7066a8dbd}">
          <p14:sldIdLst>
            <p14:sldId id="272"/>
            <p14:sldId id="273"/>
            <p14:sldId id="274"/>
            <p14:sldId id="275"/>
            <p14:sldId id="276"/>
          </p14:sldIdLst>
        </p14:section>
        <p14:section name="D · Marketing mix" id="{f4d3e420-9779-2653-1ccd-23c06f3e238b}">
          <p14:sldIdLst>
            <p14:sldId id="277"/>
            <p14:sldId id="278"/>
            <p14:sldId id="279"/>
            <p14:sldId id="280"/>
          </p14:sldIdLst>
        </p14:section>
        <p14:section name="E · Market strategies" id="{87f037dc-3985-73f8-0da4-dee48afb3ee7}">
          <p14:sldIdLst>
            <p14:sldId id="281"/>
            <p14:sldId id="282"/>
            <p14:sldId id="283"/>
            <p14:sldId id="284"/>
          </p14:sldIdLst>
        </p14:section>
        <p14:section name="F · Customer loyalty" id="{ee04dcd8-772c-6bf2-6a13-b90396fb5517}">
          <p14:sldIdLst>
            <p14:sldId id="285"/>
            <p14:sldId id="286"/>
            <p14:sldId id="287"/>
          </p14:sldIdLst>
        </p14:section>
        <p14:section name="Default-1" id="{f5cf1986-264b-2b23-1d08-d37da7c23a50}">
          <p14:sldIdLst>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Sales</c:v>
                </c:pt>
              </c:strCache>
            </c:strRef>
          </c:tx>
          <c:spPr>
            <a:solidFill>
              <a:srgbClr val="0E7C86">
                <a:alpha val="100000"/>
              </a:srgbClr>
            </a:solidFill>
            <a:ln w="50800" cap="flat">
              <a:solidFill>
                <a:srgbClr val="0E7C8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E7C86"/>
              </a:solidFill>
              <a:ln w="9525" cap="flat">
                <a:solidFill>
                  <a:srgbClr val="0E7C86"/>
                </a:solidFill>
                <a:prstDash val="solid"/>
                <a:round/>
              </a:ln>
              <a:effectLst/>
            </c:spPr>
          </c:marker>
          <c:cat>
            <c:multiLvlStrRef>
              <c:f>Sheet1!$A$2:$A$6</c:f>
              <c:multiLvlStrCache>
                <c:ptCount val="5"/>
                <c:lvl>
                  <c:pt idx="0">
                    <c:v>Development</c:v>
                  </c:pt>
                  <c:pt idx="1">
                    <c:v>Introduction</c:v>
                  </c:pt>
                  <c:pt idx="2">
                    <c:v>Growth</c:v>
                  </c:pt>
                  <c:pt idx="3">
                    <c:v>Maturity</c:v>
                  </c:pt>
                  <c:pt idx="4">
                    <c:v>Decline</c:v>
                  </c:pt>
                </c:lvl>
              </c:multiLvlStrCache>
            </c:multiLvlStrRef>
          </c:cat>
          <c:val>
            <c:numRef>
              <c:f>Sheet1!$B$2:$B$6</c:f>
              <c:numCache>
                <c:formatCode>General</c:formatCode>
                <c:ptCount val="5"/>
                <c:pt idx="0">
                  <c:v>2</c:v>
                </c:pt>
                <c:pt idx="1">
                  <c:v>8</c:v>
                </c:pt>
                <c:pt idx="2">
                  <c:v>55</c:v>
                </c:pt>
                <c:pt idx="3">
                  <c:v>95</c:v>
                </c:pt>
                <c:pt idx="4">
                  <c:v>45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0E3A43"/>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deck covering the whole of spec 1.3.3 point 1 (a-f). Not the classroom TLAG format: this is a teach-and-practise reference. Each element gives a definition, advantages, disadvantages and a real business example, followed by exam questions at the end of each section. Figures carried from the student's 2026 class deck were verified at build time; re-check any time-sensitive figure at point of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order follows the specification a-f. Remind the student that marketing OBJECTIVES (the goals) are achieved through marketing STRATEGY and the marketing MIX (the methods). Each section ends with exam questions built around a real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distinction to drill: objective = the goal (measurable), strategy/mix = the methods. Cold-call check: 'Launch a cheaper model in India' - objective or strategy? (Strategy.) 'Raise India share from 7% to 10% by 2027' - objective. The next three slides take each objective in turn: definition, advantages, disadvantages, real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Draw/explain the curve: sales start low, rise through growth, peak and flatten at maturity, then fall in decline. An extension strategy (next slides) lifts the curve back up before decline. Note not every product passes through every stage, and lengths vary (Heinz Baked Beans = decades; a fashion item or phone model = short). The vertical axis is sales; horizontal 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this table into OneNote with one real example per stage. Link each stage to pricing: skimming (high launch price, e.g. new tech) vs penetration (low price to build share). Growth = rivals arrive; maturity = differentiation keeps you ahead; decline = harvest (milk with little spend) or withdraw.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'snapshot / time-lag' point is the key evaluation line for the 10-marker. Stress: the model describes, it does not predict. A business still needs sales data, market research and judgement alongside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Extensions cost money, so they only make sense if the extra sales are worth more than the cost. Each has a risk: modifying/widening the range adds cost and can confuse customers; rebranding can alienate loyal buyers; cutting price can cannibalise newer products. Tie to Nintendo: cheap original Switch bundles could cannibalise Switch 2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Tesla is a strong application case: it shows extension by product modification done digitally. Push the student to CONTEXTUALISE - name the update mechanism and link it to a consequence for Tesla, not just 'Tesla is innovative'.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how each part maps to the mark scheme: K (define + stages), A (Nutri-Grain figures/rivals), An (developed chains with connectives), E (balanced + supported judgement with a 'depends on'). This is the Level 4 shape. Ask the student to highlight the connectives: because, this means, as a result, however, overall,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MARKET growth (the whole market), not the firm's own sales growth - a classic error. Traditional layout puts high share on the left. Link to PLC: question mark ≈ introduction, star ≈ growth, cash cow ≈ maturity, dog ≈ decline. Cash flow idea: cows generate cash that funds stars and question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row fill should read as a header - if LibreOffice shows it white, that is a render quirk; PowerPoint applies the bold white text on the default accent. Discuss: a dog is not always 'drop it' - it may support sales of other products or still make a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benefits/drawbacks come from the LEGO/Apple activity sheet. Use the Apple debate to teach evaluation: the matrix would label Mac a dog, but its 12% growth and role in the ecosystem make 'divest' a poor call - the tool ignores links between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 needs the CONCEPT of the mix here; each P is studied in detail later (1.3.3 points 2-5). The evaluation idea for the mix: consistency. Ask: 'What happens to Apple's brand if it sells at discount supermarkets?' (Place undermines the premium image - mix inconsistency.)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Emirates is the anchor case for the 4-marker on the next slide. The 'which P matters most' debate is a useful evaluation habit - the strongest answers say it DEPENDS (on the product/market) rather than naming one P in the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student for one UAE example of each (e.g. mass: a supermarket own-brand; niche: a bespoke tailor or luxury dessert shop). The evaluation line: strategy must match market size and customer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sort to check understanding: Noon.com selling phones to shoppers = mass, B2C; a firm making cooling systems for data centres = niche, B2B; a bakery making gluten-free cakes to order = niche, B2C; Coca-Cola selling to supermarkets = mass, B2B (but advertises to consumers). Point 4 is a great discussion: many firms operate in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line: loyalty is earned by the WHOLE experience - a points scheme cannot fix a poor product. Link forward to branding and price elasticity: loyal customers are less price-sensitive, so loyalty protects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gaps to flag: two 'ways' that are really the same; no Skywards fact; a consequence that stops at 'customers are happy' instead of reaching an impact on Emirates (protected revenue, repeat bookings). No evaluation needed at 6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tutoring session here: the student should leave able to (1) define each of the a-f ideas, (2) give a real example, and (3) see how the command word shapes the answer. Use connectives on screen: because, this means, as a result, therefore, however, overall,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37376"/>
            <a:ext cx="960120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IAL Business  ·  Unit 1  ·  Spec 1.3.3 (1) Marketing objectives &amp; strategy</a:t>
            </a:r>
            <a:endParaRPr lang="en-US" sz="9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371600"/>
            <a:ext cx="10515600" cy="365760"/>
          </a:xfrm>
          <a:prstGeom prst="rect">
            <a:avLst/>
          </a:prstGeom>
          <a:noFill/>
          <a:ln/>
        </p:spPr>
        <p:txBody>
          <a:bodyPr wrap="square" lIns="0" tIns="0" rIns="0" bIns="0" rtlCol="0" anchor="ctr"/>
          <a:lstStyle/>
          <a:p>
            <a:pPr indent="0" marL="0">
              <a:buNone/>
            </a:pPr>
            <a:r>
              <a:rPr lang="en-US" sz="1250" b="1" spc="150" kern="0" dirty="0">
                <a:solidFill>
                  <a:srgbClr val="7FC4CB"/>
                </a:solidFill>
                <a:latin typeface="Calibri" pitchFamily="34" charset="0"/>
                <a:ea typeface="Calibri" pitchFamily="34" charset="-122"/>
                <a:cs typeface="Calibri" pitchFamily="34" charset="-120"/>
              </a:rPr>
              <a:t>PEARSON EDEXCEL  ·  INTERNATIONAL A LEVEL BUSINESS  ·  UNIT 1 (WBS11)</a:t>
            </a:r>
            <a:endParaRPr lang="en-US" sz="1250" dirty="0"/>
          </a:p>
        </p:txBody>
      </p:sp>
      <p:sp>
        <p:nvSpPr>
          <p:cNvPr id="3" name="Text 1"/>
          <p:cNvSpPr txBox="1"/>
          <p:nvPr/>
        </p:nvSpPr>
        <p:spPr>
          <a:xfrm>
            <a:off x="822960" y="1828800"/>
            <a:ext cx="10515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Marketing Objectives &amp; Strategy</a:t>
            </a:r>
            <a:endParaRPr lang="en-US" sz="4600" dirty="0"/>
          </a:p>
        </p:txBody>
      </p:sp>
      <p:sp>
        <p:nvSpPr>
          <p:cNvPr id="4" name="Text 2"/>
          <p:cNvSpPr txBox="1"/>
          <p:nvPr/>
        </p:nvSpPr>
        <p:spPr>
          <a:xfrm>
            <a:off x="822960" y="2834640"/>
            <a:ext cx="10332720" cy="457200"/>
          </a:xfrm>
          <a:prstGeom prst="rect">
            <a:avLst/>
          </a:prstGeom>
          <a:noFill/>
          <a:ln/>
        </p:spPr>
        <p:txBody>
          <a:bodyPr wrap="square" lIns="0" tIns="0" rIns="0" bIns="0" rtlCol="0" anchor="ctr"/>
          <a:lstStyle/>
          <a:p>
            <a:pPr indent="0" marL="0">
              <a:buNone/>
            </a:pPr>
            <a:r>
              <a:rPr lang="en-US" sz="1700" i="1" dirty="0">
                <a:solidFill>
                  <a:srgbClr val="D7E6E8"/>
                </a:solidFill>
                <a:latin typeface="Calibri" pitchFamily="34" charset="0"/>
                <a:ea typeface="Calibri" pitchFamily="34" charset="-122"/>
                <a:cs typeface="Calibri" pitchFamily="34" charset="-120"/>
              </a:rPr>
              <a:t>Spec 1.3.3 (1)  —  a tutoring guide: what each idea means, real examples, and exam practice</a:t>
            </a:r>
            <a:endParaRPr lang="en-US" sz="1700" dirty="0"/>
          </a:p>
        </p:txBody>
      </p:sp>
      <p:sp>
        <p:nvSpPr>
          <p:cNvPr id="5" name="Shape 3"/>
          <p:cNvSpPr/>
          <p:nvPr/>
        </p:nvSpPr>
        <p:spPr>
          <a:xfrm>
            <a:off x="822960" y="3886200"/>
            <a:ext cx="2560320" cy="420624"/>
          </a:xfrm>
          <a:prstGeom prst="roundRect">
            <a:avLst>
              <a:gd name="adj" fmla="val 50000"/>
            </a:avLst>
          </a:prstGeom>
          <a:solidFill>
            <a:srgbClr val="0B2E35"/>
          </a:solidFill>
          <a:ln w="12700">
            <a:solidFill>
              <a:srgbClr val="0E7C86"/>
            </a:solidFill>
            <a:prstDash val="solid"/>
          </a:ln>
        </p:spPr>
      </p:sp>
      <p:sp>
        <p:nvSpPr>
          <p:cNvPr id="6" name="Text 4"/>
          <p:cNvSpPr txBox="1"/>
          <p:nvPr/>
        </p:nvSpPr>
        <p:spPr>
          <a:xfrm>
            <a:off x="822960" y="3886200"/>
            <a:ext cx="2560320"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a · Marketing objectives</a:t>
            </a:r>
            <a:endParaRPr lang="en-US" sz="1250" dirty="0"/>
          </a:p>
        </p:txBody>
      </p:sp>
      <p:sp>
        <p:nvSpPr>
          <p:cNvPr id="7" name="Shape 5"/>
          <p:cNvSpPr/>
          <p:nvPr/>
        </p:nvSpPr>
        <p:spPr>
          <a:xfrm>
            <a:off x="3566160" y="3886200"/>
            <a:ext cx="2368296" cy="420624"/>
          </a:xfrm>
          <a:prstGeom prst="roundRect">
            <a:avLst>
              <a:gd name="adj" fmla="val 50000"/>
            </a:avLst>
          </a:prstGeom>
          <a:solidFill>
            <a:srgbClr val="0B2E35"/>
          </a:solidFill>
          <a:ln w="12700">
            <a:solidFill>
              <a:srgbClr val="0E7C86"/>
            </a:solidFill>
            <a:prstDash val="solid"/>
          </a:ln>
        </p:spPr>
      </p:sp>
      <p:sp>
        <p:nvSpPr>
          <p:cNvPr id="8" name="Text 6"/>
          <p:cNvSpPr txBox="1"/>
          <p:nvPr/>
        </p:nvSpPr>
        <p:spPr>
          <a:xfrm>
            <a:off x="3566160" y="3886200"/>
            <a:ext cx="2368296"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b · Product life cycle</a:t>
            </a:r>
            <a:endParaRPr lang="en-US" sz="1250" dirty="0"/>
          </a:p>
        </p:txBody>
      </p:sp>
      <p:sp>
        <p:nvSpPr>
          <p:cNvPr id="9" name="Shape 7"/>
          <p:cNvSpPr/>
          <p:nvPr/>
        </p:nvSpPr>
        <p:spPr>
          <a:xfrm>
            <a:off x="6117336" y="3886200"/>
            <a:ext cx="1888236" cy="420624"/>
          </a:xfrm>
          <a:prstGeom prst="roundRect">
            <a:avLst>
              <a:gd name="adj" fmla="val 50000"/>
            </a:avLst>
          </a:prstGeom>
          <a:solidFill>
            <a:srgbClr val="0B2E35"/>
          </a:solidFill>
          <a:ln w="12700">
            <a:solidFill>
              <a:srgbClr val="0E7C86"/>
            </a:solidFill>
            <a:prstDash val="solid"/>
          </a:ln>
        </p:spPr>
      </p:sp>
      <p:sp>
        <p:nvSpPr>
          <p:cNvPr id="10" name="Text 8"/>
          <p:cNvSpPr txBox="1"/>
          <p:nvPr/>
        </p:nvSpPr>
        <p:spPr>
          <a:xfrm>
            <a:off x="6117336" y="3886200"/>
            <a:ext cx="1888236"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c · Boston Matrix</a:t>
            </a:r>
            <a:endParaRPr lang="en-US" sz="1250" dirty="0"/>
          </a:p>
        </p:txBody>
      </p:sp>
      <p:sp>
        <p:nvSpPr>
          <p:cNvPr id="11" name="Shape 9"/>
          <p:cNvSpPr/>
          <p:nvPr/>
        </p:nvSpPr>
        <p:spPr>
          <a:xfrm>
            <a:off x="8188452" y="3886200"/>
            <a:ext cx="1888236" cy="420624"/>
          </a:xfrm>
          <a:prstGeom prst="roundRect">
            <a:avLst>
              <a:gd name="adj" fmla="val 50000"/>
            </a:avLst>
          </a:prstGeom>
          <a:solidFill>
            <a:srgbClr val="0B2E35"/>
          </a:solidFill>
          <a:ln w="12700">
            <a:solidFill>
              <a:srgbClr val="0E7C86"/>
            </a:solidFill>
            <a:prstDash val="solid"/>
          </a:ln>
        </p:spPr>
      </p:sp>
      <p:sp>
        <p:nvSpPr>
          <p:cNvPr id="12" name="Text 10"/>
          <p:cNvSpPr txBox="1"/>
          <p:nvPr/>
        </p:nvSpPr>
        <p:spPr>
          <a:xfrm>
            <a:off x="8188452" y="3886200"/>
            <a:ext cx="1888236"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d · Marketing mix</a:t>
            </a:r>
            <a:endParaRPr lang="en-US" sz="1250" dirty="0"/>
          </a:p>
        </p:txBody>
      </p:sp>
      <p:sp>
        <p:nvSpPr>
          <p:cNvPr id="13" name="Shape 11"/>
          <p:cNvSpPr/>
          <p:nvPr/>
        </p:nvSpPr>
        <p:spPr>
          <a:xfrm>
            <a:off x="822960" y="4453128"/>
            <a:ext cx="2272284" cy="420624"/>
          </a:xfrm>
          <a:prstGeom prst="roundRect">
            <a:avLst>
              <a:gd name="adj" fmla="val 50000"/>
            </a:avLst>
          </a:prstGeom>
          <a:solidFill>
            <a:srgbClr val="0B2E35"/>
          </a:solidFill>
          <a:ln w="12700">
            <a:solidFill>
              <a:srgbClr val="0E7C86"/>
            </a:solidFill>
            <a:prstDash val="solid"/>
          </a:ln>
        </p:spPr>
      </p:sp>
      <p:sp>
        <p:nvSpPr>
          <p:cNvPr id="14" name="Text 12"/>
          <p:cNvSpPr txBox="1"/>
          <p:nvPr/>
        </p:nvSpPr>
        <p:spPr>
          <a:xfrm>
            <a:off x="822960" y="4453128"/>
            <a:ext cx="2272284"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e · Market strategies</a:t>
            </a:r>
            <a:endParaRPr lang="en-US" sz="1250" dirty="0"/>
          </a:p>
        </p:txBody>
      </p:sp>
      <p:sp>
        <p:nvSpPr>
          <p:cNvPr id="15" name="Shape 13"/>
          <p:cNvSpPr/>
          <p:nvPr/>
        </p:nvSpPr>
        <p:spPr>
          <a:xfrm>
            <a:off x="3278124" y="4453128"/>
            <a:ext cx="2176272" cy="420624"/>
          </a:xfrm>
          <a:prstGeom prst="roundRect">
            <a:avLst>
              <a:gd name="adj" fmla="val 50000"/>
            </a:avLst>
          </a:prstGeom>
          <a:solidFill>
            <a:srgbClr val="0B2E35"/>
          </a:solidFill>
          <a:ln w="12700">
            <a:solidFill>
              <a:srgbClr val="0E7C86"/>
            </a:solidFill>
            <a:prstDash val="solid"/>
          </a:ln>
        </p:spPr>
      </p:sp>
      <p:sp>
        <p:nvSpPr>
          <p:cNvPr id="16" name="Text 14"/>
          <p:cNvSpPr txBox="1"/>
          <p:nvPr/>
        </p:nvSpPr>
        <p:spPr>
          <a:xfrm>
            <a:off x="3278124" y="4453128"/>
            <a:ext cx="2176272"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f · Customer loyalty</a:t>
            </a:r>
            <a:endParaRPr lang="en-US" sz="1250" dirty="0"/>
          </a:p>
        </p:txBody>
      </p:sp>
      <p:sp>
        <p:nvSpPr>
          <p:cNvPr id="17" name="Text 15"/>
          <p:cNvSpPr txBox="1"/>
          <p:nvPr/>
        </p:nvSpPr>
        <p:spPr>
          <a:xfrm>
            <a:off x="822960" y="6035040"/>
            <a:ext cx="10515600" cy="365760"/>
          </a:xfrm>
          <a:prstGeom prst="rect">
            <a:avLst/>
          </a:prstGeom>
          <a:noFill/>
          <a:ln/>
        </p:spPr>
        <p:txBody>
          <a:bodyPr wrap="square" lIns="0" tIns="0" rIns="0" bIns="0" rtlCol="0" anchor="ctr"/>
          <a:lstStyle/>
          <a:p>
            <a:pPr indent="0" marL="0">
              <a:buNone/>
            </a:pPr>
            <a:r>
              <a:rPr lang="en-US" sz="1300" dirty="0">
                <a:solidFill>
                  <a:srgbClr val="9FBCC0"/>
                </a:solidFill>
                <a:latin typeface="Calibri" pitchFamily="34" charset="0"/>
                <a:ea typeface="Calibri" pitchFamily="34" charset="-122"/>
                <a:cs typeface="Calibri" pitchFamily="34" charset="-120"/>
              </a:rPr>
              <a:t>Mr. Akram  ·  GEMS Metropole School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What this lesson covers</a:t>
            </a:r>
            <a:endParaRPr lang="en-US" sz="2800" dirty="0"/>
          </a:p>
        </p:txBody>
      </p:sp>
      <p:sp>
        <p:nvSpPr>
          <p:cNvPr id="4" name="Shape 2"/>
          <p:cNvSpPr/>
          <p:nvPr/>
        </p:nvSpPr>
        <p:spPr>
          <a:xfrm>
            <a:off x="548640" y="1417320"/>
            <a:ext cx="11091672" cy="731520"/>
          </a:xfrm>
          <a:prstGeom prst="roundRect">
            <a:avLst>
              <a:gd name="adj" fmla="val 10000"/>
            </a:avLst>
          </a:prstGeom>
          <a:solidFill>
            <a:srgbClr val="EAF3F4"/>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13232" y="1545336"/>
            <a:ext cx="475488" cy="475488"/>
          </a:xfrm>
          <a:prstGeom prst="roundRect">
            <a:avLst>
              <a:gd name="adj" fmla="val 19231"/>
            </a:avLst>
          </a:prstGeom>
          <a:solidFill>
            <a:srgbClr val="0E7C86"/>
          </a:solidFill>
          <a:ln/>
        </p:spPr>
      </p:sp>
      <p:sp>
        <p:nvSpPr>
          <p:cNvPr id="6" name="Text 4"/>
          <p:cNvSpPr txBox="1"/>
          <p:nvPr/>
        </p:nvSpPr>
        <p:spPr>
          <a:xfrm>
            <a:off x="713232" y="154533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7" name="Text 5"/>
          <p:cNvSpPr txBox="1"/>
          <p:nvPr/>
        </p:nvSpPr>
        <p:spPr>
          <a:xfrm>
            <a:off x="1371600" y="1490472"/>
            <a:ext cx="45720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Marketing objectives</a:t>
            </a:r>
            <a:endParaRPr lang="en-US" sz="1450" dirty="0"/>
          </a:p>
        </p:txBody>
      </p:sp>
      <p:sp>
        <p:nvSpPr>
          <p:cNvPr id="8" name="Text 6"/>
          <p:cNvSpPr txBox="1"/>
          <p:nvPr/>
        </p:nvSpPr>
        <p:spPr>
          <a:xfrm>
            <a:off x="6035040" y="1490472"/>
            <a:ext cx="5486400" cy="585216"/>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Market share, revenue and building a brand — the goals marketing works towards</a:t>
            </a:r>
            <a:endParaRPr lang="en-US" sz="1250" dirty="0"/>
          </a:p>
        </p:txBody>
      </p:sp>
      <p:sp>
        <p:nvSpPr>
          <p:cNvPr id="9" name="Shape 7"/>
          <p:cNvSpPr/>
          <p:nvPr/>
        </p:nvSpPr>
        <p:spPr>
          <a:xfrm>
            <a:off x="548640" y="2221992"/>
            <a:ext cx="11091672" cy="731520"/>
          </a:xfrm>
          <a:prstGeom prst="roundRect">
            <a:avLst>
              <a:gd name="adj" fmla="val 10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Shape 8"/>
          <p:cNvSpPr/>
          <p:nvPr/>
        </p:nvSpPr>
        <p:spPr>
          <a:xfrm>
            <a:off x="713232" y="2350008"/>
            <a:ext cx="475488" cy="475488"/>
          </a:xfrm>
          <a:prstGeom prst="roundRect">
            <a:avLst>
              <a:gd name="adj" fmla="val 19231"/>
            </a:avLst>
          </a:prstGeom>
          <a:solidFill>
            <a:srgbClr val="0E7C86"/>
          </a:solidFill>
          <a:ln/>
        </p:spPr>
      </p:sp>
      <p:sp>
        <p:nvSpPr>
          <p:cNvPr id="11" name="Text 9"/>
          <p:cNvSpPr txBox="1"/>
          <p:nvPr/>
        </p:nvSpPr>
        <p:spPr>
          <a:xfrm>
            <a:off x="713232" y="2350008"/>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371600" y="2295144"/>
            <a:ext cx="45720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Product life cycle &amp; extension strategies</a:t>
            </a:r>
            <a:endParaRPr lang="en-US" sz="1450" dirty="0"/>
          </a:p>
        </p:txBody>
      </p:sp>
      <p:sp>
        <p:nvSpPr>
          <p:cNvPr id="13" name="Text 11"/>
          <p:cNvSpPr txBox="1"/>
          <p:nvPr/>
        </p:nvSpPr>
        <p:spPr>
          <a:xfrm>
            <a:off x="6035040" y="2295144"/>
            <a:ext cx="5486400" cy="585216"/>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The stages a product passes through, and how firms stretch the profitable phase</a:t>
            </a:r>
            <a:endParaRPr lang="en-US" sz="1250" dirty="0"/>
          </a:p>
        </p:txBody>
      </p:sp>
      <p:sp>
        <p:nvSpPr>
          <p:cNvPr id="14" name="Shape 12"/>
          <p:cNvSpPr/>
          <p:nvPr/>
        </p:nvSpPr>
        <p:spPr>
          <a:xfrm>
            <a:off x="548640" y="3026664"/>
            <a:ext cx="11091672" cy="731520"/>
          </a:xfrm>
          <a:prstGeom prst="roundRect">
            <a:avLst>
              <a:gd name="adj" fmla="val 10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Shape 13"/>
          <p:cNvSpPr/>
          <p:nvPr/>
        </p:nvSpPr>
        <p:spPr>
          <a:xfrm>
            <a:off x="713232" y="3154680"/>
            <a:ext cx="475488" cy="475488"/>
          </a:xfrm>
          <a:prstGeom prst="roundRect">
            <a:avLst>
              <a:gd name="adj" fmla="val 19231"/>
            </a:avLst>
          </a:prstGeom>
          <a:solidFill>
            <a:srgbClr val="0E7C86"/>
          </a:solidFill>
          <a:ln/>
        </p:spPr>
      </p:sp>
      <p:sp>
        <p:nvSpPr>
          <p:cNvPr id="16" name="Text 14"/>
          <p:cNvSpPr txBox="1"/>
          <p:nvPr/>
        </p:nvSpPr>
        <p:spPr>
          <a:xfrm>
            <a:off x="713232" y="3154680"/>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7" name="Text 15"/>
          <p:cNvSpPr txBox="1"/>
          <p:nvPr/>
        </p:nvSpPr>
        <p:spPr>
          <a:xfrm>
            <a:off x="1371600" y="3099816"/>
            <a:ext cx="45720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The Boston Matrix &amp; product portfolio</a:t>
            </a:r>
            <a:endParaRPr lang="en-US" sz="1450" dirty="0"/>
          </a:p>
        </p:txBody>
      </p:sp>
      <p:sp>
        <p:nvSpPr>
          <p:cNvPr id="18" name="Text 16"/>
          <p:cNvSpPr txBox="1"/>
          <p:nvPr/>
        </p:nvSpPr>
        <p:spPr>
          <a:xfrm>
            <a:off x="6035040" y="3099816"/>
            <a:ext cx="5486400" cy="585216"/>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Judging a firm's range of products by market share and market growth</a:t>
            </a:r>
            <a:endParaRPr lang="en-US" sz="1250" dirty="0"/>
          </a:p>
        </p:txBody>
      </p:sp>
      <p:sp>
        <p:nvSpPr>
          <p:cNvPr id="19" name="Shape 17"/>
          <p:cNvSpPr/>
          <p:nvPr/>
        </p:nvSpPr>
        <p:spPr>
          <a:xfrm>
            <a:off x="548640" y="3831336"/>
            <a:ext cx="11091672" cy="731520"/>
          </a:xfrm>
          <a:prstGeom prst="roundRect">
            <a:avLst>
              <a:gd name="adj" fmla="val 10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0" name="Shape 18"/>
          <p:cNvSpPr/>
          <p:nvPr/>
        </p:nvSpPr>
        <p:spPr>
          <a:xfrm>
            <a:off x="713232" y="3959352"/>
            <a:ext cx="475488" cy="475488"/>
          </a:xfrm>
          <a:prstGeom prst="roundRect">
            <a:avLst>
              <a:gd name="adj" fmla="val 19231"/>
            </a:avLst>
          </a:prstGeom>
          <a:solidFill>
            <a:srgbClr val="0E7C86"/>
          </a:solidFill>
          <a:ln/>
        </p:spPr>
      </p:sp>
      <p:sp>
        <p:nvSpPr>
          <p:cNvPr id="21" name="Text 19"/>
          <p:cNvSpPr txBox="1"/>
          <p:nvPr/>
        </p:nvSpPr>
        <p:spPr>
          <a:xfrm>
            <a:off x="713232" y="3959352"/>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2" name="Text 20"/>
          <p:cNvSpPr txBox="1"/>
          <p:nvPr/>
        </p:nvSpPr>
        <p:spPr>
          <a:xfrm>
            <a:off x="1371600" y="3904488"/>
            <a:ext cx="45720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The concept of the marketing mix</a:t>
            </a:r>
            <a:endParaRPr lang="en-US" sz="1450" dirty="0"/>
          </a:p>
        </p:txBody>
      </p:sp>
      <p:sp>
        <p:nvSpPr>
          <p:cNvPr id="23" name="Text 21"/>
          <p:cNvSpPr txBox="1"/>
          <p:nvPr/>
        </p:nvSpPr>
        <p:spPr>
          <a:xfrm>
            <a:off x="6035040" y="3904488"/>
            <a:ext cx="5486400" cy="585216"/>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How the 4Ps (7Ps) work together to deliver the strategy</a:t>
            </a:r>
            <a:endParaRPr lang="en-US" sz="1250" dirty="0"/>
          </a:p>
        </p:txBody>
      </p:sp>
      <p:sp>
        <p:nvSpPr>
          <p:cNvPr id="24" name="Shape 22"/>
          <p:cNvSpPr/>
          <p:nvPr/>
        </p:nvSpPr>
        <p:spPr>
          <a:xfrm>
            <a:off x="548640" y="4636008"/>
            <a:ext cx="11091672" cy="731520"/>
          </a:xfrm>
          <a:prstGeom prst="roundRect">
            <a:avLst>
              <a:gd name="adj" fmla="val 10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5" name="Shape 23"/>
          <p:cNvSpPr/>
          <p:nvPr/>
        </p:nvSpPr>
        <p:spPr>
          <a:xfrm>
            <a:off x="713232" y="4764024"/>
            <a:ext cx="475488" cy="475488"/>
          </a:xfrm>
          <a:prstGeom prst="roundRect">
            <a:avLst>
              <a:gd name="adj" fmla="val 19231"/>
            </a:avLst>
          </a:prstGeom>
          <a:solidFill>
            <a:srgbClr val="0E7C86"/>
          </a:solidFill>
          <a:ln/>
        </p:spPr>
      </p:sp>
      <p:sp>
        <p:nvSpPr>
          <p:cNvPr id="26" name="Text 24"/>
          <p:cNvSpPr txBox="1"/>
          <p:nvPr/>
        </p:nvSpPr>
        <p:spPr>
          <a:xfrm>
            <a:off x="713232" y="47640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e</a:t>
            </a:r>
            <a:endParaRPr lang="en-US" sz="2200" dirty="0"/>
          </a:p>
        </p:txBody>
      </p:sp>
      <p:sp>
        <p:nvSpPr>
          <p:cNvPr id="27" name="Text 25"/>
          <p:cNvSpPr txBox="1"/>
          <p:nvPr/>
        </p:nvSpPr>
        <p:spPr>
          <a:xfrm>
            <a:off x="1371600" y="4709160"/>
            <a:ext cx="45720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Marketing strategies for different markets</a:t>
            </a:r>
            <a:endParaRPr lang="en-US" sz="1450" dirty="0"/>
          </a:p>
        </p:txBody>
      </p:sp>
      <p:sp>
        <p:nvSpPr>
          <p:cNvPr id="28" name="Text 26"/>
          <p:cNvSpPr txBox="1"/>
          <p:nvPr/>
        </p:nvSpPr>
        <p:spPr>
          <a:xfrm>
            <a:off x="6035040" y="4709160"/>
            <a:ext cx="5486400" cy="585216"/>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Mass, niche, B2B and B2C — why one approach does not suit every market</a:t>
            </a:r>
            <a:endParaRPr lang="en-US" sz="1250" dirty="0"/>
          </a:p>
        </p:txBody>
      </p:sp>
      <p:sp>
        <p:nvSpPr>
          <p:cNvPr id="29" name="Shape 27"/>
          <p:cNvSpPr/>
          <p:nvPr/>
        </p:nvSpPr>
        <p:spPr>
          <a:xfrm>
            <a:off x="548640" y="5440680"/>
            <a:ext cx="11091672" cy="731520"/>
          </a:xfrm>
          <a:prstGeom prst="roundRect">
            <a:avLst>
              <a:gd name="adj" fmla="val 100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30" name="Shape 28"/>
          <p:cNvSpPr/>
          <p:nvPr/>
        </p:nvSpPr>
        <p:spPr>
          <a:xfrm>
            <a:off x="713232" y="5568696"/>
            <a:ext cx="475488" cy="475488"/>
          </a:xfrm>
          <a:prstGeom prst="roundRect">
            <a:avLst>
              <a:gd name="adj" fmla="val 19231"/>
            </a:avLst>
          </a:prstGeom>
          <a:solidFill>
            <a:srgbClr val="0E7C86"/>
          </a:solidFill>
          <a:ln/>
        </p:spPr>
      </p:sp>
      <p:sp>
        <p:nvSpPr>
          <p:cNvPr id="31" name="Text 29"/>
          <p:cNvSpPr txBox="1"/>
          <p:nvPr/>
        </p:nvSpPr>
        <p:spPr>
          <a:xfrm>
            <a:off x="713232" y="55686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f</a:t>
            </a:r>
            <a:endParaRPr lang="en-US" sz="2200" dirty="0"/>
          </a:p>
        </p:txBody>
      </p:sp>
      <p:sp>
        <p:nvSpPr>
          <p:cNvPr id="32" name="Text 30"/>
          <p:cNvSpPr txBox="1"/>
          <p:nvPr/>
        </p:nvSpPr>
        <p:spPr>
          <a:xfrm>
            <a:off x="1371600" y="5513832"/>
            <a:ext cx="45720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Consumer behaviour — customer loyalty</a:t>
            </a:r>
            <a:endParaRPr lang="en-US" sz="1450" dirty="0"/>
          </a:p>
        </p:txBody>
      </p:sp>
      <p:sp>
        <p:nvSpPr>
          <p:cNvPr id="33" name="Text 31"/>
          <p:cNvSpPr txBox="1"/>
          <p:nvPr/>
        </p:nvSpPr>
        <p:spPr>
          <a:xfrm>
            <a:off x="6035040" y="5513832"/>
            <a:ext cx="5486400" cy="585216"/>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How businesses turn one-off buyers into repeat customers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8800" b="1" dirty="0">
                <a:solidFill>
                  <a:srgbClr val="FFFFFF"/>
                </a:solidFill>
                <a:latin typeface="Cambria" pitchFamily="34" charset="0"/>
                <a:ea typeface="Cambria" pitchFamily="34" charset="-122"/>
                <a:cs typeface="Cambria" pitchFamily="34" charset="-120"/>
              </a:rPr>
              <a:t>A</a:t>
            </a:r>
            <a:endParaRPr lang="en-US" sz="88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SECTION A</a:t>
            </a:r>
            <a:endParaRPr lang="en-US" sz="1300" dirty="0"/>
          </a:p>
        </p:txBody>
      </p:sp>
      <p:sp>
        <p:nvSpPr>
          <p:cNvPr id="5" name="Text 3"/>
          <p:cNvSpPr txBox="1"/>
          <p:nvPr/>
        </p:nvSpPr>
        <p:spPr>
          <a:xfrm>
            <a:off x="2834640" y="2487168"/>
            <a:ext cx="8595360" cy="11430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Marketing objectives</a:t>
            </a:r>
            <a:endParaRPr lang="en-US" sz="3600" dirty="0"/>
          </a:p>
        </p:txBody>
      </p:sp>
      <p:sp>
        <p:nvSpPr>
          <p:cNvPr id="6" name="Text 4"/>
          <p:cNvSpPr txBox="1"/>
          <p:nvPr/>
        </p:nvSpPr>
        <p:spPr>
          <a:xfrm>
            <a:off x="2880360" y="3657600"/>
            <a:ext cx="8503920" cy="64008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section:  </a:t>
            </a:r>
            <a:pPr indent="0" marL="0">
              <a:buNone/>
            </a:pPr>
            <a:r>
              <a:rPr lang="en-US" sz="1350" dirty="0">
                <a:solidFill>
                  <a:srgbClr val="D7E6E8"/>
                </a:solidFill>
                <a:latin typeface="Calibri" pitchFamily="34" charset="0"/>
                <a:ea typeface="Calibri" pitchFamily="34" charset="-122"/>
                <a:cs typeface="Calibri" pitchFamily="34" charset="-120"/>
              </a:rPr>
              <a:t>what a marketing objective is  ·  the three in the spec: market share, revenue, building a brand  ·  how each is measured, with pros and cons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MARKETING OBJECTIVES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Objective vs strategy — and the three in the spec</a:t>
            </a:r>
            <a:endParaRPr lang="en-US" sz="2800" dirty="0"/>
          </a:p>
        </p:txBody>
      </p:sp>
      <p:sp>
        <p:nvSpPr>
          <p:cNvPr id="4" name="Shape 2"/>
          <p:cNvSpPr/>
          <p:nvPr/>
        </p:nvSpPr>
        <p:spPr>
          <a:xfrm>
            <a:off x="548640" y="1371600"/>
            <a:ext cx="11091672" cy="1051560"/>
          </a:xfrm>
          <a:prstGeom prst="roundRect">
            <a:avLst>
              <a:gd name="adj" fmla="val 6957"/>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07040" cy="82296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Marketing objective  </a:t>
            </a:r>
            <a:pPr indent="0" marL="0">
              <a:buNone/>
            </a:pPr>
            <a:r>
              <a:rPr lang="en-US" sz="1400" dirty="0">
                <a:solidFill>
                  <a:srgbClr val="1F2A33"/>
                </a:solidFill>
                <a:latin typeface="Calibri" pitchFamily="34" charset="0"/>
                <a:ea typeface="Calibri" pitchFamily="34" charset="-122"/>
                <a:cs typeface="Calibri" pitchFamily="34" charset="-120"/>
              </a:rPr>
              <a:t>= a measurable marketing goal, set for a time period.   </a:t>
            </a:r>
            <a:pPr indent="0" marL="0">
              <a:buNone/>
            </a:pPr>
            <a:r>
              <a:rPr lang="en-US" sz="1400" b="1" dirty="0">
                <a:solidFill>
                  <a:srgbClr val="0B5E66"/>
                </a:solidFill>
                <a:latin typeface="Calibri" pitchFamily="34" charset="0"/>
                <a:ea typeface="Calibri" pitchFamily="34" charset="-122"/>
                <a:cs typeface="Calibri" pitchFamily="34" charset="-120"/>
              </a:rPr>
              <a:t>Marketing strategy  </a:t>
            </a:r>
            <a:pPr indent="0" marL="0">
              <a:buNone/>
            </a:pPr>
            <a:r>
              <a:rPr lang="en-US" sz="1400" dirty="0">
                <a:solidFill>
                  <a:srgbClr val="1F2A33"/>
                </a:solidFill>
                <a:latin typeface="Calibri" pitchFamily="34" charset="0"/>
                <a:ea typeface="Calibri" pitchFamily="34" charset="-122"/>
                <a:cs typeface="Calibri" pitchFamily="34" charset="-120"/>
              </a:rPr>
              <a:t>= the plan used to achieve it.   </a:t>
            </a:r>
            <a:pPr indent="0" marL="0">
              <a:buNone/>
            </a:pPr>
            <a:r>
              <a:rPr lang="en-US" sz="1400" b="1" dirty="0">
                <a:solidFill>
                  <a:srgbClr val="0B5E66"/>
                </a:solidFill>
                <a:latin typeface="Calibri" pitchFamily="34" charset="0"/>
                <a:ea typeface="Calibri" pitchFamily="34" charset="-122"/>
                <a:cs typeface="Calibri" pitchFamily="34" charset="-120"/>
              </a:rPr>
              <a:t>Marketing mix  </a:t>
            </a:r>
            <a:pPr indent="0" marL="0">
              <a:buNone/>
            </a:pPr>
            <a:r>
              <a:rPr lang="en-US" sz="1400" dirty="0">
                <a:solidFill>
                  <a:srgbClr val="1F2A33"/>
                </a:solidFill>
                <a:latin typeface="Calibri" pitchFamily="34" charset="0"/>
                <a:ea typeface="Calibri" pitchFamily="34" charset="-122"/>
                <a:cs typeface="Calibri" pitchFamily="34" charset="-120"/>
              </a:rPr>
              <a:t>= the 4Ps that deliver the plan.</a:t>
            </a:r>
            <a:endParaRPr lang="en-US" sz="1400" dirty="0"/>
          </a:p>
        </p:txBody>
      </p:sp>
      <p:sp>
        <p:nvSpPr>
          <p:cNvPr id="6" name="Text 4"/>
          <p:cNvSpPr txBox="1"/>
          <p:nvPr/>
        </p:nvSpPr>
        <p:spPr>
          <a:xfrm>
            <a:off x="777240" y="1993392"/>
            <a:ext cx="10607040" cy="365760"/>
          </a:xfrm>
          <a:prstGeom prst="rect">
            <a:avLst/>
          </a:prstGeom>
          <a:noFill/>
          <a:ln/>
        </p:spPr>
        <p:txBody>
          <a:bodyPr wrap="square" lIns="0" tIns="0" rIns="0" bIns="0" rtlCol="0" anchor="ctr"/>
          <a:lstStyle/>
          <a:p>
            <a:pPr indent="0" marL="0">
              <a:buNone/>
            </a:pPr>
            <a:r>
              <a:rPr lang="en-US" sz="1250" i="1" dirty="0">
                <a:solidFill>
                  <a:srgbClr val="5B6B73"/>
                </a:solidFill>
                <a:latin typeface="Calibri" pitchFamily="34" charset="0"/>
                <a:ea typeface="Calibri" pitchFamily="34" charset="-122"/>
                <a:cs typeface="Calibri" pitchFamily="34" charset="-120"/>
              </a:rPr>
              <a:t>A good objective is SMART, e.g. “increase UAE market share from 15% to 18% within two years.”</a:t>
            </a:r>
            <a:endParaRPr lang="en-US" sz="1250" dirty="0"/>
          </a:p>
        </p:txBody>
      </p:sp>
      <p:sp>
        <p:nvSpPr>
          <p:cNvPr id="7" name="Shape 5"/>
          <p:cNvSpPr/>
          <p:nvPr/>
        </p:nvSpPr>
        <p:spPr>
          <a:xfrm>
            <a:off x="548640" y="2697480"/>
            <a:ext cx="3575304" cy="2926080"/>
          </a:xfrm>
          <a:prstGeom prst="roundRect">
            <a:avLst>
              <a:gd name="adj" fmla="val 25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8" name="Shape 6"/>
          <p:cNvSpPr/>
          <p:nvPr/>
        </p:nvSpPr>
        <p:spPr>
          <a:xfrm>
            <a:off x="548640" y="2697480"/>
            <a:ext cx="3575304" cy="91440"/>
          </a:xfrm>
          <a:prstGeom prst="roundRect">
            <a:avLst/>
          </a:prstGeom>
          <a:solidFill>
            <a:srgbClr val="0E7C86"/>
          </a:solidFill>
          <a:ln/>
        </p:spPr>
      </p:sp>
      <p:sp>
        <p:nvSpPr>
          <p:cNvPr id="9" name="Text 7"/>
          <p:cNvSpPr txBox="1"/>
          <p:nvPr/>
        </p:nvSpPr>
        <p:spPr>
          <a:xfrm>
            <a:off x="777240" y="2971800"/>
            <a:ext cx="640080" cy="640080"/>
          </a:xfrm>
          <a:prstGeom prst="rect">
            <a:avLst/>
          </a:prstGeom>
          <a:noFill/>
          <a:ln/>
        </p:spPr>
        <p:txBody>
          <a:bodyPr wrap="square" lIns="0" tIns="0" rIns="0" bIns="0" rtlCol="0" anchor="ctr"/>
          <a:lstStyle/>
          <a:p>
            <a:pPr indent="0" marL="0">
              <a:buNone/>
            </a:pPr>
            <a:r>
              <a:rPr lang="en-US" sz="3000" b="1" dirty="0">
                <a:solidFill>
                  <a:srgbClr val="0E7C86"/>
                </a:solidFill>
                <a:latin typeface="Cambria" pitchFamily="34" charset="0"/>
                <a:ea typeface="Cambria" pitchFamily="34" charset="-122"/>
                <a:cs typeface="Cambria" pitchFamily="34" charset="-120"/>
              </a:rPr>
              <a:t>1</a:t>
            </a:r>
            <a:endParaRPr lang="en-US" sz="3000" dirty="0"/>
          </a:p>
        </p:txBody>
      </p:sp>
      <p:sp>
        <p:nvSpPr>
          <p:cNvPr id="10" name="Text 8"/>
          <p:cNvSpPr txBox="1"/>
          <p:nvPr/>
        </p:nvSpPr>
        <p:spPr>
          <a:xfrm>
            <a:off x="777240" y="3657600"/>
            <a:ext cx="3118104" cy="640080"/>
          </a:xfrm>
          <a:prstGeom prst="rect">
            <a:avLst/>
          </a:prstGeom>
          <a:noFill/>
          <a:ln/>
        </p:spPr>
        <p:txBody>
          <a:bodyPr wrap="square" lIns="0" tIns="0" rIns="0" bIns="0" rtlCol="0" anchor="t"/>
          <a:lstStyle/>
          <a:p>
            <a:pPr indent="0" marL="0">
              <a:buNone/>
            </a:pPr>
            <a:r>
              <a:rPr lang="en-US" sz="1700" b="1" dirty="0">
                <a:solidFill>
                  <a:srgbClr val="0E3A43"/>
                </a:solidFill>
                <a:latin typeface="Calibri" pitchFamily="34" charset="0"/>
                <a:ea typeface="Calibri" pitchFamily="34" charset="-122"/>
                <a:cs typeface="Calibri" pitchFamily="34" charset="-120"/>
              </a:rPr>
              <a:t>Increase market share</a:t>
            </a:r>
            <a:endParaRPr lang="en-US" sz="1700" dirty="0"/>
          </a:p>
        </p:txBody>
      </p:sp>
      <p:sp>
        <p:nvSpPr>
          <p:cNvPr id="11" name="Text 9"/>
          <p:cNvSpPr txBox="1"/>
          <p:nvPr/>
        </p:nvSpPr>
        <p:spPr>
          <a:xfrm>
            <a:off x="777240" y="4343400"/>
            <a:ext cx="3118104" cy="1097280"/>
          </a:xfrm>
          <a:prstGeom prst="rect">
            <a:avLst/>
          </a:prstGeom>
          <a:noFill/>
          <a:ln/>
        </p:spPr>
        <p:txBody>
          <a:bodyPr wrap="square" lIns="0" tIns="0" rIns="0" bIns="0" rtlCol="0" anchor="t"/>
          <a:lstStyle/>
          <a:p>
            <a:pPr indent="0" marL="0">
              <a:buNone/>
            </a:pPr>
            <a:r>
              <a:rPr lang="en-US" sz="1300" dirty="0">
                <a:solidFill>
                  <a:srgbClr val="5B6B73"/>
                </a:solidFill>
                <a:latin typeface="Calibri" pitchFamily="34" charset="0"/>
                <a:ea typeface="Calibri" pitchFamily="34" charset="-122"/>
                <a:cs typeface="Calibri" pitchFamily="34" charset="-120"/>
              </a:rPr>
              <a:t>Sales as a % of all sales in the market</a:t>
            </a:r>
            <a:endParaRPr lang="en-US" sz="1300" dirty="0"/>
          </a:p>
        </p:txBody>
      </p:sp>
      <p:sp>
        <p:nvSpPr>
          <p:cNvPr id="12" name="Shape 10"/>
          <p:cNvSpPr/>
          <p:nvPr/>
        </p:nvSpPr>
        <p:spPr>
          <a:xfrm>
            <a:off x="4306824" y="2697480"/>
            <a:ext cx="3575304" cy="2926080"/>
          </a:xfrm>
          <a:prstGeom prst="roundRect">
            <a:avLst>
              <a:gd name="adj" fmla="val 25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Shape 11"/>
          <p:cNvSpPr/>
          <p:nvPr/>
        </p:nvSpPr>
        <p:spPr>
          <a:xfrm>
            <a:off x="4306824" y="2697480"/>
            <a:ext cx="3575304" cy="91440"/>
          </a:xfrm>
          <a:prstGeom prst="roundRect">
            <a:avLst/>
          </a:prstGeom>
          <a:solidFill>
            <a:srgbClr val="E0940F"/>
          </a:solidFill>
          <a:ln/>
        </p:spPr>
      </p:sp>
      <p:sp>
        <p:nvSpPr>
          <p:cNvPr id="14" name="Text 12"/>
          <p:cNvSpPr txBox="1"/>
          <p:nvPr/>
        </p:nvSpPr>
        <p:spPr>
          <a:xfrm>
            <a:off x="4535424" y="2971800"/>
            <a:ext cx="640080" cy="640080"/>
          </a:xfrm>
          <a:prstGeom prst="rect">
            <a:avLst/>
          </a:prstGeom>
          <a:noFill/>
          <a:ln/>
        </p:spPr>
        <p:txBody>
          <a:bodyPr wrap="square" lIns="0" tIns="0" rIns="0" bIns="0" rtlCol="0" anchor="ctr"/>
          <a:lstStyle/>
          <a:p>
            <a:pPr indent="0" marL="0">
              <a:buNone/>
            </a:pPr>
            <a:r>
              <a:rPr lang="en-US" sz="3000" b="1" dirty="0">
                <a:solidFill>
                  <a:srgbClr val="E0940F"/>
                </a:solidFill>
                <a:latin typeface="Cambria" pitchFamily="34" charset="0"/>
                <a:ea typeface="Cambria" pitchFamily="34" charset="-122"/>
                <a:cs typeface="Cambria" pitchFamily="34" charset="-120"/>
              </a:rPr>
              <a:t>2</a:t>
            </a:r>
            <a:endParaRPr lang="en-US" sz="3000" dirty="0"/>
          </a:p>
        </p:txBody>
      </p:sp>
      <p:sp>
        <p:nvSpPr>
          <p:cNvPr id="15" name="Text 13"/>
          <p:cNvSpPr txBox="1"/>
          <p:nvPr/>
        </p:nvSpPr>
        <p:spPr>
          <a:xfrm>
            <a:off x="4535424" y="3657600"/>
            <a:ext cx="3118104" cy="640080"/>
          </a:xfrm>
          <a:prstGeom prst="rect">
            <a:avLst/>
          </a:prstGeom>
          <a:noFill/>
          <a:ln/>
        </p:spPr>
        <p:txBody>
          <a:bodyPr wrap="square" lIns="0" tIns="0" rIns="0" bIns="0" rtlCol="0" anchor="t"/>
          <a:lstStyle/>
          <a:p>
            <a:pPr indent="0" marL="0">
              <a:buNone/>
            </a:pPr>
            <a:r>
              <a:rPr lang="en-US" sz="1700" b="1" dirty="0">
                <a:solidFill>
                  <a:srgbClr val="0E3A43"/>
                </a:solidFill>
                <a:latin typeface="Calibri" pitchFamily="34" charset="0"/>
                <a:ea typeface="Calibri" pitchFamily="34" charset="-122"/>
                <a:cs typeface="Calibri" pitchFamily="34" charset="-120"/>
              </a:rPr>
              <a:t>Increase revenue</a:t>
            </a:r>
            <a:endParaRPr lang="en-US" sz="1700" dirty="0"/>
          </a:p>
        </p:txBody>
      </p:sp>
      <p:sp>
        <p:nvSpPr>
          <p:cNvPr id="16" name="Text 14"/>
          <p:cNvSpPr txBox="1"/>
          <p:nvPr/>
        </p:nvSpPr>
        <p:spPr>
          <a:xfrm>
            <a:off x="4535424" y="4343400"/>
            <a:ext cx="3118104" cy="1097280"/>
          </a:xfrm>
          <a:prstGeom prst="rect">
            <a:avLst/>
          </a:prstGeom>
          <a:noFill/>
          <a:ln/>
        </p:spPr>
        <p:txBody>
          <a:bodyPr wrap="square" lIns="0" tIns="0" rIns="0" bIns="0" rtlCol="0" anchor="t"/>
          <a:lstStyle/>
          <a:p>
            <a:pPr indent="0" marL="0">
              <a:buNone/>
            </a:pPr>
            <a:r>
              <a:rPr lang="en-US" sz="1300" dirty="0">
                <a:solidFill>
                  <a:srgbClr val="5B6B73"/>
                </a:solidFill>
                <a:latin typeface="Calibri" pitchFamily="34" charset="0"/>
                <a:ea typeface="Calibri" pitchFamily="34" charset="-122"/>
                <a:cs typeface="Calibri" pitchFamily="34" charset="-120"/>
              </a:rPr>
              <a:t>Price × quantity sold</a:t>
            </a:r>
            <a:endParaRPr lang="en-US" sz="1300" dirty="0"/>
          </a:p>
        </p:txBody>
      </p:sp>
      <p:sp>
        <p:nvSpPr>
          <p:cNvPr id="17" name="Shape 15"/>
          <p:cNvSpPr/>
          <p:nvPr/>
        </p:nvSpPr>
        <p:spPr>
          <a:xfrm>
            <a:off x="8065008" y="2697480"/>
            <a:ext cx="3575304" cy="2926080"/>
          </a:xfrm>
          <a:prstGeom prst="roundRect">
            <a:avLst>
              <a:gd name="adj" fmla="val 25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8" name="Shape 16"/>
          <p:cNvSpPr/>
          <p:nvPr/>
        </p:nvSpPr>
        <p:spPr>
          <a:xfrm>
            <a:off x="8065008" y="2697480"/>
            <a:ext cx="3575304" cy="91440"/>
          </a:xfrm>
          <a:prstGeom prst="roundRect">
            <a:avLst/>
          </a:prstGeom>
          <a:solidFill>
            <a:srgbClr val="2F8A5B"/>
          </a:solidFill>
          <a:ln/>
        </p:spPr>
      </p:sp>
      <p:sp>
        <p:nvSpPr>
          <p:cNvPr id="19" name="Text 17"/>
          <p:cNvSpPr txBox="1"/>
          <p:nvPr/>
        </p:nvSpPr>
        <p:spPr>
          <a:xfrm>
            <a:off x="8293608" y="2971800"/>
            <a:ext cx="640080" cy="640080"/>
          </a:xfrm>
          <a:prstGeom prst="rect">
            <a:avLst/>
          </a:prstGeom>
          <a:noFill/>
          <a:ln/>
        </p:spPr>
        <p:txBody>
          <a:bodyPr wrap="square" lIns="0" tIns="0" rIns="0" bIns="0" rtlCol="0" anchor="ctr"/>
          <a:lstStyle/>
          <a:p>
            <a:pPr indent="0" marL="0">
              <a:buNone/>
            </a:pPr>
            <a:r>
              <a:rPr lang="en-US" sz="3000" b="1" dirty="0">
                <a:solidFill>
                  <a:srgbClr val="2F8A5B"/>
                </a:solidFill>
                <a:latin typeface="Cambria" pitchFamily="34" charset="0"/>
                <a:ea typeface="Cambria" pitchFamily="34" charset="-122"/>
                <a:cs typeface="Cambria" pitchFamily="34" charset="-120"/>
              </a:rPr>
              <a:t>3</a:t>
            </a:r>
            <a:endParaRPr lang="en-US" sz="3000" dirty="0"/>
          </a:p>
        </p:txBody>
      </p:sp>
      <p:sp>
        <p:nvSpPr>
          <p:cNvPr id="20" name="Text 18"/>
          <p:cNvSpPr txBox="1"/>
          <p:nvPr/>
        </p:nvSpPr>
        <p:spPr>
          <a:xfrm>
            <a:off x="8293608" y="3657600"/>
            <a:ext cx="3118104" cy="640080"/>
          </a:xfrm>
          <a:prstGeom prst="rect">
            <a:avLst/>
          </a:prstGeom>
          <a:noFill/>
          <a:ln/>
        </p:spPr>
        <p:txBody>
          <a:bodyPr wrap="square" lIns="0" tIns="0" rIns="0" bIns="0" rtlCol="0" anchor="t"/>
          <a:lstStyle/>
          <a:p>
            <a:pPr indent="0" marL="0">
              <a:buNone/>
            </a:pPr>
            <a:r>
              <a:rPr lang="en-US" sz="1700" b="1" dirty="0">
                <a:solidFill>
                  <a:srgbClr val="0E3A43"/>
                </a:solidFill>
                <a:latin typeface="Calibri" pitchFamily="34" charset="0"/>
                <a:ea typeface="Calibri" pitchFamily="34" charset="-122"/>
                <a:cs typeface="Calibri" pitchFamily="34" charset="-120"/>
              </a:rPr>
              <a:t>Build a brand</a:t>
            </a:r>
            <a:endParaRPr lang="en-US" sz="1700" dirty="0"/>
          </a:p>
        </p:txBody>
      </p:sp>
      <p:sp>
        <p:nvSpPr>
          <p:cNvPr id="21" name="Text 19"/>
          <p:cNvSpPr txBox="1"/>
          <p:nvPr/>
        </p:nvSpPr>
        <p:spPr>
          <a:xfrm>
            <a:off x="8293608" y="4343400"/>
            <a:ext cx="3118104" cy="1097280"/>
          </a:xfrm>
          <a:prstGeom prst="rect">
            <a:avLst/>
          </a:prstGeom>
          <a:noFill/>
          <a:ln/>
        </p:spPr>
        <p:txBody>
          <a:bodyPr wrap="square" lIns="0" tIns="0" rIns="0" bIns="0" rtlCol="0" anchor="t"/>
          <a:lstStyle/>
          <a:p>
            <a:pPr indent="0" marL="0">
              <a:buNone/>
            </a:pPr>
            <a:r>
              <a:rPr lang="en-US" sz="1300" dirty="0">
                <a:solidFill>
                  <a:srgbClr val="5B6B73"/>
                </a:solidFill>
                <a:latin typeface="Calibri" pitchFamily="34" charset="0"/>
                <a:ea typeface="Calibri" pitchFamily="34" charset="-122"/>
                <a:cs typeface="Calibri" pitchFamily="34" charset="-120"/>
              </a:rPr>
              <a:t>A name/design that sets the product apart</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OBJECTIVE 1</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Increase market share</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Market share = a business's sales as a percentage of total sales in the market.  Formula: (business sales ÷ total market sales) × 100.</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Higher share can bring economies of scale, lowering unit costs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More power over suppliers and retailers (better terms, shelf space)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Signals market leadership — attracts customers, talent and investors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Can be grown by innovation, better customer service or buying rivals</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 growing market can mean sales rise while share still falls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Chasing share via price cuts or heavy promotion erodes profit margins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May attract competition regulators if the firm becomes dominant</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Share is a means, not an end — high share ≠ high profit</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Apple overtakes Samsung (2025)</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In 2025 Apple shipped 247.8m iPhones (+6.3%) to Samsung's 241.2m, taking ~20% global share vs ~19% and becoming the No.1 smartphone brand for the first time in 14 years — in a market that grew only ~2%. Apple gained share through brand and premium models rather than cutting prices.</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OBJECTIVE 2</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Increase revenue</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Revenue = the income from sales.  Revenue = price × quantity sold.  A firm can raise it by selling more units, raising price, or selling more to each customer.</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Funds reinvestment, growth and covering fixed costs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More routes to achieve it: new customers, higher prices, or add-ons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Rising revenue can improve cash flow and bargaining power</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Easier to measure and track than brand strength</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Revenue is not profit — higher sales can still mean losses if costs rise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Raising price may cut quantity sold (price elasticity)</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Chasing volume with discounts can shrink margins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Short-term revenue pushes can damage brand or loyalty</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Revenue vs market share</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A business can increase revenue but lose market share — if the whole market grows faster than its own sales. This is why firms track both: revenue shows income; share shows position against rivals.</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OBJECTIVE 3</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Building a brand</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A brand = a name, design or symbol that sets a product apart from rivals. Building a brand means creating recognition, trust and loyalty.</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2286000" cy="310896"/>
          </a:xfrm>
          <a:prstGeom prst="roundRect">
            <a:avLst>
              <a:gd name="adj" fmla="val 50000"/>
            </a:avLst>
          </a:prstGeom>
          <a:solidFill>
            <a:srgbClr val="2F8A5B"/>
          </a:solidFill>
          <a:ln/>
        </p:spPr>
      </p:sp>
      <p:sp>
        <p:nvSpPr>
          <p:cNvPr id="9" name="Text 7"/>
          <p:cNvSpPr txBox="1"/>
          <p:nvPr/>
        </p:nvSpPr>
        <p:spPr>
          <a:xfrm>
            <a:off x="777240" y="25603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Adds value — lets the firm charge premium prices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Builds loyalty, so demand is less sensitive to price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Recognition lowers the cost of winning new customers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 strong brand supports new product launches (brand stretching)</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651760" cy="310896"/>
          </a:xfrm>
          <a:prstGeom prst="roundRect">
            <a:avLst>
              <a:gd name="adj" fmla="val 50000"/>
            </a:avLst>
          </a:prstGeom>
          <a:solidFill>
            <a:srgbClr val="C14B37"/>
          </a:solidFill>
          <a:ln/>
        </p:spPr>
      </p:sp>
      <p:sp>
        <p:nvSpPr>
          <p:cNvPr id="13" name="Text 11"/>
          <p:cNvSpPr txBox="1"/>
          <p:nvPr/>
        </p:nvSpPr>
        <p:spPr>
          <a:xfrm>
            <a:off x="6428232" y="25603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Slow and expensive to build; easy to damage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One scandal or poor product can undo years of work</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Must be kept consistent across every element of the mix</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Hard to measure the return on brand spending</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Apple's brand power</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Apple competes with rivals selling phones from low to high prices, yet focuses on premium iPhones and its ecosystem. A strong brand lets it charge premium prices without losing customers, so each sale earns more — and loyal users keep upgrading, which helped Apple overtake Samsung in 2025.</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Exam practice: marketing objectives</a:t>
            </a:r>
            <a:endParaRPr lang="en-US" sz="28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Define the term ‘marketing objective’.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[2]</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Analyse TWO possible advantages to Tesla of increasing market share.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[6]</a:t>
            </a:r>
            <a:endParaRPr lang="en-US" sz="135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2-mark Define: give the meaning (1) + a short example or qualifier (1). No context needed.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6-mark Analyse (K2 A2 An2): two separate advantages, each applied to Tesla, each with a developed consequence.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No evaluation / judgement is required for 6 marks — do not write a conclusion.</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How to build the 6-mark answer (twice)</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POINT: “One advantage is…” (name the advantage)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BECAUSE / APPLY: use a Tesla fact (first mover in EVs, few competitors, fast-growing green market)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CHAIN: “This means… therefore… as a result…” — reach an impact on Tesla (e.g. economies of scale → lower unit cost → higher margin or lower prices)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Repeat for a second, different advantage (e.g. power over suppliers, or brand leadership)</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8800" b="1" dirty="0">
                <a:solidFill>
                  <a:srgbClr val="FFFFFF"/>
                </a:solidFill>
                <a:latin typeface="Cambria" pitchFamily="34" charset="0"/>
                <a:ea typeface="Cambria" pitchFamily="34" charset="-122"/>
                <a:cs typeface="Cambria" pitchFamily="34" charset="-120"/>
              </a:rPr>
              <a:t>B</a:t>
            </a:r>
            <a:endParaRPr lang="en-US" sz="88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SECTION B</a:t>
            </a:r>
            <a:endParaRPr lang="en-US" sz="1300" dirty="0"/>
          </a:p>
        </p:txBody>
      </p:sp>
      <p:sp>
        <p:nvSpPr>
          <p:cNvPr id="5" name="Text 3"/>
          <p:cNvSpPr txBox="1"/>
          <p:nvPr/>
        </p:nvSpPr>
        <p:spPr>
          <a:xfrm>
            <a:off x="2834640" y="2487168"/>
            <a:ext cx="8595360" cy="11430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The product life cycle &amp; extension strategies</a:t>
            </a:r>
            <a:endParaRPr lang="en-US" sz="3600" dirty="0"/>
          </a:p>
        </p:txBody>
      </p:sp>
      <p:sp>
        <p:nvSpPr>
          <p:cNvPr id="6" name="Text 4"/>
          <p:cNvSpPr txBox="1"/>
          <p:nvPr/>
        </p:nvSpPr>
        <p:spPr>
          <a:xfrm>
            <a:off x="2880360" y="3657600"/>
            <a:ext cx="8503920" cy="64008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section:  </a:t>
            </a:r>
            <a:pPr indent="0" marL="0">
              <a:buNone/>
            </a:pPr>
            <a:r>
              <a:rPr lang="en-US" sz="1350" dirty="0">
                <a:solidFill>
                  <a:srgbClr val="D7E6E8"/>
                </a:solidFill>
                <a:latin typeface="Calibri" pitchFamily="34" charset="0"/>
                <a:ea typeface="Calibri" pitchFamily="34" charset="-122"/>
                <a:cs typeface="Calibri" pitchFamily="34" charset="-120"/>
              </a:rPr>
              <a:t>the five stages and the sales curve  ·  how the marketing mix and cash flow change  ·  extension strategies to delay decline  ·  pros and cons of the model</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PRODUCT LIFE CYCLE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What is the product life cycle?</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DEFINITION</a:t>
            </a:r>
            <a:endParaRPr lang="en-US" sz="1100" dirty="0"/>
          </a:p>
        </p:txBody>
      </p:sp>
      <p:sp>
        <p:nvSpPr>
          <p:cNvPr id="6" name="Text 4"/>
          <p:cNvSpPr txBox="1"/>
          <p:nvPr/>
        </p:nvSpPr>
        <p:spPr>
          <a:xfrm>
            <a:off x="777240" y="1737360"/>
            <a:ext cx="10698480" cy="420624"/>
          </a:xfrm>
          <a:prstGeom prst="rect">
            <a:avLst/>
          </a:prstGeom>
          <a:noFill/>
          <a:ln/>
        </p:spPr>
        <p:txBody>
          <a:bodyPr wrap="square" lIns="0" tIns="0" rIns="0" bIns="0" rtlCol="0" anchor="ctr"/>
          <a:lstStyle/>
          <a:p>
            <a:pPr indent="0" marL="0">
              <a:buNone/>
            </a:pPr>
            <a:r>
              <a:rPr lang="en-US" sz="1350" dirty="0">
                <a:solidFill>
                  <a:srgbClr val="1F2A33"/>
                </a:solidFill>
                <a:latin typeface="Calibri" pitchFamily="34" charset="0"/>
                <a:ea typeface="Calibri" pitchFamily="34" charset="-122"/>
                <a:cs typeface="Calibri" pitchFamily="34" charset="-120"/>
              </a:rPr>
              <a:t>The stages a product passes through from first launch to being withdrawn: development, introduction, growth, maturity and decline. Sales and cash flow change at each stage.</a:t>
            </a:r>
            <a:endParaRPr lang="en-US" sz="1350" dirty="0"/>
          </a:p>
        </p:txBody>
      </p:sp>
      <p:graphicFrame>
        <p:nvGraphicFramePr>
          <p:cNvPr id="7" name="Chart 0" descr=""/>
          <p:cNvGraphicFramePr/>
          <p:nvPr/>
        </p:nvGraphicFramePr>
        <p:xfrm>
          <a:off x="457200" y="2331720"/>
          <a:ext cx="6949440" cy="36576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rot="16200000">
            <a:off x="228600" y="3291840"/>
            <a:ext cx="457200" cy="1280160"/>
          </a:xfrm>
          <a:prstGeom prst="rect">
            <a:avLst/>
          </a:prstGeom>
          <a:noFill/>
          <a:ln/>
        </p:spPr>
        <p:txBody>
          <a:bodyPr wrap="square" lIns="0" tIns="0" rIns="0" bIns="0" rtlCol="0" anchor="ctr"/>
          <a:lstStyle/>
          <a:p>
            <a:pPr algn="ctr" indent="0" marL="0">
              <a:buNone/>
            </a:pPr>
            <a:r>
              <a:rPr lang="en-US" sz="1100" i="1" dirty="0">
                <a:solidFill>
                  <a:srgbClr val="5B6B73"/>
                </a:solidFill>
                <a:latin typeface="Calibri" pitchFamily="34" charset="0"/>
                <a:ea typeface="Calibri" pitchFamily="34" charset="-122"/>
                <a:cs typeface="Calibri" pitchFamily="34" charset="-120"/>
              </a:rPr>
              <a:t>Sales</a:t>
            </a:r>
            <a:endParaRPr lang="en-US" sz="1100" dirty="0"/>
          </a:p>
        </p:txBody>
      </p:sp>
      <p:sp>
        <p:nvSpPr>
          <p:cNvPr id="9" name="Shape 6"/>
          <p:cNvSpPr/>
          <p:nvPr/>
        </p:nvSpPr>
        <p:spPr>
          <a:xfrm>
            <a:off x="7635240" y="2377440"/>
            <a:ext cx="4005072" cy="3566160"/>
          </a:xfrm>
          <a:prstGeom prst="roundRect">
            <a:avLst>
              <a:gd name="adj" fmla="val 205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Text 7"/>
          <p:cNvSpPr txBox="1"/>
          <p:nvPr/>
        </p:nvSpPr>
        <p:spPr>
          <a:xfrm>
            <a:off x="7863840" y="2514600"/>
            <a:ext cx="3566160" cy="32004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Why the model is used</a:t>
            </a:r>
            <a:endParaRPr lang="en-US" sz="1400" dirty="0"/>
          </a:p>
        </p:txBody>
      </p:sp>
      <p:sp>
        <p:nvSpPr>
          <p:cNvPr id="11" name="Text 8"/>
          <p:cNvSpPr txBox="1"/>
          <p:nvPr/>
        </p:nvSpPr>
        <p:spPr>
          <a:xfrm>
            <a:off x="7863840" y="2926080"/>
            <a:ext cx="3566160" cy="283464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Plan the marketing mix at each stage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Predict cash-flow needs (negative early, strongest at maturity)</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Time new launches and extension strategies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Manage a balanced product portfolio (links to the Boston Matrix)</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PRODUCT LIFE CYCLE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Each stage: sales, marketing and cash flow</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834640"/>
                <a:gridCol w="4507992"/>
                <a:gridCol w="201168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Stage</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Sales &amp; profit</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Typical marketing</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Cash flow</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713232">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Development</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None; high R&amp;D costs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Research and testing</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Negative</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868680">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Introduction</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Low sales; losses likely</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Heavy informative promotion; skimming or penetration pricing</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Negative</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13232">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Growth</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Rising fast; rivals enter</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Brand-building; wider distribution</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Turning positive</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13232">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Maturity</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High, stable; intense competition</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Differentiation; persuasive promotion</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Strongly positive</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548640">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Decline</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Falling</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Cut costs; narrow the range; harvest or withdraw</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Falling</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806440"/>
            <a:ext cx="11091672" cy="457200"/>
          </a:xfrm>
          <a:prstGeom prst="roundRect">
            <a:avLst>
              <a:gd name="adj" fmla="val 16000"/>
            </a:avLst>
          </a:prstGeom>
          <a:solidFill>
            <a:srgbClr val="FBF0D8"/>
          </a:solidFill>
          <a:ln/>
          <a:effectLst>
            <a:outerShdw sx="100000" sy="100000" kx="0" ky="0" algn="bl" rotWithShape="0" blurRad="76200" dist="25400" dir="5400000">
              <a:srgbClr val="9AAAB0">
                <a:alpha val="28000"/>
              </a:srgbClr>
            </a:outerShdw>
          </a:effectLst>
        </p:spPr>
      </p:sp>
      <p:sp>
        <p:nvSpPr>
          <p:cNvPr id="6" name="Text 3"/>
          <p:cNvSpPr txBox="1"/>
          <p:nvPr/>
        </p:nvSpPr>
        <p:spPr>
          <a:xfrm>
            <a:off x="777240" y="5824728"/>
            <a:ext cx="10698480" cy="420624"/>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Remember:  </a:t>
            </a:r>
            <a:pPr indent="0" marL="0">
              <a:buNone/>
            </a:pPr>
            <a:r>
              <a:rPr lang="en-US" sz="1250" dirty="0">
                <a:solidFill>
                  <a:srgbClr val="1F2A33"/>
                </a:solidFill>
                <a:latin typeface="Calibri" pitchFamily="34" charset="0"/>
                <a:ea typeface="Calibri" pitchFamily="34" charset="-122"/>
                <a:cs typeface="Calibri" pitchFamily="34" charset="-120"/>
              </a:rPr>
              <a:t>cash flow is negative early because R&amp;D and launch costs come BEFORE sales revenue; it is strongest at maturity once those costs are covered.</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PRODUCT LIFE CYCLE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Is the product life cycle a useful model?</a:t>
            </a:r>
            <a:endParaRPr lang="en-US" sz="2800" dirty="0"/>
          </a:p>
        </p:txBody>
      </p:sp>
      <p:sp>
        <p:nvSpPr>
          <p:cNvPr id="4" name="Shape 2"/>
          <p:cNvSpPr/>
          <p:nvPr/>
        </p:nvSpPr>
        <p:spPr>
          <a:xfrm>
            <a:off x="548640" y="1463040"/>
            <a:ext cx="5440680" cy="3657600"/>
          </a:xfrm>
          <a:prstGeom prst="roundRect">
            <a:avLst>
              <a:gd name="adj" fmla="val 2000"/>
            </a:avLst>
          </a:prstGeom>
          <a:solidFill>
            <a:srgbClr val="E8F3EC"/>
          </a:solidFill>
          <a:ln/>
          <a:effectLst>
            <a:outerShdw sx="100000" sy="100000" kx="0" ky="0" algn="bl" rotWithShape="0" blurRad="76200" dist="25400" dir="5400000">
              <a:srgbClr val="9AAAB0">
                <a:alpha val="28000"/>
              </a:srgbClr>
            </a:outerShdw>
          </a:effectLst>
        </p:spPr>
      </p:sp>
      <p:sp>
        <p:nvSpPr>
          <p:cNvPr id="5" name="Shape 3"/>
          <p:cNvSpPr/>
          <p:nvPr/>
        </p:nvSpPr>
        <p:spPr>
          <a:xfrm>
            <a:off x="777240" y="1645920"/>
            <a:ext cx="2286000" cy="310896"/>
          </a:xfrm>
          <a:prstGeom prst="roundRect">
            <a:avLst>
              <a:gd name="adj" fmla="val 50000"/>
            </a:avLst>
          </a:prstGeom>
          <a:solidFill>
            <a:srgbClr val="2F8A5B"/>
          </a:solidFill>
          <a:ln/>
        </p:spPr>
      </p:sp>
      <p:sp>
        <p:nvSpPr>
          <p:cNvPr id="6" name="Text 4"/>
          <p:cNvSpPr txBox="1"/>
          <p:nvPr/>
        </p:nvSpPr>
        <p:spPr>
          <a:xfrm>
            <a:off x="777240" y="1645920"/>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7" name="Text 5"/>
          <p:cNvSpPr txBox="1"/>
          <p:nvPr/>
        </p:nvSpPr>
        <p:spPr>
          <a:xfrm>
            <a:off x="777240" y="2103120"/>
            <a:ext cx="4983480" cy="283464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A planning tool: shows when to invest, promote or cut back</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Helps forecast cash-flow needs across a product's life</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Signals when to launch an extension strategy or a replacement</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Encourages a balanced portfolio — products at different stages</a:t>
            </a:r>
            <a:endParaRPr lang="en-US" sz="1350" dirty="0"/>
          </a:p>
        </p:txBody>
      </p:sp>
      <p:sp>
        <p:nvSpPr>
          <p:cNvPr id="8" name="Shape 6"/>
          <p:cNvSpPr/>
          <p:nvPr/>
        </p:nvSpPr>
        <p:spPr>
          <a:xfrm>
            <a:off x="6199632" y="1463040"/>
            <a:ext cx="5440680" cy="3657600"/>
          </a:xfrm>
          <a:prstGeom prst="roundRect">
            <a:avLst>
              <a:gd name="adj" fmla="val 2000"/>
            </a:avLst>
          </a:prstGeom>
          <a:solidFill>
            <a:srgbClr val="F9EAE6"/>
          </a:solidFill>
          <a:ln/>
          <a:effectLst>
            <a:outerShdw sx="100000" sy="100000" kx="0" ky="0" algn="bl" rotWithShape="0" blurRad="76200" dist="25400" dir="5400000">
              <a:srgbClr val="9AAAB0">
                <a:alpha val="28000"/>
              </a:srgbClr>
            </a:outerShdw>
          </a:effectLst>
        </p:spPr>
      </p:sp>
      <p:sp>
        <p:nvSpPr>
          <p:cNvPr id="9" name="Shape 7"/>
          <p:cNvSpPr/>
          <p:nvPr/>
        </p:nvSpPr>
        <p:spPr>
          <a:xfrm>
            <a:off x="6428232" y="1645920"/>
            <a:ext cx="2651760" cy="310896"/>
          </a:xfrm>
          <a:prstGeom prst="roundRect">
            <a:avLst>
              <a:gd name="adj" fmla="val 50000"/>
            </a:avLst>
          </a:prstGeom>
          <a:solidFill>
            <a:srgbClr val="C14B37"/>
          </a:solidFill>
          <a:ln/>
        </p:spPr>
      </p:sp>
      <p:sp>
        <p:nvSpPr>
          <p:cNvPr id="10" name="Text 8"/>
          <p:cNvSpPr txBox="1"/>
          <p:nvPr/>
        </p:nvSpPr>
        <p:spPr>
          <a:xfrm>
            <a:off x="6428232" y="164592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1" name="Text 9"/>
          <p:cNvSpPr txBox="1"/>
          <p:nvPr/>
        </p:nvSpPr>
        <p:spPr>
          <a:xfrm>
            <a:off x="6428232" y="2103120"/>
            <a:ext cx="4983480" cy="283464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Hard to know which stage a product is in until sales data arrives (a time lag)</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A sales dip may be temporary — not true decline; wrong conclusions follow</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Length and shape of the cycle vary and cannot be reliably predicted</a:t>
            </a:r>
            <a:endParaRPr lang="en-US" sz="1350" dirty="0"/>
          </a:p>
          <a:p>
            <a:pPr marL="177800" indent="-177800">
              <a:spcAft>
                <a:spcPts val="700"/>
              </a:spcAft>
              <a:buSzPct val="100000"/>
              <a:buChar char="•"/>
            </a:pPr>
            <a:r>
              <a:rPr lang="en-US" sz="1350" dirty="0">
                <a:solidFill>
                  <a:srgbClr val="1F2A33"/>
                </a:solidFill>
                <a:latin typeface="Calibri" pitchFamily="34" charset="0"/>
                <a:ea typeface="Calibri" pitchFamily="34" charset="-122"/>
                <a:cs typeface="Calibri" pitchFamily="34" charset="-120"/>
              </a:rPr>
              <a:t>Sales depend on external factors (trends, competition) the firm can't control</a:t>
            </a:r>
            <a:endParaRPr lang="en-US" sz="1350" dirty="0"/>
          </a:p>
        </p:txBody>
      </p:sp>
      <p:sp>
        <p:nvSpPr>
          <p:cNvPr id="12" name="Shape 10"/>
          <p:cNvSpPr/>
          <p:nvPr/>
        </p:nvSpPr>
        <p:spPr>
          <a:xfrm>
            <a:off x="548640" y="5257800"/>
            <a:ext cx="11091672" cy="914400"/>
          </a:xfrm>
          <a:prstGeom prst="roundRect">
            <a:avLst>
              <a:gd name="adj" fmla="val 8000"/>
            </a:avLst>
          </a:prstGeom>
          <a:solidFill>
            <a:srgbClr val="EAF3F4"/>
          </a:solidFill>
          <a:ln/>
          <a:effectLst>
            <a:outerShdw sx="100000" sy="100000" kx="0" ky="0" algn="bl" rotWithShape="0" blurRad="76200" dist="25400" dir="5400000">
              <a:srgbClr val="9AAAB0">
                <a:alpha val="28000"/>
              </a:srgbClr>
            </a:outerShdw>
          </a:effectLst>
        </p:spPr>
      </p:sp>
      <p:sp>
        <p:nvSpPr>
          <p:cNvPr id="13" name="Text 11"/>
          <p:cNvSpPr txBox="1"/>
          <p:nvPr/>
        </p:nvSpPr>
        <p:spPr>
          <a:xfrm>
            <a:off x="777240" y="5358384"/>
            <a:ext cx="10698480" cy="731520"/>
          </a:xfrm>
          <a:prstGeom prst="rect">
            <a:avLst/>
          </a:prstGeom>
          <a:noFill/>
          <a:ln/>
        </p:spPr>
        <p:txBody>
          <a:bodyPr wrap="square" lIns="0" tIns="0" rIns="0" bIns="0" rtlCol="0" anchor="ctr"/>
          <a:lstStyle/>
          <a:p>
            <a:pPr indent="0" marL="0">
              <a:buNone/>
            </a:pPr>
            <a:r>
              <a:rPr lang="en-US" sz="1250" b="1" dirty="0">
                <a:solidFill>
                  <a:srgbClr val="0B5E66"/>
                </a:solidFill>
                <a:latin typeface="Calibri" pitchFamily="34" charset="0"/>
                <a:ea typeface="Calibri" pitchFamily="34" charset="-122"/>
                <a:cs typeface="Calibri" pitchFamily="34" charset="-120"/>
              </a:rPr>
              <a:t>Case link — Kellogg's Nutri-Grain:  </a:t>
            </a:r>
            <a:pPr indent="0" marL="0">
              <a:buNone/>
            </a:pPr>
            <a:r>
              <a:rPr lang="en-US" sz="1250" dirty="0">
                <a:solidFill>
                  <a:srgbClr val="1F2A33"/>
                </a:solidFill>
                <a:latin typeface="Calibri" pitchFamily="34" charset="0"/>
                <a:ea typeface="Calibri" pitchFamily="34" charset="-122"/>
                <a:cs typeface="Calibri" pitchFamily="34" charset="-120"/>
              </a:rPr>
              <a:t>slowing sales do not always mean decline. Kellogg's used the PLC to spot the right moment to relaunch and refocus investment, extending the bar's life rather than withdrawing it too early.</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EXTENSION STRATEGIES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Extension strategies: stretching maturity</a:t>
            </a:r>
            <a:endParaRPr lang="en-US" sz="2800" dirty="0"/>
          </a:p>
        </p:txBody>
      </p:sp>
      <p:sp>
        <p:nvSpPr>
          <p:cNvPr id="4" name="Shape 2"/>
          <p:cNvSpPr/>
          <p:nvPr/>
        </p:nvSpPr>
        <p:spPr>
          <a:xfrm>
            <a:off x="548640" y="1371600"/>
            <a:ext cx="11091672" cy="731520"/>
          </a:xfrm>
          <a:prstGeom prst="roundRect">
            <a:avLst>
              <a:gd name="adj" fmla="val 10000"/>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98480" cy="512064"/>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Definition:  </a:t>
            </a:r>
            <a:pPr indent="0" marL="0">
              <a:buNone/>
            </a:pPr>
            <a:r>
              <a:rPr lang="en-US" sz="1350" dirty="0">
                <a:solidFill>
                  <a:srgbClr val="1F2A33"/>
                </a:solidFill>
                <a:latin typeface="Calibri" pitchFamily="34" charset="0"/>
                <a:ea typeface="Calibri" pitchFamily="34" charset="-122"/>
                <a:cs typeface="Calibri" pitchFamily="34" charset="-120"/>
              </a:rPr>
              <a:t>actions taken to lengthen the maturity stage and delay decline — so the product keeps earning before it is replaced.</a:t>
            </a:r>
            <a:endParaRPr lang="en-US" sz="1350" dirty="0"/>
          </a:p>
        </p:txBody>
      </p:sp>
      <p:sp>
        <p:nvSpPr>
          <p:cNvPr id="6" name="Shape 4"/>
          <p:cNvSpPr/>
          <p:nvPr/>
        </p:nvSpPr>
        <p:spPr>
          <a:xfrm>
            <a:off x="548640" y="2240280"/>
            <a:ext cx="3575304" cy="1600200"/>
          </a:xfrm>
          <a:prstGeom prst="roundRect">
            <a:avLst>
              <a:gd name="adj" fmla="val 457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749808" y="2423160"/>
            <a:ext cx="384048" cy="384048"/>
          </a:xfrm>
          <a:prstGeom prst="roundRect">
            <a:avLst>
              <a:gd name="adj" fmla="val 23810"/>
            </a:avLst>
          </a:prstGeom>
          <a:solidFill>
            <a:srgbClr val="0E7C86"/>
          </a:solidFill>
          <a:ln/>
        </p:spPr>
      </p:sp>
      <p:sp>
        <p:nvSpPr>
          <p:cNvPr id="8" name="Text 6"/>
          <p:cNvSpPr txBox="1"/>
          <p:nvPr/>
        </p:nvSpPr>
        <p:spPr>
          <a:xfrm>
            <a:off x="749808" y="24231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261872" y="2404872"/>
            <a:ext cx="2660904" cy="45720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Modify the product</a:t>
            </a:r>
            <a:endParaRPr lang="en-US" sz="1400" dirty="0"/>
          </a:p>
        </p:txBody>
      </p:sp>
      <p:sp>
        <p:nvSpPr>
          <p:cNvPr id="10" name="Text 8"/>
          <p:cNvSpPr txBox="1"/>
          <p:nvPr/>
        </p:nvSpPr>
        <p:spPr>
          <a:xfrm>
            <a:off x="749808" y="2898648"/>
            <a:ext cx="3172968" cy="822960"/>
          </a:xfrm>
          <a:prstGeom prst="rect">
            <a:avLst/>
          </a:prstGeom>
          <a:noFill/>
          <a:ln/>
        </p:spPr>
        <p:txBody>
          <a:bodyPr wrap="square" lIns="0" tIns="0" rIns="0" bIns="0" rtlCol="0" anchor="t"/>
          <a:lstStyle/>
          <a:p>
            <a:pPr indent="0" marL="0">
              <a:buNone/>
            </a:pPr>
            <a:r>
              <a:rPr lang="en-US" sz="1200" dirty="0">
                <a:solidFill>
                  <a:srgbClr val="5B6B73"/>
                </a:solidFill>
                <a:latin typeface="Calibri" pitchFamily="34" charset="0"/>
                <a:ea typeface="Calibri" pitchFamily="34" charset="-122"/>
                <a:cs typeface="Calibri" pitchFamily="34" charset="-120"/>
              </a:rPr>
              <a:t>Nintendo Switch OLED — a bigger, better screen (2021)</a:t>
            </a:r>
            <a:endParaRPr lang="en-US" sz="1200" dirty="0"/>
          </a:p>
        </p:txBody>
      </p:sp>
      <p:sp>
        <p:nvSpPr>
          <p:cNvPr id="11" name="Shape 9"/>
          <p:cNvSpPr/>
          <p:nvPr/>
        </p:nvSpPr>
        <p:spPr>
          <a:xfrm>
            <a:off x="4306824" y="2240280"/>
            <a:ext cx="3575304" cy="1600200"/>
          </a:xfrm>
          <a:prstGeom prst="roundRect">
            <a:avLst>
              <a:gd name="adj" fmla="val 457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2" name="Shape 10"/>
          <p:cNvSpPr/>
          <p:nvPr/>
        </p:nvSpPr>
        <p:spPr>
          <a:xfrm>
            <a:off x="4507992" y="2423160"/>
            <a:ext cx="384048" cy="384048"/>
          </a:xfrm>
          <a:prstGeom prst="roundRect">
            <a:avLst>
              <a:gd name="adj" fmla="val 23810"/>
            </a:avLst>
          </a:prstGeom>
          <a:solidFill>
            <a:srgbClr val="0E7C86"/>
          </a:solidFill>
          <a:ln/>
        </p:spPr>
      </p:sp>
      <p:sp>
        <p:nvSpPr>
          <p:cNvPr id="13" name="Text 11"/>
          <p:cNvSpPr txBox="1"/>
          <p:nvPr/>
        </p:nvSpPr>
        <p:spPr>
          <a:xfrm>
            <a:off x="4507992" y="24231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5020056" y="2404872"/>
            <a:ext cx="2660904" cy="45720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Reach a new segment</a:t>
            </a:r>
            <a:endParaRPr lang="en-US" sz="1400" dirty="0"/>
          </a:p>
        </p:txBody>
      </p:sp>
      <p:sp>
        <p:nvSpPr>
          <p:cNvPr id="15" name="Text 13"/>
          <p:cNvSpPr txBox="1"/>
          <p:nvPr/>
        </p:nvSpPr>
        <p:spPr>
          <a:xfrm>
            <a:off x="4507992" y="2898648"/>
            <a:ext cx="3172968" cy="822960"/>
          </a:xfrm>
          <a:prstGeom prst="rect">
            <a:avLst/>
          </a:prstGeom>
          <a:noFill/>
          <a:ln/>
        </p:spPr>
        <p:txBody>
          <a:bodyPr wrap="square" lIns="0" tIns="0" rIns="0" bIns="0" rtlCol="0" anchor="t"/>
          <a:lstStyle/>
          <a:p>
            <a:pPr indent="0" marL="0">
              <a:buNone/>
            </a:pPr>
            <a:r>
              <a:rPr lang="en-US" sz="1200" dirty="0">
                <a:solidFill>
                  <a:srgbClr val="5B6B73"/>
                </a:solidFill>
                <a:latin typeface="Calibri" pitchFamily="34" charset="0"/>
                <a:ea typeface="Calibri" pitchFamily="34" charset="-122"/>
                <a:cs typeface="Calibri" pitchFamily="34" charset="-120"/>
              </a:rPr>
              <a:t>Switch Lite — cheaper, handheld-only, for casual/younger players (2019)</a:t>
            </a:r>
            <a:endParaRPr lang="en-US" sz="1200" dirty="0"/>
          </a:p>
        </p:txBody>
      </p:sp>
      <p:sp>
        <p:nvSpPr>
          <p:cNvPr id="16" name="Shape 14"/>
          <p:cNvSpPr/>
          <p:nvPr/>
        </p:nvSpPr>
        <p:spPr>
          <a:xfrm>
            <a:off x="8065008" y="2240280"/>
            <a:ext cx="3575304" cy="1600200"/>
          </a:xfrm>
          <a:prstGeom prst="roundRect">
            <a:avLst>
              <a:gd name="adj" fmla="val 457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8266176" y="2423160"/>
            <a:ext cx="384048" cy="384048"/>
          </a:xfrm>
          <a:prstGeom prst="roundRect">
            <a:avLst>
              <a:gd name="adj" fmla="val 23810"/>
            </a:avLst>
          </a:prstGeom>
          <a:solidFill>
            <a:srgbClr val="0E7C86"/>
          </a:solidFill>
          <a:ln/>
        </p:spPr>
      </p:sp>
      <p:sp>
        <p:nvSpPr>
          <p:cNvPr id="18" name="Text 16"/>
          <p:cNvSpPr txBox="1"/>
          <p:nvPr/>
        </p:nvSpPr>
        <p:spPr>
          <a:xfrm>
            <a:off x="8266176" y="24231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8778240" y="2404872"/>
            <a:ext cx="2660904" cy="45720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Find new uses / occasions</a:t>
            </a:r>
            <a:endParaRPr lang="en-US" sz="1400" dirty="0"/>
          </a:p>
        </p:txBody>
      </p:sp>
      <p:sp>
        <p:nvSpPr>
          <p:cNvPr id="20" name="Text 18"/>
          <p:cNvSpPr txBox="1"/>
          <p:nvPr/>
        </p:nvSpPr>
        <p:spPr>
          <a:xfrm>
            <a:off x="8266176" y="2898648"/>
            <a:ext cx="3172968" cy="822960"/>
          </a:xfrm>
          <a:prstGeom prst="rect">
            <a:avLst/>
          </a:prstGeom>
          <a:noFill/>
          <a:ln/>
        </p:spPr>
        <p:txBody>
          <a:bodyPr wrap="square" lIns="0" tIns="0" rIns="0" bIns="0" rtlCol="0" anchor="t"/>
          <a:lstStyle/>
          <a:p>
            <a:pPr indent="0" marL="0">
              <a:buNone/>
            </a:pPr>
            <a:r>
              <a:rPr lang="en-US" sz="1200" dirty="0">
                <a:solidFill>
                  <a:srgbClr val="5B6B73"/>
                </a:solidFill>
                <a:latin typeface="Calibri" pitchFamily="34" charset="0"/>
                <a:ea typeface="Calibri" pitchFamily="34" charset="-122"/>
                <a:cs typeface="Calibri" pitchFamily="34" charset="-120"/>
              </a:rPr>
              <a:t>Lucozade — repositioned from an illness drink to a sports &amp; energy drink</a:t>
            </a:r>
            <a:endParaRPr lang="en-US" sz="1200" dirty="0"/>
          </a:p>
        </p:txBody>
      </p:sp>
      <p:sp>
        <p:nvSpPr>
          <p:cNvPr id="21" name="Shape 19"/>
          <p:cNvSpPr/>
          <p:nvPr/>
        </p:nvSpPr>
        <p:spPr>
          <a:xfrm>
            <a:off x="548640" y="3977640"/>
            <a:ext cx="3575304" cy="1600200"/>
          </a:xfrm>
          <a:prstGeom prst="roundRect">
            <a:avLst>
              <a:gd name="adj" fmla="val 457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2" name="Shape 20"/>
          <p:cNvSpPr/>
          <p:nvPr/>
        </p:nvSpPr>
        <p:spPr>
          <a:xfrm>
            <a:off x="749808" y="4160520"/>
            <a:ext cx="384048" cy="384048"/>
          </a:xfrm>
          <a:prstGeom prst="roundRect">
            <a:avLst>
              <a:gd name="adj" fmla="val 23810"/>
            </a:avLst>
          </a:prstGeom>
          <a:solidFill>
            <a:srgbClr val="0E7C86"/>
          </a:solidFill>
          <a:ln/>
        </p:spPr>
      </p:sp>
      <p:sp>
        <p:nvSpPr>
          <p:cNvPr id="23" name="Text 21"/>
          <p:cNvSpPr txBox="1"/>
          <p:nvPr/>
        </p:nvSpPr>
        <p:spPr>
          <a:xfrm>
            <a:off x="749808"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2"/>
          <p:cNvSpPr txBox="1"/>
          <p:nvPr/>
        </p:nvSpPr>
        <p:spPr>
          <a:xfrm>
            <a:off x="1261872" y="4142232"/>
            <a:ext cx="2660904" cy="45720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Rebrand or repackage</a:t>
            </a:r>
            <a:endParaRPr lang="en-US" sz="1400" dirty="0"/>
          </a:p>
        </p:txBody>
      </p:sp>
      <p:sp>
        <p:nvSpPr>
          <p:cNvPr id="25" name="Text 23"/>
          <p:cNvSpPr txBox="1"/>
          <p:nvPr/>
        </p:nvSpPr>
        <p:spPr>
          <a:xfrm>
            <a:off x="749808" y="4636008"/>
            <a:ext cx="3172968" cy="822960"/>
          </a:xfrm>
          <a:prstGeom prst="rect">
            <a:avLst/>
          </a:prstGeom>
          <a:noFill/>
          <a:ln/>
        </p:spPr>
        <p:txBody>
          <a:bodyPr wrap="square" lIns="0" tIns="0" rIns="0" bIns="0" rtlCol="0" anchor="t"/>
          <a:lstStyle/>
          <a:p>
            <a:pPr indent="0" marL="0">
              <a:buNone/>
            </a:pPr>
            <a:r>
              <a:rPr lang="en-US" sz="1200" dirty="0">
                <a:solidFill>
                  <a:srgbClr val="5B6B73"/>
                </a:solidFill>
                <a:latin typeface="Calibri" pitchFamily="34" charset="0"/>
                <a:ea typeface="Calibri" pitchFamily="34" charset="-122"/>
                <a:cs typeface="Calibri" pitchFamily="34" charset="-120"/>
              </a:rPr>
              <a:t>Jif renamed Cif to create one global brand</a:t>
            </a:r>
            <a:endParaRPr lang="en-US" sz="1200" dirty="0"/>
          </a:p>
        </p:txBody>
      </p:sp>
      <p:sp>
        <p:nvSpPr>
          <p:cNvPr id="26" name="Shape 24"/>
          <p:cNvSpPr/>
          <p:nvPr/>
        </p:nvSpPr>
        <p:spPr>
          <a:xfrm>
            <a:off x="4306824" y="3977640"/>
            <a:ext cx="3575304" cy="1600200"/>
          </a:xfrm>
          <a:prstGeom prst="roundRect">
            <a:avLst>
              <a:gd name="adj" fmla="val 457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7" name="Shape 25"/>
          <p:cNvSpPr/>
          <p:nvPr/>
        </p:nvSpPr>
        <p:spPr>
          <a:xfrm>
            <a:off x="4507992" y="4160520"/>
            <a:ext cx="384048" cy="384048"/>
          </a:xfrm>
          <a:prstGeom prst="roundRect">
            <a:avLst>
              <a:gd name="adj" fmla="val 23810"/>
            </a:avLst>
          </a:prstGeom>
          <a:solidFill>
            <a:srgbClr val="0E7C86"/>
          </a:solidFill>
          <a:ln/>
        </p:spPr>
      </p:sp>
      <p:sp>
        <p:nvSpPr>
          <p:cNvPr id="28" name="Text 26"/>
          <p:cNvSpPr txBox="1"/>
          <p:nvPr/>
        </p:nvSpPr>
        <p:spPr>
          <a:xfrm>
            <a:off x="4507992"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9" name="Text 27"/>
          <p:cNvSpPr txBox="1"/>
          <p:nvPr/>
        </p:nvSpPr>
        <p:spPr>
          <a:xfrm>
            <a:off x="5020056" y="4142232"/>
            <a:ext cx="2660904" cy="45720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Change price or promotion</a:t>
            </a:r>
            <a:endParaRPr lang="en-US" sz="1400" dirty="0"/>
          </a:p>
        </p:txBody>
      </p:sp>
      <p:sp>
        <p:nvSpPr>
          <p:cNvPr id="30" name="Text 28"/>
          <p:cNvSpPr txBox="1"/>
          <p:nvPr/>
        </p:nvSpPr>
        <p:spPr>
          <a:xfrm>
            <a:off x="4507992" y="4636008"/>
            <a:ext cx="3172968" cy="822960"/>
          </a:xfrm>
          <a:prstGeom prst="rect">
            <a:avLst/>
          </a:prstGeom>
          <a:noFill/>
          <a:ln/>
        </p:spPr>
        <p:txBody>
          <a:bodyPr wrap="square" lIns="0" tIns="0" rIns="0" bIns="0" rtlCol="0" anchor="t"/>
          <a:lstStyle/>
          <a:p>
            <a:pPr indent="0" marL="0">
              <a:buNone/>
            </a:pPr>
            <a:r>
              <a:rPr lang="en-US" sz="1200" dirty="0">
                <a:solidFill>
                  <a:srgbClr val="5B6B73"/>
                </a:solidFill>
                <a:latin typeface="Calibri" pitchFamily="34" charset="0"/>
                <a:ea typeface="Calibri" pitchFamily="34" charset="-122"/>
                <a:cs typeface="Calibri" pitchFamily="34" charset="-120"/>
              </a:rPr>
              <a:t>Bundles with popular games; price cuts to reach new buyers</a:t>
            </a:r>
            <a:endParaRPr lang="en-US" sz="1200" dirty="0"/>
          </a:p>
        </p:txBody>
      </p:sp>
      <p:sp>
        <p:nvSpPr>
          <p:cNvPr id="31" name="Shape 29"/>
          <p:cNvSpPr/>
          <p:nvPr/>
        </p:nvSpPr>
        <p:spPr>
          <a:xfrm>
            <a:off x="8065008" y="3977640"/>
            <a:ext cx="3575304" cy="1600200"/>
          </a:xfrm>
          <a:prstGeom prst="roundRect">
            <a:avLst>
              <a:gd name="adj" fmla="val 457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32" name="Shape 30"/>
          <p:cNvSpPr/>
          <p:nvPr/>
        </p:nvSpPr>
        <p:spPr>
          <a:xfrm>
            <a:off x="8266176" y="4160520"/>
            <a:ext cx="384048" cy="384048"/>
          </a:xfrm>
          <a:prstGeom prst="roundRect">
            <a:avLst>
              <a:gd name="adj" fmla="val 23810"/>
            </a:avLst>
          </a:prstGeom>
          <a:solidFill>
            <a:srgbClr val="0E7C86"/>
          </a:solidFill>
          <a:ln/>
        </p:spPr>
      </p:sp>
      <p:sp>
        <p:nvSpPr>
          <p:cNvPr id="33" name="Text 31"/>
          <p:cNvSpPr txBox="1"/>
          <p:nvPr/>
        </p:nvSpPr>
        <p:spPr>
          <a:xfrm>
            <a:off x="8266176"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4" name="Text 32"/>
          <p:cNvSpPr txBox="1"/>
          <p:nvPr/>
        </p:nvSpPr>
        <p:spPr>
          <a:xfrm>
            <a:off x="8778240" y="4142232"/>
            <a:ext cx="2660904" cy="45720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Relaunch the product</a:t>
            </a:r>
            <a:endParaRPr lang="en-US" sz="1400" dirty="0"/>
          </a:p>
        </p:txBody>
      </p:sp>
      <p:sp>
        <p:nvSpPr>
          <p:cNvPr id="35" name="Text 33"/>
          <p:cNvSpPr txBox="1"/>
          <p:nvPr/>
        </p:nvSpPr>
        <p:spPr>
          <a:xfrm>
            <a:off x="8266176" y="4636008"/>
            <a:ext cx="3172968" cy="822960"/>
          </a:xfrm>
          <a:prstGeom prst="rect">
            <a:avLst/>
          </a:prstGeom>
          <a:noFill/>
          <a:ln/>
        </p:spPr>
        <p:txBody>
          <a:bodyPr wrap="square" lIns="0" tIns="0" rIns="0" bIns="0" rtlCol="0" anchor="t"/>
          <a:lstStyle/>
          <a:p>
            <a:pPr indent="0" marL="0">
              <a:buNone/>
            </a:pPr>
            <a:r>
              <a:rPr lang="en-US" sz="1200" dirty="0">
                <a:solidFill>
                  <a:srgbClr val="5B6B73"/>
                </a:solidFill>
                <a:latin typeface="Calibri" pitchFamily="34" charset="0"/>
                <a:ea typeface="Calibri" pitchFamily="34" charset="-122"/>
                <a:cs typeface="Calibri" pitchFamily="34" charset="-120"/>
              </a:rPr>
              <a:t>Kellogg's relaunched Nutri-Grain, refocusing on its Soft Bake Bars</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REAL EXAMPLE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Tesla — changing the life cycle in the car industry</a:t>
            </a:r>
            <a:endParaRPr lang="en-US" sz="2800" dirty="0"/>
          </a:p>
        </p:txBody>
      </p:sp>
      <p:sp>
        <p:nvSpPr>
          <p:cNvPr id="4" name="Shape 2"/>
          <p:cNvSpPr/>
          <p:nvPr/>
        </p:nvSpPr>
        <p:spPr>
          <a:xfrm>
            <a:off x="548640" y="1417320"/>
            <a:ext cx="5486400" cy="4663440"/>
          </a:xfrm>
          <a:prstGeom prst="roundRect">
            <a:avLst>
              <a:gd name="adj" fmla="val 1569"/>
            </a:avLst>
          </a:prstGeom>
          <a:solidFill>
            <a:srgbClr val="FBF0D8"/>
          </a:solidFill>
          <a:ln/>
          <a:effectLst>
            <a:outerShdw sx="100000" sy="100000" kx="0" ky="0" algn="bl" rotWithShape="0" blurRad="76200" dist="25400" dir="5400000">
              <a:srgbClr val="9AAAB0">
                <a:alpha val="28000"/>
              </a:srgbClr>
            </a:outerShdw>
          </a:effectLst>
        </p:spPr>
      </p:sp>
      <p:sp>
        <p:nvSpPr>
          <p:cNvPr id="5" name="Shape 3"/>
          <p:cNvSpPr/>
          <p:nvPr/>
        </p:nvSpPr>
        <p:spPr>
          <a:xfrm>
            <a:off x="548640" y="1417320"/>
            <a:ext cx="109728" cy="4663440"/>
          </a:xfrm>
          <a:prstGeom prst="roundRect">
            <a:avLst/>
          </a:prstGeom>
          <a:solidFill>
            <a:srgbClr val="E0940F"/>
          </a:solidFill>
          <a:ln/>
        </p:spPr>
      </p:sp>
      <p:sp>
        <p:nvSpPr>
          <p:cNvPr id="6" name="Text 4"/>
          <p:cNvSpPr txBox="1"/>
          <p:nvPr/>
        </p:nvSpPr>
        <p:spPr>
          <a:xfrm>
            <a:off x="777240" y="1536192"/>
            <a:ext cx="5029200" cy="320040"/>
          </a:xfrm>
          <a:prstGeom prst="rect">
            <a:avLst/>
          </a:prstGeom>
          <a:noFill/>
          <a:ln/>
        </p:spPr>
        <p:txBody>
          <a:bodyPr wrap="square" lIns="0" tIns="0" rIns="0" bIns="0" rtlCol="0" anchor="ctr"/>
          <a:lstStyle/>
          <a:p>
            <a:pPr indent="0" marL="0">
              <a:buNone/>
            </a:pPr>
            <a:r>
              <a:rPr lang="en-US" sz="1400" b="1" dirty="0">
                <a:solidFill>
                  <a:srgbClr val="8A5A06"/>
                </a:solidFill>
                <a:latin typeface="Calibri" pitchFamily="34" charset="0"/>
                <a:ea typeface="Calibri" pitchFamily="34" charset="-122"/>
                <a:cs typeface="Calibri" pitchFamily="34" charset="-120"/>
              </a:rPr>
              <a:t>The story</a:t>
            </a:r>
            <a:endParaRPr lang="en-US" sz="1400" dirty="0"/>
          </a:p>
        </p:txBody>
      </p:sp>
      <p:sp>
        <p:nvSpPr>
          <p:cNvPr id="7" name="Text 5"/>
          <p:cNvSpPr txBox="1"/>
          <p:nvPr/>
        </p:nvSpPr>
        <p:spPr>
          <a:xfrm>
            <a:off x="777240" y="1901952"/>
            <a:ext cx="5029200" cy="40233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Traditionally, cars are sold ‘finished’ — makers launch a new model every 4–7 years, with a mid-life facelift</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Tesla pushes frequent software updates, so the car keeps improving AFTER purchase — like a smartphone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This continuously modifies the product and can extend its life without a physical relaunch</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As a first mover in EVs, Tesla has few direct rivals and sits in a fast-growing, government-backed ‘green’ market</a:t>
            </a:r>
            <a:endParaRPr lang="en-US" sz="1300" dirty="0"/>
          </a:p>
        </p:txBody>
      </p:sp>
      <p:sp>
        <p:nvSpPr>
          <p:cNvPr id="8" name="Shape 6"/>
          <p:cNvSpPr/>
          <p:nvPr/>
        </p:nvSpPr>
        <p:spPr>
          <a:xfrm>
            <a:off x="6199632" y="1417320"/>
            <a:ext cx="5440680" cy="4663440"/>
          </a:xfrm>
          <a:prstGeom prst="roundRect">
            <a:avLst>
              <a:gd name="adj" fmla="val 1569"/>
            </a:avLst>
          </a:prstGeom>
          <a:solidFill>
            <a:srgbClr val="EAF3F4"/>
          </a:solidFill>
          <a:ln/>
          <a:effectLst>
            <a:outerShdw sx="100000" sy="100000" kx="0" ky="0" algn="bl" rotWithShape="0" blurRad="76200" dist="25400" dir="5400000">
              <a:srgbClr val="9AAAB0">
                <a:alpha val="28000"/>
              </a:srgbClr>
            </a:outerShdw>
          </a:effectLst>
        </p:spPr>
      </p:sp>
      <p:sp>
        <p:nvSpPr>
          <p:cNvPr id="9" name="Text 7"/>
          <p:cNvSpPr txBox="1"/>
          <p:nvPr/>
        </p:nvSpPr>
        <p:spPr>
          <a:xfrm>
            <a:off x="6428232" y="1536192"/>
            <a:ext cx="5029200" cy="32004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How to use this in an answer</a:t>
            </a:r>
            <a:endParaRPr lang="en-US" sz="1400" dirty="0"/>
          </a:p>
        </p:txBody>
      </p:sp>
      <p:sp>
        <p:nvSpPr>
          <p:cNvPr id="10" name="Text 8"/>
          <p:cNvSpPr txBox="1"/>
          <p:nvPr/>
        </p:nvSpPr>
        <p:spPr>
          <a:xfrm>
            <a:off x="6428232" y="1901952"/>
            <a:ext cx="5029200" cy="40233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Stage: Tesla is moving from introduction into growth — rising sales, educating customers, early adopters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Extension through technology: over-the-air updates = continuous product modification</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Analysis chain: updates keep the car current → owners stay satisfied → stronger brand &amp; resale value → repeat purchases and referrals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Evaluation: the PLC is useful for timing, but sales lag and external factors (rivals catching up, policy changes) make the stage hard to read</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Exam practice: product life cycle</a:t>
            </a:r>
            <a:endParaRPr lang="en-US" sz="28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Define the term ‘product life cycle’.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[2]</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Assess the likely importance of the product life cycle for Kellogg's.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[10]</a:t>
            </a:r>
            <a:endParaRPr lang="en-US" sz="135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2-mark Define: meaning (1) + the stages or an example (1).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10-mark Assess (official levels, L4 = 8–10): a balanced, well-applied answer that weighs importance against limits and ends with a supported judgement.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Must be about the PLC's IMPORTANCE to Kellogg's — apply Nutri-Grain evidence throughout.</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with your 10-mark template / PECAN</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Define the key term first.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 1 (for): one reason the PLC is important → because… → this leads to… → impact on Kellogg's. Apply: Nutri-Grain gained ~50% of the cereal-bar market in 2 years, then matured as rivals (Alpen) entered.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 2 (limit): e.g. sales lag means the stage is hard to read, so a dip may be misread as decline.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Conclusion (4Ws): “Overall… most important for… because… however this depends on… (also using market research &amp; external trends).”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A model 10-mark answer (Kellogg's)</a:t>
            </a:r>
            <a:endParaRPr lang="en-US" sz="2800" dirty="0"/>
          </a:p>
        </p:txBody>
      </p:sp>
      <p:sp>
        <p:nvSpPr>
          <p:cNvPr id="4" name="Shape 2"/>
          <p:cNvSpPr/>
          <p:nvPr/>
        </p:nvSpPr>
        <p:spPr>
          <a:xfrm>
            <a:off x="548640" y="1371600"/>
            <a:ext cx="11091672" cy="2148840"/>
          </a:xfrm>
          <a:prstGeom prst="roundRect">
            <a:avLst>
              <a:gd name="adj" fmla="val 3404"/>
            </a:avLst>
          </a:prstGeom>
          <a:solidFill>
            <a:srgbClr val="E8F3EC"/>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07040" cy="1920240"/>
          </a:xfrm>
          <a:prstGeom prst="rect">
            <a:avLst/>
          </a:prstGeom>
          <a:noFill/>
          <a:ln/>
        </p:spPr>
        <p:txBody>
          <a:bodyPr wrap="square" lIns="0" tIns="0" rIns="0" bIns="0" rtlCol="0" anchor="t"/>
          <a:lstStyle/>
          <a:p>
            <a:pPr indent="0" marL="0">
              <a:buNone/>
            </a:pPr>
            <a:r>
              <a:rPr lang="en-US" sz="1180" b="1" dirty="0">
                <a:solidFill>
                  <a:srgbClr val="2F8A5B"/>
                </a:solidFill>
                <a:latin typeface="Calibri" pitchFamily="34" charset="0"/>
                <a:ea typeface="Calibri" pitchFamily="34" charset="-122"/>
                <a:cs typeface="Calibri" pitchFamily="34" charset="-120"/>
              </a:rPr>
              <a:t>Paragraph 1 — importance (for).  </a:t>
            </a:r>
            <a:pPr indent="0" marL="0">
              <a:buNone/>
            </a:pPr>
            <a:r>
              <a:rPr lang="en-US" sz="1180" dirty="0">
                <a:solidFill>
                  <a:srgbClr val="1F2A33"/>
                </a:solidFill>
                <a:latin typeface="Calibri" pitchFamily="34" charset="0"/>
                <a:ea typeface="Calibri" pitchFamily="34" charset="-122"/>
                <a:cs typeface="Calibri" pitchFamily="34" charset="-120"/>
              </a:rPr>
              <a:t>One reason the product life cycle is important to Kellogg's is that it signals when a product is slowing, so action can be taken in time. This is because Nutri-Grain was hugely successful on launch, gaining almost 50% of the cereal-bar market in two years, but rival bars from Alpen and Kellogg's own All-Bran bars chipped away at sales, pushing it into maturity. This means Kellogg's could use the PLC to see sales flattening and launch an extension strategy — relaunching and refocusing investment on its Soft Bake Bars — rather than letting the brand slide into decline. As a result, Kellogg's protected revenue from an established product whose development costs were long paid.</a:t>
            </a:r>
            <a:endParaRPr lang="en-US" sz="1180" dirty="0"/>
          </a:p>
        </p:txBody>
      </p:sp>
      <p:sp>
        <p:nvSpPr>
          <p:cNvPr id="6" name="Shape 4"/>
          <p:cNvSpPr/>
          <p:nvPr/>
        </p:nvSpPr>
        <p:spPr>
          <a:xfrm>
            <a:off x="548640" y="3611880"/>
            <a:ext cx="11091672" cy="1600200"/>
          </a:xfrm>
          <a:prstGeom prst="roundRect">
            <a:avLst>
              <a:gd name="adj" fmla="val 4571"/>
            </a:avLst>
          </a:prstGeom>
          <a:solidFill>
            <a:srgbClr val="F9EAE6"/>
          </a:solidFill>
          <a:ln/>
          <a:effectLst>
            <a:outerShdw sx="100000" sy="100000" kx="0" ky="0" algn="bl" rotWithShape="0" blurRad="76200" dist="25400" dir="5400000">
              <a:srgbClr val="9AAAB0">
                <a:alpha val="28000"/>
              </a:srgbClr>
            </a:outerShdw>
          </a:effectLst>
        </p:spPr>
      </p:sp>
      <p:sp>
        <p:nvSpPr>
          <p:cNvPr id="7" name="Text 5"/>
          <p:cNvSpPr txBox="1"/>
          <p:nvPr/>
        </p:nvSpPr>
        <p:spPr>
          <a:xfrm>
            <a:off x="777240" y="3721608"/>
            <a:ext cx="10607040" cy="1417320"/>
          </a:xfrm>
          <a:prstGeom prst="rect">
            <a:avLst/>
          </a:prstGeom>
          <a:noFill/>
          <a:ln/>
        </p:spPr>
        <p:txBody>
          <a:bodyPr wrap="square" lIns="0" tIns="0" rIns="0" bIns="0" rtlCol="0" anchor="t"/>
          <a:lstStyle/>
          <a:p>
            <a:pPr indent="0" marL="0">
              <a:buNone/>
            </a:pPr>
            <a:r>
              <a:rPr lang="en-US" sz="1180" b="1" dirty="0">
                <a:solidFill>
                  <a:srgbClr val="C14B37"/>
                </a:solidFill>
                <a:latin typeface="Calibri" pitchFamily="34" charset="0"/>
                <a:ea typeface="Calibri" pitchFamily="34" charset="-122"/>
                <a:cs typeface="Calibri" pitchFamily="34" charset="-120"/>
              </a:rPr>
              <a:t>Paragraph 2 — limitation (against).  </a:t>
            </a:r>
            <a:pPr indent="0" marL="0">
              <a:buNone/>
            </a:pPr>
            <a:r>
              <a:rPr lang="en-US" sz="1180" dirty="0">
                <a:solidFill>
                  <a:srgbClr val="1F2A33"/>
                </a:solidFill>
                <a:latin typeface="Calibri" pitchFamily="34" charset="0"/>
                <a:ea typeface="Calibri" pitchFamily="34" charset="-122"/>
                <a:cs typeface="Calibri" pitchFamily="34" charset="-120"/>
              </a:rPr>
              <a:t>However, the PLC may be less important because the stage is hard to identify in time. Sales are measured with a lag, so Kellogg's might misread a short-term dip — caused by a one-off factor — as true decline, and wrongly cut support for a product that could recover. The success of a cereal also depends on external trends such as healthy eating, which the model does not capture.</a:t>
            </a:r>
            <a:endParaRPr lang="en-US" sz="1180" dirty="0"/>
          </a:p>
        </p:txBody>
      </p:sp>
      <p:sp>
        <p:nvSpPr>
          <p:cNvPr id="8" name="Shape 6"/>
          <p:cNvSpPr/>
          <p:nvPr/>
        </p:nvSpPr>
        <p:spPr>
          <a:xfrm>
            <a:off x="548640" y="5303520"/>
            <a:ext cx="11091672" cy="868680"/>
          </a:xfrm>
          <a:prstGeom prst="roundRect">
            <a:avLst>
              <a:gd name="adj" fmla="val 8421"/>
            </a:avLst>
          </a:prstGeom>
          <a:solidFill>
            <a:srgbClr val="0E3A43"/>
          </a:solidFill>
          <a:ln/>
          <a:effectLst>
            <a:outerShdw sx="100000" sy="100000" kx="0" ky="0" algn="bl" rotWithShape="0" blurRad="76200" dist="25400" dir="5400000">
              <a:srgbClr val="9AAAB0">
                <a:alpha val="28000"/>
              </a:srgbClr>
            </a:outerShdw>
          </a:effectLst>
        </p:spPr>
      </p:sp>
      <p:sp>
        <p:nvSpPr>
          <p:cNvPr id="9" name="Text 7"/>
          <p:cNvSpPr txBox="1"/>
          <p:nvPr/>
        </p:nvSpPr>
        <p:spPr>
          <a:xfrm>
            <a:off x="777240" y="5394960"/>
            <a:ext cx="10607040" cy="713232"/>
          </a:xfrm>
          <a:prstGeom prst="rect">
            <a:avLst/>
          </a:prstGeom>
          <a:noFill/>
          <a:ln/>
        </p:spPr>
        <p:txBody>
          <a:bodyPr wrap="square" lIns="0" tIns="0" rIns="0" bIns="0" rtlCol="0" anchor="ctr"/>
          <a:lstStyle/>
          <a:p>
            <a:pPr indent="0" marL="0">
              <a:buNone/>
            </a:pPr>
            <a:r>
              <a:rPr lang="en-US" sz="1180" b="1" dirty="0">
                <a:solidFill>
                  <a:srgbClr val="E0940F"/>
                </a:solidFill>
                <a:latin typeface="Calibri" pitchFamily="34" charset="0"/>
                <a:ea typeface="Calibri" pitchFamily="34" charset="-122"/>
                <a:cs typeface="Calibri" pitchFamily="34" charset="-120"/>
              </a:rPr>
              <a:t>Conclusion.  </a:t>
            </a:r>
            <a:pPr indent="0" marL="0">
              <a:buNone/>
            </a:pPr>
            <a:r>
              <a:rPr lang="en-US" sz="1180" dirty="0">
                <a:solidFill>
                  <a:srgbClr val="FFFFFF"/>
                </a:solidFill>
                <a:latin typeface="Calibri" pitchFamily="34" charset="0"/>
                <a:ea typeface="Calibri" pitchFamily="34" charset="-122"/>
                <a:cs typeface="Calibri" pitchFamily="34" charset="-120"/>
              </a:rPr>
              <a:t>Overall, the PLC is important to Kellogg's for timing extension strategies and spreading risk across products at different stages, but it is a guide, not a forecast. Its value depends on Kellogg's combining it with up-to-date market research and an eye on social trends.</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8800" b="1" dirty="0">
                <a:solidFill>
                  <a:srgbClr val="FFFFFF"/>
                </a:solidFill>
                <a:latin typeface="Cambria" pitchFamily="34" charset="0"/>
                <a:ea typeface="Cambria" pitchFamily="34" charset="-122"/>
                <a:cs typeface="Cambria" pitchFamily="34" charset="-120"/>
              </a:rPr>
              <a:t>C</a:t>
            </a:r>
            <a:endParaRPr lang="en-US" sz="88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SECTION C</a:t>
            </a:r>
            <a:endParaRPr lang="en-US" sz="1300" dirty="0"/>
          </a:p>
        </p:txBody>
      </p:sp>
      <p:sp>
        <p:nvSpPr>
          <p:cNvPr id="5" name="Text 3"/>
          <p:cNvSpPr txBox="1"/>
          <p:nvPr/>
        </p:nvSpPr>
        <p:spPr>
          <a:xfrm>
            <a:off x="2834640" y="2487168"/>
            <a:ext cx="8595360" cy="11430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The Boston Matrix &amp; the product portfolio</a:t>
            </a:r>
            <a:endParaRPr lang="en-US" sz="3600" dirty="0"/>
          </a:p>
        </p:txBody>
      </p:sp>
      <p:sp>
        <p:nvSpPr>
          <p:cNvPr id="6" name="Text 4"/>
          <p:cNvSpPr txBox="1"/>
          <p:nvPr/>
        </p:nvSpPr>
        <p:spPr>
          <a:xfrm>
            <a:off x="2880360" y="3657600"/>
            <a:ext cx="8503920" cy="64008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section:  </a:t>
            </a:r>
            <a:pPr indent="0" marL="0">
              <a:buNone/>
            </a:pPr>
            <a:r>
              <a:rPr lang="en-US" sz="1350" dirty="0">
                <a:solidFill>
                  <a:srgbClr val="D7E6E8"/>
                </a:solidFill>
                <a:latin typeface="Calibri" pitchFamily="34" charset="0"/>
                <a:ea typeface="Calibri" pitchFamily="34" charset="-122"/>
                <a:cs typeface="Calibri" pitchFamily="34" charset="-120"/>
              </a:rPr>
              <a:t>the two axes and four categories  ·  what each category means and the strategy for it  ·  real portfolios (Apple, Superdry)  ·  pros and cons of the tool</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BOSTON MATRIX</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What is the Boston Matrix?</a:t>
            </a:r>
            <a:endParaRPr lang="en-US" sz="28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98480" cy="658368"/>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Product portfolio  </a:t>
            </a:r>
            <a:pPr indent="0" marL="0">
              <a:buNone/>
            </a:pPr>
            <a:r>
              <a:rPr lang="en-US" sz="1300" dirty="0">
                <a:solidFill>
                  <a:srgbClr val="1F2A33"/>
                </a:solidFill>
                <a:latin typeface="Calibri" pitchFamily="34" charset="0"/>
                <a:ea typeface="Calibri" pitchFamily="34" charset="-122"/>
                <a:cs typeface="Calibri" pitchFamily="34" charset="-120"/>
              </a:rPr>
              <a:t>= the range of products a business sells.   </a:t>
            </a:r>
            <a:pPr indent="0" marL="0">
              <a:buNone/>
            </a:pPr>
            <a:r>
              <a:rPr lang="en-US" sz="1300" b="1" dirty="0">
                <a:solidFill>
                  <a:srgbClr val="0B5E66"/>
                </a:solidFill>
                <a:latin typeface="Calibri" pitchFamily="34" charset="0"/>
                <a:ea typeface="Calibri" pitchFamily="34" charset="-122"/>
                <a:cs typeface="Calibri" pitchFamily="34" charset="-120"/>
              </a:rPr>
              <a:t>Boston Matrix  </a:t>
            </a:r>
            <a:pPr indent="0" marL="0">
              <a:buNone/>
            </a:pPr>
            <a:r>
              <a:rPr lang="en-US" sz="1300" dirty="0">
                <a:solidFill>
                  <a:srgbClr val="1F2A33"/>
                </a:solidFill>
                <a:latin typeface="Calibri" pitchFamily="34" charset="0"/>
                <a:ea typeface="Calibri" pitchFamily="34" charset="-122"/>
                <a:cs typeface="Calibri" pitchFamily="34" charset="-120"/>
              </a:rPr>
              <a:t>= a tool that plots each product by market growth (vertical) and relative market share (horizontal) to judge the balance of the range.</a:t>
            </a:r>
            <a:endParaRPr lang="en-US" sz="1300" dirty="0"/>
          </a:p>
        </p:txBody>
      </p:sp>
      <p:sp>
        <p:nvSpPr>
          <p:cNvPr id="6" name="Shape 4"/>
          <p:cNvSpPr/>
          <p:nvPr/>
        </p:nvSpPr>
        <p:spPr>
          <a:xfrm>
            <a:off x="1920240" y="2514600"/>
            <a:ext cx="4023360" cy="1691640"/>
          </a:xfrm>
          <a:prstGeom prst="roundRect">
            <a:avLst>
              <a:gd name="adj" fmla="val 4324"/>
            </a:avLst>
          </a:prstGeom>
          <a:solidFill>
            <a:srgbClr val="EAF3F4"/>
          </a:solidFill>
          <a:ln/>
          <a:effectLst>
            <a:outerShdw sx="100000" sy="100000" kx="0" ky="0" algn="bl" rotWithShape="0" blurRad="76200" dist="25400" dir="5400000">
              <a:srgbClr val="9AAAB0">
                <a:alpha val="28000"/>
              </a:srgbClr>
            </a:outerShdw>
          </a:effectLst>
        </p:spPr>
      </p:sp>
      <p:sp>
        <p:nvSpPr>
          <p:cNvPr id="7" name="Text 5"/>
          <p:cNvSpPr txBox="1"/>
          <p:nvPr/>
        </p:nvSpPr>
        <p:spPr>
          <a:xfrm>
            <a:off x="2121408" y="2679192"/>
            <a:ext cx="3621024" cy="411480"/>
          </a:xfrm>
          <a:prstGeom prst="rect">
            <a:avLst/>
          </a:prstGeom>
          <a:noFill/>
          <a:ln/>
        </p:spPr>
        <p:txBody>
          <a:bodyPr wrap="square" lIns="0" tIns="0" rIns="0" bIns="0" rtlCol="0" anchor="ctr"/>
          <a:lstStyle/>
          <a:p>
            <a:pPr indent="0" marL="0">
              <a:buNone/>
            </a:pPr>
            <a:r>
              <a:rPr lang="en-US" sz="1900" b="1" dirty="0">
                <a:solidFill>
                  <a:srgbClr val="0E7C86"/>
                </a:solidFill>
                <a:latin typeface="Cambria" pitchFamily="34" charset="0"/>
                <a:ea typeface="Cambria" pitchFamily="34" charset="-122"/>
                <a:cs typeface="Cambria" pitchFamily="34" charset="-120"/>
              </a:rPr>
              <a:t>STAR</a:t>
            </a:r>
            <a:endParaRPr lang="en-US" sz="1900" dirty="0"/>
          </a:p>
        </p:txBody>
      </p:sp>
      <p:sp>
        <p:nvSpPr>
          <p:cNvPr id="8" name="Text 6"/>
          <p:cNvSpPr txBox="1"/>
          <p:nvPr/>
        </p:nvSpPr>
        <p:spPr>
          <a:xfrm>
            <a:off x="2121408" y="3136392"/>
            <a:ext cx="3621024" cy="365760"/>
          </a:xfrm>
          <a:prstGeom prst="rect">
            <a:avLst/>
          </a:prstGeom>
          <a:noFill/>
          <a:ln/>
        </p:spPr>
        <p:txBody>
          <a:bodyPr wrap="square" lIns="0" tIns="0" rIns="0" bIns="0" rtlCol="0" anchor="ctr"/>
          <a:lstStyle/>
          <a:p>
            <a:pPr indent="0" marL="0">
              <a:buNone/>
            </a:pPr>
            <a:r>
              <a:rPr lang="en-US" sz="1250" b="1" dirty="0">
                <a:solidFill>
                  <a:srgbClr val="1F2A33"/>
                </a:solidFill>
                <a:latin typeface="Calibri" pitchFamily="34" charset="0"/>
                <a:ea typeface="Calibri" pitchFamily="34" charset="-122"/>
                <a:cs typeface="Calibri" pitchFamily="34" charset="-120"/>
              </a:rPr>
              <a:t>High growth · High share</a:t>
            </a:r>
            <a:endParaRPr lang="en-US" sz="1250" dirty="0"/>
          </a:p>
        </p:txBody>
      </p:sp>
      <p:sp>
        <p:nvSpPr>
          <p:cNvPr id="9" name="Text 7"/>
          <p:cNvSpPr txBox="1"/>
          <p:nvPr/>
        </p:nvSpPr>
        <p:spPr>
          <a:xfrm>
            <a:off x="2121408" y="3502152"/>
            <a:ext cx="3621024" cy="548640"/>
          </a:xfrm>
          <a:prstGeom prst="rect">
            <a:avLst/>
          </a:prstGeom>
          <a:noFill/>
          <a:ln/>
        </p:spPr>
        <p:txBody>
          <a:bodyPr wrap="square" lIns="0" tIns="0" rIns="0" bIns="0" rtlCol="0" anchor="ctr"/>
          <a:lstStyle/>
          <a:p>
            <a:pPr indent="0" marL="0">
              <a:buNone/>
            </a:pPr>
            <a:r>
              <a:rPr lang="en-US" sz="1250" i="1" dirty="0">
                <a:solidFill>
                  <a:srgbClr val="5B6B73"/>
                </a:solidFill>
                <a:latin typeface="Calibri" pitchFamily="34" charset="0"/>
                <a:ea typeface="Calibri" pitchFamily="34" charset="-122"/>
                <a:cs typeface="Calibri" pitchFamily="34" charset="-120"/>
              </a:rPr>
              <a:t>Invest to keep leading</a:t>
            </a:r>
            <a:endParaRPr lang="en-US" sz="1250" dirty="0"/>
          </a:p>
        </p:txBody>
      </p:sp>
      <p:sp>
        <p:nvSpPr>
          <p:cNvPr id="10" name="Shape 8"/>
          <p:cNvSpPr/>
          <p:nvPr/>
        </p:nvSpPr>
        <p:spPr>
          <a:xfrm>
            <a:off x="6053328" y="2514600"/>
            <a:ext cx="4023360" cy="1691640"/>
          </a:xfrm>
          <a:prstGeom prst="roundRect">
            <a:avLst>
              <a:gd name="adj" fmla="val 4324"/>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6254496" y="2679192"/>
            <a:ext cx="3621024" cy="411480"/>
          </a:xfrm>
          <a:prstGeom prst="rect">
            <a:avLst/>
          </a:prstGeom>
          <a:noFill/>
          <a:ln/>
        </p:spPr>
        <p:txBody>
          <a:bodyPr wrap="square" lIns="0" tIns="0" rIns="0" bIns="0" rtlCol="0" anchor="ctr"/>
          <a:lstStyle/>
          <a:p>
            <a:pPr indent="0" marL="0">
              <a:buNone/>
            </a:pPr>
            <a:r>
              <a:rPr lang="en-US" sz="1900" b="1" dirty="0">
                <a:solidFill>
                  <a:srgbClr val="E0940F"/>
                </a:solidFill>
                <a:latin typeface="Cambria" pitchFamily="34" charset="0"/>
                <a:ea typeface="Cambria" pitchFamily="34" charset="-122"/>
                <a:cs typeface="Cambria" pitchFamily="34" charset="-120"/>
              </a:rPr>
              <a:t>QUESTION MARK</a:t>
            </a:r>
            <a:endParaRPr lang="en-US" sz="1900" dirty="0"/>
          </a:p>
        </p:txBody>
      </p:sp>
      <p:sp>
        <p:nvSpPr>
          <p:cNvPr id="12" name="Text 10"/>
          <p:cNvSpPr txBox="1"/>
          <p:nvPr/>
        </p:nvSpPr>
        <p:spPr>
          <a:xfrm>
            <a:off x="6254496" y="3136392"/>
            <a:ext cx="3621024" cy="365760"/>
          </a:xfrm>
          <a:prstGeom prst="rect">
            <a:avLst/>
          </a:prstGeom>
          <a:noFill/>
          <a:ln/>
        </p:spPr>
        <p:txBody>
          <a:bodyPr wrap="square" lIns="0" tIns="0" rIns="0" bIns="0" rtlCol="0" anchor="ctr"/>
          <a:lstStyle/>
          <a:p>
            <a:pPr indent="0" marL="0">
              <a:buNone/>
            </a:pPr>
            <a:r>
              <a:rPr lang="en-US" sz="1250" b="1" dirty="0">
                <a:solidFill>
                  <a:srgbClr val="1F2A33"/>
                </a:solidFill>
                <a:latin typeface="Calibri" pitchFamily="34" charset="0"/>
                <a:ea typeface="Calibri" pitchFamily="34" charset="-122"/>
                <a:cs typeface="Calibri" pitchFamily="34" charset="-120"/>
              </a:rPr>
              <a:t>High growth · Low share</a:t>
            </a:r>
            <a:endParaRPr lang="en-US" sz="1250" dirty="0"/>
          </a:p>
        </p:txBody>
      </p:sp>
      <p:sp>
        <p:nvSpPr>
          <p:cNvPr id="13" name="Text 11"/>
          <p:cNvSpPr txBox="1"/>
          <p:nvPr/>
        </p:nvSpPr>
        <p:spPr>
          <a:xfrm>
            <a:off x="6254496" y="3502152"/>
            <a:ext cx="3621024" cy="548640"/>
          </a:xfrm>
          <a:prstGeom prst="rect">
            <a:avLst/>
          </a:prstGeom>
          <a:noFill/>
          <a:ln/>
        </p:spPr>
        <p:txBody>
          <a:bodyPr wrap="square" lIns="0" tIns="0" rIns="0" bIns="0" rtlCol="0" anchor="ctr"/>
          <a:lstStyle/>
          <a:p>
            <a:pPr indent="0" marL="0">
              <a:buNone/>
            </a:pPr>
            <a:r>
              <a:rPr lang="en-US" sz="1250" i="1" dirty="0">
                <a:solidFill>
                  <a:srgbClr val="5B6B73"/>
                </a:solidFill>
                <a:latin typeface="Calibri" pitchFamily="34" charset="0"/>
                <a:ea typeface="Calibri" pitchFamily="34" charset="-122"/>
                <a:cs typeface="Calibri" pitchFamily="34" charset="-120"/>
              </a:rPr>
              <a:t>Invest to build — or drop</a:t>
            </a:r>
            <a:endParaRPr lang="en-US" sz="1250" dirty="0"/>
          </a:p>
        </p:txBody>
      </p:sp>
      <p:sp>
        <p:nvSpPr>
          <p:cNvPr id="14" name="Shape 12"/>
          <p:cNvSpPr/>
          <p:nvPr/>
        </p:nvSpPr>
        <p:spPr>
          <a:xfrm>
            <a:off x="1920240" y="4315968"/>
            <a:ext cx="4023360" cy="1691640"/>
          </a:xfrm>
          <a:prstGeom prst="roundRect">
            <a:avLst>
              <a:gd name="adj" fmla="val 4324"/>
            </a:avLst>
          </a:prstGeom>
          <a:solidFill>
            <a:srgbClr val="E8F3EC"/>
          </a:solidFill>
          <a:ln/>
          <a:effectLst>
            <a:outerShdw sx="100000" sy="100000" kx="0" ky="0" algn="bl" rotWithShape="0" blurRad="76200" dist="25400" dir="5400000">
              <a:srgbClr val="9AAAB0">
                <a:alpha val="28000"/>
              </a:srgbClr>
            </a:outerShdw>
          </a:effectLst>
        </p:spPr>
      </p:sp>
      <p:sp>
        <p:nvSpPr>
          <p:cNvPr id="15" name="Text 13"/>
          <p:cNvSpPr txBox="1"/>
          <p:nvPr/>
        </p:nvSpPr>
        <p:spPr>
          <a:xfrm>
            <a:off x="2121408" y="4480560"/>
            <a:ext cx="3621024" cy="411480"/>
          </a:xfrm>
          <a:prstGeom prst="rect">
            <a:avLst/>
          </a:prstGeom>
          <a:noFill/>
          <a:ln/>
        </p:spPr>
        <p:txBody>
          <a:bodyPr wrap="square" lIns="0" tIns="0" rIns="0" bIns="0" rtlCol="0" anchor="ctr"/>
          <a:lstStyle/>
          <a:p>
            <a:pPr indent="0" marL="0">
              <a:buNone/>
            </a:pPr>
            <a:r>
              <a:rPr lang="en-US" sz="1900" b="1" dirty="0">
                <a:solidFill>
                  <a:srgbClr val="2F8A5B"/>
                </a:solidFill>
                <a:latin typeface="Cambria" pitchFamily="34" charset="0"/>
                <a:ea typeface="Cambria" pitchFamily="34" charset="-122"/>
                <a:cs typeface="Cambria" pitchFamily="34" charset="-120"/>
              </a:rPr>
              <a:t>CASH COW</a:t>
            </a:r>
            <a:endParaRPr lang="en-US" sz="1900" dirty="0"/>
          </a:p>
        </p:txBody>
      </p:sp>
      <p:sp>
        <p:nvSpPr>
          <p:cNvPr id="16" name="Text 14"/>
          <p:cNvSpPr txBox="1"/>
          <p:nvPr/>
        </p:nvSpPr>
        <p:spPr>
          <a:xfrm>
            <a:off x="2121408" y="4937760"/>
            <a:ext cx="3621024" cy="365760"/>
          </a:xfrm>
          <a:prstGeom prst="rect">
            <a:avLst/>
          </a:prstGeom>
          <a:noFill/>
          <a:ln/>
        </p:spPr>
        <p:txBody>
          <a:bodyPr wrap="square" lIns="0" tIns="0" rIns="0" bIns="0" rtlCol="0" anchor="ctr"/>
          <a:lstStyle/>
          <a:p>
            <a:pPr indent="0" marL="0">
              <a:buNone/>
            </a:pPr>
            <a:r>
              <a:rPr lang="en-US" sz="1250" b="1" dirty="0">
                <a:solidFill>
                  <a:srgbClr val="1F2A33"/>
                </a:solidFill>
                <a:latin typeface="Calibri" pitchFamily="34" charset="0"/>
                <a:ea typeface="Calibri" pitchFamily="34" charset="-122"/>
                <a:cs typeface="Calibri" pitchFamily="34" charset="-120"/>
              </a:rPr>
              <a:t>Low growth · High share</a:t>
            </a:r>
            <a:endParaRPr lang="en-US" sz="1250" dirty="0"/>
          </a:p>
        </p:txBody>
      </p:sp>
      <p:sp>
        <p:nvSpPr>
          <p:cNvPr id="17" name="Text 15"/>
          <p:cNvSpPr txBox="1"/>
          <p:nvPr/>
        </p:nvSpPr>
        <p:spPr>
          <a:xfrm>
            <a:off x="2121408" y="5303520"/>
            <a:ext cx="3621024" cy="548640"/>
          </a:xfrm>
          <a:prstGeom prst="rect">
            <a:avLst/>
          </a:prstGeom>
          <a:noFill/>
          <a:ln/>
        </p:spPr>
        <p:txBody>
          <a:bodyPr wrap="square" lIns="0" tIns="0" rIns="0" bIns="0" rtlCol="0" anchor="ctr"/>
          <a:lstStyle/>
          <a:p>
            <a:pPr indent="0" marL="0">
              <a:buNone/>
            </a:pPr>
            <a:r>
              <a:rPr lang="en-US" sz="1250" i="1" dirty="0">
                <a:solidFill>
                  <a:srgbClr val="5B6B73"/>
                </a:solidFill>
                <a:latin typeface="Calibri" pitchFamily="34" charset="0"/>
                <a:ea typeface="Calibri" pitchFamily="34" charset="-122"/>
                <a:cs typeface="Calibri" pitchFamily="34" charset="-120"/>
              </a:rPr>
              <a:t>Milk it to fund other products</a:t>
            </a:r>
            <a:endParaRPr lang="en-US" sz="1250" dirty="0"/>
          </a:p>
        </p:txBody>
      </p:sp>
      <p:sp>
        <p:nvSpPr>
          <p:cNvPr id="18" name="Shape 16"/>
          <p:cNvSpPr/>
          <p:nvPr/>
        </p:nvSpPr>
        <p:spPr>
          <a:xfrm>
            <a:off x="6053328" y="4315968"/>
            <a:ext cx="4023360" cy="1691640"/>
          </a:xfrm>
          <a:prstGeom prst="roundRect">
            <a:avLst>
              <a:gd name="adj" fmla="val 4324"/>
            </a:avLst>
          </a:prstGeom>
          <a:solidFill>
            <a:srgbClr val="F9EAE6"/>
          </a:solidFill>
          <a:ln/>
          <a:effectLst>
            <a:outerShdw sx="100000" sy="100000" kx="0" ky="0" algn="bl" rotWithShape="0" blurRad="76200" dist="25400" dir="5400000">
              <a:srgbClr val="9AAAB0">
                <a:alpha val="28000"/>
              </a:srgbClr>
            </a:outerShdw>
          </a:effectLst>
        </p:spPr>
      </p:sp>
      <p:sp>
        <p:nvSpPr>
          <p:cNvPr id="19" name="Text 17"/>
          <p:cNvSpPr txBox="1"/>
          <p:nvPr/>
        </p:nvSpPr>
        <p:spPr>
          <a:xfrm>
            <a:off x="6254496" y="4480560"/>
            <a:ext cx="3621024" cy="411480"/>
          </a:xfrm>
          <a:prstGeom prst="rect">
            <a:avLst/>
          </a:prstGeom>
          <a:noFill/>
          <a:ln/>
        </p:spPr>
        <p:txBody>
          <a:bodyPr wrap="square" lIns="0" tIns="0" rIns="0" bIns="0" rtlCol="0" anchor="ctr"/>
          <a:lstStyle/>
          <a:p>
            <a:pPr indent="0" marL="0">
              <a:buNone/>
            </a:pPr>
            <a:r>
              <a:rPr lang="en-US" sz="1900" b="1" dirty="0">
                <a:solidFill>
                  <a:srgbClr val="C14B37"/>
                </a:solidFill>
                <a:latin typeface="Cambria" pitchFamily="34" charset="0"/>
                <a:ea typeface="Cambria" pitchFamily="34" charset="-122"/>
                <a:cs typeface="Cambria" pitchFamily="34" charset="-120"/>
              </a:rPr>
              <a:t>DOG</a:t>
            </a:r>
            <a:endParaRPr lang="en-US" sz="1900" dirty="0"/>
          </a:p>
        </p:txBody>
      </p:sp>
      <p:sp>
        <p:nvSpPr>
          <p:cNvPr id="20" name="Text 18"/>
          <p:cNvSpPr txBox="1"/>
          <p:nvPr/>
        </p:nvSpPr>
        <p:spPr>
          <a:xfrm>
            <a:off x="6254496" y="4937760"/>
            <a:ext cx="3621024" cy="365760"/>
          </a:xfrm>
          <a:prstGeom prst="rect">
            <a:avLst/>
          </a:prstGeom>
          <a:noFill/>
          <a:ln/>
        </p:spPr>
        <p:txBody>
          <a:bodyPr wrap="square" lIns="0" tIns="0" rIns="0" bIns="0" rtlCol="0" anchor="ctr"/>
          <a:lstStyle/>
          <a:p>
            <a:pPr indent="0" marL="0">
              <a:buNone/>
            </a:pPr>
            <a:r>
              <a:rPr lang="en-US" sz="1250" b="1" dirty="0">
                <a:solidFill>
                  <a:srgbClr val="1F2A33"/>
                </a:solidFill>
                <a:latin typeface="Calibri" pitchFamily="34" charset="0"/>
                <a:ea typeface="Calibri" pitchFamily="34" charset="-122"/>
                <a:cs typeface="Calibri" pitchFamily="34" charset="-120"/>
              </a:rPr>
              <a:t>Low growth · Low share</a:t>
            </a:r>
            <a:endParaRPr lang="en-US" sz="1250" dirty="0"/>
          </a:p>
        </p:txBody>
      </p:sp>
      <p:sp>
        <p:nvSpPr>
          <p:cNvPr id="21" name="Text 19"/>
          <p:cNvSpPr txBox="1"/>
          <p:nvPr/>
        </p:nvSpPr>
        <p:spPr>
          <a:xfrm>
            <a:off x="6254496" y="5303520"/>
            <a:ext cx="3621024" cy="548640"/>
          </a:xfrm>
          <a:prstGeom prst="rect">
            <a:avLst/>
          </a:prstGeom>
          <a:noFill/>
          <a:ln/>
        </p:spPr>
        <p:txBody>
          <a:bodyPr wrap="square" lIns="0" tIns="0" rIns="0" bIns="0" rtlCol="0" anchor="ctr"/>
          <a:lstStyle/>
          <a:p>
            <a:pPr indent="0" marL="0">
              <a:buNone/>
            </a:pPr>
            <a:r>
              <a:rPr lang="en-US" sz="1250" i="1" dirty="0">
                <a:solidFill>
                  <a:srgbClr val="5B6B73"/>
                </a:solidFill>
                <a:latin typeface="Calibri" pitchFamily="34" charset="0"/>
                <a:ea typeface="Calibri" pitchFamily="34" charset="-122"/>
                <a:cs typeface="Calibri" pitchFamily="34" charset="-120"/>
              </a:rPr>
              <a:t>Harvest or divest</a:t>
            </a:r>
            <a:endParaRPr lang="en-US" sz="1250" dirty="0"/>
          </a:p>
        </p:txBody>
      </p:sp>
      <p:sp>
        <p:nvSpPr>
          <p:cNvPr id="22" name="Text 20"/>
          <p:cNvSpPr txBox="1"/>
          <p:nvPr/>
        </p:nvSpPr>
        <p:spPr>
          <a:xfrm rot="16200000">
            <a:off x="0" y="4078224"/>
            <a:ext cx="2011680" cy="365760"/>
          </a:xfrm>
          <a:prstGeom prst="rect">
            <a:avLst/>
          </a:prstGeom>
          <a:noFill/>
          <a:ln/>
        </p:spPr>
        <p:txBody>
          <a:bodyPr wrap="square" lIns="0" tIns="0" rIns="0" bIns="0" rtlCol="0" anchor="ctr"/>
          <a:lstStyle/>
          <a:p>
            <a:pPr algn="ctr" indent="0" marL="0">
              <a:buNone/>
            </a:pPr>
            <a:r>
              <a:rPr lang="en-US" sz="1250" b="1" dirty="0">
                <a:solidFill>
                  <a:srgbClr val="0E3A43"/>
                </a:solidFill>
                <a:latin typeface="Calibri" pitchFamily="34" charset="0"/>
                <a:ea typeface="Calibri" pitchFamily="34" charset="-122"/>
                <a:cs typeface="Calibri" pitchFamily="34" charset="-120"/>
              </a:rPr>
              <a:t>Market growth</a:t>
            </a:r>
            <a:endParaRPr lang="en-US" sz="1250" dirty="0"/>
          </a:p>
        </p:txBody>
      </p:sp>
      <p:sp>
        <p:nvSpPr>
          <p:cNvPr id="23" name="Text 21"/>
          <p:cNvSpPr txBox="1"/>
          <p:nvPr/>
        </p:nvSpPr>
        <p:spPr>
          <a:xfrm>
            <a:off x="1371600" y="2606040"/>
            <a:ext cx="502920" cy="274320"/>
          </a:xfrm>
          <a:prstGeom prst="rect">
            <a:avLst/>
          </a:prstGeom>
          <a:noFill/>
          <a:ln/>
        </p:spPr>
        <p:txBody>
          <a:bodyPr wrap="square" lIns="0" tIns="0" rIns="0" bIns="0" rtlCol="0" anchor="ctr"/>
          <a:lstStyle/>
          <a:p>
            <a:pPr algn="ctr" indent="0" marL="0">
              <a:buNone/>
            </a:pPr>
            <a:r>
              <a:rPr lang="en-US" sz="1000" b="1" dirty="0">
                <a:solidFill>
                  <a:srgbClr val="5B6B73"/>
                </a:solidFill>
                <a:latin typeface="Calibri" pitchFamily="34" charset="0"/>
                <a:ea typeface="Calibri" pitchFamily="34" charset="-122"/>
                <a:cs typeface="Calibri" pitchFamily="34" charset="-120"/>
              </a:rPr>
              <a:t>HIGH</a:t>
            </a:r>
            <a:endParaRPr lang="en-US" sz="1000" dirty="0"/>
          </a:p>
        </p:txBody>
      </p:sp>
      <p:sp>
        <p:nvSpPr>
          <p:cNvPr id="24" name="Text 22"/>
          <p:cNvSpPr txBox="1"/>
          <p:nvPr/>
        </p:nvSpPr>
        <p:spPr>
          <a:xfrm>
            <a:off x="1371600" y="5641848"/>
            <a:ext cx="502920" cy="274320"/>
          </a:xfrm>
          <a:prstGeom prst="rect">
            <a:avLst/>
          </a:prstGeom>
          <a:noFill/>
          <a:ln/>
        </p:spPr>
        <p:txBody>
          <a:bodyPr wrap="square" lIns="0" tIns="0" rIns="0" bIns="0" rtlCol="0" anchor="ctr"/>
          <a:lstStyle/>
          <a:p>
            <a:pPr algn="ctr" indent="0" marL="0">
              <a:buNone/>
            </a:pPr>
            <a:r>
              <a:rPr lang="en-US" sz="1000" b="1" dirty="0">
                <a:solidFill>
                  <a:srgbClr val="5B6B73"/>
                </a:solidFill>
                <a:latin typeface="Calibri" pitchFamily="34" charset="0"/>
                <a:ea typeface="Calibri" pitchFamily="34" charset="-122"/>
                <a:cs typeface="Calibri" pitchFamily="34" charset="-120"/>
              </a:rPr>
              <a:t>LOW</a:t>
            </a:r>
            <a:endParaRPr lang="en-US" sz="1000" dirty="0"/>
          </a:p>
        </p:txBody>
      </p:sp>
      <p:sp>
        <p:nvSpPr>
          <p:cNvPr id="25" name="Text 23"/>
          <p:cNvSpPr txBox="1"/>
          <p:nvPr/>
        </p:nvSpPr>
        <p:spPr>
          <a:xfrm>
            <a:off x="1920240" y="6053328"/>
            <a:ext cx="8156448" cy="274320"/>
          </a:xfrm>
          <a:prstGeom prst="rect">
            <a:avLst/>
          </a:prstGeom>
          <a:noFill/>
          <a:ln/>
        </p:spPr>
        <p:txBody>
          <a:bodyPr wrap="square" lIns="0" tIns="0" rIns="0" bIns="0" rtlCol="0" anchor="ctr"/>
          <a:lstStyle/>
          <a:p>
            <a:pPr algn="ctr" indent="0" marL="0">
              <a:buNone/>
            </a:pPr>
            <a:r>
              <a:rPr lang="en-US" sz="1250" b="1" dirty="0">
                <a:solidFill>
                  <a:srgbClr val="0E3A43"/>
                </a:solidFill>
                <a:latin typeface="Calibri" pitchFamily="34" charset="0"/>
                <a:ea typeface="Calibri" pitchFamily="34" charset="-122"/>
                <a:cs typeface="Calibri" pitchFamily="34" charset="-120"/>
              </a:rPr>
              <a:t>Relative market share</a:t>
            </a:r>
            <a:endParaRPr lang="en-US" sz="1250" dirty="0"/>
          </a:p>
        </p:txBody>
      </p:sp>
      <p:sp>
        <p:nvSpPr>
          <p:cNvPr id="26" name="Text 24"/>
          <p:cNvSpPr txBox="1"/>
          <p:nvPr/>
        </p:nvSpPr>
        <p:spPr>
          <a:xfrm>
            <a:off x="1920240" y="6053328"/>
            <a:ext cx="914400" cy="274320"/>
          </a:xfrm>
          <a:prstGeom prst="rect">
            <a:avLst/>
          </a:prstGeom>
          <a:noFill/>
          <a:ln/>
        </p:spPr>
        <p:txBody>
          <a:bodyPr wrap="square" lIns="0" tIns="0" rIns="0" bIns="0" rtlCol="0" anchor="ctr"/>
          <a:lstStyle/>
          <a:p>
            <a:pPr algn="l" indent="0" marL="0">
              <a:buNone/>
            </a:pPr>
            <a:r>
              <a:rPr lang="en-US" sz="1000" b="1" dirty="0">
                <a:solidFill>
                  <a:srgbClr val="5B6B73"/>
                </a:solidFill>
                <a:latin typeface="Calibri" pitchFamily="34" charset="0"/>
                <a:ea typeface="Calibri" pitchFamily="34" charset="-122"/>
                <a:cs typeface="Calibri" pitchFamily="34" charset="-120"/>
              </a:rPr>
              <a:t>HIGH</a:t>
            </a:r>
            <a:endParaRPr lang="en-US" sz="1000" dirty="0"/>
          </a:p>
        </p:txBody>
      </p:sp>
      <p:sp>
        <p:nvSpPr>
          <p:cNvPr id="27" name="Text 25"/>
          <p:cNvSpPr txBox="1"/>
          <p:nvPr/>
        </p:nvSpPr>
        <p:spPr>
          <a:xfrm>
            <a:off x="9162288" y="6053328"/>
            <a:ext cx="914400" cy="274320"/>
          </a:xfrm>
          <a:prstGeom prst="rect">
            <a:avLst/>
          </a:prstGeom>
          <a:noFill/>
          <a:ln/>
        </p:spPr>
        <p:txBody>
          <a:bodyPr wrap="square" lIns="0" tIns="0" rIns="0" bIns="0" rtlCol="0" anchor="ctr"/>
          <a:lstStyle/>
          <a:p>
            <a:pPr algn="r" indent="0" marL="0">
              <a:buNone/>
            </a:pPr>
            <a:r>
              <a:rPr lang="en-US" sz="1000" b="1" dirty="0">
                <a:solidFill>
                  <a:srgbClr val="5B6B73"/>
                </a:solidFill>
                <a:latin typeface="Calibri" pitchFamily="34" charset="0"/>
                <a:ea typeface="Calibri" pitchFamily="34" charset="-122"/>
                <a:cs typeface="Calibri" pitchFamily="34" charset="-120"/>
              </a:rPr>
              <a:t>LOW</a:t>
            </a:r>
            <a:endParaRPr lang="en-US" sz="10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BOSTON MATRIX</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The four categories — strengths and risks</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3108960"/>
                <a:gridCol w="2926080"/>
                <a:gridCol w="3319272"/>
              </a:tblGrid>
              <a:tr h="45720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it is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Advantage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Risk / disadvantage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86868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Star</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High share, high-growth market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Market leader with strong future potential</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Needs heavy investment to defend share; cash-hungry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86868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Cash cow</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High share, low-growth market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Generates surplus cash to fund other products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Market is mature; cash may fall as it ages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86868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Question mark</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Low share, high-growth market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Could become a star with the right investment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Uncertain; may drain cash and never succeed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914400">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Dog</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Low share, low-growth market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Can be harvested for short-term cash</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Ties up resources; candidate to drop — but may still be profitable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715000"/>
            <a:ext cx="11091672" cy="548640"/>
          </a:xfrm>
          <a:prstGeom prst="roundRect">
            <a:avLst>
              <a:gd name="adj" fmla="val 13333"/>
            </a:avLst>
          </a:prstGeom>
          <a:solidFill>
            <a:srgbClr val="FBF0D8"/>
          </a:solidFill>
          <a:ln/>
          <a:effectLst>
            <a:outerShdw sx="100000" sy="100000" kx="0" ky="0" algn="bl" rotWithShape="0" blurRad="76200" dist="25400" dir="5400000">
              <a:srgbClr val="9AAAB0">
                <a:alpha val="28000"/>
              </a:srgbClr>
            </a:outerShdw>
          </a:effectLst>
        </p:spPr>
      </p:sp>
      <p:sp>
        <p:nvSpPr>
          <p:cNvPr id="6" name="Text 3"/>
          <p:cNvSpPr txBox="1"/>
          <p:nvPr/>
        </p:nvSpPr>
        <p:spPr>
          <a:xfrm>
            <a:off x="777240" y="5751576"/>
            <a:ext cx="10698480" cy="475488"/>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Aim of a balanced portfolio:  </a:t>
            </a:r>
            <a:pPr indent="0" marL="0">
              <a:buNone/>
            </a:pPr>
            <a:r>
              <a:rPr lang="en-US" sz="1250" dirty="0">
                <a:solidFill>
                  <a:srgbClr val="1F2A33"/>
                </a:solidFill>
                <a:latin typeface="Calibri" pitchFamily="34" charset="0"/>
                <a:ea typeface="Calibri" pitchFamily="34" charset="-122"/>
                <a:cs typeface="Calibri" pitchFamily="34" charset="-120"/>
              </a:rPr>
              <a:t>today's cash cows fund tomorrow's stars and question marks, so the business is not exposed when one product declines.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BOSTON MATRIX</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Is the Boston Matrix useful? Pros, cons &amp; real portfolios</a:t>
            </a:r>
            <a:endParaRPr lang="en-US" sz="2800" dirty="0"/>
          </a:p>
        </p:txBody>
      </p:sp>
      <p:sp>
        <p:nvSpPr>
          <p:cNvPr id="4" name="Shape 2"/>
          <p:cNvSpPr/>
          <p:nvPr/>
        </p:nvSpPr>
        <p:spPr>
          <a:xfrm>
            <a:off x="548640" y="1417320"/>
            <a:ext cx="5440680" cy="2331720"/>
          </a:xfrm>
          <a:prstGeom prst="roundRect">
            <a:avLst>
              <a:gd name="adj" fmla="val 3137"/>
            </a:avLst>
          </a:prstGeom>
          <a:solidFill>
            <a:srgbClr val="E8F3EC"/>
          </a:solidFill>
          <a:ln/>
          <a:effectLst>
            <a:outerShdw sx="100000" sy="100000" kx="0" ky="0" algn="bl" rotWithShape="0" blurRad="76200" dist="25400" dir="5400000">
              <a:srgbClr val="9AAAB0">
                <a:alpha val="28000"/>
              </a:srgbClr>
            </a:outerShdw>
          </a:effectLst>
        </p:spPr>
      </p:sp>
      <p:sp>
        <p:nvSpPr>
          <p:cNvPr id="5" name="Shape 3"/>
          <p:cNvSpPr/>
          <p:nvPr/>
        </p:nvSpPr>
        <p:spPr>
          <a:xfrm>
            <a:off x="777240" y="1581912"/>
            <a:ext cx="2286000" cy="310896"/>
          </a:xfrm>
          <a:prstGeom prst="roundRect">
            <a:avLst>
              <a:gd name="adj" fmla="val 50000"/>
            </a:avLst>
          </a:prstGeom>
          <a:solidFill>
            <a:srgbClr val="2F8A5B"/>
          </a:solidFill>
          <a:ln/>
        </p:spPr>
      </p:sp>
      <p:sp>
        <p:nvSpPr>
          <p:cNvPr id="6" name="Text 4"/>
          <p:cNvSpPr txBox="1"/>
          <p:nvPr/>
        </p:nvSpPr>
        <p:spPr>
          <a:xfrm>
            <a:off x="777240" y="1581912"/>
            <a:ext cx="22860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7" name="Text 5"/>
          <p:cNvSpPr txBox="1"/>
          <p:nvPr/>
        </p:nvSpPr>
        <p:spPr>
          <a:xfrm>
            <a:off x="777240" y="1993392"/>
            <a:ext cx="4983480" cy="16916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Guides investment — shows which products to back, milk or drop</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Highlights whether the portfolio is balanced or over-reliant on one product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Simple, visual and quick to apply</a:t>
            </a:r>
            <a:endParaRPr lang="en-US" sz="1250" dirty="0"/>
          </a:p>
        </p:txBody>
      </p:sp>
      <p:sp>
        <p:nvSpPr>
          <p:cNvPr id="8" name="Shape 6"/>
          <p:cNvSpPr/>
          <p:nvPr/>
        </p:nvSpPr>
        <p:spPr>
          <a:xfrm>
            <a:off x="6199632" y="1417320"/>
            <a:ext cx="5440680" cy="2331720"/>
          </a:xfrm>
          <a:prstGeom prst="roundRect">
            <a:avLst>
              <a:gd name="adj" fmla="val 3137"/>
            </a:avLst>
          </a:prstGeom>
          <a:solidFill>
            <a:srgbClr val="F9EAE6"/>
          </a:solidFill>
          <a:ln/>
          <a:effectLst>
            <a:outerShdw sx="100000" sy="100000" kx="0" ky="0" algn="bl" rotWithShape="0" blurRad="76200" dist="25400" dir="5400000">
              <a:srgbClr val="9AAAB0">
                <a:alpha val="28000"/>
              </a:srgbClr>
            </a:outerShdw>
          </a:effectLst>
        </p:spPr>
      </p:sp>
      <p:sp>
        <p:nvSpPr>
          <p:cNvPr id="9" name="Shape 7"/>
          <p:cNvSpPr/>
          <p:nvPr/>
        </p:nvSpPr>
        <p:spPr>
          <a:xfrm>
            <a:off x="6428232" y="1581912"/>
            <a:ext cx="2651760" cy="310896"/>
          </a:xfrm>
          <a:prstGeom prst="roundRect">
            <a:avLst>
              <a:gd name="adj" fmla="val 50000"/>
            </a:avLst>
          </a:prstGeom>
          <a:solidFill>
            <a:srgbClr val="C14B37"/>
          </a:solidFill>
          <a:ln/>
        </p:spPr>
      </p:sp>
      <p:sp>
        <p:nvSpPr>
          <p:cNvPr id="10" name="Text 8"/>
          <p:cNvSpPr txBox="1"/>
          <p:nvPr/>
        </p:nvSpPr>
        <p:spPr>
          <a:xfrm>
            <a:off x="6428232" y="1581912"/>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1" name="Text 9"/>
          <p:cNvSpPr txBox="1"/>
          <p:nvPr/>
        </p:nvSpPr>
        <p:spPr>
          <a:xfrm>
            <a:off x="6428232" y="1993392"/>
            <a:ext cx="4983480" cy="16916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Ignores profit — high share ≠ high profit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 snapshot only; competitors and tastes change a product's position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Oversimplifies — a dog may still be profitable or support other sales</a:t>
            </a:r>
            <a:endParaRPr lang="en-US" sz="1250" dirty="0"/>
          </a:p>
        </p:txBody>
      </p:sp>
      <p:sp>
        <p:nvSpPr>
          <p:cNvPr id="12" name="Shape 10"/>
          <p:cNvSpPr/>
          <p:nvPr/>
        </p:nvSpPr>
        <p:spPr>
          <a:xfrm>
            <a:off x="548640" y="3931920"/>
            <a:ext cx="5440680"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Text 11"/>
          <p:cNvSpPr txBox="1"/>
          <p:nvPr/>
        </p:nvSpPr>
        <p:spPr>
          <a:xfrm>
            <a:off x="777240" y="4041648"/>
            <a:ext cx="5029200" cy="32004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Apple's portfolio (FY2025)</a:t>
            </a:r>
            <a:endParaRPr lang="en-US" sz="1400" dirty="0"/>
          </a:p>
        </p:txBody>
      </p:sp>
      <p:sp>
        <p:nvSpPr>
          <p:cNvPr id="14" name="Text 12"/>
          <p:cNvSpPr txBox="1"/>
          <p:nvPr/>
        </p:nvSpPr>
        <p:spPr>
          <a:xfrm>
            <a:off x="777240" y="4389120"/>
            <a:ext cx="5029200" cy="16916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iPhone ($209.6bn, ~half of revenue) in a market growing ~2% — a cash cow</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Services (+14%) — a star; Vision Pro (new, tiny share) — a question mark</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Debate: Mac grew 12% yet has a small PC share — 'dog' or not? Shows the tool's limits</a:t>
            </a:r>
            <a:endParaRPr lang="en-US" sz="1200" dirty="0"/>
          </a:p>
        </p:txBody>
      </p:sp>
      <p:sp>
        <p:nvSpPr>
          <p:cNvPr id="15" name="Shape 13"/>
          <p:cNvSpPr/>
          <p:nvPr/>
        </p:nvSpPr>
        <p:spPr>
          <a:xfrm>
            <a:off x="6199632" y="3931920"/>
            <a:ext cx="5440680" cy="2240280"/>
          </a:xfrm>
          <a:prstGeom prst="roundRect">
            <a:avLst>
              <a:gd name="adj" fmla="val 3265"/>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6" name="Text 14"/>
          <p:cNvSpPr txBox="1"/>
          <p:nvPr/>
        </p:nvSpPr>
        <p:spPr>
          <a:xfrm>
            <a:off x="6428232" y="4041648"/>
            <a:ext cx="5029200" cy="32004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Superdry</a:t>
            </a:r>
            <a:endParaRPr lang="en-US" sz="1400" dirty="0"/>
          </a:p>
        </p:txBody>
      </p:sp>
      <p:sp>
        <p:nvSpPr>
          <p:cNvPr id="17" name="Text 15"/>
          <p:cNvSpPr txBox="1"/>
          <p:nvPr/>
        </p:nvSpPr>
        <p:spPr>
          <a:xfrm>
            <a:off x="6428232" y="4389120"/>
            <a:ext cx="5029200" cy="16916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T-shirts and hooded tops are Superdry's cash cows — steady sellers in a mature market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Cash from these can fund newer lines (question marks/stars)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But fashion tastes shift fast, so today's cash cow can quickly become a dog</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Exam practice: Boston Matrix</a:t>
            </a:r>
            <a:endParaRPr lang="en-US" sz="28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Define the term ‘Boston Matrix’.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[2]</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Assess the extent to which the Boston Matrix may help Superdry compete in the clothing market.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[10]</a:t>
            </a:r>
            <a:endParaRPr lang="en-US" sz="135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2-mark Define: meaning (1) + the two axes or a category as an example (1).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10-mark Assess: weigh how the matrix HELPS Superdry against its limits, with a supported judgement.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Keep it about Superdry and the clothing market — apply the cash-cow (t-shirts/hoodies) context throughout.</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(PECAN, two sides + conclusion)</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For: the matrix shows t-shirts/hoodies are cash cows → steady cash → fund new ranges → Superdry keeps its range fresh and competitive.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Against: fashion moves fast, so it is only a snapshot; it ignores profit and brand image, which matter hugely in clothing.</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Conclusion (4Ws): useful for planning the range, but Superdry must also track trends and profit — “depends on how quickly tastes change.”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8800" b="1" dirty="0">
                <a:solidFill>
                  <a:srgbClr val="FFFFFF"/>
                </a:solidFill>
                <a:latin typeface="Cambria" pitchFamily="34" charset="0"/>
                <a:ea typeface="Cambria" pitchFamily="34" charset="-122"/>
                <a:cs typeface="Cambria" pitchFamily="34" charset="-120"/>
              </a:rPr>
              <a:t>D</a:t>
            </a:r>
            <a:endParaRPr lang="en-US" sz="88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SECTION D</a:t>
            </a:r>
            <a:endParaRPr lang="en-US" sz="1300" dirty="0"/>
          </a:p>
        </p:txBody>
      </p:sp>
      <p:sp>
        <p:nvSpPr>
          <p:cNvPr id="5" name="Text 3"/>
          <p:cNvSpPr txBox="1"/>
          <p:nvPr/>
        </p:nvSpPr>
        <p:spPr>
          <a:xfrm>
            <a:off x="2834640" y="2487168"/>
            <a:ext cx="8595360" cy="11430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The concept of the marketing mix</a:t>
            </a:r>
            <a:endParaRPr lang="en-US" sz="3600" dirty="0"/>
          </a:p>
        </p:txBody>
      </p:sp>
      <p:sp>
        <p:nvSpPr>
          <p:cNvPr id="6" name="Text 4"/>
          <p:cNvSpPr txBox="1"/>
          <p:nvPr/>
        </p:nvSpPr>
        <p:spPr>
          <a:xfrm>
            <a:off x="2880360" y="3657600"/>
            <a:ext cx="8503920" cy="64008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section:  </a:t>
            </a:r>
            <a:pPr indent="0" marL="0">
              <a:buNone/>
            </a:pPr>
            <a:r>
              <a:rPr lang="en-US" sz="1350" dirty="0">
                <a:solidFill>
                  <a:srgbClr val="D7E6E8"/>
                </a:solidFill>
                <a:latin typeface="Calibri" pitchFamily="34" charset="0"/>
                <a:ea typeface="Calibri" pitchFamily="34" charset="-122"/>
                <a:cs typeface="Calibri" pitchFamily="34" charset="-120"/>
              </a:rPr>
              <a:t>what the marketing mix is  ·  the 4Ps (and 7Ps for services)  ·  why the Ps must fit together  ·  a real mix in action (Apple, Emirates)</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MARKETING MIX</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The 4Ps — and why they must fit together</a:t>
            </a:r>
            <a:endParaRPr lang="en-US" sz="2800" dirty="0"/>
          </a:p>
        </p:txBody>
      </p:sp>
      <p:sp>
        <p:nvSpPr>
          <p:cNvPr id="4" name="Shape 2"/>
          <p:cNvSpPr/>
          <p:nvPr/>
        </p:nvSpPr>
        <p:spPr>
          <a:xfrm>
            <a:off x="548640" y="1371600"/>
            <a:ext cx="11091672" cy="804672"/>
          </a:xfrm>
          <a:prstGeom prst="roundRect">
            <a:avLst>
              <a:gd name="adj" fmla="val 909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98480" cy="58521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Definition:  </a:t>
            </a:r>
            <a:pPr indent="0" marL="0">
              <a:buNone/>
            </a:pPr>
            <a:r>
              <a:rPr lang="en-US" sz="1300" dirty="0">
                <a:solidFill>
                  <a:srgbClr val="1F2A33"/>
                </a:solidFill>
                <a:latin typeface="Calibri" pitchFamily="34" charset="0"/>
                <a:ea typeface="Calibri" pitchFamily="34" charset="-122"/>
                <a:cs typeface="Calibri" pitchFamily="34" charset="-120"/>
              </a:rPr>
              <a:t>the combination of elements — the 4Ps — a business uses to market its product. They must work together and fit the objective: a premium brand needs premium product, price, promotion and place.</a:t>
            </a:r>
            <a:endParaRPr lang="en-US" sz="1300" dirty="0"/>
          </a:p>
        </p:txBody>
      </p:sp>
      <p:sp>
        <p:nvSpPr>
          <p:cNvPr id="6" name="Shape 4"/>
          <p:cNvSpPr/>
          <p:nvPr/>
        </p:nvSpPr>
        <p:spPr>
          <a:xfrm>
            <a:off x="548640" y="2377440"/>
            <a:ext cx="2724912" cy="1965960"/>
          </a:xfrm>
          <a:prstGeom prst="roundRect">
            <a:avLst>
              <a:gd name="adj" fmla="val 372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548640" y="2377440"/>
            <a:ext cx="2724912" cy="91440"/>
          </a:xfrm>
          <a:prstGeom prst="roundRect">
            <a:avLst/>
          </a:prstGeom>
          <a:solidFill>
            <a:srgbClr val="0E7C86"/>
          </a:solidFill>
          <a:ln/>
        </p:spPr>
      </p:sp>
      <p:sp>
        <p:nvSpPr>
          <p:cNvPr id="8" name="Text 6"/>
          <p:cNvSpPr txBox="1"/>
          <p:nvPr/>
        </p:nvSpPr>
        <p:spPr>
          <a:xfrm>
            <a:off x="731520" y="2542032"/>
            <a:ext cx="2359152" cy="457200"/>
          </a:xfrm>
          <a:prstGeom prst="rect">
            <a:avLst/>
          </a:prstGeom>
          <a:noFill/>
          <a:ln/>
        </p:spPr>
        <p:txBody>
          <a:bodyPr wrap="square" lIns="0" tIns="0" rIns="0" bIns="0" rtlCol="0" anchor="ctr"/>
          <a:lstStyle/>
          <a:p>
            <a:pPr indent="0" marL="0">
              <a:buNone/>
            </a:pPr>
            <a:r>
              <a:rPr lang="en-US" sz="1900" b="1" dirty="0">
                <a:solidFill>
                  <a:srgbClr val="0E3A43"/>
                </a:solidFill>
                <a:latin typeface="Cambria" pitchFamily="34" charset="0"/>
                <a:ea typeface="Cambria" pitchFamily="34" charset="-122"/>
                <a:cs typeface="Cambria" pitchFamily="34" charset="-120"/>
              </a:rPr>
              <a:t>Product</a:t>
            </a:r>
            <a:endParaRPr lang="en-US" sz="1900" dirty="0"/>
          </a:p>
        </p:txBody>
      </p:sp>
      <p:sp>
        <p:nvSpPr>
          <p:cNvPr id="9" name="Text 7"/>
          <p:cNvSpPr txBox="1"/>
          <p:nvPr/>
        </p:nvSpPr>
        <p:spPr>
          <a:xfrm>
            <a:off x="731520" y="3017520"/>
            <a:ext cx="2359152" cy="64008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What is sold and its features</a:t>
            </a:r>
            <a:endParaRPr lang="en-US" sz="1250" dirty="0"/>
          </a:p>
        </p:txBody>
      </p:sp>
      <p:sp>
        <p:nvSpPr>
          <p:cNvPr id="10" name="Text 8"/>
          <p:cNvSpPr txBox="1"/>
          <p:nvPr/>
        </p:nvSpPr>
        <p:spPr>
          <a:xfrm>
            <a:off x="731520" y="3611880"/>
            <a:ext cx="2359152" cy="658368"/>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Apple:  </a:t>
            </a:r>
            <a:pPr indent="0" marL="0">
              <a:buNone/>
            </a:pPr>
            <a:r>
              <a:rPr lang="en-US" sz="1200" dirty="0">
                <a:solidFill>
                  <a:srgbClr val="1F2A33"/>
                </a:solidFill>
                <a:latin typeface="Calibri" pitchFamily="34" charset="0"/>
                <a:ea typeface="Calibri" pitchFamily="34" charset="-122"/>
                <a:cs typeface="Calibri" pitchFamily="34" charset="-120"/>
              </a:rPr>
              <a:t>iPhone 17 range: Air, Pro</a:t>
            </a:r>
            <a:endParaRPr lang="en-US" sz="1200" dirty="0"/>
          </a:p>
        </p:txBody>
      </p:sp>
      <p:sp>
        <p:nvSpPr>
          <p:cNvPr id="11" name="Shape 9"/>
          <p:cNvSpPr/>
          <p:nvPr/>
        </p:nvSpPr>
        <p:spPr>
          <a:xfrm>
            <a:off x="3383280" y="2377440"/>
            <a:ext cx="2724912" cy="1965960"/>
          </a:xfrm>
          <a:prstGeom prst="roundRect">
            <a:avLst>
              <a:gd name="adj" fmla="val 372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2" name="Shape 10"/>
          <p:cNvSpPr/>
          <p:nvPr/>
        </p:nvSpPr>
        <p:spPr>
          <a:xfrm>
            <a:off x="3383280" y="2377440"/>
            <a:ext cx="2724912" cy="91440"/>
          </a:xfrm>
          <a:prstGeom prst="roundRect">
            <a:avLst/>
          </a:prstGeom>
          <a:solidFill>
            <a:srgbClr val="0E7C86"/>
          </a:solidFill>
          <a:ln/>
        </p:spPr>
      </p:sp>
      <p:sp>
        <p:nvSpPr>
          <p:cNvPr id="13" name="Text 11"/>
          <p:cNvSpPr txBox="1"/>
          <p:nvPr/>
        </p:nvSpPr>
        <p:spPr>
          <a:xfrm>
            <a:off x="3566160" y="2542032"/>
            <a:ext cx="2359152" cy="457200"/>
          </a:xfrm>
          <a:prstGeom prst="rect">
            <a:avLst/>
          </a:prstGeom>
          <a:noFill/>
          <a:ln/>
        </p:spPr>
        <p:txBody>
          <a:bodyPr wrap="square" lIns="0" tIns="0" rIns="0" bIns="0" rtlCol="0" anchor="ctr"/>
          <a:lstStyle/>
          <a:p>
            <a:pPr indent="0" marL="0">
              <a:buNone/>
            </a:pPr>
            <a:r>
              <a:rPr lang="en-US" sz="1900" b="1" dirty="0">
                <a:solidFill>
                  <a:srgbClr val="0E3A43"/>
                </a:solidFill>
                <a:latin typeface="Cambria" pitchFamily="34" charset="0"/>
                <a:ea typeface="Cambria" pitchFamily="34" charset="-122"/>
                <a:cs typeface="Cambria" pitchFamily="34" charset="-120"/>
              </a:rPr>
              <a:t>Price</a:t>
            </a:r>
            <a:endParaRPr lang="en-US" sz="1900" dirty="0"/>
          </a:p>
        </p:txBody>
      </p:sp>
      <p:sp>
        <p:nvSpPr>
          <p:cNvPr id="14" name="Text 12"/>
          <p:cNvSpPr txBox="1"/>
          <p:nvPr/>
        </p:nvSpPr>
        <p:spPr>
          <a:xfrm>
            <a:off x="3566160" y="3017520"/>
            <a:ext cx="2359152" cy="64008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How it is priced</a:t>
            </a:r>
            <a:endParaRPr lang="en-US" sz="1250" dirty="0"/>
          </a:p>
        </p:txBody>
      </p:sp>
      <p:sp>
        <p:nvSpPr>
          <p:cNvPr id="15" name="Text 13"/>
          <p:cNvSpPr txBox="1"/>
          <p:nvPr/>
        </p:nvSpPr>
        <p:spPr>
          <a:xfrm>
            <a:off x="3566160" y="3611880"/>
            <a:ext cx="2359152" cy="658368"/>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Apple:  </a:t>
            </a:r>
            <a:pPr indent="0" marL="0">
              <a:buNone/>
            </a:pPr>
            <a:r>
              <a:rPr lang="en-US" sz="1200" dirty="0">
                <a:solidFill>
                  <a:srgbClr val="1F2A33"/>
                </a:solidFill>
                <a:latin typeface="Calibri" pitchFamily="34" charset="0"/>
                <a:ea typeface="Calibri" pitchFamily="34" charset="-122"/>
                <a:cs typeface="Calibri" pitchFamily="34" charset="-120"/>
              </a:rPr>
              <a:t>Premium prices; older models cheaper</a:t>
            </a:r>
            <a:endParaRPr lang="en-US" sz="1200" dirty="0"/>
          </a:p>
        </p:txBody>
      </p:sp>
      <p:sp>
        <p:nvSpPr>
          <p:cNvPr id="16" name="Shape 14"/>
          <p:cNvSpPr/>
          <p:nvPr/>
        </p:nvSpPr>
        <p:spPr>
          <a:xfrm>
            <a:off x="6217920" y="2377440"/>
            <a:ext cx="2724912" cy="1965960"/>
          </a:xfrm>
          <a:prstGeom prst="roundRect">
            <a:avLst>
              <a:gd name="adj" fmla="val 372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6217920" y="2377440"/>
            <a:ext cx="2724912" cy="91440"/>
          </a:xfrm>
          <a:prstGeom prst="roundRect">
            <a:avLst/>
          </a:prstGeom>
          <a:solidFill>
            <a:srgbClr val="0E7C86"/>
          </a:solidFill>
          <a:ln/>
        </p:spPr>
      </p:sp>
      <p:sp>
        <p:nvSpPr>
          <p:cNvPr id="18" name="Text 16"/>
          <p:cNvSpPr txBox="1"/>
          <p:nvPr/>
        </p:nvSpPr>
        <p:spPr>
          <a:xfrm>
            <a:off x="6400800" y="2542032"/>
            <a:ext cx="2359152" cy="457200"/>
          </a:xfrm>
          <a:prstGeom prst="rect">
            <a:avLst/>
          </a:prstGeom>
          <a:noFill/>
          <a:ln/>
        </p:spPr>
        <p:txBody>
          <a:bodyPr wrap="square" lIns="0" tIns="0" rIns="0" bIns="0" rtlCol="0" anchor="ctr"/>
          <a:lstStyle/>
          <a:p>
            <a:pPr indent="0" marL="0">
              <a:buNone/>
            </a:pPr>
            <a:r>
              <a:rPr lang="en-US" sz="1900" b="1" dirty="0">
                <a:solidFill>
                  <a:srgbClr val="0E3A43"/>
                </a:solidFill>
                <a:latin typeface="Cambria" pitchFamily="34" charset="0"/>
                <a:ea typeface="Cambria" pitchFamily="34" charset="-122"/>
                <a:cs typeface="Cambria" pitchFamily="34" charset="-120"/>
              </a:rPr>
              <a:t>Promotion</a:t>
            </a:r>
            <a:endParaRPr lang="en-US" sz="1900" dirty="0"/>
          </a:p>
        </p:txBody>
      </p:sp>
      <p:sp>
        <p:nvSpPr>
          <p:cNvPr id="19" name="Text 17"/>
          <p:cNvSpPr txBox="1"/>
          <p:nvPr/>
        </p:nvSpPr>
        <p:spPr>
          <a:xfrm>
            <a:off x="6400800" y="3017520"/>
            <a:ext cx="2359152" cy="64008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How it is communicated</a:t>
            </a:r>
            <a:endParaRPr lang="en-US" sz="1250" dirty="0"/>
          </a:p>
        </p:txBody>
      </p:sp>
      <p:sp>
        <p:nvSpPr>
          <p:cNvPr id="20" name="Text 18"/>
          <p:cNvSpPr txBox="1"/>
          <p:nvPr/>
        </p:nvSpPr>
        <p:spPr>
          <a:xfrm>
            <a:off x="6400800" y="3611880"/>
            <a:ext cx="2359152" cy="658368"/>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Apple:  </a:t>
            </a:r>
            <a:pPr indent="0" marL="0">
              <a:buNone/>
            </a:pPr>
            <a:r>
              <a:rPr lang="en-US" sz="1200" dirty="0">
                <a:solidFill>
                  <a:srgbClr val="1F2A33"/>
                </a:solidFill>
                <a:latin typeface="Calibri" pitchFamily="34" charset="0"/>
                <a:ea typeface="Calibri" pitchFamily="34" charset="-122"/>
                <a:cs typeface="Calibri" pitchFamily="34" charset="-120"/>
              </a:rPr>
              <a:t>Launch events, ‘Shot on iPhone’</a:t>
            </a:r>
            <a:endParaRPr lang="en-US" sz="1200" dirty="0"/>
          </a:p>
        </p:txBody>
      </p:sp>
      <p:sp>
        <p:nvSpPr>
          <p:cNvPr id="21" name="Shape 19"/>
          <p:cNvSpPr/>
          <p:nvPr/>
        </p:nvSpPr>
        <p:spPr>
          <a:xfrm>
            <a:off x="9052560" y="2377440"/>
            <a:ext cx="2724912" cy="1965960"/>
          </a:xfrm>
          <a:prstGeom prst="roundRect">
            <a:avLst>
              <a:gd name="adj" fmla="val 372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2" name="Shape 20"/>
          <p:cNvSpPr/>
          <p:nvPr/>
        </p:nvSpPr>
        <p:spPr>
          <a:xfrm>
            <a:off x="9052560" y="2377440"/>
            <a:ext cx="2724912" cy="91440"/>
          </a:xfrm>
          <a:prstGeom prst="roundRect">
            <a:avLst/>
          </a:prstGeom>
          <a:solidFill>
            <a:srgbClr val="0E7C86"/>
          </a:solidFill>
          <a:ln/>
        </p:spPr>
      </p:sp>
      <p:sp>
        <p:nvSpPr>
          <p:cNvPr id="23" name="Text 21"/>
          <p:cNvSpPr txBox="1"/>
          <p:nvPr/>
        </p:nvSpPr>
        <p:spPr>
          <a:xfrm>
            <a:off x="9235440" y="2542032"/>
            <a:ext cx="2359152" cy="457200"/>
          </a:xfrm>
          <a:prstGeom prst="rect">
            <a:avLst/>
          </a:prstGeom>
          <a:noFill/>
          <a:ln/>
        </p:spPr>
        <p:txBody>
          <a:bodyPr wrap="square" lIns="0" tIns="0" rIns="0" bIns="0" rtlCol="0" anchor="ctr"/>
          <a:lstStyle/>
          <a:p>
            <a:pPr indent="0" marL="0">
              <a:buNone/>
            </a:pPr>
            <a:r>
              <a:rPr lang="en-US" sz="1900" b="1" dirty="0">
                <a:solidFill>
                  <a:srgbClr val="0E3A43"/>
                </a:solidFill>
                <a:latin typeface="Cambria" pitchFamily="34" charset="0"/>
                <a:ea typeface="Cambria" pitchFamily="34" charset="-122"/>
                <a:cs typeface="Cambria" pitchFamily="34" charset="-120"/>
              </a:rPr>
              <a:t>Place</a:t>
            </a:r>
            <a:endParaRPr lang="en-US" sz="1900" dirty="0"/>
          </a:p>
        </p:txBody>
      </p:sp>
      <p:sp>
        <p:nvSpPr>
          <p:cNvPr id="24" name="Text 22"/>
          <p:cNvSpPr txBox="1"/>
          <p:nvPr/>
        </p:nvSpPr>
        <p:spPr>
          <a:xfrm>
            <a:off x="9235440" y="3017520"/>
            <a:ext cx="2359152" cy="64008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Where/how it is sold</a:t>
            </a:r>
            <a:endParaRPr lang="en-US" sz="1250" dirty="0"/>
          </a:p>
        </p:txBody>
      </p:sp>
      <p:sp>
        <p:nvSpPr>
          <p:cNvPr id="25" name="Text 23"/>
          <p:cNvSpPr txBox="1"/>
          <p:nvPr/>
        </p:nvSpPr>
        <p:spPr>
          <a:xfrm>
            <a:off x="9235440" y="3611880"/>
            <a:ext cx="2359152" cy="658368"/>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Apple:  </a:t>
            </a:r>
            <a:pPr indent="0" marL="0">
              <a:buNone/>
            </a:pPr>
            <a:r>
              <a:rPr lang="en-US" sz="1200" dirty="0">
                <a:solidFill>
                  <a:srgbClr val="1F2A33"/>
                </a:solidFill>
                <a:latin typeface="Calibri" pitchFamily="34" charset="0"/>
                <a:ea typeface="Calibri" pitchFamily="34" charset="-122"/>
                <a:cs typeface="Calibri" pitchFamily="34" charset="-120"/>
              </a:rPr>
              <a:t>Apple Stores, online, carriers</a:t>
            </a:r>
            <a:endParaRPr lang="en-US" sz="1200" dirty="0"/>
          </a:p>
        </p:txBody>
      </p:sp>
      <p:sp>
        <p:nvSpPr>
          <p:cNvPr id="26" name="Shape 24"/>
          <p:cNvSpPr/>
          <p:nvPr/>
        </p:nvSpPr>
        <p:spPr>
          <a:xfrm>
            <a:off x="548640" y="4526280"/>
            <a:ext cx="11091672" cy="1645920"/>
          </a:xfrm>
          <a:prstGeom prst="roundRect">
            <a:avLst>
              <a:gd name="adj" fmla="val 4444"/>
            </a:avLst>
          </a:prstGeom>
          <a:solidFill>
            <a:srgbClr val="FBF0D8"/>
          </a:solidFill>
          <a:ln/>
          <a:effectLst>
            <a:outerShdw sx="100000" sy="100000" kx="0" ky="0" algn="bl" rotWithShape="0" blurRad="76200" dist="25400" dir="5400000">
              <a:srgbClr val="9AAAB0">
                <a:alpha val="28000"/>
              </a:srgbClr>
            </a:outerShdw>
          </a:effectLst>
        </p:spPr>
      </p:sp>
      <p:sp>
        <p:nvSpPr>
          <p:cNvPr id="27" name="Text 25"/>
          <p:cNvSpPr txBox="1"/>
          <p:nvPr/>
        </p:nvSpPr>
        <p:spPr>
          <a:xfrm>
            <a:off x="777240" y="4636008"/>
            <a:ext cx="10607040" cy="320040"/>
          </a:xfrm>
          <a:prstGeom prst="rect">
            <a:avLst/>
          </a:prstGeom>
          <a:noFill/>
          <a:ln/>
        </p:spPr>
        <p:txBody>
          <a:bodyPr wrap="square" lIns="0" tIns="0" rIns="0" bIns="0" rtlCol="0" anchor="ctr"/>
          <a:lstStyle/>
          <a:p>
            <a:pPr indent="0" marL="0">
              <a:buNone/>
            </a:pPr>
            <a:r>
              <a:rPr lang="en-US" sz="1350" b="1" dirty="0">
                <a:solidFill>
                  <a:srgbClr val="8A5A06"/>
                </a:solidFill>
                <a:latin typeface="Calibri" pitchFamily="34" charset="0"/>
                <a:ea typeface="Calibri" pitchFamily="34" charset="-122"/>
                <a:cs typeface="Calibri" pitchFamily="34" charset="-120"/>
              </a:rPr>
              <a:t>Services add 3 more Ps (the 7Ps)</a:t>
            </a:r>
            <a:endParaRPr lang="en-US" sz="1350" dirty="0"/>
          </a:p>
        </p:txBody>
      </p:sp>
      <p:sp>
        <p:nvSpPr>
          <p:cNvPr id="28" name="Text 26"/>
          <p:cNvSpPr txBox="1"/>
          <p:nvPr/>
        </p:nvSpPr>
        <p:spPr>
          <a:xfrm>
            <a:off x="777240" y="4983480"/>
            <a:ext cx="10607040" cy="457200"/>
          </a:xfrm>
          <a:prstGeom prst="rect">
            <a:avLst/>
          </a:prstGeom>
          <a:noFill/>
          <a:ln/>
        </p:spPr>
        <p:txBody>
          <a:bodyPr wrap="square" lIns="0" tIns="0" rIns="0" bIns="0" rtlCol="0" anchor="ctr"/>
          <a:lstStyle/>
          <a:p>
            <a:pPr indent="0" marL="0">
              <a:buNone/>
            </a:pPr>
            <a:r>
              <a:rPr lang="en-US" sz="1300" b="1" dirty="0">
                <a:solidFill>
                  <a:srgbClr val="1F2A33"/>
                </a:solidFill>
                <a:latin typeface="Calibri" pitchFamily="34" charset="0"/>
                <a:ea typeface="Calibri" pitchFamily="34" charset="-122"/>
                <a:cs typeface="Calibri" pitchFamily="34" charset="-120"/>
              </a:rPr>
              <a:t>People </a:t>
            </a:r>
            <a:pPr indent="0" marL="0">
              <a:buNone/>
            </a:pPr>
            <a:r>
              <a:rPr lang="en-US" sz="1300" dirty="0">
                <a:solidFill>
                  <a:srgbClr val="5B6B73"/>
                </a:solidFill>
                <a:latin typeface="Calibri" pitchFamily="34" charset="0"/>
                <a:ea typeface="Calibri" pitchFamily="34" charset="-122"/>
                <a:cs typeface="Calibri" pitchFamily="34" charset="-120"/>
              </a:rPr>
              <a:t>(staff who deliver the service)   </a:t>
            </a:r>
            <a:pPr indent="0" marL="0">
              <a:buNone/>
            </a:pPr>
            <a:r>
              <a:rPr lang="en-US" sz="1300" b="1" dirty="0">
                <a:solidFill>
                  <a:srgbClr val="1F2A33"/>
                </a:solidFill>
                <a:latin typeface="Calibri" pitchFamily="34" charset="0"/>
                <a:ea typeface="Calibri" pitchFamily="34" charset="-122"/>
                <a:cs typeface="Calibri" pitchFamily="34" charset="-120"/>
              </a:rPr>
              <a:t>Process </a:t>
            </a:r>
            <a:pPr indent="0" marL="0">
              <a:buNone/>
            </a:pPr>
            <a:r>
              <a:rPr lang="en-US" sz="1300" dirty="0">
                <a:solidFill>
                  <a:srgbClr val="5B6B73"/>
                </a:solidFill>
                <a:latin typeface="Calibri" pitchFamily="34" charset="0"/>
                <a:ea typeface="Calibri" pitchFamily="34" charset="-122"/>
                <a:cs typeface="Calibri" pitchFamily="34" charset="-120"/>
              </a:rPr>
              <a:t>(how it is delivered)   </a:t>
            </a:r>
            <a:pPr indent="0" marL="0">
              <a:buNone/>
            </a:pPr>
            <a:r>
              <a:rPr lang="en-US" sz="1300" b="1" dirty="0">
                <a:solidFill>
                  <a:srgbClr val="1F2A33"/>
                </a:solidFill>
                <a:latin typeface="Calibri" pitchFamily="34" charset="0"/>
                <a:ea typeface="Calibri" pitchFamily="34" charset="-122"/>
                <a:cs typeface="Calibri" pitchFamily="34" charset="-120"/>
              </a:rPr>
              <a:t>Physical environment </a:t>
            </a:r>
            <a:pPr indent="0" marL="0">
              <a:buNone/>
            </a:pPr>
            <a:r>
              <a:rPr lang="en-US" sz="1300" dirty="0">
                <a:solidFill>
                  <a:srgbClr val="5B6B73"/>
                </a:solidFill>
                <a:latin typeface="Calibri" pitchFamily="34" charset="0"/>
                <a:ea typeface="Calibri" pitchFamily="34" charset="-122"/>
                <a:cs typeface="Calibri" pitchFamily="34" charset="-120"/>
              </a:rPr>
              <a:t>(e.g. an Apple Store's layout and staff).</a:t>
            </a:r>
            <a:endParaRPr lang="en-US" sz="1300" dirty="0"/>
          </a:p>
        </p:txBody>
      </p:sp>
      <p:sp>
        <p:nvSpPr>
          <p:cNvPr id="29" name="Text 27"/>
          <p:cNvSpPr txBox="1"/>
          <p:nvPr/>
        </p:nvSpPr>
        <p:spPr>
          <a:xfrm>
            <a:off x="777240" y="5440680"/>
            <a:ext cx="10607040" cy="640080"/>
          </a:xfrm>
          <a:prstGeom prst="rect">
            <a:avLst/>
          </a:prstGeom>
          <a:noFill/>
          <a:ln/>
        </p:spPr>
        <p:txBody>
          <a:bodyPr wrap="square" lIns="0" tIns="0" rIns="0" bIns="0" rtlCol="0" anchor="t"/>
          <a:lstStyle/>
          <a:p>
            <a:pPr indent="0" marL="0">
              <a:buNone/>
            </a:pPr>
            <a:r>
              <a:rPr lang="en-US" sz="1300" b="1" dirty="0">
                <a:solidFill>
                  <a:srgbClr val="0B5E66"/>
                </a:solidFill>
                <a:latin typeface="Calibri" pitchFamily="34" charset="0"/>
                <a:ea typeface="Calibri" pitchFamily="34" charset="-122"/>
                <a:cs typeface="Calibri" pitchFamily="34" charset="-120"/>
              </a:rPr>
              <a:t>Key idea:  </a:t>
            </a:r>
            <a:pPr indent="0" marL="0">
              <a:buNone/>
            </a:pPr>
            <a:r>
              <a:rPr lang="en-US" sz="1300" dirty="0">
                <a:solidFill>
                  <a:srgbClr val="1F2A33"/>
                </a:solidFill>
                <a:latin typeface="Calibri" pitchFamily="34" charset="0"/>
                <a:ea typeface="Calibri" pitchFamily="34" charset="-122"/>
                <a:cs typeface="Calibri" pitchFamily="34" charset="-120"/>
              </a:rPr>
              <a:t>the mix is only as strong as its weakest P. Selling premium iPhones cheaply in discount shops would wreck the brand — the Ps would no longer fit.</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MARKETING MIX</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Using the mix well — and a real example</a:t>
            </a:r>
            <a:endParaRPr lang="en-US" sz="2800" dirty="0"/>
          </a:p>
        </p:txBody>
      </p:sp>
      <p:sp>
        <p:nvSpPr>
          <p:cNvPr id="4" name="Shape 2"/>
          <p:cNvSpPr/>
          <p:nvPr/>
        </p:nvSpPr>
        <p:spPr>
          <a:xfrm>
            <a:off x="548640" y="1463040"/>
            <a:ext cx="5440680" cy="3566160"/>
          </a:xfrm>
          <a:prstGeom prst="roundRect">
            <a:avLst>
              <a:gd name="adj" fmla="val 2051"/>
            </a:avLst>
          </a:prstGeom>
          <a:solidFill>
            <a:srgbClr val="E8F3EC"/>
          </a:solidFill>
          <a:ln/>
          <a:effectLst>
            <a:outerShdw sx="100000" sy="100000" kx="0" ky="0" algn="bl" rotWithShape="0" blurRad="76200" dist="25400" dir="5400000">
              <a:srgbClr val="9AAAB0">
                <a:alpha val="28000"/>
              </a:srgbClr>
            </a:outerShdw>
          </a:effectLst>
        </p:spPr>
      </p:sp>
      <p:sp>
        <p:nvSpPr>
          <p:cNvPr id="5" name="Shape 3"/>
          <p:cNvSpPr/>
          <p:nvPr/>
        </p:nvSpPr>
        <p:spPr>
          <a:xfrm>
            <a:off x="777240" y="1627632"/>
            <a:ext cx="2651760" cy="310896"/>
          </a:xfrm>
          <a:prstGeom prst="roundRect">
            <a:avLst>
              <a:gd name="adj" fmla="val 50000"/>
            </a:avLst>
          </a:prstGeom>
          <a:solidFill>
            <a:srgbClr val="2F8A5B"/>
          </a:solidFill>
          <a:ln/>
        </p:spPr>
      </p:sp>
      <p:sp>
        <p:nvSpPr>
          <p:cNvPr id="6" name="Text 4"/>
          <p:cNvSpPr txBox="1"/>
          <p:nvPr/>
        </p:nvSpPr>
        <p:spPr>
          <a:xfrm>
            <a:off x="777240" y="1627632"/>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WHY IT HELPS</a:t>
            </a:r>
            <a:endParaRPr lang="en-US" sz="1050" dirty="0"/>
          </a:p>
        </p:txBody>
      </p:sp>
      <p:sp>
        <p:nvSpPr>
          <p:cNvPr id="7" name="Text 5"/>
          <p:cNvSpPr txBox="1"/>
          <p:nvPr/>
        </p:nvSpPr>
        <p:spPr>
          <a:xfrm>
            <a:off x="777240" y="2103120"/>
            <a:ext cx="4983480" cy="27432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 simple checklist to plan and coordinate marketing decisions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Forces consistency — every P pulls towards the same objective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Flexible: the mix can be re-weighted for different products or markets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The balance of the Ps shows the strategy at a glance</a:t>
            </a:r>
            <a:endParaRPr lang="en-US" sz="1300" dirty="0"/>
          </a:p>
        </p:txBody>
      </p:sp>
      <p:sp>
        <p:nvSpPr>
          <p:cNvPr id="8" name="Shape 6"/>
          <p:cNvSpPr/>
          <p:nvPr/>
        </p:nvSpPr>
        <p:spPr>
          <a:xfrm>
            <a:off x="6199632" y="1463040"/>
            <a:ext cx="5440680" cy="3566160"/>
          </a:xfrm>
          <a:prstGeom prst="roundRect">
            <a:avLst>
              <a:gd name="adj" fmla="val 2051"/>
            </a:avLst>
          </a:prstGeom>
          <a:solidFill>
            <a:srgbClr val="F9EAE6"/>
          </a:solidFill>
          <a:ln/>
          <a:effectLst>
            <a:outerShdw sx="100000" sy="100000" kx="0" ky="0" algn="bl" rotWithShape="0" blurRad="76200" dist="25400" dir="5400000">
              <a:srgbClr val="9AAAB0">
                <a:alpha val="28000"/>
              </a:srgbClr>
            </a:outerShdw>
          </a:effectLst>
        </p:spPr>
      </p:sp>
      <p:sp>
        <p:nvSpPr>
          <p:cNvPr id="9" name="Shape 7"/>
          <p:cNvSpPr/>
          <p:nvPr/>
        </p:nvSpPr>
        <p:spPr>
          <a:xfrm>
            <a:off x="6428232" y="1627632"/>
            <a:ext cx="2926080" cy="310896"/>
          </a:xfrm>
          <a:prstGeom prst="roundRect">
            <a:avLst>
              <a:gd name="adj" fmla="val 50000"/>
            </a:avLst>
          </a:prstGeom>
          <a:solidFill>
            <a:srgbClr val="C14B37"/>
          </a:solidFill>
          <a:ln/>
        </p:spPr>
      </p:sp>
      <p:sp>
        <p:nvSpPr>
          <p:cNvPr id="10" name="Text 8"/>
          <p:cNvSpPr txBox="1"/>
          <p:nvPr/>
        </p:nvSpPr>
        <p:spPr>
          <a:xfrm>
            <a:off x="6428232" y="1627632"/>
            <a:ext cx="29260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WATCH OUT FOR</a:t>
            </a:r>
            <a:endParaRPr lang="en-US" sz="1050" dirty="0"/>
          </a:p>
        </p:txBody>
      </p:sp>
      <p:sp>
        <p:nvSpPr>
          <p:cNvPr id="11" name="Text 9"/>
          <p:cNvSpPr txBox="1"/>
          <p:nvPr/>
        </p:nvSpPr>
        <p:spPr>
          <a:xfrm>
            <a:off x="6428232" y="2103120"/>
            <a:ext cx="4983480" cy="27432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One weak P can undermine the whole mix</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The 4Ps can feel product-focused — services need the extra 3Ps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Getting the balance wrong wastes money (e.g. heavy promotion of a weak product)</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The mix must change as the market and the product life cycle change</a:t>
            </a:r>
            <a:endParaRPr lang="en-US" sz="1300" dirty="0"/>
          </a:p>
        </p:txBody>
      </p:sp>
      <p:sp>
        <p:nvSpPr>
          <p:cNvPr id="12" name="Shape 10"/>
          <p:cNvSpPr/>
          <p:nvPr/>
        </p:nvSpPr>
        <p:spPr>
          <a:xfrm>
            <a:off x="548640" y="5166360"/>
            <a:ext cx="11091672" cy="1005840"/>
          </a:xfrm>
          <a:prstGeom prst="roundRect">
            <a:avLst>
              <a:gd name="adj" fmla="val 7273"/>
            </a:avLst>
          </a:prstGeom>
          <a:solidFill>
            <a:srgbClr val="FBF0D8"/>
          </a:solidFill>
          <a:ln/>
          <a:effectLst>
            <a:outerShdw sx="100000" sy="100000" kx="0" ky="0" algn="bl" rotWithShape="0" blurRad="76200" dist="25400" dir="5400000">
              <a:srgbClr val="9AAAB0">
                <a:alpha val="28000"/>
              </a:srgbClr>
            </a:outerShdw>
          </a:effectLst>
        </p:spPr>
      </p:sp>
      <p:sp>
        <p:nvSpPr>
          <p:cNvPr id="13" name="Shape 11"/>
          <p:cNvSpPr/>
          <p:nvPr/>
        </p:nvSpPr>
        <p:spPr>
          <a:xfrm>
            <a:off x="548640" y="5166360"/>
            <a:ext cx="109728" cy="1005840"/>
          </a:xfrm>
          <a:prstGeom prst="roundRect">
            <a:avLst/>
          </a:prstGeom>
          <a:solidFill>
            <a:srgbClr val="E0940F"/>
          </a:solidFill>
          <a:ln/>
        </p:spPr>
      </p:sp>
      <p:sp>
        <p:nvSpPr>
          <p:cNvPr id="14" name="Text 12"/>
          <p:cNvSpPr txBox="1"/>
          <p:nvPr/>
        </p:nvSpPr>
        <p:spPr>
          <a:xfrm>
            <a:off x="777240" y="5257800"/>
            <a:ext cx="10698480" cy="868680"/>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Emirates:  </a:t>
            </a:r>
            <a:pPr indent="0" marL="0">
              <a:buNone/>
            </a:pPr>
            <a:r>
              <a:rPr lang="en-US" sz="1250" dirty="0">
                <a:solidFill>
                  <a:srgbClr val="1F2A33"/>
                </a:solidFill>
                <a:latin typeface="Calibri" pitchFamily="34" charset="0"/>
                <a:ea typeface="Calibri" pitchFamily="34" charset="-122"/>
                <a:cs typeface="Calibri" pitchFamily="34" charset="-120"/>
              </a:rPr>
              <a:t>for an airline, PRODUCT (the flight, cabin, service and network) is often argued to be the most important P — if the core service is poor, no amount of promotion, pricing or place can save it. But the Ps still depend on each other: premium service must be matched by premium pricing and the right distribution (direct booking, travel partners).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Exam practice: marketing mix</a:t>
            </a:r>
            <a:endParaRPr lang="en-US" sz="28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Explain one reason why product may be considered the most important element of the marketing mix for Emirates.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[4]</a:t>
            </a:r>
            <a:endParaRPr lang="en-US" sz="135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4-mark Explain (K1 A2 An1): define/identify (1) + two pieces of Emirates evidence (2) + one developed consequence (1).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‘Explain ONE reason’ — develop a single reason well; do not list several.</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Read the source extracts before answering — use specific Emirates detail, not general points.</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Model structure (4 marks)</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K: “Product may be the most important P because it is the core of what customers pay for.”</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 (×2): Emirates competes on the quality of the flight experience — cabins, service and its route network — which is the actual ‘product’.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An: “This means that if the in-flight product is excellent, customers will pay premium prices and return, so a strong product underpins the success of the other Ps.”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8800" b="1" dirty="0">
                <a:solidFill>
                  <a:srgbClr val="FFFFFF"/>
                </a:solidFill>
                <a:latin typeface="Cambria" pitchFamily="34" charset="0"/>
                <a:ea typeface="Cambria" pitchFamily="34" charset="-122"/>
                <a:cs typeface="Cambria" pitchFamily="34" charset="-120"/>
              </a:rPr>
              <a:t>E</a:t>
            </a:r>
            <a:endParaRPr lang="en-US" sz="88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SECTION E</a:t>
            </a:r>
            <a:endParaRPr lang="en-US" sz="1300" dirty="0"/>
          </a:p>
        </p:txBody>
      </p:sp>
      <p:sp>
        <p:nvSpPr>
          <p:cNvPr id="5" name="Text 3"/>
          <p:cNvSpPr txBox="1"/>
          <p:nvPr/>
        </p:nvSpPr>
        <p:spPr>
          <a:xfrm>
            <a:off x="2834640" y="2487168"/>
            <a:ext cx="8595360" cy="11430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Marketing strategies for different markets</a:t>
            </a:r>
            <a:endParaRPr lang="en-US" sz="3600" dirty="0"/>
          </a:p>
        </p:txBody>
      </p:sp>
      <p:sp>
        <p:nvSpPr>
          <p:cNvPr id="6" name="Text 4"/>
          <p:cNvSpPr txBox="1"/>
          <p:nvPr/>
        </p:nvSpPr>
        <p:spPr>
          <a:xfrm>
            <a:off x="2880360" y="3657600"/>
            <a:ext cx="8503920" cy="64008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section:  </a:t>
            </a:r>
            <a:pPr indent="0" marL="0">
              <a:buNone/>
            </a:pPr>
            <a:r>
              <a:rPr lang="en-US" sz="1350" dirty="0">
                <a:solidFill>
                  <a:srgbClr val="D7E6E8"/>
                </a:solidFill>
                <a:latin typeface="Calibri" pitchFamily="34" charset="0"/>
                <a:ea typeface="Calibri" pitchFamily="34" charset="-122"/>
                <a:cs typeface="Calibri" pitchFamily="34" charset="-120"/>
              </a:rPr>
              <a:t>mass vs niche markets  ·  B2B vs B2C  ·  why one strategy does not suit every market, with real examples and pros and cons</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E · MARKET STRATEGIES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Mass markets vs niche markets</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947672"/>
                <a:gridCol w="4572000"/>
                <a:gridCol w="4572000"/>
              </a:tblGrid>
              <a:tr h="457200">
                <a:tc>
                  <a:txBody>
                    <a:bodyPr/>
                    <a:lstStyle/>
                    <a:p>
                      <a:pPr algn="l"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Mass market</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Niche market</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777240">
                <a:tc>
                  <a:txBody>
                    <a:bodyPr/>
                    <a:lstStyle/>
                    <a:p>
                      <a:pPr algn="l" indent="0" marL="0">
                        <a:buNone/>
                      </a:pPr>
                      <a:r>
                        <a:rPr lang="en-US" sz="1300" b="1" dirty="0">
                          <a:solidFill>
                            <a:srgbClr val="0E3A43"/>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A large market with broad appeal; high volume, lower margins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A small, specialised segment; lower volume, higher margins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77240">
                <a:tc>
                  <a:txBody>
                    <a:bodyPr/>
                    <a:lstStyle/>
                    <a:p>
                      <a:pPr algn="l" indent="0" marL="0">
                        <a:buNone/>
                      </a:pPr>
                      <a:r>
                        <a:rPr lang="en-US" sz="1300" b="1" dirty="0">
                          <a:solidFill>
                            <a:srgbClr val="0E3A43"/>
                          </a:solidFill>
                          <a:latin typeface="Calibri" pitchFamily="34" charset="0"/>
                          <a:ea typeface="Calibri" pitchFamily="34" charset="-122"/>
                          <a:cs typeface="Calibri" pitchFamily="34" charset="-120"/>
                        </a:rPr>
                        <a:t>Strategy</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Wide distribution, heavy advertising, competitive prices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Targeted promotion, exclusive outlets, premium prices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685800">
                <a:tc>
                  <a:txBody>
                    <a:bodyPr/>
                    <a:lstStyle/>
                    <a:p>
                      <a:pPr algn="l" indent="0" marL="0">
                        <a:buNone/>
                      </a:pPr>
                      <a:r>
                        <a:rPr lang="en-US" sz="1300" b="1" dirty="0">
                          <a:solidFill>
                            <a:srgbClr val="0E3A43"/>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Coca-Cola; Toyota Corolla</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Rolls-Royce bespoke cars; specialist running shoes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77240">
                <a:tc>
                  <a:txBody>
                    <a:bodyPr/>
                    <a:lstStyle/>
                    <a:p>
                      <a:pPr algn="l" indent="0" marL="0">
                        <a:buNone/>
                      </a:pPr>
                      <a:r>
                        <a:rPr lang="en-US" sz="1300" b="1" dirty="0">
                          <a:solidFill>
                            <a:srgbClr val="2F8A5B"/>
                          </a:solidFill>
                          <a:latin typeface="Calibri" pitchFamily="34" charset="0"/>
                          <a:ea typeface="Calibri" pitchFamily="34" charset="-122"/>
                          <a:cs typeface="Calibri" pitchFamily="34" charset="-120"/>
                        </a:rPr>
                        <a:t>Advantages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Economies of scale; large total revenue</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Less competition; loyal buyers; high margins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868680">
                <a:tc>
                  <a:txBody>
                    <a:bodyPr/>
                    <a:lstStyle/>
                    <a:p>
                      <a:pPr algn="l" indent="0" marL="0">
                        <a:buNone/>
                      </a:pPr>
                      <a:r>
                        <a:rPr lang="en-US" sz="1300" b="1" dirty="0">
                          <a:solidFill>
                            <a:srgbClr val="C14B37"/>
                          </a:solidFill>
                          <a:latin typeface="Calibri" pitchFamily="34" charset="0"/>
                          <a:ea typeface="Calibri" pitchFamily="34" charset="-122"/>
                          <a:cs typeface="Calibri" pitchFamily="34" charset="-120"/>
                        </a:rPr>
                        <a:t>Disadvantages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Intense competition; low margins; costly promotion</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Small market; vulnerable if tastes change; big firms may enter</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943600"/>
            <a:ext cx="11091672" cy="320040"/>
          </a:xfrm>
          <a:prstGeom prst="rect">
            <a:avLst/>
          </a:prstGeom>
          <a:noFill/>
          <a:ln/>
        </p:spPr>
        <p:txBody>
          <a:bodyPr wrap="square" lIns="0" tIns="0" rIns="0" bIns="0" rtlCol="0" anchor="ctr"/>
          <a:lstStyle/>
          <a:p>
            <a:pPr indent="0" marL="0">
              <a:buNone/>
            </a:pPr>
            <a:r>
              <a:rPr lang="en-US" sz="1250" i="1" dirty="0">
                <a:solidFill>
                  <a:srgbClr val="5B6B73"/>
                </a:solidFill>
                <a:latin typeface="Calibri" pitchFamily="34" charset="0"/>
                <a:ea typeface="Calibri" pitchFamily="34" charset="-122"/>
                <a:cs typeface="Calibri" pitchFamily="34" charset="-120"/>
              </a:rPr>
              <a:t>Can a niche business grow into a mass-market one? Only carefully — it may lose the exclusivity that attracted its niche buyers.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E · MARKET STRATEGIES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B2B vs B2C — one business, two markets</a:t>
            </a:r>
            <a:endParaRPr lang="en-US" sz="2800" dirty="0"/>
          </a:p>
        </p:txBody>
      </p:sp>
      <p:sp>
        <p:nvSpPr>
          <p:cNvPr id="4" name="Shape 2"/>
          <p:cNvSpPr/>
          <p:nvPr/>
        </p:nvSpPr>
        <p:spPr>
          <a:xfrm>
            <a:off x="548640" y="1463040"/>
            <a:ext cx="5440680" cy="3657600"/>
          </a:xfrm>
          <a:prstGeom prst="roundRect">
            <a:avLst>
              <a:gd name="adj" fmla="val 2000"/>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600200"/>
            <a:ext cx="5029200" cy="365760"/>
          </a:xfrm>
          <a:prstGeom prst="rect">
            <a:avLst/>
          </a:prstGeom>
          <a:noFill/>
          <a:ln/>
        </p:spPr>
        <p:txBody>
          <a:bodyPr wrap="square" lIns="0" tIns="0" rIns="0" bIns="0" rtlCol="0" anchor="ctr"/>
          <a:lstStyle/>
          <a:p>
            <a:pPr indent="0" marL="0">
              <a:buNone/>
            </a:pPr>
            <a:r>
              <a:rPr lang="en-US" sz="1600" b="1" dirty="0">
                <a:solidFill>
                  <a:srgbClr val="0B5E66"/>
                </a:solidFill>
                <a:latin typeface="Cambria" pitchFamily="34" charset="0"/>
                <a:ea typeface="Cambria" pitchFamily="34" charset="-122"/>
                <a:cs typeface="Cambria" pitchFamily="34" charset="-120"/>
              </a:rPr>
              <a:t>B2C  —  Emirates passengers</a:t>
            </a:r>
            <a:endParaRPr lang="en-US" sz="1600" dirty="0"/>
          </a:p>
        </p:txBody>
      </p:sp>
      <p:sp>
        <p:nvSpPr>
          <p:cNvPr id="6" name="Text 4"/>
          <p:cNvSpPr txBox="1"/>
          <p:nvPr/>
        </p:nvSpPr>
        <p:spPr>
          <a:xfrm>
            <a:off x="777240" y="1965960"/>
            <a:ext cx="5029200" cy="292608"/>
          </a:xfrm>
          <a:prstGeom prst="rect">
            <a:avLst/>
          </a:prstGeom>
          <a:noFill/>
          <a:ln/>
        </p:spPr>
        <p:txBody>
          <a:bodyPr wrap="square" lIns="0" tIns="0" rIns="0" bIns="0" rtlCol="0" anchor="ctr"/>
          <a:lstStyle/>
          <a:p>
            <a:pPr indent="0" marL="0">
              <a:buNone/>
            </a:pPr>
            <a:r>
              <a:rPr lang="en-US" sz="1150" i="1" dirty="0">
                <a:solidFill>
                  <a:srgbClr val="5B6B73"/>
                </a:solidFill>
                <a:latin typeface="Calibri" pitchFamily="34" charset="0"/>
                <a:ea typeface="Calibri" pitchFamily="34" charset="-122"/>
                <a:cs typeface="Calibri" pitchFamily="34" charset="-120"/>
              </a:rPr>
              <a:t>Business to consumer: selling to final customers</a:t>
            </a:r>
            <a:endParaRPr lang="en-US" sz="1150" dirty="0"/>
          </a:p>
        </p:txBody>
      </p:sp>
      <p:sp>
        <p:nvSpPr>
          <p:cNvPr id="7" name="Text 5"/>
          <p:cNvSpPr txBox="1"/>
          <p:nvPr/>
        </p:nvSpPr>
        <p:spPr>
          <a:xfrm>
            <a:off x="777240" y="2331720"/>
            <a:ext cx="4983480" cy="26517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Many buyers; often emotional decisions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Mass advertising and sponsorship</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Brand, service and comfort matter</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Loyalty scheme (Skywards) builds repeat custom</a:t>
            </a:r>
            <a:endParaRPr lang="en-US" sz="1300" dirty="0"/>
          </a:p>
        </p:txBody>
      </p:sp>
      <p:sp>
        <p:nvSpPr>
          <p:cNvPr id="8" name="Shape 6"/>
          <p:cNvSpPr/>
          <p:nvPr/>
        </p:nvSpPr>
        <p:spPr>
          <a:xfrm>
            <a:off x="6199632" y="1463040"/>
            <a:ext cx="5440680" cy="3657600"/>
          </a:xfrm>
          <a:prstGeom prst="roundRect">
            <a:avLst>
              <a:gd name="adj" fmla="val 2000"/>
            </a:avLst>
          </a:prstGeom>
          <a:solidFill>
            <a:srgbClr val="FBF0D8"/>
          </a:solidFill>
          <a:ln/>
          <a:effectLst>
            <a:outerShdw sx="100000" sy="100000" kx="0" ky="0" algn="bl" rotWithShape="0" blurRad="76200" dist="25400" dir="5400000">
              <a:srgbClr val="9AAAB0">
                <a:alpha val="28000"/>
              </a:srgbClr>
            </a:outerShdw>
          </a:effectLst>
        </p:spPr>
      </p:sp>
      <p:sp>
        <p:nvSpPr>
          <p:cNvPr id="9" name="Text 7"/>
          <p:cNvSpPr txBox="1"/>
          <p:nvPr/>
        </p:nvSpPr>
        <p:spPr>
          <a:xfrm>
            <a:off x="6428232" y="1600200"/>
            <a:ext cx="5029200" cy="365760"/>
          </a:xfrm>
          <a:prstGeom prst="rect">
            <a:avLst/>
          </a:prstGeom>
          <a:noFill/>
          <a:ln/>
        </p:spPr>
        <p:txBody>
          <a:bodyPr wrap="square" lIns="0" tIns="0" rIns="0" bIns="0" rtlCol="0" anchor="ctr"/>
          <a:lstStyle/>
          <a:p>
            <a:pPr indent="0" marL="0">
              <a:buNone/>
            </a:pPr>
            <a:r>
              <a:rPr lang="en-US" sz="1600" b="1" dirty="0">
                <a:solidFill>
                  <a:srgbClr val="8A5A06"/>
                </a:solidFill>
                <a:latin typeface="Cambria" pitchFamily="34" charset="0"/>
                <a:ea typeface="Cambria" pitchFamily="34" charset="-122"/>
                <a:cs typeface="Cambria" pitchFamily="34" charset="-120"/>
              </a:rPr>
              <a:t>B2B  —  Emirates SkyCargo</a:t>
            </a:r>
            <a:endParaRPr lang="en-US" sz="1600" dirty="0"/>
          </a:p>
        </p:txBody>
      </p:sp>
      <p:sp>
        <p:nvSpPr>
          <p:cNvPr id="10" name="Text 8"/>
          <p:cNvSpPr txBox="1"/>
          <p:nvPr/>
        </p:nvSpPr>
        <p:spPr>
          <a:xfrm>
            <a:off x="6428232" y="1965960"/>
            <a:ext cx="5029200" cy="292608"/>
          </a:xfrm>
          <a:prstGeom prst="rect">
            <a:avLst/>
          </a:prstGeom>
          <a:noFill/>
          <a:ln/>
        </p:spPr>
        <p:txBody>
          <a:bodyPr wrap="square" lIns="0" tIns="0" rIns="0" bIns="0" rtlCol="0" anchor="ctr"/>
          <a:lstStyle/>
          <a:p>
            <a:pPr indent="0" marL="0">
              <a:buNone/>
            </a:pPr>
            <a:r>
              <a:rPr lang="en-US" sz="1150" i="1" dirty="0">
                <a:solidFill>
                  <a:srgbClr val="5B6B73"/>
                </a:solidFill>
                <a:latin typeface="Calibri" pitchFamily="34" charset="0"/>
                <a:ea typeface="Calibri" pitchFamily="34" charset="-122"/>
                <a:cs typeface="Calibri" pitchFamily="34" charset="-120"/>
              </a:rPr>
              <a:t>Business to business: selling to other firms</a:t>
            </a:r>
            <a:endParaRPr lang="en-US" sz="1150" dirty="0"/>
          </a:p>
        </p:txBody>
      </p:sp>
      <p:sp>
        <p:nvSpPr>
          <p:cNvPr id="11" name="Text 9"/>
          <p:cNvSpPr txBox="1"/>
          <p:nvPr/>
        </p:nvSpPr>
        <p:spPr>
          <a:xfrm>
            <a:off x="6428232" y="2331720"/>
            <a:ext cx="4983480" cy="26517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Few, large buyers (freight firms)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Account managers and personal relationships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Contracts and negotiated prices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Reliability and cost matter most</a:t>
            </a:r>
            <a:endParaRPr lang="en-US" sz="1300" dirty="0"/>
          </a:p>
        </p:txBody>
      </p:sp>
      <p:sp>
        <p:nvSpPr>
          <p:cNvPr id="12" name="Shape 10"/>
          <p:cNvSpPr/>
          <p:nvPr/>
        </p:nvSpPr>
        <p:spPr>
          <a:xfrm>
            <a:off x="548640" y="5257800"/>
            <a:ext cx="11091672" cy="914400"/>
          </a:xfrm>
          <a:prstGeom prst="roundRect">
            <a:avLst>
              <a:gd name="adj" fmla="val 8000"/>
            </a:avLst>
          </a:prstGeom>
          <a:solidFill>
            <a:srgbClr val="E8F3EC"/>
          </a:solidFill>
          <a:ln/>
          <a:effectLst>
            <a:outerShdw sx="100000" sy="100000" kx="0" ky="0" algn="bl" rotWithShape="0" blurRad="76200" dist="25400" dir="5400000">
              <a:srgbClr val="9AAAB0">
                <a:alpha val="28000"/>
              </a:srgbClr>
            </a:outerShdw>
          </a:effectLst>
        </p:spPr>
      </p:sp>
      <p:sp>
        <p:nvSpPr>
          <p:cNvPr id="13" name="Text 11"/>
          <p:cNvSpPr txBox="1"/>
          <p:nvPr/>
        </p:nvSpPr>
        <p:spPr>
          <a:xfrm>
            <a:off x="777240" y="5349240"/>
            <a:ext cx="10698480" cy="731520"/>
          </a:xfrm>
          <a:prstGeom prst="rect">
            <a:avLst/>
          </a:prstGeom>
          <a:noFill/>
          <a:ln/>
        </p:spPr>
        <p:txBody>
          <a:bodyPr wrap="square" lIns="0" tIns="0" rIns="0" bIns="0" rtlCol="0" anchor="ctr"/>
          <a:lstStyle/>
          <a:p>
            <a:pPr indent="0" marL="0">
              <a:buNone/>
            </a:pPr>
            <a:r>
              <a:rPr lang="en-US" sz="1250" b="1" dirty="0">
                <a:solidFill>
                  <a:srgbClr val="2F8A5B"/>
                </a:solidFill>
                <a:latin typeface="Calibri" pitchFamily="34" charset="0"/>
                <a:ea typeface="Calibri" pitchFamily="34" charset="-122"/>
                <a:cs typeface="Calibri" pitchFamily="34" charset="-120"/>
              </a:rPr>
              <a:t>In short:  </a:t>
            </a:r>
            <a:pPr indent="0" marL="0">
              <a:buNone/>
            </a:pPr>
            <a:r>
              <a:rPr lang="en-US" sz="1250" dirty="0">
                <a:solidFill>
                  <a:srgbClr val="1F2A33"/>
                </a:solidFill>
                <a:latin typeface="Calibri" pitchFamily="34" charset="0"/>
                <a:ea typeface="Calibri" pitchFamily="34" charset="-122"/>
                <a:cs typeface="Calibri" pitchFamily="34" charset="-120"/>
              </a:rPr>
              <a:t>B2B marketing is more personal and rational (few buyers, high-value, contract-based); B2C marketing reaches many people and appeals to emotion. Many firms do both — the strategy depends on who the direct customer is.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E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Exam practice: market strategies</a:t>
            </a:r>
            <a:endParaRPr lang="en-US" sz="28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Analyse one benefit to a niche business, such as a specialist UAE bakery, of targeting a niche rather than a mass market.  </a:t>
            </a:r>
            <a:pPr indent="0" marL="0">
              <a:spcAft>
                <a:spcPts val="800"/>
              </a:spcAft>
              <a:buNone/>
            </a:pPr>
            <a:r>
              <a:rPr lang="en-US" sz="1350" b="1" dirty="0">
                <a:solidFill>
                  <a:srgbClr val="E0940F"/>
                </a:solidFill>
                <a:latin typeface="Calibri" pitchFamily="34" charset="0"/>
                <a:ea typeface="Calibri" pitchFamily="34" charset="-122"/>
                <a:cs typeface="Calibri" pitchFamily="34" charset="-120"/>
              </a:rPr>
              <a:t>[6]</a:t>
            </a:r>
            <a:endParaRPr lang="en-US" sz="1350" dirty="0"/>
          </a:p>
          <a:p>
            <a:pPr indent="0" marL="0">
              <a:spcAft>
                <a:spcPts val="800"/>
              </a:spcAft>
              <a:buNone/>
            </a:pPr>
            <a:r>
              <a:rPr lang="en-US" sz="1250" i="1" dirty="0">
                <a:solidFill>
                  <a:srgbClr val="B9D4D8"/>
                </a:solidFill>
                <a:latin typeface="Calibri" pitchFamily="34" charset="0"/>
                <a:ea typeface="Calibri" pitchFamily="34" charset="-122"/>
                <a:cs typeface="Calibri" pitchFamily="34" charset="-120"/>
              </a:rPr>
              <a:t>Practice question — bring your own case study to apply.</a:t>
            </a:r>
            <a:endParaRPr lang="en-US" sz="135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6-mark Analyse (K2 A2 An2): one benefit, applied to the business, with a two-step consequence chain.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Choose a benefit that fits a niche: less competition, loyal customers, or higher margins.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No judgement needed at 6 marks.</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Model structure + a note</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POINT: “One benefit of a niche is higher margins / loyal customers.”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APPLY: a specialist bakery serves a small, dedicated group willing to pay more for bespoke/gluten-free products.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CHAIN: “This means it can charge premium prices → earn higher margins per sale → stay profitable despite low volume.”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Tip: send me your market-strategy exam questions and case and I'll slot them in to match the real paper.</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8800" b="1" dirty="0">
                <a:solidFill>
                  <a:srgbClr val="FFFFFF"/>
                </a:solidFill>
                <a:latin typeface="Cambria" pitchFamily="34" charset="0"/>
                <a:ea typeface="Cambria" pitchFamily="34" charset="-122"/>
                <a:cs typeface="Cambria" pitchFamily="34" charset="-120"/>
              </a:rPr>
              <a:t>F</a:t>
            </a:r>
            <a:endParaRPr lang="en-US" sz="88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SECTION F</a:t>
            </a:r>
            <a:endParaRPr lang="en-US" sz="1300" dirty="0"/>
          </a:p>
        </p:txBody>
      </p:sp>
      <p:sp>
        <p:nvSpPr>
          <p:cNvPr id="5" name="Text 3"/>
          <p:cNvSpPr txBox="1"/>
          <p:nvPr/>
        </p:nvSpPr>
        <p:spPr>
          <a:xfrm>
            <a:off x="2834640" y="2487168"/>
            <a:ext cx="8595360" cy="11430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Consumer behaviour — developing customer loyalty</a:t>
            </a:r>
            <a:endParaRPr lang="en-US" sz="3600" dirty="0"/>
          </a:p>
        </p:txBody>
      </p:sp>
      <p:sp>
        <p:nvSpPr>
          <p:cNvPr id="6" name="Text 4"/>
          <p:cNvSpPr txBox="1"/>
          <p:nvPr/>
        </p:nvSpPr>
        <p:spPr>
          <a:xfrm>
            <a:off x="2880360" y="3657600"/>
            <a:ext cx="8503920" cy="64008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section:  </a:t>
            </a:r>
            <a:pPr indent="0" marL="0">
              <a:buNone/>
            </a:pPr>
            <a:r>
              <a:rPr lang="en-US" sz="1350" dirty="0">
                <a:solidFill>
                  <a:srgbClr val="D7E6E8"/>
                </a:solidFill>
                <a:latin typeface="Calibri" pitchFamily="34" charset="0"/>
                <a:ea typeface="Calibri" pitchFamily="34" charset="-122"/>
                <a:cs typeface="Calibri" pitchFamily="34" charset="-120"/>
              </a:rPr>
              <a:t>what customer loyalty is and why it matters  ·  how businesses build it  ·  pros and cons  ·  a real loyalty scheme in action (Emirates Skywards)</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F · CUSTOMER LOYALTY</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What is customer loyalty, and how is it built?</a:t>
            </a:r>
            <a:endParaRPr lang="en-US" sz="2800" dirty="0"/>
          </a:p>
        </p:txBody>
      </p:sp>
      <p:sp>
        <p:nvSpPr>
          <p:cNvPr id="4" name="Shape 2"/>
          <p:cNvSpPr/>
          <p:nvPr/>
        </p:nvSpPr>
        <p:spPr>
          <a:xfrm>
            <a:off x="548640" y="1371600"/>
            <a:ext cx="11091672" cy="749808"/>
          </a:xfrm>
          <a:prstGeom prst="roundRect">
            <a:avLst>
              <a:gd name="adj" fmla="val 975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98480" cy="530352"/>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Definition:  </a:t>
            </a:r>
            <a:pPr indent="0" marL="0">
              <a:buNone/>
            </a:pPr>
            <a:r>
              <a:rPr lang="en-US" sz="1300" dirty="0">
                <a:solidFill>
                  <a:srgbClr val="1F2A33"/>
                </a:solidFill>
                <a:latin typeface="Calibri" pitchFamily="34" charset="0"/>
                <a:ea typeface="Calibri" pitchFamily="34" charset="-122"/>
                <a:cs typeface="Calibri" pitchFamily="34" charset="-120"/>
              </a:rPr>
              <a:t>customer loyalty = customers who repeatedly choose the same brand. Consumer behaviour — habit, trust and emotional attachment — explains why they keep coming back.</a:t>
            </a:r>
            <a:endParaRPr lang="en-US" sz="1300" dirty="0"/>
          </a:p>
        </p:txBody>
      </p:sp>
      <p:sp>
        <p:nvSpPr>
          <p:cNvPr id="6" name="Shape 4"/>
          <p:cNvSpPr/>
          <p:nvPr/>
        </p:nvSpPr>
        <p:spPr>
          <a:xfrm>
            <a:off x="548640" y="2286000"/>
            <a:ext cx="5440680" cy="1920240"/>
          </a:xfrm>
          <a:prstGeom prst="roundRect">
            <a:avLst>
              <a:gd name="adj" fmla="val 381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Text 5"/>
          <p:cNvSpPr txBox="1"/>
          <p:nvPr/>
        </p:nvSpPr>
        <p:spPr>
          <a:xfrm>
            <a:off x="777240" y="2395728"/>
            <a:ext cx="5029200" cy="32004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Why loyalty matters</a:t>
            </a:r>
            <a:endParaRPr lang="en-US" sz="1400" dirty="0"/>
          </a:p>
        </p:txBody>
      </p:sp>
      <p:sp>
        <p:nvSpPr>
          <p:cNvPr id="8" name="Text 6"/>
          <p:cNvSpPr txBox="1"/>
          <p:nvPr/>
        </p:nvSpPr>
        <p:spPr>
          <a:xfrm>
            <a:off x="777240" y="2743200"/>
            <a:ext cx="4983480" cy="1371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Repeat purchases → stable revenue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Cheaper than winning new customers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Word-of-mouth recommendations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Loyal customers are less sensitive to price</a:t>
            </a:r>
            <a:endParaRPr lang="en-US" sz="1250" dirty="0"/>
          </a:p>
        </p:txBody>
      </p:sp>
      <p:sp>
        <p:nvSpPr>
          <p:cNvPr id="9" name="Shape 7"/>
          <p:cNvSpPr/>
          <p:nvPr/>
        </p:nvSpPr>
        <p:spPr>
          <a:xfrm>
            <a:off x="6199632" y="2286000"/>
            <a:ext cx="5440680" cy="1920240"/>
          </a:xfrm>
          <a:prstGeom prst="roundRect">
            <a:avLst>
              <a:gd name="adj" fmla="val 381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0" name="Text 8"/>
          <p:cNvSpPr txBox="1"/>
          <p:nvPr/>
        </p:nvSpPr>
        <p:spPr>
          <a:xfrm>
            <a:off x="6428232" y="2395728"/>
            <a:ext cx="5029200" cy="320040"/>
          </a:xfrm>
          <a:prstGeom prst="rect">
            <a:avLst/>
          </a:prstGeom>
          <a:noFill/>
          <a:ln/>
        </p:spPr>
        <p:txBody>
          <a:bodyPr wrap="square" lIns="0" tIns="0" rIns="0" bIns="0" rtlCol="0" anchor="ctr"/>
          <a:lstStyle/>
          <a:p>
            <a:pPr indent="0" marL="0">
              <a:buNone/>
            </a:pPr>
            <a:r>
              <a:rPr lang="en-US" sz="1400" b="1" dirty="0">
                <a:solidFill>
                  <a:srgbClr val="0E3A43"/>
                </a:solidFill>
                <a:latin typeface="Calibri" pitchFamily="34" charset="0"/>
                <a:ea typeface="Calibri" pitchFamily="34" charset="-122"/>
                <a:cs typeface="Calibri" pitchFamily="34" charset="-120"/>
              </a:rPr>
              <a:t>How businesses build it</a:t>
            </a:r>
            <a:endParaRPr lang="en-US" sz="1400" dirty="0"/>
          </a:p>
        </p:txBody>
      </p:sp>
      <p:sp>
        <p:nvSpPr>
          <p:cNvPr id="11" name="Text 9"/>
          <p:cNvSpPr txBox="1"/>
          <p:nvPr/>
        </p:nvSpPr>
        <p:spPr>
          <a:xfrm>
            <a:off x="6428232" y="2743200"/>
            <a:ext cx="4983480" cy="1371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Loyalty schemes and rewards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Excellent customer service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Emotional connection to the brand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Personalised offers from customer data</a:t>
            </a:r>
            <a:endParaRPr lang="en-US" sz="1250" dirty="0"/>
          </a:p>
        </p:txBody>
      </p:sp>
      <p:sp>
        <p:nvSpPr>
          <p:cNvPr id="12" name="Shape 10"/>
          <p:cNvSpPr/>
          <p:nvPr/>
        </p:nvSpPr>
        <p:spPr>
          <a:xfrm>
            <a:off x="548640" y="4343400"/>
            <a:ext cx="5440680" cy="1828800"/>
          </a:xfrm>
          <a:prstGeom prst="roundRect">
            <a:avLst>
              <a:gd name="adj" fmla="val 4000"/>
            </a:avLst>
          </a:prstGeom>
          <a:solidFill>
            <a:srgbClr val="E8F3EC"/>
          </a:solidFill>
          <a:ln/>
          <a:effectLst>
            <a:outerShdw sx="100000" sy="100000" kx="0" ky="0" algn="bl" rotWithShape="0" blurRad="76200" dist="25400" dir="5400000">
              <a:srgbClr val="9AAAB0">
                <a:alpha val="28000"/>
              </a:srgbClr>
            </a:outerShdw>
          </a:effectLst>
        </p:spPr>
      </p:sp>
      <p:sp>
        <p:nvSpPr>
          <p:cNvPr id="13" name="Shape 11"/>
          <p:cNvSpPr/>
          <p:nvPr/>
        </p:nvSpPr>
        <p:spPr>
          <a:xfrm>
            <a:off x="777240" y="4480560"/>
            <a:ext cx="2651760" cy="310896"/>
          </a:xfrm>
          <a:prstGeom prst="roundRect">
            <a:avLst>
              <a:gd name="adj" fmla="val 50000"/>
            </a:avLst>
          </a:prstGeom>
          <a:solidFill>
            <a:srgbClr val="2F8A5B"/>
          </a:solidFill>
          <a:ln/>
        </p:spPr>
      </p:sp>
      <p:sp>
        <p:nvSpPr>
          <p:cNvPr id="14" name="Text 12"/>
          <p:cNvSpPr txBox="1"/>
          <p:nvPr/>
        </p:nvSpPr>
        <p:spPr>
          <a:xfrm>
            <a:off x="777240" y="4480560"/>
            <a:ext cx="26517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ADVANTAGES</a:t>
            </a:r>
            <a:endParaRPr lang="en-US" sz="1050" dirty="0"/>
          </a:p>
        </p:txBody>
      </p:sp>
      <p:sp>
        <p:nvSpPr>
          <p:cNvPr id="15" name="Text 13"/>
          <p:cNvSpPr txBox="1"/>
          <p:nvPr/>
        </p:nvSpPr>
        <p:spPr>
          <a:xfrm>
            <a:off x="777240" y="4846320"/>
            <a:ext cx="4983480" cy="12344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Switching costs lock customers in (e.g. losing tier status)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Customer data enables targeted, cheaper marketing</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Loyal base cushions the firm against competition</a:t>
            </a:r>
            <a:endParaRPr lang="en-US" sz="1200" dirty="0"/>
          </a:p>
        </p:txBody>
      </p:sp>
      <p:sp>
        <p:nvSpPr>
          <p:cNvPr id="16" name="Shape 14"/>
          <p:cNvSpPr/>
          <p:nvPr/>
        </p:nvSpPr>
        <p:spPr>
          <a:xfrm>
            <a:off x="6199632" y="4343400"/>
            <a:ext cx="5440680" cy="1828800"/>
          </a:xfrm>
          <a:prstGeom prst="roundRect">
            <a:avLst>
              <a:gd name="adj" fmla="val 4000"/>
            </a:avLst>
          </a:prstGeom>
          <a:solidFill>
            <a:srgbClr val="F9EAE6"/>
          </a:solidFill>
          <a:ln/>
          <a:effectLst>
            <a:outerShdw sx="100000" sy="100000" kx="0" ky="0" algn="bl" rotWithShape="0" blurRad="76200" dist="25400" dir="5400000">
              <a:srgbClr val="9AAAB0">
                <a:alpha val="28000"/>
              </a:srgbClr>
            </a:outerShdw>
          </a:effectLst>
        </p:spPr>
      </p:sp>
      <p:sp>
        <p:nvSpPr>
          <p:cNvPr id="17" name="Shape 15"/>
          <p:cNvSpPr/>
          <p:nvPr/>
        </p:nvSpPr>
        <p:spPr>
          <a:xfrm>
            <a:off x="6428232" y="4480560"/>
            <a:ext cx="2926080" cy="310896"/>
          </a:xfrm>
          <a:prstGeom prst="roundRect">
            <a:avLst>
              <a:gd name="adj" fmla="val 50000"/>
            </a:avLst>
          </a:prstGeom>
          <a:solidFill>
            <a:srgbClr val="C14B37"/>
          </a:solidFill>
          <a:ln/>
        </p:spPr>
      </p:sp>
      <p:sp>
        <p:nvSpPr>
          <p:cNvPr id="18" name="Text 16"/>
          <p:cNvSpPr txBox="1"/>
          <p:nvPr/>
        </p:nvSpPr>
        <p:spPr>
          <a:xfrm>
            <a:off x="6428232" y="4480560"/>
            <a:ext cx="29260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DISADVANTAGES</a:t>
            </a:r>
            <a:endParaRPr lang="en-US" sz="1050" dirty="0"/>
          </a:p>
        </p:txBody>
      </p:sp>
      <p:sp>
        <p:nvSpPr>
          <p:cNvPr id="19" name="Text 17"/>
          <p:cNvSpPr txBox="1"/>
          <p:nvPr/>
        </p:nvSpPr>
        <p:spPr>
          <a:xfrm>
            <a:off x="6428232" y="4846320"/>
            <a:ext cx="4983480" cy="12344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Schemes cost money (rewards, admin, data systems)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 points card can't fix a poor product or service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Discount-driven loyalty attracts bargain hunters who leave</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F · REAL EXAMPLE +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800" b="1" dirty="0">
                <a:solidFill>
                  <a:srgbClr val="0E3A43"/>
                </a:solidFill>
                <a:latin typeface="Cambria" pitchFamily="34" charset="0"/>
                <a:ea typeface="Cambria" pitchFamily="34" charset="-122"/>
                <a:cs typeface="Cambria" pitchFamily="34" charset="-120"/>
              </a:rPr>
              <a:t>Emirates Skywards — and exam practice</a:t>
            </a:r>
            <a:endParaRPr lang="en-US" sz="2800" dirty="0"/>
          </a:p>
        </p:txBody>
      </p:sp>
      <p:sp>
        <p:nvSpPr>
          <p:cNvPr id="4" name="Shape 2"/>
          <p:cNvSpPr/>
          <p:nvPr/>
        </p:nvSpPr>
        <p:spPr>
          <a:xfrm>
            <a:off x="548640" y="1417320"/>
            <a:ext cx="2724912" cy="1188720"/>
          </a:xfrm>
          <a:prstGeom prst="roundRect">
            <a:avLst>
              <a:gd name="adj" fmla="val 6154"/>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685800" y="1536192"/>
            <a:ext cx="2450592" cy="548640"/>
          </a:xfrm>
          <a:prstGeom prst="rect">
            <a:avLst/>
          </a:prstGeom>
          <a:noFill/>
          <a:ln/>
        </p:spPr>
        <p:txBody>
          <a:bodyPr wrap="square" lIns="0" tIns="0" rIns="0" bIns="0" rtlCol="0" anchor="ctr"/>
          <a:lstStyle/>
          <a:p>
            <a:pPr algn="ctr" indent="0" marL="0">
              <a:buNone/>
            </a:pPr>
            <a:r>
              <a:rPr lang="en-US" sz="2600" b="1" dirty="0">
                <a:solidFill>
                  <a:srgbClr val="E0940F"/>
                </a:solidFill>
                <a:latin typeface="Cambria" pitchFamily="34" charset="0"/>
                <a:ea typeface="Cambria" pitchFamily="34" charset="-122"/>
                <a:cs typeface="Cambria" pitchFamily="34" charset="-120"/>
              </a:rPr>
              <a:t>37m+</a:t>
            </a:r>
            <a:endParaRPr lang="en-US" sz="2600" dirty="0"/>
          </a:p>
        </p:txBody>
      </p:sp>
      <p:sp>
        <p:nvSpPr>
          <p:cNvPr id="6" name="Text 4"/>
          <p:cNvSpPr txBox="1"/>
          <p:nvPr/>
        </p:nvSpPr>
        <p:spPr>
          <a:xfrm>
            <a:off x="685800" y="2084832"/>
            <a:ext cx="2450592" cy="457200"/>
          </a:xfrm>
          <a:prstGeom prst="rect">
            <a:avLst/>
          </a:prstGeom>
          <a:noFill/>
          <a:ln/>
        </p:spPr>
        <p:txBody>
          <a:bodyPr wrap="square" lIns="0" tIns="0" rIns="0" bIns="0" rtlCol="0" anchor="t"/>
          <a:lstStyle/>
          <a:p>
            <a:pPr algn="ctr" indent="0" marL="0">
              <a:buNone/>
            </a:pPr>
            <a:r>
              <a:rPr lang="en-US" sz="1100" dirty="0">
                <a:solidFill>
                  <a:srgbClr val="D7E6E8"/>
                </a:solidFill>
                <a:latin typeface="Calibri" pitchFamily="34" charset="0"/>
                <a:ea typeface="Calibri" pitchFamily="34" charset="-122"/>
                <a:cs typeface="Calibri" pitchFamily="34" charset="-120"/>
              </a:rPr>
              <a:t>members, 190+ countries (2025)</a:t>
            </a:r>
            <a:endParaRPr lang="en-US" sz="1100" dirty="0"/>
          </a:p>
        </p:txBody>
      </p:sp>
      <p:sp>
        <p:nvSpPr>
          <p:cNvPr id="7" name="Shape 5"/>
          <p:cNvSpPr/>
          <p:nvPr/>
        </p:nvSpPr>
        <p:spPr>
          <a:xfrm>
            <a:off x="3383280" y="1417320"/>
            <a:ext cx="2724912" cy="1188720"/>
          </a:xfrm>
          <a:prstGeom prst="roundRect">
            <a:avLst>
              <a:gd name="adj" fmla="val 6154"/>
            </a:avLst>
          </a:prstGeom>
          <a:solidFill>
            <a:srgbClr val="0E3A43"/>
          </a:solidFill>
          <a:ln/>
          <a:effectLst>
            <a:outerShdw sx="100000" sy="100000" kx="0" ky="0" algn="bl" rotWithShape="0" blurRad="76200" dist="25400" dir="5400000">
              <a:srgbClr val="9AAAB0">
                <a:alpha val="28000"/>
              </a:srgbClr>
            </a:outerShdw>
          </a:effectLst>
        </p:spPr>
      </p:sp>
      <p:sp>
        <p:nvSpPr>
          <p:cNvPr id="8" name="Text 6"/>
          <p:cNvSpPr txBox="1"/>
          <p:nvPr/>
        </p:nvSpPr>
        <p:spPr>
          <a:xfrm>
            <a:off x="3520440" y="1536192"/>
            <a:ext cx="2450592" cy="548640"/>
          </a:xfrm>
          <a:prstGeom prst="rect">
            <a:avLst/>
          </a:prstGeom>
          <a:noFill/>
          <a:ln/>
        </p:spPr>
        <p:txBody>
          <a:bodyPr wrap="square" lIns="0" tIns="0" rIns="0" bIns="0" rtlCol="0" anchor="ctr"/>
          <a:lstStyle/>
          <a:p>
            <a:pPr algn="ctr" indent="0" marL="0">
              <a:buNone/>
            </a:pPr>
            <a:r>
              <a:rPr lang="en-US" sz="2600" b="1" dirty="0">
                <a:solidFill>
                  <a:srgbClr val="E0940F"/>
                </a:solidFill>
                <a:latin typeface="Cambria" pitchFamily="34" charset="0"/>
                <a:ea typeface="Cambria" pitchFamily="34" charset="-122"/>
                <a:cs typeface="Cambria" pitchFamily="34" charset="-120"/>
              </a:rPr>
              <a:t>78,000+</a:t>
            </a:r>
            <a:endParaRPr lang="en-US" sz="2600" dirty="0"/>
          </a:p>
        </p:txBody>
      </p:sp>
      <p:sp>
        <p:nvSpPr>
          <p:cNvPr id="9" name="Text 7"/>
          <p:cNvSpPr txBox="1"/>
          <p:nvPr/>
        </p:nvSpPr>
        <p:spPr>
          <a:xfrm>
            <a:off x="3520440" y="2084832"/>
            <a:ext cx="2450592" cy="457200"/>
          </a:xfrm>
          <a:prstGeom prst="rect">
            <a:avLst/>
          </a:prstGeom>
          <a:noFill/>
          <a:ln/>
        </p:spPr>
        <p:txBody>
          <a:bodyPr wrap="square" lIns="0" tIns="0" rIns="0" bIns="0" rtlCol="0" anchor="t"/>
          <a:lstStyle/>
          <a:p>
            <a:pPr algn="ctr" indent="0" marL="0">
              <a:buNone/>
            </a:pPr>
            <a:r>
              <a:rPr lang="en-US" sz="1100" dirty="0">
                <a:solidFill>
                  <a:srgbClr val="D7E6E8"/>
                </a:solidFill>
                <a:latin typeface="Calibri" pitchFamily="34" charset="0"/>
                <a:ea typeface="Calibri" pitchFamily="34" charset="-122"/>
                <a:cs typeface="Calibri" pitchFamily="34" charset="-120"/>
              </a:rPr>
              <a:t>new members every week</a:t>
            </a:r>
            <a:endParaRPr lang="en-US" sz="1100" dirty="0"/>
          </a:p>
        </p:txBody>
      </p:sp>
      <p:sp>
        <p:nvSpPr>
          <p:cNvPr id="10" name="Shape 8"/>
          <p:cNvSpPr/>
          <p:nvPr/>
        </p:nvSpPr>
        <p:spPr>
          <a:xfrm>
            <a:off x="6217920" y="1417320"/>
            <a:ext cx="2724912" cy="1188720"/>
          </a:xfrm>
          <a:prstGeom prst="roundRect">
            <a:avLst>
              <a:gd name="adj" fmla="val 6154"/>
            </a:avLst>
          </a:prstGeom>
          <a:solidFill>
            <a:srgbClr val="0E3A43"/>
          </a:solidFill>
          <a:ln/>
          <a:effectLst>
            <a:outerShdw sx="100000" sy="100000" kx="0" ky="0" algn="bl" rotWithShape="0" blurRad="76200" dist="25400" dir="5400000">
              <a:srgbClr val="9AAAB0">
                <a:alpha val="28000"/>
              </a:srgbClr>
            </a:outerShdw>
          </a:effectLst>
        </p:spPr>
      </p:sp>
      <p:sp>
        <p:nvSpPr>
          <p:cNvPr id="11" name="Text 9"/>
          <p:cNvSpPr txBox="1"/>
          <p:nvPr/>
        </p:nvSpPr>
        <p:spPr>
          <a:xfrm>
            <a:off x="6355080" y="1536192"/>
            <a:ext cx="2450592" cy="548640"/>
          </a:xfrm>
          <a:prstGeom prst="rect">
            <a:avLst/>
          </a:prstGeom>
          <a:noFill/>
          <a:ln/>
        </p:spPr>
        <p:txBody>
          <a:bodyPr wrap="square" lIns="0" tIns="0" rIns="0" bIns="0" rtlCol="0" anchor="ctr"/>
          <a:lstStyle/>
          <a:p>
            <a:pPr algn="ctr" indent="0" marL="0">
              <a:buNone/>
            </a:pPr>
            <a:r>
              <a:rPr lang="en-US" sz="2600" b="1" dirty="0">
                <a:solidFill>
                  <a:srgbClr val="E0940F"/>
                </a:solidFill>
                <a:latin typeface="Cambria" pitchFamily="34" charset="0"/>
                <a:ea typeface="Cambria" pitchFamily="34" charset="-122"/>
                <a:cs typeface="Cambria" pitchFamily="34" charset="-120"/>
              </a:rPr>
              <a:t>4 tiers</a:t>
            </a:r>
            <a:endParaRPr lang="en-US" sz="2600" dirty="0"/>
          </a:p>
        </p:txBody>
      </p:sp>
      <p:sp>
        <p:nvSpPr>
          <p:cNvPr id="12" name="Text 10"/>
          <p:cNvSpPr txBox="1"/>
          <p:nvPr/>
        </p:nvSpPr>
        <p:spPr>
          <a:xfrm>
            <a:off x="6355080" y="2084832"/>
            <a:ext cx="2450592" cy="457200"/>
          </a:xfrm>
          <a:prstGeom prst="rect">
            <a:avLst/>
          </a:prstGeom>
          <a:noFill/>
          <a:ln/>
        </p:spPr>
        <p:txBody>
          <a:bodyPr wrap="square" lIns="0" tIns="0" rIns="0" bIns="0" rtlCol="0" anchor="t"/>
          <a:lstStyle/>
          <a:p>
            <a:pPr algn="ctr" indent="0" marL="0">
              <a:buNone/>
            </a:pPr>
            <a:r>
              <a:rPr lang="en-US" sz="1100" dirty="0">
                <a:solidFill>
                  <a:srgbClr val="D7E6E8"/>
                </a:solidFill>
                <a:latin typeface="Calibri" pitchFamily="34" charset="0"/>
                <a:ea typeface="Calibri" pitchFamily="34" charset="-122"/>
                <a:cs typeface="Calibri" pitchFamily="34" charset="-120"/>
              </a:rPr>
              <a:t>Blue → Silver → Gold → Platinum</a:t>
            </a:r>
            <a:endParaRPr lang="en-US" sz="1100" dirty="0"/>
          </a:p>
        </p:txBody>
      </p:sp>
      <p:sp>
        <p:nvSpPr>
          <p:cNvPr id="13" name="Shape 11"/>
          <p:cNvSpPr/>
          <p:nvPr/>
        </p:nvSpPr>
        <p:spPr>
          <a:xfrm>
            <a:off x="9052560" y="1417320"/>
            <a:ext cx="2724912" cy="1188720"/>
          </a:xfrm>
          <a:prstGeom prst="roundRect">
            <a:avLst>
              <a:gd name="adj" fmla="val 6154"/>
            </a:avLst>
          </a:prstGeom>
          <a:solidFill>
            <a:srgbClr val="0E3A43"/>
          </a:solidFill>
          <a:ln/>
          <a:effectLst>
            <a:outerShdw sx="100000" sy="100000" kx="0" ky="0" algn="bl" rotWithShape="0" blurRad="76200" dist="25400" dir="5400000">
              <a:srgbClr val="9AAAB0">
                <a:alpha val="28000"/>
              </a:srgbClr>
            </a:outerShdw>
          </a:effectLst>
        </p:spPr>
      </p:sp>
      <p:sp>
        <p:nvSpPr>
          <p:cNvPr id="14" name="Text 12"/>
          <p:cNvSpPr txBox="1"/>
          <p:nvPr/>
        </p:nvSpPr>
        <p:spPr>
          <a:xfrm>
            <a:off x="9189720" y="1536192"/>
            <a:ext cx="2450592" cy="548640"/>
          </a:xfrm>
          <a:prstGeom prst="rect">
            <a:avLst/>
          </a:prstGeom>
          <a:noFill/>
          <a:ln/>
        </p:spPr>
        <p:txBody>
          <a:bodyPr wrap="square" lIns="0" tIns="0" rIns="0" bIns="0" rtlCol="0" anchor="ctr"/>
          <a:lstStyle/>
          <a:p>
            <a:pPr algn="ctr" indent="0" marL="0">
              <a:buNone/>
            </a:pPr>
            <a:r>
              <a:rPr lang="en-US" sz="2600" b="1" dirty="0">
                <a:solidFill>
                  <a:srgbClr val="E0940F"/>
                </a:solidFill>
                <a:latin typeface="Cambria" pitchFamily="34" charset="0"/>
                <a:ea typeface="Cambria" pitchFamily="34" charset="-122"/>
                <a:cs typeface="Cambria" pitchFamily="34" charset="-120"/>
              </a:rPr>
              <a:t>100+</a:t>
            </a:r>
            <a:endParaRPr lang="en-US" sz="2600" dirty="0"/>
          </a:p>
        </p:txBody>
      </p:sp>
      <p:sp>
        <p:nvSpPr>
          <p:cNvPr id="15" name="Text 13"/>
          <p:cNvSpPr txBox="1"/>
          <p:nvPr/>
        </p:nvSpPr>
        <p:spPr>
          <a:xfrm>
            <a:off x="9189720" y="2084832"/>
            <a:ext cx="2450592" cy="457200"/>
          </a:xfrm>
          <a:prstGeom prst="rect">
            <a:avLst/>
          </a:prstGeom>
          <a:noFill/>
          <a:ln/>
        </p:spPr>
        <p:txBody>
          <a:bodyPr wrap="square" lIns="0" tIns="0" rIns="0" bIns="0" rtlCol="0" anchor="t"/>
          <a:lstStyle/>
          <a:p>
            <a:pPr algn="ctr" indent="0" marL="0">
              <a:buNone/>
            </a:pPr>
            <a:r>
              <a:rPr lang="en-US" sz="1100" dirty="0">
                <a:solidFill>
                  <a:srgbClr val="D7E6E8"/>
                </a:solidFill>
                <a:latin typeface="Calibri" pitchFamily="34" charset="0"/>
                <a:ea typeface="Calibri" pitchFamily="34" charset="-122"/>
                <a:cs typeface="Calibri" pitchFamily="34" charset="-120"/>
              </a:rPr>
              <a:t>partners earning Miles</a:t>
            </a:r>
            <a:endParaRPr lang="en-US" sz="1100" dirty="0"/>
          </a:p>
        </p:txBody>
      </p:sp>
      <p:sp>
        <p:nvSpPr>
          <p:cNvPr id="16" name="Shape 14"/>
          <p:cNvSpPr/>
          <p:nvPr/>
        </p:nvSpPr>
        <p:spPr>
          <a:xfrm>
            <a:off x="548640" y="2743200"/>
            <a:ext cx="11091672" cy="868680"/>
          </a:xfrm>
          <a:prstGeom prst="roundRect">
            <a:avLst>
              <a:gd name="adj" fmla="val 8421"/>
            </a:avLst>
          </a:prstGeom>
          <a:solidFill>
            <a:srgbClr val="EAF3F4"/>
          </a:solidFill>
          <a:ln/>
          <a:effectLst>
            <a:outerShdw sx="100000" sy="100000" kx="0" ky="0" algn="bl" rotWithShape="0" blurRad="76200" dist="25400" dir="5400000">
              <a:srgbClr val="9AAAB0">
                <a:alpha val="28000"/>
              </a:srgbClr>
            </a:outerShdw>
          </a:effectLst>
        </p:spPr>
      </p:sp>
      <p:sp>
        <p:nvSpPr>
          <p:cNvPr id="17" name="Text 15"/>
          <p:cNvSpPr txBox="1"/>
          <p:nvPr/>
        </p:nvSpPr>
        <p:spPr>
          <a:xfrm>
            <a:off x="777240" y="2834640"/>
            <a:ext cx="10698480" cy="713232"/>
          </a:xfrm>
          <a:prstGeom prst="rect">
            <a:avLst/>
          </a:prstGeom>
          <a:noFill/>
          <a:ln/>
        </p:spPr>
        <p:txBody>
          <a:bodyPr wrap="square" lIns="0" tIns="0" rIns="0" bIns="0" rtlCol="0" anchor="ctr"/>
          <a:lstStyle/>
          <a:p>
            <a:pPr indent="0" marL="0">
              <a:buNone/>
            </a:pPr>
            <a:r>
              <a:rPr lang="en-US" sz="1250" b="1" dirty="0">
                <a:solidFill>
                  <a:srgbClr val="0B5E66"/>
                </a:solidFill>
                <a:latin typeface="Calibri" pitchFamily="34" charset="0"/>
                <a:ea typeface="Calibri" pitchFamily="34" charset="-122"/>
                <a:cs typeface="Calibri" pitchFamily="34" charset="-120"/>
              </a:rPr>
              <a:t>How it builds loyalty:  </a:t>
            </a:r>
            <a:pPr indent="0" marL="0">
              <a:buNone/>
            </a:pPr>
            <a:r>
              <a:rPr lang="en-US" sz="1250" dirty="0">
                <a:solidFill>
                  <a:srgbClr val="1F2A33"/>
                </a:solidFill>
                <a:latin typeface="Calibri" pitchFamily="34" charset="0"/>
                <a:ea typeface="Calibri" pitchFamily="34" charset="-122"/>
                <a:cs typeface="Calibri" pitchFamily="34" charset="-120"/>
              </a:rPr>
              <a:t>tiers give valuable benefits (lounge access, upgrades), so switching airline means losing status — a switching cost. Members also earn Miles on everyday spending with 100+ partners, keeping Emirates in mind between trips.</a:t>
            </a:r>
            <a:endParaRPr lang="en-US" sz="1250" dirty="0"/>
          </a:p>
        </p:txBody>
      </p:sp>
      <p:sp>
        <p:nvSpPr>
          <p:cNvPr id="18" name="Shape 16"/>
          <p:cNvSpPr/>
          <p:nvPr/>
        </p:nvSpPr>
        <p:spPr>
          <a:xfrm>
            <a:off x="548640" y="3703320"/>
            <a:ext cx="11091672" cy="868680"/>
          </a:xfrm>
          <a:prstGeom prst="roundRect">
            <a:avLst>
              <a:gd name="adj" fmla="val 8421"/>
            </a:avLst>
          </a:prstGeom>
          <a:solidFill>
            <a:srgbClr val="0E3A43"/>
          </a:solidFill>
          <a:ln/>
          <a:effectLst>
            <a:outerShdw sx="100000" sy="100000" kx="0" ky="0" algn="bl" rotWithShape="0" blurRad="76200" dist="25400" dir="5400000">
              <a:srgbClr val="9AAAB0">
                <a:alpha val="28000"/>
              </a:srgbClr>
            </a:outerShdw>
          </a:effectLst>
        </p:spPr>
      </p:sp>
      <p:sp>
        <p:nvSpPr>
          <p:cNvPr id="19" name="Text 17"/>
          <p:cNvSpPr txBox="1"/>
          <p:nvPr/>
        </p:nvSpPr>
        <p:spPr>
          <a:xfrm>
            <a:off x="777240" y="3785616"/>
            <a:ext cx="45720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EXAM QUESTION</a:t>
            </a:r>
            <a:endParaRPr lang="en-US" sz="1050" dirty="0"/>
          </a:p>
        </p:txBody>
      </p:sp>
      <p:sp>
        <p:nvSpPr>
          <p:cNvPr id="20" name="Text 18"/>
          <p:cNvSpPr txBox="1"/>
          <p:nvPr/>
        </p:nvSpPr>
        <p:spPr>
          <a:xfrm>
            <a:off x="777240" y="4041648"/>
            <a:ext cx="106070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Analyse two ways Emirates Skywards may help Emirates develop customer loyalty.  </a:t>
            </a:r>
            <a:pPr indent="0" marL="0">
              <a:buNone/>
            </a:pPr>
            <a:r>
              <a:rPr lang="en-US" sz="1400" b="1" dirty="0">
                <a:solidFill>
                  <a:srgbClr val="E0940F"/>
                </a:solidFill>
                <a:latin typeface="Calibri" pitchFamily="34" charset="0"/>
                <a:ea typeface="Calibri" pitchFamily="34" charset="-122"/>
                <a:cs typeface="Calibri" pitchFamily="34" charset="-120"/>
              </a:rPr>
              <a:t>[6]</a:t>
            </a:r>
            <a:endParaRPr lang="en-US" sz="1400" dirty="0"/>
          </a:p>
        </p:txBody>
      </p:sp>
      <p:sp>
        <p:nvSpPr>
          <p:cNvPr id="21" name="Shape 19"/>
          <p:cNvSpPr/>
          <p:nvPr/>
        </p:nvSpPr>
        <p:spPr>
          <a:xfrm>
            <a:off x="548640" y="4663440"/>
            <a:ext cx="11091672" cy="1508760"/>
          </a:xfrm>
          <a:prstGeom prst="roundRect">
            <a:avLst>
              <a:gd name="adj" fmla="val 4848"/>
            </a:avLst>
          </a:prstGeom>
          <a:solidFill>
            <a:srgbClr val="E8F3EC"/>
          </a:solidFill>
          <a:ln/>
          <a:effectLst>
            <a:outerShdw sx="100000" sy="100000" kx="0" ky="0" algn="bl" rotWithShape="0" blurRad="76200" dist="25400" dir="5400000">
              <a:srgbClr val="9AAAB0">
                <a:alpha val="28000"/>
              </a:srgbClr>
            </a:outerShdw>
          </a:effectLst>
        </p:spPr>
      </p:sp>
      <p:sp>
        <p:nvSpPr>
          <p:cNvPr id="22" name="Text 20"/>
          <p:cNvSpPr txBox="1"/>
          <p:nvPr/>
        </p:nvSpPr>
        <p:spPr>
          <a:xfrm>
            <a:off x="777240" y="4754880"/>
            <a:ext cx="10607040" cy="292608"/>
          </a:xfrm>
          <a:prstGeom prst="rect">
            <a:avLst/>
          </a:prstGeom>
          <a:noFill/>
          <a:ln/>
        </p:spPr>
        <p:txBody>
          <a:bodyPr wrap="square" lIns="0" tIns="0" rIns="0" bIns="0" rtlCol="0" anchor="ctr"/>
          <a:lstStyle/>
          <a:p>
            <a:pPr indent="0" marL="0">
              <a:buNone/>
            </a:pPr>
            <a:r>
              <a:rPr lang="en-US" sz="1300" b="1" dirty="0">
                <a:solidFill>
                  <a:srgbClr val="2F8A5B"/>
                </a:solidFill>
                <a:latin typeface="Calibri" pitchFamily="34" charset="0"/>
                <a:ea typeface="Calibri" pitchFamily="34" charset="-122"/>
                <a:cs typeface="Calibri" pitchFamily="34" charset="-120"/>
              </a:rPr>
              <a:t>Model (6/6) — two ways, each K/A/An</a:t>
            </a:r>
            <a:endParaRPr lang="en-US" sz="1300" dirty="0"/>
          </a:p>
        </p:txBody>
      </p:sp>
      <p:sp>
        <p:nvSpPr>
          <p:cNvPr id="23" name="Text 21"/>
          <p:cNvSpPr txBox="1"/>
          <p:nvPr/>
        </p:nvSpPr>
        <p:spPr>
          <a:xfrm>
            <a:off x="777240" y="5074920"/>
            <a:ext cx="10698480" cy="1005840"/>
          </a:xfrm>
          <a:prstGeom prst="rect">
            <a:avLst/>
          </a:prstGeom>
          <a:noFill/>
          <a:ln/>
        </p:spPr>
        <p:txBody>
          <a:bodyPr wrap="square" lIns="0" tIns="0" rIns="0" bIns="0" rtlCol="0" anchor="t"/>
          <a:lstStyle/>
          <a:p>
            <a:pPr indent="0" marL="0">
              <a:buNone/>
            </a:pPr>
            <a:r>
              <a:rPr lang="en-US" sz="1200" b="1" dirty="0">
                <a:solidFill>
                  <a:srgbClr val="1F2A33"/>
                </a:solidFill>
                <a:latin typeface="Calibri" pitchFamily="34" charset="0"/>
                <a:ea typeface="Calibri" pitchFamily="34" charset="-122"/>
                <a:cs typeface="Calibri" pitchFamily="34" charset="-120"/>
              </a:rPr>
              <a:t>One way is tiered rewards [K]. </a:t>
            </a:r>
            <a:pPr indent="0" marL="0">
              <a:buNone/>
            </a:pPr>
            <a:r>
              <a:rPr lang="en-US" sz="1200" dirty="0">
                <a:solidFill>
                  <a:srgbClr val="1F2A33"/>
                </a:solidFill>
                <a:latin typeface="Calibri" pitchFamily="34" charset="0"/>
                <a:ea typeface="Calibri" pitchFamily="34" charset="-122"/>
                <a:cs typeface="Calibri" pitchFamily="34" charset="-120"/>
              </a:rPr>
              <a:t>Skywards has four tiers with benefits such as lounge access and upgrades [A]. This means frequent flyers risk losing status if they switch, so they keep choosing Emirates [An].  </a:t>
            </a:r>
            <a:pPr indent="0" marL="0">
              <a:buNone/>
            </a:pPr>
            <a:r>
              <a:rPr lang="en-US" sz="1200" b="1" dirty="0">
                <a:solidFill>
                  <a:srgbClr val="1F2A33"/>
                </a:solidFill>
                <a:latin typeface="Calibri" pitchFamily="34" charset="0"/>
                <a:ea typeface="Calibri" pitchFamily="34" charset="-122"/>
                <a:cs typeface="Calibri" pitchFamily="34" charset="-120"/>
              </a:rPr>
              <a:t>A second way is rewarding everyday spending [K]. </a:t>
            </a:r>
            <a:pPr indent="0" marL="0">
              <a:buNone/>
            </a:pPr>
            <a:r>
              <a:rPr lang="en-US" sz="1200" dirty="0">
                <a:solidFill>
                  <a:srgbClr val="1F2A33"/>
                </a:solidFill>
                <a:latin typeface="Calibri" pitchFamily="34" charset="0"/>
                <a:ea typeface="Calibri" pitchFamily="34" charset="-122"/>
                <a:cs typeface="Calibri" pitchFamily="34" charset="-120"/>
              </a:rPr>
              <a:t>Members earn Miles with 100+ partners, not just on flights [A]. This keeps Emirates in mind between trips, so they book Emirates again to use their Miles [An].</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300" b="1" spc="200" kern="0" dirty="0">
                <a:solidFill>
                  <a:srgbClr val="E0940F"/>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Matching your answer to the command word</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097280"/>
                <a:gridCol w="2194560"/>
                <a:gridCol w="7251192"/>
              </a:tblGrid>
              <a:tr h="457200">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Marks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Command</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What to do</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r>
              <a:tr h="56692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Define / State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Give the meaning (+ a short example). No context.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13232">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Explain / Calculate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Knowledge + two pieces of evidence + one consequence. Show working and the % sign.</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Analyse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Two points, each applied, each with a developed chain. No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Assess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Balanced argument both sides, applied throughout, + a supported judgement (4Ws).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13232">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Evaluate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5×5 PECAN paragraphs: Point → Explain → Chain → Apply → Now judge.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bl>
          </a:graphicData>
        </a:graphic>
      </p:graphicFrame>
      <p:sp>
        <p:nvSpPr>
          <p:cNvPr id="5" name="Text 2"/>
          <p:cNvSpPr txBox="1"/>
          <p:nvPr/>
        </p:nvSpPr>
        <p:spPr>
          <a:xfrm>
            <a:off x="822960" y="6080760"/>
            <a:ext cx="10515600" cy="365760"/>
          </a:xfrm>
          <a:prstGeom prst="rect">
            <a:avLst/>
          </a:prstGeom>
          <a:noFill/>
          <a:ln/>
        </p:spPr>
        <p:txBody>
          <a:bodyPr wrap="square" lIns="0" tIns="0" rIns="0" bIns="0" rtlCol="0" anchor="ctr"/>
          <a:lstStyle/>
          <a:p>
            <a:pPr indent="0" marL="0">
              <a:buNone/>
            </a:pPr>
            <a:r>
              <a:rPr lang="en-US" sz="1300" i="1" dirty="0">
                <a:solidFill>
                  <a:srgbClr val="9FBCC0"/>
                </a:solidFill>
                <a:latin typeface="Calibri" pitchFamily="34" charset="0"/>
                <a:ea typeface="Calibri" pitchFamily="34" charset="-122"/>
                <a:cs typeface="Calibri" pitchFamily="34" charset="-120"/>
              </a:rPr>
              <a:t>Golden rule for 10 &amp; 20 marks: every paragraph ends with a judgement, and the conclusion says what it DEPENDS ON.</a:t>
            </a:r>
            <a:endParaRPr lang="en-US" sz="1300" dirty="0"/>
          </a:p>
        </p:txBody>
      </p:sp>
    </p:spTree>
  </p:cSld>
  <p:clrMapOvr>
    <a:masterClrMapping/>
  </p:clrMapOvr>
</p:sld>
</file>

<file path=ppt/theme/theme1.xml><?xml version="1.0" encoding="utf-8"?>
<a:theme xmlns:a="http://schemas.openxmlformats.org/drawingml/2006/main" name="IAL Marketing">
  <a:themeElements>
    <a:clrScheme name="IAL Marketing">
      <a:dk1>
        <a:srgbClr val="1F2A33"/>
      </a:dk1>
      <a:lt1>
        <a:srgbClr val="FFFFFF"/>
      </a:lt1>
      <a:dk2>
        <a:srgbClr val="0E3A43"/>
      </a:dk2>
      <a:lt2>
        <a:srgbClr val="EAF3F4"/>
      </a:lt2>
      <a:accent1>
        <a:srgbClr val="0E7C86"/>
      </a:accent1>
      <a:accent2>
        <a:srgbClr val="E0940F"/>
      </a:accent2>
      <a:accent3>
        <a:srgbClr val="2F8A5B"/>
      </a:accent3>
      <a:accent4>
        <a:srgbClr val="C14B37"/>
      </a:accent4>
      <a:accent5>
        <a:srgbClr val="5B6B73"/>
      </a:accent5>
      <a:accent6>
        <a:srgbClr val="6B4FA0"/>
      </a:accent6>
      <a:hlink>
        <a:srgbClr val="0E7C86"/>
      </a:hlink>
      <a:folHlink>
        <a:srgbClr val="0B5E66"/>
      </a:folHlink>
    </a:clrScheme>
    <a:fontScheme name="IAL Marke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GEMS Metropole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Mr. Akram</dc:creator>
  <cp:lastModifiedBy>Mr. Akram</cp:lastModifiedBy>
  <cp:revision>1</cp:revision>
  <dcterms:created xsi:type="dcterms:W3CDTF">2026-10-19T13:56:26Z</dcterms:created>
  <dcterms:modified xsi:type="dcterms:W3CDTF">2026-10-19T13:56:26Z</dcterms:modified>
</cp:coreProperties>
</file>