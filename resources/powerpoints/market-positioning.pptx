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Orientation" id="{55d101f9-d040-b080-f439-64542ad026ae}">
          <p14:sldIdLst>
            <p14:sldId id="259"/>
            <p14:sldId id="260"/>
          </p14:sldIdLst>
        </p14:section>
        <p14:section name="B · Market mapping" id="{0f32f0ca-642a-ba97-f1ad-354477409622}">
          <p14:sldIdLst>
            <p14:sldId id="261"/>
            <p14:sldId id="262"/>
            <p14:sldId id="263"/>
            <p14:sldId id="264"/>
            <p14:sldId id="265"/>
            <p14:sldId id="266"/>
          </p14:sldIdLst>
        </p14:section>
        <p14:section name="C · Segmentation &amp; differentiation" id="{f9da0593-f4f6-0e3c-aeb5-6e66a367488c}">
          <p14:sldIdLst>
            <p14:sldId id="267"/>
            <p14:sldId id="268"/>
            <p14:sldId id="269"/>
            <p14:sldId id="270"/>
          </p14:sldIdLst>
        </p14:section>
        <p14:section name="D · A-grade exam skills" id="{e31c4e7c-6e81-8a64-0c74-06d8a55a8259}">
          <p14:sldIdLst>
            <p14:sldId id="271"/>
            <p14:sldId id="272"/>
            <p14:sldId id="273"/>
          </p14:sldIdLst>
        </p14:section>
        <p14:section name="Default-1" id="{376d7ca4-7a04-48d7-140a-00c1c7a52b9b}">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market positioning (spec 1.3.1 'Meeting customer needs', section 3 of 3), pitched for A-grade students. Same house style as the other decks. MARKET MAPPING is given the most depth (with a real drawn map), as requested, alongside orientation, segmentation, competitive advantage, differentiation and adding value. Cases: Emirates, Kellogg's, Innocent, the coffee &amp; airline markets. This deck completes Topic 1.3.1. NOTE: the student calls this '1.1'; in the spec it is 1.3.1.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positioning = where a product sits in customers' minds relative to rivals. Market mapping (Part B) is the examined DIAGRAM skill and gets the most space, with real drawn maps for the airline and coffee markets and clear rules for constructing one. It links straight back to mass/niche and segmentation.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point (3) of topic 1.3.1. Positioning pulls the whole topic together: you research the market (section 2), see how customers perceive it (mapping), split it into segments, and position a differentiated offer that adds value - which then drives the marketing mix in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market orientation [2] appears in the smartphone homework: designing products based on what market research shows customers want (1), rather than on what the business can make (1). Product orientation = product/innovation first; market orientation = customer/research first. Most successful firms balance the two. Positioning tools (mapping, segmentation) are inherently market-oriented.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live if you can. The map shows PERCEPTION, not verified facts. Key reads: clustered brands = intense competition; empty space = potential gap. Stress the warning for later: an empty space is only an OPPORTUNITY if there is real demand there - a gap can be empty because nobody wants that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non-negotiables from your deck. The most common student mistake is axes that aren't independent (price vs cost = the same thing). Insist placements are justified by CUSTOMER PERCEPTION / research, not 'I think Nike is cool'. Any two customer-relevant variables can be used - the skill is choosing ones that reveal useful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perceptions, not verified prices. Walk the model reasoning: observe -&gt; what it means -&gt; decision -&gt; impact. The crucial A-grade point is the top-left 'gap': cheap AND full-service is usually empty because it isn't commercially viable, not because no one thought of it. This is the evaluation hook for the Emirates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from your deck's benefits/drawbacks table. The headline evaluation line: a map identifies a POSSIBLE gap, but cannot tell you if it is PROFITABLE - it shows no demand, cost or market size. So mapping must be combined with research, costing and a viability check before launching. That 'map ≠ decision' idea is the backbone of the 20-marker.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bases: Demographic, Geographic, Psychographic, Behavioural. Segmentation links straight back to mass vs niche (section 1) - a niche is a tightly-defined segment - and forward to the market strategies in 1.3.3. Innocent is the exam anchor ([8] benefits of segmentation). Benefits = precision &amp; less waste; drawbacks = cost &amp; misjudging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spec points connect: differentiation is how you stand out; competitive advantage is the edge it gives; adding value is the payoff (higher willingness to pay). The PURPOSE of differentiation (a spec phrase) = to avoid competing on price alone and build loyalty. All three link forward to branding &amp; pricing in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your Kellogg's sample answer. Facts to deploy: cereal market ~$54bn by 2025; Kellogg's ~30.1% share vs General Mills ~29.85%; rivals Nestlé, Weetabix, Quaker; axes like healthy vs fun, adult vs child. The judgement must be conditional: mapping is useful for SPOTTING gaps but not for confirming they are profitable, so keep it as ONE tool among research, branding and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shows the Level 4 habits: applied both sides, developed chains with connectives, specific figures (~$54bn, ~30% share), and a judgement that COMMITS (keep using it) while staying CONDITIONAL (only alongside research; depends on data quality). How to improve a weaker answer: add Kellogg's figures, make the 'however' about the TOOL (subjective, no demand data) not just 'research is good', and finish with a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completes section 3 and the whole of topic 1.3.1. Students should leave able to distinguish product/market orientation, CONSTRUCT and INTERPRET a market map (the examined diagram skill), segment a market, and explain differentiation, competitive advantage and adding value - and to argue a mapping 20-marker with a conditional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1.3.1 Meeting customer needs  (Market positioning)</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6070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Market Positioning</a:t>
            </a:r>
            <a:endParaRPr lang="en-US" sz="4600" dirty="0"/>
          </a:p>
        </p:txBody>
      </p:sp>
      <p:sp>
        <p:nvSpPr>
          <p:cNvPr id="4" name="Text 2"/>
          <p:cNvSpPr txBox="1"/>
          <p:nvPr/>
        </p:nvSpPr>
        <p:spPr>
          <a:xfrm>
            <a:off x="822960" y="2743200"/>
            <a:ext cx="1051560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1.3.1 Meeting customer needs (section 3 of 3)  —  market mapping, segmentation &amp; differentiation, with A-grade exam practice</a:t>
            </a:r>
            <a:endParaRPr lang="en-US" sz="1500" dirty="0"/>
          </a:p>
        </p:txBody>
      </p:sp>
      <p:sp>
        <p:nvSpPr>
          <p:cNvPr id="5" name="Shape 3"/>
          <p:cNvSpPr/>
          <p:nvPr/>
        </p:nvSpPr>
        <p:spPr>
          <a:xfrm>
            <a:off x="822960" y="3794760"/>
            <a:ext cx="1382573"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94760"/>
            <a:ext cx="1382573"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Orientation</a:t>
            </a:r>
            <a:endParaRPr lang="en-US" sz="1250" dirty="0"/>
          </a:p>
        </p:txBody>
      </p:sp>
      <p:sp>
        <p:nvSpPr>
          <p:cNvPr id="7" name="Shape 5"/>
          <p:cNvSpPr/>
          <p:nvPr/>
        </p:nvSpPr>
        <p:spPr>
          <a:xfrm>
            <a:off x="2388413" y="3794760"/>
            <a:ext cx="1689811"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2388413" y="3794760"/>
            <a:ext cx="1689811"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Market mapping</a:t>
            </a:r>
            <a:endParaRPr lang="en-US" sz="1250" dirty="0"/>
          </a:p>
        </p:txBody>
      </p:sp>
      <p:sp>
        <p:nvSpPr>
          <p:cNvPr id="9" name="Shape 7"/>
          <p:cNvSpPr/>
          <p:nvPr/>
        </p:nvSpPr>
        <p:spPr>
          <a:xfrm>
            <a:off x="4261104" y="3794760"/>
            <a:ext cx="1484986"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4261104" y="3794760"/>
            <a:ext cx="148498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Segmentation</a:t>
            </a:r>
            <a:endParaRPr lang="en-US" sz="1250" dirty="0"/>
          </a:p>
        </p:txBody>
      </p:sp>
      <p:sp>
        <p:nvSpPr>
          <p:cNvPr id="11" name="Shape 9"/>
          <p:cNvSpPr/>
          <p:nvPr/>
        </p:nvSpPr>
        <p:spPr>
          <a:xfrm>
            <a:off x="5928970" y="3794760"/>
            <a:ext cx="1792224"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5928970" y="3794760"/>
            <a:ext cx="179222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Differentiation</a:t>
            </a:r>
            <a:endParaRPr lang="en-US" sz="1250" dirty="0"/>
          </a:p>
        </p:txBody>
      </p:sp>
      <p:sp>
        <p:nvSpPr>
          <p:cNvPr id="13" name="Shape 11"/>
          <p:cNvSpPr/>
          <p:nvPr/>
        </p:nvSpPr>
        <p:spPr>
          <a:xfrm>
            <a:off x="7904074" y="3794760"/>
            <a:ext cx="1484986" cy="420624"/>
          </a:xfrm>
          <a:prstGeom prst="roundRect">
            <a:avLst>
              <a:gd name="adj" fmla="val 50000"/>
            </a:avLst>
          </a:prstGeom>
          <a:solidFill>
            <a:srgbClr val="0B2E35"/>
          </a:solidFill>
          <a:ln w="12700">
            <a:solidFill>
              <a:srgbClr val="0E7C86"/>
            </a:solidFill>
            <a:prstDash val="solid"/>
          </a:ln>
        </p:spPr>
      </p:sp>
      <p:sp>
        <p:nvSpPr>
          <p:cNvPr id="14" name="Text 12"/>
          <p:cNvSpPr txBox="1"/>
          <p:nvPr/>
        </p:nvSpPr>
        <p:spPr>
          <a:xfrm>
            <a:off x="7904074" y="3794760"/>
            <a:ext cx="148498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Adding value</a:t>
            </a:r>
            <a:endParaRPr lang="en-US" sz="1250" dirty="0"/>
          </a:p>
        </p:txBody>
      </p:sp>
      <p:sp>
        <p:nvSpPr>
          <p:cNvPr id="15" name="Text 13"/>
          <p:cNvSpPr txBox="1"/>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Emirates · Kellogg's · Innocent · coffee market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What this lesson covers</a:t>
            </a:r>
            <a:endParaRPr lang="en-US" sz="2700" dirty="0"/>
          </a:p>
        </p:txBody>
      </p:sp>
      <p:sp>
        <p:nvSpPr>
          <p:cNvPr id="4" name="Shape 2"/>
          <p:cNvSpPr/>
          <p:nvPr/>
        </p:nvSpPr>
        <p:spPr>
          <a:xfrm>
            <a:off x="548640" y="1554480"/>
            <a:ext cx="11091672" cy="914400"/>
          </a:xfrm>
          <a:prstGeom prst="roundRect">
            <a:avLst>
              <a:gd name="adj" fmla="val 8000"/>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773936"/>
            <a:ext cx="493776" cy="493776"/>
          </a:xfrm>
          <a:prstGeom prst="roundRect">
            <a:avLst>
              <a:gd name="adj" fmla="val 18519"/>
            </a:avLst>
          </a:prstGeom>
          <a:solidFill>
            <a:srgbClr val="0E7C86"/>
          </a:solidFill>
          <a:ln/>
        </p:spPr>
      </p:sp>
      <p:sp>
        <p:nvSpPr>
          <p:cNvPr id="6" name="Text 4"/>
          <p:cNvSpPr txBox="1"/>
          <p:nvPr/>
        </p:nvSpPr>
        <p:spPr>
          <a:xfrm>
            <a:off x="731520" y="1773936"/>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417320" y="1700784"/>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Market orientation</a:t>
            </a:r>
            <a:endParaRPr lang="en-US" sz="1500" dirty="0"/>
          </a:p>
        </p:txBody>
      </p:sp>
      <p:sp>
        <p:nvSpPr>
          <p:cNvPr id="8" name="Text 6"/>
          <p:cNvSpPr txBox="1"/>
          <p:nvPr/>
        </p:nvSpPr>
        <p:spPr>
          <a:xfrm>
            <a:off x="6355080" y="1700784"/>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Product vs market orientation — what drives the firm's decisions</a:t>
            </a:r>
            <a:endParaRPr lang="en-US" sz="1250" dirty="0"/>
          </a:p>
        </p:txBody>
      </p:sp>
      <p:sp>
        <p:nvSpPr>
          <p:cNvPr id="9" name="Shape 7"/>
          <p:cNvSpPr/>
          <p:nvPr/>
        </p:nvSpPr>
        <p:spPr>
          <a:xfrm>
            <a:off x="548640" y="2578608"/>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31520" y="2798064"/>
            <a:ext cx="493776" cy="493776"/>
          </a:xfrm>
          <a:prstGeom prst="roundRect">
            <a:avLst>
              <a:gd name="adj" fmla="val 18519"/>
            </a:avLst>
          </a:prstGeom>
          <a:solidFill>
            <a:srgbClr val="0E7C86"/>
          </a:solidFill>
          <a:ln/>
        </p:spPr>
      </p:sp>
      <p:sp>
        <p:nvSpPr>
          <p:cNvPr id="11" name="Text 9"/>
          <p:cNvSpPr txBox="1"/>
          <p:nvPr/>
        </p:nvSpPr>
        <p:spPr>
          <a:xfrm>
            <a:off x="731520" y="2798064"/>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24912"/>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Market mapping</a:t>
            </a:r>
            <a:endParaRPr lang="en-US" sz="1500" dirty="0"/>
          </a:p>
        </p:txBody>
      </p:sp>
      <p:sp>
        <p:nvSpPr>
          <p:cNvPr id="13" name="Text 11"/>
          <p:cNvSpPr txBox="1"/>
          <p:nvPr/>
        </p:nvSpPr>
        <p:spPr>
          <a:xfrm>
            <a:off x="6355080" y="2724912"/>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Constructing &amp; interpreting a map to spot gaps — with worked maps (the core)</a:t>
            </a:r>
            <a:endParaRPr lang="en-US" sz="1250" dirty="0"/>
          </a:p>
        </p:txBody>
      </p:sp>
      <p:sp>
        <p:nvSpPr>
          <p:cNvPr id="14" name="Shape 12"/>
          <p:cNvSpPr/>
          <p:nvPr/>
        </p:nvSpPr>
        <p:spPr>
          <a:xfrm>
            <a:off x="548640" y="3602736"/>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31520" y="3822192"/>
            <a:ext cx="493776" cy="493776"/>
          </a:xfrm>
          <a:prstGeom prst="roundRect">
            <a:avLst>
              <a:gd name="adj" fmla="val 18519"/>
            </a:avLst>
          </a:prstGeom>
          <a:solidFill>
            <a:srgbClr val="0E7C86"/>
          </a:solidFill>
          <a:ln/>
        </p:spPr>
      </p:sp>
      <p:sp>
        <p:nvSpPr>
          <p:cNvPr id="16" name="Text 14"/>
          <p:cNvSpPr txBox="1"/>
          <p:nvPr/>
        </p:nvSpPr>
        <p:spPr>
          <a:xfrm>
            <a:off x="731520" y="3822192"/>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1417320" y="3749040"/>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Segmentation &amp; differentiation</a:t>
            </a:r>
            <a:endParaRPr lang="en-US" sz="1500" dirty="0"/>
          </a:p>
        </p:txBody>
      </p:sp>
      <p:sp>
        <p:nvSpPr>
          <p:cNvPr id="18" name="Text 16"/>
          <p:cNvSpPr txBox="1"/>
          <p:nvPr/>
        </p:nvSpPr>
        <p:spPr>
          <a:xfrm>
            <a:off x="6355080" y="3749040"/>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Segmenting a market, competitive advantage, differentiation &amp; adding value</a:t>
            </a:r>
            <a:endParaRPr lang="en-US" sz="1250" dirty="0"/>
          </a:p>
        </p:txBody>
      </p:sp>
      <p:sp>
        <p:nvSpPr>
          <p:cNvPr id="19" name="Shape 17"/>
          <p:cNvSpPr/>
          <p:nvPr/>
        </p:nvSpPr>
        <p:spPr>
          <a:xfrm>
            <a:off x="548640" y="4626864"/>
            <a:ext cx="11091672" cy="914400"/>
          </a:xfrm>
          <a:prstGeom prst="roundRect">
            <a:avLst>
              <a:gd name="adj" fmla="val 8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731520" y="4846320"/>
            <a:ext cx="493776" cy="493776"/>
          </a:xfrm>
          <a:prstGeom prst="roundRect">
            <a:avLst>
              <a:gd name="adj" fmla="val 18519"/>
            </a:avLst>
          </a:prstGeom>
          <a:solidFill>
            <a:srgbClr val="0E7C86"/>
          </a:solidFill>
          <a:ln/>
        </p:spPr>
      </p:sp>
      <p:sp>
        <p:nvSpPr>
          <p:cNvPr id="21" name="Text 19"/>
          <p:cNvSpPr txBox="1"/>
          <p:nvPr/>
        </p:nvSpPr>
        <p:spPr>
          <a:xfrm>
            <a:off x="731520" y="484632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2" name="Text 20"/>
          <p:cNvSpPr txBox="1"/>
          <p:nvPr/>
        </p:nvSpPr>
        <p:spPr>
          <a:xfrm>
            <a:off x="1417320" y="4773168"/>
            <a:ext cx="4846320" cy="640080"/>
          </a:xfrm>
          <a:prstGeom prst="rect">
            <a:avLst/>
          </a:prstGeom>
          <a:noFill/>
          <a:ln/>
        </p:spPr>
        <p:txBody>
          <a:bodyPr wrap="square" lIns="0" tIns="0" rIns="0" bIns="0" rtlCol="0" anchor="ctr"/>
          <a:lstStyle/>
          <a:p>
            <a:pPr indent="0" marL="0">
              <a:buNone/>
            </a:pPr>
            <a:r>
              <a:rPr lang="en-US" sz="1500" b="1" dirty="0">
                <a:solidFill>
                  <a:srgbClr val="0E3A43"/>
                </a:solidFill>
                <a:latin typeface="Calibri" pitchFamily="34" charset="0"/>
                <a:ea typeface="Calibri" pitchFamily="34" charset="-122"/>
                <a:cs typeface="Calibri" pitchFamily="34" charset="-120"/>
              </a:rPr>
              <a:t>A-grade exam skills</a:t>
            </a:r>
            <a:endParaRPr lang="en-US" sz="1500" dirty="0"/>
          </a:p>
        </p:txBody>
      </p:sp>
      <p:sp>
        <p:nvSpPr>
          <p:cNvPr id="23" name="Text 21"/>
          <p:cNvSpPr txBox="1"/>
          <p:nvPr/>
        </p:nvSpPr>
        <p:spPr>
          <a:xfrm>
            <a:off x="6355080" y="4773168"/>
            <a:ext cx="516636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Emirates/Kellogg's market-mapping 20-marker, with structure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Where this sits in the specification</a:t>
            </a:r>
            <a:endParaRPr lang="en-US" sz="2700" dirty="0"/>
          </a:p>
        </p:txBody>
      </p:sp>
      <p:sp>
        <p:nvSpPr>
          <p:cNvPr id="4" name="Shape 2"/>
          <p:cNvSpPr/>
          <p:nvPr/>
        </p:nvSpPr>
        <p:spPr>
          <a:xfrm>
            <a:off x="548640" y="1371600"/>
            <a:ext cx="6675120" cy="3657600"/>
          </a:xfrm>
          <a:prstGeom prst="roundRect">
            <a:avLst>
              <a:gd name="adj" fmla="val 2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Topic 1.3.1  Meeting customer needs</a:t>
            </a:r>
            <a:endParaRPr lang="en-US" sz="1350" dirty="0"/>
          </a:p>
        </p:txBody>
      </p:sp>
      <p:sp>
        <p:nvSpPr>
          <p:cNvPr id="6" name="Shape 4"/>
          <p:cNvSpPr/>
          <p:nvPr/>
        </p:nvSpPr>
        <p:spPr>
          <a:xfrm>
            <a:off x="749808" y="1920240"/>
            <a:ext cx="6272784" cy="914400"/>
          </a:xfrm>
          <a:prstGeom prst="roundRect">
            <a:avLst>
              <a:gd name="adj" fmla="val 8000"/>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139696"/>
            <a:ext cx="457200" cy="457200"/>
          </a:xfrm>
          <a:prstGeom prst="roundRect">
            <a:avLst>
              <a:gd name="adj" fmla="val 20000"/>
            </a:avLst>
          </a:prstGeom>
          <a:solidFill>
            <a:srgbClr val="0E7C86"/>
          </a:solidFill>
          <a:ln/>
        </p:spPr>
      </p:sp>
      <p:sp>
        <p:nvSpPr>
          <p:cNvPr id="8" name="Text 6"/>
          <p:cNvSpPr txBox="1"/>
          <p:nvPr/>
        </p:nvSpPr>
        <p:spPr>
          <a:xfrm>
            <a:off x="914400" y="21396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66544"/>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The market</a:t>
            </a:r>
            <a:endParaRPr lang="en-US" sz="1250" dirty="0"/>
          </a:p>
        </p:txBody>
      </p:sp>
      <p:sp>
        <p:nvSpPr>
          <p:cNvPr id="10" name="Text 8"/>
          <p:cNvSpPr txBox="1"/>
          <p:nvPr/>
        </p:nvSpPr>
        <p:spPr>
          <a:xfrm>
            <a:off x="1508760" y="2377440"/>
            <a:ext cx="5440680" cy="402336"/>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mass &amp; niche, size/share, dynamic markets, competition, risk — done</a:t>
            </a:r>
            <a:endParaRPr lang="en-US" sz="1030" dirty="0"/>
          </a:p>
        </p:txBody>
      </p:sp>
      <p:sp>
        <p:nvSpPr>
          <p:cNvPr id="11" name="Shape 9"/>
          <p:cNvSpPr/>
          <p:nvPr/>
        </p:nvSpPr>
        <p:spPr>
          <a:xfrm>
            <a:off x="749808" y="2889504"/>
            <a:ext cx="6272784" cy="914400"/>
          </a:xfrm>
          <a:prstGeom prst="roundRect">
            <a:avLst>
              <a:gd name="adj" fmla="val 8000"/>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3108960"/>
            <a:ext cx="457200" cy="457200"/>
          </a:xfrm>
          <a:prstGeom prst="roundRect">
            <a:avLst>
              <a:gd name="adj" fmla="val 20000"/>
            </a:avLst>
          </a:prstGeom>
          <a:solidFill>
            <a:srgbClr val="0E7C86"/>
          </a:solidFill>
          <a:ln/>
        </p:spPr>
      </p:sp>
      <p:sp>
        <p:nvSpPr>
          <p:cNvPr id="13" name="Text 11"/>
          <p:cNvSpPr txBox="1"/>
          <p:nvPr/>
        </p:nvSpPr>
        <p:spPr>
          <a:xfrm>
            <a:off x="914400" y="310896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3035808"/>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Market research</a:t>
            </a:r>
            <a:endParaRPr lang="en-US" sz="1250" dirty="0"/>
          </a:p>
        </p:txBody>
      </p:sp>
      <p:sp>
        <p:nvSpPr>
          <p:cNvPr id="15" name="Text 13"/>
          <p:cNvSpPr txBox="1"/>
          <p:nvPr/>
        </p:nvSpPr>
        <p:spPr>
          <a:xfrm>
            <a:off x="1508760" y="3346704"/>
            <a:ext cx="5440680" cy="402336"/>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primary &amp; secondary research, methods, sampling — done</a:t>
            </a:r>
            <a:endParaRPr lang="en-US" sz="1030" dirty="0"/>
          </a:p>
        </p:txBody>
      </p:sp>
      <p:sp>
        <p:nvSpPr>
          <p:cNvPr id="16" name="Shape 14"/>
          <p:cNvSpPr/>
          <p:nvPr/>
        </p:nvSpPr>
        <p:spPr>
          <a:xfrm>
            <a:off x="749808" y="3858768"/>
            <a:ext cx="6272784" cy="914400"/>
          </a:xfrm>
          <a:prstGeom prst="roundRect">
            <a:avLst>
              <a:gd name="adj" fmla="val 8000"/>
            </a:avLst>
          </a:prstGeom>
          <a:solidFill>
            <a:srgbClr val="FBF0D8"/>
          </a:solidFill>
          <a:ln/>
          <a:effectLst>
            <a:outerShdw sx="100000" sy="100000" kx="0" ky="0" algn="bl" rotWithShape="0" blurRad="76200" dist="25400" dir="5400000">
              <a:srgbClr val="9AAAB0">
                <a:alpha val="28000"/>
              </a:srgbClr>
            </a:outerShdw>
          </a:effectLst>
        </p:spPr>
      </p:sp>
      <p:sp>
        <p:nvSpPr>
          <p:cNvPr id="17" name="Shape 15"/>
          <p:cNvSpPr/>
          <p:nvPr/>
        </p:nvSpPr>
        <p:spPr>
          <a:xfrm>
            <a:off x="749808" y="3858768"/>
            <a:ext cx="91440" cy="914400"/>
          </a:xfrm>
          <a:prstGeom prst="roundRect">
            <a:avLst/>
          </a:prstGeom>
          <a:solidFill>
            <a:srgbClr val="E0940F"/>
          </a:solidFill>
          <a:ln/>
        </p:spPr>
      </p:sp>
      <p:sp>
        <p:nvSpPr>
          <p:cNvPr id="18" name="Shape 16"/>
          <p:cNvSpPr/>
          <p:nvPr/>
        </p:nvSpPr>
        <p:spPr>
          <a:xfrm>
            <a:off x="914400" y="4078224"/>
            <a:ext cx="457200" cy="457200"/>
          </a:xfrm>
          <a:prstGeom prst="roundRect">
            <a:avLst>
              <a:gd name="adj" fmla="val 20000"/>
            </a:avLst>
          </a:prstGeom>
          <a:solidFill>
            <a:srgbClr val="E0940F"/>
          </a:solidFill>
          <a:ln/>
        </p:spPr>
      </p:sp>
      <p:sp>
        <p:nvSpPr>
          <p:cNvPr id="19" name="Text 17"/>
          <p:cNvSpPr txBox="1"/>
          <p:nvPr/>
        </p:nvSpPr>
        <p:spPr>
          <a:xfrm>
            <a:off x="914400" y="407822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4005072"/>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Market positioning   ← this lesson</a:t>
            </a:r>
            <a:endParaRPr lang="en-US" sz="1250" dirty="0"/>
          </a:p>
        </p:txBody>
      </p:sp>
      <p:sp>
        <p:nvSpPr>
          <p:cNvPr id="21" name="Text 19"/>
          <p:cNvSpPr txBox="1"/>
          <p:nvPr/>
        </p:nvSpPr>
        <p:spPr>
          <a:xfrm>
            <a:off x="1508760" y="4315968"/>
            <a:ext cx="5440680" cy="402336"/>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orientation, market mapping, segmentation, competitive advantage, differentiation, adding value</a:t>
            </a:r>
            <a:endParaRPr lang="en-US" sz="1030" dirty="0"/>
          </a:p>
        </p:txBody>
      </p:sp>
      <p:sp>
        <p:nvSpPr>
          <p:cNvPr id="22" name="Shape 20"/>
          <p:cNvSpPr/>
          <p:nvPr/>
        </p:nvSpPr>
        <p:spPr>
          <a:xfrm>
            <a:off x="7360920" y="1371600"/>
            <a:ext cx="4279392" cy="3657600"/>
          </a:xfrm>
          <a:prstGeom prst="roundRect">
            <a:avLst>
              <a:gd name="adj" fmla="val 2000"/>
            </a:avLst>
          </a:prstGeom>
          <a:solidFill>
            <a:srgbClr val="EAF3F4"/>
          </a:solidFill>
          <a:ln/>
          <a:effectLst>
            <a:outerShdw sx="100000" sy="100000" kx="0" ky="0" algn="bl" rotWithShape="0" blurRad="76200" dist="25400" dir="5400000">
              <a:srgbClr val="9AAAB0">
                <a:alpha val="28000"/>
              </a:srgbClr>
            </a:outerShdw>
          </a:effectLst>
        </p:spPr>
      </p:sp>
      <p:sp>
        <p:nvSpPr>
          <p:cNvPr id="23" name="Text 2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24" name="Text 22"/>
          <p:cNvSpPr txBox="1"/>
          <p:nvPr/>
        </p:nvSpPr>
        <p:spPr>
          <a:xfrm>
            <a:off x="7571232" y="1965960"/>
            <a:ext cx="3886200" cy="29260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Builds on mass &amp; niche markets (section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Uses the research &amp; samples from section 2</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Segmentation → the market strategies in 1.3.3 (mass/niche, B2B/B2C)</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Differentiation &amp; USP → branding &amp; pricing (1.3.3)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Adding value → premium pricing and margins</a:t>
            </a:r>
            <a:endParaRPr lang="en-US" sz="1250" dirty="0"/>
          </a:p>
        </p:txBody>
      </p:sp>
      <p:sp>
        <p:nvSpPr>
          <p:cNvPr id="25" name="Shape 23"/>
          <p:cNvSpPr/>
          <p:nvPr/>
        </p:nvSpPr>
        <p:spPr>
          <a:xfrm>
            <a:off x="548640" y="5257800"/>
            <a:ext cx="11091672" cy="914400"/>
          </a:xfrm>
          <a:prstGeom prst="roundRect">
            <a:avLst>
              <a:gd name="adj" fmla="val 8000"/>
            </a:avLst>
          </a:prstGeom>
          <a:solidFill>
            <a:srgbClr val="FBF0D8"/>
          </a:solidFill>
          <a:ln/>
          <a:effectLst>
            <a:outerShdw sx="100000" sy="100000" kx="0" ky="0" algn="bl" rotWithShape="0" blurRad="76200" dist="25400" dir="5400000">
              <a:srgbClr val="9AAAB0">
                <a:alpha val="28000"/>
              </a:srgbClr>
            </a:outerShdw>
          </a:effectLst>
        </p:spPr>
      </p:sp>
      <p:sp>
        <p:nvSpPr>
          <p:cNvPr id="26" name="Text 24"/>
          <p:cNvSpPr txBox="1"/>
          <p:nvPr/>
        </p:nvSpPr>
        <p:spPr>
          <a:xfrm>
            <a:off x="777240" y="5358384"/>
            <a:ext cx="10698480" cy="73152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This completes Topic 1.3.1:  </a:t>
            </a:r>
            <a:pPr indent="0" marL="0">
              <a:buNone/>
            </a:pPr>
            <a:r>
              <a:rPr lang="en-US" sz="1250" dirty="0">
                <a:solidFill>
                  <a:srgbClr val="1F2A33"/>
                </a:solidFill>
                <a:latin typeface="Calibri" pitchFamily="34" charset="0"/>
                <a:ea typeface="Calibri" pitchFamily="34" charset="-122"/>
                <a:cs typeface="Calibri" pitchFamily="34" charset="-120"/>
              </a:rPr>
              <a:t>(1) The market, (2) Market research and (3) Market positioning. With 1.3.2 (demand, supply, elasticities) and 1.3.3 (marketing mix &amp; strategy), you now have the whole of the 1.3 marketing content.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Market orientation</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product orientation vs market orientation  ·  which one drives the firm's decisions, with real examples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ORIENTATION</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Product vs market orientation</a:t>
            </a:r>
            <a:endParaRPr lang="en-US" sz="2700" dirty="0"/>
          </a:p>
        </p:txBody>
      </p:sp>
      <p:sp>
        <p:nvSpPr>
          <p:cNvPr id="4" name="Shape 2"/>
          <p:cNvSpPr/>
          <p:nvPr/>
        </p:nvSpPr>
        <p:spPr>
          <a:xfrm>
            <a:off x="548640" y="1371600"/>
            <a:ext cx="5440680" cy="3931920"/>
          </a:xfrm>
          <a:prstGeom prst="roundRect">
            <a:avLst>
              <a:gd name="adj" fmla="val 186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77240" y="1536192"/>
            <a:ext cx="3108960" cy="310896"/>
          </a:xfrm>
          <a:prstGeom prst="roundRect">
            <a:avLst>
              <a:gd name="adj" fmla="val 50000"/>
            </a:avLst>
          </a:prstGeom>
          <a:solidFill>
            <a:srgbClr val="0E7C86"/>
          </a:solidFill>
          <a:ln/>
        </p:spPr>
      </p:sp>
      <p:sp>
        <p:nvSpPr>
          <p:cNvPr id="6" name="Text 4"/>
          <p:cNvSpPr txBox="1"/>
          <p:nvPr/>
        </p:nvSpPr>
        <p:spPr>
          <a:xfrm>
            <a:off x="777240" y="1536192"/>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PRODUCT ORIENTATION</a:t>
            </a:r>
            <a:endParaRPr lang="en-US" sz="1050" dirty="0"/>
          </a:p>
        </p:txBody>
      </p:sp>
      <p:sp>
        <p:nvSpPr>
          <p:cNvPr id="7" name="Text 5"/>
          <p:cNvSpPr txBox="1"/>
          <p:nvPr/>
        </p:nvSpPr>
        <p:spPr>
          <a:xfrm>
            <a:off x="777240" y="1965960"/>
            <a:ext cx="4983480" cy="7315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The business focuses on the PRODUCT first — its quality, features or innovation — and expects customers to want it.</a:t>
            </a:r>
            <a:endParaRPr lang="en-US" sz="1300" dirty="0"/>
          </a:p>
        </p:txBody>
      </p:sp>
      <p:sp>
        <p:nvSpPr>
          <p:cNvPr id="8" name="Text 6"/>
          <p:cNvSpPr txBox="1"/>
          <p:nvPr/>
        </p:nvSpPr>
        <p:spPr>
          <a:xfrm>
            <a:off x="777240" y="2743200"/>
            <a:ext cx="4983480" cy="1188720"/>
          </a:xfrm>
          <a:prstGeom prst="rect">
            <a:avLst/>
          </a:prstGeom>
          <a:noFill/>
          <a:ln/>
        </p:spPr>
        <p:txBody>
          <a:bodyPr wrap="square" lIns="0" tIns="0" rIns="0" bIns="0" rtlCol="0" anchor="t"/>
          <a:lstStyle/>
          <a:p>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can create breakthrough, innovative products; strong in tech/R&amp;D.
</a:t>
            </a:r>
            <a:pPr indent="0" marL="0">
              <a:spcAft>
                <a:spcPts val="600"/>
              </a:spcAft>
              <a:buNone/>
            </a:pPr>
            <a:r>
              <a:rPr lang="en-US" sz="125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risk of making something customers don't actually want.</a:t>
            </a:r>
            <a:endParaRPr lang="en-US" sz="1250" dirty="0"/>
          </a:p>
        </p:txBody>
      </p:sp>
      <p:sp>
        <p:nvSpPr>
          <p:cNvPr id="9" name="Text 7"/>
          <p:cNvSpPr txBox="1"/>
          <p:nvPr/>
        </p:nvSpPr>
        <p:spPr>
          <a:xfrm>
            <a:off x="777240" y="4754880"/>
            <a:ext cx="4983480" cy="457200"/>
          </a:xfrm>
          <a:prstGeom prst="rect">
            <a:avLst/>
          </a:prstGeom>
          <a:noFill/>
          <a:ln/>
        </p:spPr>
        <p:txBody>
          <a:bodyPr wrap="square" lIns="0" tIns="0" rIns="0" bIns="0" rtlCol="0" anchor="ctr"/>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Dyson (engineering-led); pharmaceutical R&amp;D.</a:t>
            </a:r>
            <a:endParaRPr lang="en-US" sz="1150" dirty="0"/>
          </a:p>
        </p:txBody>
      </p:sp>
      <p:sp>
        <p:nvSpPr>
          <p:cNvPr id="10" name="Shape 8"/>
          <p:cNvSpPr/>
          <p:nvPr/>
        </p:nvSpPr>
        <p:spPr>
          <a:xfrm>
            <a:off x="6199632" y="1371600"/>
            <a:ext cx="5440680" cy="3931920"/>
          </a:xfrm>
          <a:prstGeom prst="roundRect">
            <a:avLst>
              <a:gd name="adj" fmla="val 186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6428232" y="1536192"/>
            <a:ext cx="3108960" cy="310896"/>
          </a:xfrm>
          <a:prstGeom prst="roundRect">
            <a:avLst>
              <a:gd name="adj" fmla="val 50000"/>
            </a:avLst>
          </a:prstGeom>
          <a:solidFill>
            <a:srgbClr val="E0940F"/>
          </a:solidFill>
          <a:ln/>
        </p:spPr>
      </p:sp>
      <p:sp>
        <p:nvSpPr>
          <p:cNvPr id="12" name="Text 10"/>
          <p:cNvSpPr txBox="1"/>
          <p:nvPr/>
        </p:nvSpPr>
        <p:spPr>
          <a:xfrm>
            <a:off x="6428232" y="1536192"/>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MARKET ORIENTATION</a:t>
            </a:r>
            <a:endParaRPr lang="en-US" sz="1050" dirty="0"/>
          </a:p>
        </p:txBody>
      </p:sp>
      <p:sp>
        <p:nvSpPr>
          <p:cNvPr id="13" name="Text 11"/>
          <p:cNvSpPr txBox="1"/>
          <p:nvPr/>
        </p:nvSpPr>
        <p:spPr>
          <a:xfrm>
            <a:off x="6428232" y="1965960"/>
            <a:ext cx="4983480" cy="7315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The business focuses on the MARKET first — it researches what customers want, then designs the product to meet it.</a:t>
            </a:r>
            <a:endParaRPr lang="en-US" sz="1300" dirty="0"/>
          </a:p>
        </p:txBody>
      </p:sp>
      <p:sp>
        <p:nvSpPr>
          <p:cNvPr id="14" name="Text 12"/>
          <p:cNvSpPr txBox="1"/>
          <p:nvPr/>
        </p:nvSpPr>
        <p:spPr>
          <a:xfrm>
            <a:off x="6428232" y="2743200"/>
            <a:ext cx="4983480" cy="1188720"/>
          </a:xfrm>
          <a:prstGeom prst="rect">
            <a:avLst/>
          </a:prstGeom>
          <a:noFill/>
          <a:ln/>
        </p:spPr>
        <p:txBody>
          <a:bodyPr wrap="square" lIns="0" tIns="0" rIns="0" bIns="0" rtlCol="0" anchor="t"/>
          <a:lstStyle/>
          <a:p>
            <a:pPr indent="0" marL="0">
              <a:spcAft>
                <a:spcPts val="600"/>
              </a:spcAft>
              <a:buNone/>
            </a:pPr>
            <a:r>
              <a:rPr lang="en-US" sz="1250" b="1" dirty="0">
                <a:solidFill>
                  <a:srgbClr val="2F8A5B"/>
                </a:solidFill>
                <a:latin typeface="Calibri" pitchFamily="34" charset="0"/>
                <a:ea typeface="Calibri" pitchFamily="34" charset="-122"/>
                <a:cs typeface="Calibri" pitchFamily="34" charset="-120"/>
              </a:rPr>
              <a: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products are more likely to sell; responsive to change; lower launch risk.
</a:t>
            </a:r>
            <a:pPr indent="0" marL="0">
              <a:spcAft>
                <a:spcPts val="600"/>
              </a:spcAft>
              <a:buNone/>
            </a:pPr>
            <a:r>
              <a:rPr lang="en-US" sz="1250" b="1" dirty="0">
                <a:solidFill>
                  <a:srgbClr val="C14B37"/>
                </a:solidFill>
                <a:latin typeface="Calibri" pitchFamily="34" charset="0"/>
                <a:ea typeface="Calibri" pitchFamily="34" charset="-122"/>
                <a:cs typeface="Calibri" pitchFamily="34" charset="-120"/>
              </a:rPr>
              <a:t>✗ </a:t>
            </a:r>
            <a:pPr indent="0" marL="0">
              <a:spcAft>
                <a:spcPts val="600"/>
              </a:spcAft>
              <a:buNone/>
            </a:pPr>
            <a:r>
              <a:rPr lang="en-US" sz="1250" dirty="0">
                <a:solidFill>
                  <a:srgbClr val="1F2A33"/>
                </a:solidFill>
                <a:latin typeface="Calibri" pitchFamily="34" charset="0"/>
                <a:ea typeface="Calibri" pitchFamily="34" charset="-122"/>
                <a:cs typeface="Calibri" pitchFamily="34" charset="-120"/>
              </a:rPr>
              <a:t>research costs money; can lead to ‘me-too’ products; chasing trends.</a:t>
            </a:r>
            <a:endParaRPr lang="en-US" sz="1250" dirty="0"/>
          </a:p>
        </p:txBody>
      </p:sp>
      <p:sp>
        <p:nvSpPr>
          <p:cNvPr id="15" name="Text 13"/>
          <p:cNvSpPr txBox="1"/>
          <p:nvPr/>
        </p:nvSpPr>
        <p:spPr>
          <a:xfrm>
            <a:off x="6428232" y="4754880"/>
            <a:ext cx="4983480" cy="457200"/>
          </a:xfrm>
          <a:prstGeom prst="rect">
            <a:avLst/>
          </a:prstGeom>
          <a:noFill/>
          <a:ln/>
        </p:spPr>
        <p:txBody>
          <a:bodyPr wrap="square" lIns="0" tIns="0" rIns="0" bIns="0" rtlCol="0" anchor="ctr"/>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most FMCG brands; Innocent reshaping recipes to tastes.</a:t>
            </a:r>
            <a:endParaRPr lang="en-US" sz="1150" dirty="0"/>
          </a:p>
        </p:txBody>
      </p:sp>
      <p:sp>
        <p:nvSpPr>
          <p:cNvPr id="16" name="Shape 14"/>
          <p:cNvSpPr/>
          <p:nvPr/>
        </p:nvSpPr>
        <p:spPr>
          <a:xfrm>
            <a:off x="548640" y="5440680"/>
            <a:ext cx="11091672" cy="731520"/>
          </a:xfrm>
          <a:prstGeom prst="roundRect">
            <a:avLst>
              <a:gd name="adj" fmla="val 10000"/>
            </a:avLst>
          </a:prstGeom>
          <a:solidFill>
            <a:srgbClr val="FBF0D8"/>
          </a:solidFill>
          <a:ln/>
          <a:effectLst>
            <a:outerShdw sx="100000" sy="100000" kx="0" ky="0" algn="bl" rotWithShape="0" blurRad="76200" dist="25400" dir="5400000">
              <a:srgbClr val="9AAAB0">
                <a:alpha val="28000"/>
              </a:srgbClr>
            </a:outerShdw>
          </a:effectLst>
        </p:spPr>
      </p:sp>
      <p:sp>
        <p:nvSpPr>
          <p:cNvPr id="17" name="Text 15"/>
          <p:cNvSpPr txBox="1"/>
          <p:nvPr/>
        </p:nvSpPr>
        <p:spPr>
          <a:xfrm>
            <a:off x="777240" y="5513832"/>
            <a:ext cx="10698480" cy="585216"/>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In practice:  </a:t>
            </a:r>
            <a:pPr indent="0" marL="0">
              <a:buNone/>
            </a:pPr>
            <a:r>
              <a:rPr lang="en-US" sz="1250" dirty="0">
                <a:solidFill>
                  <a:srgbClr val="1F2A33"/>
                </a:solidFill>
                <a:latin typeface="Calibri" pitchFamily="34" charset="0"/>
                <a:ea typeface="Calibri" pitchFamily="34" charset="-122"/>
                <a:cs typeface="Calibri" pitchFamily="34" charset="-120"/>
              </a:rPr>
              <a:t>most firms blend both — a great product (product orientation) that also meets a researched customer need (market orientation). Market mapping and segmentation are market-oriented tools.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Market mapping</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a market map is  ·  how to construct one (the rules)  ·  interpreting it to spot gaps  ·  benefits, drawbacks &amp; exam practice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MARKET MAPPING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What is a market map?</a:t>
            </a:r>
            <a:endParaRPr lang="en-US" sz="27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Definition:  </a:t>
            </a:r>
            <a:pPr indent="0" marL="0">
              <a:buNone/>
            </a:pPr>
            <a:r>
              <a:rPr lang="en-US" sz="1300" dirty="0">
                <a:solidFill>
                  <a:srgbClr val="1F2A33"/>
                </a:solidFill>
                <a:latin typeface="Calibri" pitchFamily="34" charset="0"/>
                <a:ea typeface="Calibri" pitchFamily="34" charset="-122"/>
                <a:cs typeface="Calibri" pitchFamily="34" charset="-120"/>
              </a:rPr>
              <a:t>a diagram that positions competing products or brands on TWO variables that matter to customers (e.g. price and quality). It visualises how customers PERCEIVE the market.</a:t>
            </a:r>
            <a:endParaRPr lang="en-US" sz="1300" dirty="0"/>
          </a:p>
        </p:txBody>
      </p:sp>
      <p:sp>
        <p:nvSpPr>
          <p:cNvPr id="6" name="Shape 4"/>
          <p:cNvSpPr/>
          <p:nvPr/>
        </p:nvSpPr>
        <p:spPr>
          <a:xfrm>
            <a:off x="2103120" y="2514600"/>
            <a:ext cx="3566160" cy="3291840"/>
          </a:xfrm>
          <a:prstGeom prst="rect">
            <a:avLst/>
          </a:prstGeom>
          <a:solidFill>
            <a:srgbClr val="FCFEFE"/>
          </a:solidFill>
          <a:ln w="12700">
            <a:solidFill>
              <a:srgbClr val="D7E1E4"/>
            </a:solidFill>
            <a:prstDash val="solid"/>
          </a:ln>
        </p:spPr>
      </p:sp>
      <p:sp>
        <p:nvSpPr>
          <p:cNvPr id="7" name="Shape 5"/>
          <p:cNvSpPr/>
          <p:nvPr/>
        </p:nvSpPr>
        <p:spPr>
          <a:xfrm>
            <a:off x="3886200" y="2514600"/>
            <a:ext cx="0" cy="3291840"/>
          </a:xfrm>
          <a:prstGeom prst="line">
            <a:avLst/>
          </a:prstGeom>
          <a:noFill/>
          <a:ln w="22225">
            <a:solidFill>
              <a:srgbClr val="1F2A33"/>
            </a:solidFill>
            <a:prstDash val="solid"/>
          </a:ln>
        </p:spPr>
      </p:sp>
      <p:sp>
        <p:nvSpPr>
          <p:cNvPr id="8" name="Shape 6"/>
          <p:cNvSpPr/>
          <p:nvPr/>
        </p:nvSpPr>
        <p:spPr>
          <a:xfrm>
            <a:off x="2103120" y="4160520"/>
            <a:ext cx="3566160" cy="0"/>
          </a:xfrm>
          <a:prstGeom prst="line">
            <a:avLst/>
          </a:prstGeom>
          <a:noFill/>
          <a:ln w="22225">
            <a:solidFill>
              <a:srgbClr val="1F2A33"/>
            </a:solidFill>
            <a:prstDash val="solid"/>
          </a:ln>
        </p:spPr>
      </p:sp>
      <p:sp>
        <p:nvSpPr>
          <p:cNvPr id="9" name="Text 7"/>
          <p:cNvSpPr txBox="1"/>
          <p:nvPr/>
        </p:nvSpPr>
        <p:spPr>
          <a:xfrm>
            <a:off x="2423160" y="2212848"/>
            <a:ext cx="2926080" cy="274320"/>
          </a:xfrm>
          <a:prstGeom prst="rect">
            <a:avLst/>
          </a:prstGeom>
          <a:noFill/>
          <a:ln/>
        </p:spPr>
        <p:txBody>
          <a:bodyPr wrap="square" lIns="0" tIns="0" rIns="0" bIns="0" rtlCol="0" anchor="ctr"/>
          <a:lstStyle/>
          <a:p>
            <a:pPr algn="ctr" indent="0" marL="0">
              <a:buNone/>
            </a:pPr>
            <a:r>
              <a:rPr lang="en-US" sz="1100" b="1" dirty="0">
                <a:solidFill>
                  <a:srgbClr val="5B6B73"/>
                </a:solidFill>
                <a:latin typeface="Calibri" pitchFamily="34" charset="0"/>
                <a:ea typeface="Calibri" pitchFamily="34" charset="-122"/>
                <a:cs typeface="Calibri" pitchFamily="34" charset="-120"/>
              </a:rPr>
              <a:t>HIGH QUALITY</a:t>
            </a:r>
            <a:endParaRPr lang="en-US" sz="1100" dirty="0"/>
          </a:p>
        </p:txBody>
      </p:sp>
      <p:sp>
        <p:nvSpPr>
          <p:cNvPr id="10" name="Text 8"/>
          <p:cNvSpPr txBox="1"/>
          <p:nvPr/>
        </p:nvSpPr>
        <p:spPr>
          <a:xfrm>
            <a:off x="2423160" y="5843016"/>
            <a:ext cx="2926080" cy="274320"/>
          </a:xfrm>
          <a:prstGeom prst="rect">
            <a:avLst/>
          </a:prstGeom>
          <a:noFill/>
          <a:ln/>
        </p:spPr>
        <p:txBody>
          <a:bodyPr wrap="square" lIns="0" tIns="0" rIns="0" bIns="0" rtlCol="0" anchor="ctr"/>
          <a:lstStyle/>
          <a:p>
            <a:pPr algn="ctr" indent="0" marL="0">
              <a:buNone/>
            </a:pPr>
            <a:r>
              <a:rPr lang="en-US" sz="1100" b="1" dirty="0">
                <a:solidFill>
                  <a:srgbClr val="5B6B73"/>
                </a:solidFill>
                <a:latin typeface="Calibri" pitchFamily="34" charset="0"/>
                <a:ea typeface="Calibri" pitchFamily="34" charset="-122"/>
                <a:cs typeface="Calibri" pitchFamily="34" charset="-120"/>
              </a:rPr>
              <a:t>LOW QUALITY</a:t>
            </a:r>
            <a:endParaRPr lang="en-US" sz="1100" dirty="0"/>
          </a:p>
        </p:txBody>
      </p:sp>
      <p:sp>
        <p:nvSpPr>
          <p:cNvPr id="11" name="Text 9"/>
          <p:cNvSpPr txBox="1"/>
          <p:nvPr/>
        </p:nvSpPr>
        <p:spPr>
          <a:xfrm>
            <a:off x="685800" y="4023360"/>
            <a:ext cx="1280160" cy="274320"/>
          </a:xfrm>
          <a:prstGeom prst="rect">
            <a:avLst/>
          </a:prstGeom>
          <a:noFill/>
          <a:ln/>
        </p:spPr>
        <p:txBody>
          <a:bodyPr wrap="square" lIns="0" tIns="0" rIns="0" bIns="0" rtlCol="0" anchor="ctr"/>
          <a:lstStyle/>
          <a:p>
            <a:pPr algn="r" indent="0" marL="0">
              <a:buNone/>
            </a:pPr>
            <a:r>
              <a:rPr lang="en-US" sz="1100" b="1" dirty="0">
                <a:solidFill>
                  <a:srgbClr val="5B6B73"/>
                </a:solidFill>
                <a:latin typeface="Calibri" pitchFamily="34" charset="0"/>
                <a:ea typeface="Calibri" pitchFamily="34" charset="-122"/>
                <a:cs typeface="Calibri" pitchFamily="34" charset="-120"/>
              </a:rPr>
              <a:t>LOW PRICE</a:t>
            </a:r>
            <a:endParaRPr lang="en-US" sz="1100" dirty="0"/>
          </a:p>
        </p:txBody>
      </p:sp>
      <p:sp>
        <p:nvSpPr>
          <p:cNvPr id="12" name="Text 10"/>
          <p:cNvSpPr txBox="1"/>
          <p:nvPr/>
        </p:nvSpPr>
        <p:spPr>
          <a:xfrm>
            <a:off x="5779008" y="4023360"/>
            <a:ext cx="1325880" cy="274320"/>
          </a:xfrm>
          <a:prstGeom prst="rect">
            <a:avLst/>
          </a:prstGeom>
          <a:noFill/>
          <a:ln/>
        </p:spPr>
        <p:txBody>
          <a:bodyPr wrap="square" lIns="0" tIns="0" rIns="0" bIns="0" rtlCol="0" anchor="ctr"/>
          <a:lstStyle/>
          <a:p>
            <a:pPr algn="l" indent="0" marL="0">
              <a:buNone/>
            </a:pPr>
            <a:r>
              <a:rPr lang="en-US" sz="1100" b="1" dirty="0">
                <a:solidFill>
                  <a:srgbClr val="5B6B73"/>
                </a:solidFill>
                <a:latin typeface="Calibri" pitchFamily="34" charset="0"/>
                <a:ea typeface="Calibri" pitchFamily="34" charset="-122"/>
                <a:cs typeface="Calibri" pitchFamily="34" charset="-120"/>
              </a:rPr>
              <a:t>HIGH PRICE</a:t>
            </a:r>
            <a:endParaRPr lang="en-US" sz="1100" dirty="0"/>
          </a:p>
        </p:txBody>
      </p:sp>
      <p:sp>
        <p:nvSpPr>
          <p:cNvPr id="13" name="Shape 11"/>
          <p:cNvSpPr/>
          <p:nvPr/>
        </p:nvSpPr>
        <p:spPr>
          <a:xfrm>
            <a:off x="2948026" y="3419856"/>
            <a:ext cx="164592" cy="164592"/>
          </a:xfrm>
          <a:prstGeom prst="ellipse">
            <a:avLst/>
          </a:prstGeom>
          <a:solidFill>
            <a:srgbClr val="0E7C86"/>
          </a:solidFill>
          <a:ln w="19050">
            <a:solidFill>
              <a:srgbClr val="FFFFFF"/>
            </a:solidFill>
            <a:prstDash val="solid"/>
          </a:ln>
        </p:spPr>
      </p:sp>
      <p:sp>
        <p:nvSpPr>
          <p:cNvPr id="14" name="Text 12"/>
          <p:cNvSpPr txBox="1"/>
          <p:nvPr/>
        </p:nvSpPr>
        <p:spPr>
          <a:xfrm>
            <a:off x="3167482" y="3355848"/>
            <a:ext cx="1508760" cy="274320"/>
          </a:xfrm>
          <a:prstGeom prst="rect">
            <a:avLst/>
          </a:prstGeom>
          <a:noFill/>
          <a:ln/>
        </p:spPr>
        <p:txBody>
          <a:bodyPr wrap="square" lIns="0" tIns="0" rIns="0" bIns="0" rtlCol="0" anchor="ctr"/>
          <a:lstStyle/>
          <a:p>
            <a:pPr algn="l" indent="0" marL="0">
              <a:buNone/>
            </a:pPr>
            <a:r>
              <a:rPr lang="en-US" sz="1150" b="1" dirty="0">
                <a:solidFill>
                  <a:srgbClr val="0E7C86"/>
                </a:solidFill>
                <a:latin typeface="Calibri" pitchFamily="34" charset="0"/>
                <a:ea typeface="Calibri" pitchFamily="34" charset="-122"/>
                <a:cs typeface="Calibri" pitchFamily="34" charset="-120"/>
              </a:rPr>
              <a:t>Brand A</a:t>
            </a:r>
            <a:endParaRPr lang="en-US" sz="1150" dirty="0"/>
          </a:p>
        </p:txBody>
      </p:sp>
      <p:sp>
        <p:nvSpPr>
          <p:cNvPr id="15" name="Shape 13"/>
          <p:cNvSpPr/>
          <p:nvPr/>
        </p:nvSpPr>
        <p:spPr>
          <a:xfrm>
            <a:off x="3090672" y="4868266"/>
            <a:ext cx="164592" cy="164592"/>
          </a:xfrm>
          <a:prstGeom prst="ellipse">
            <a:avLst/>
          </a:prstGeom>
          <a:solidFill>
            <a:srgbClr val="2F8A5B"/>
          </a:solidFill>
          <a:ln w="19050">
            <a:solidFill>
              <a:srgbClr val="FFFFFF"/>
            </a:solidFill>
            <a:prstDash val="solid"/>
          </a:ln>
        </p:spPr>
      </p:sp>
      <p:sp>
        <p:nvSpPr>
          <p:cNvPr id="16" name="Text 14"/>
          <p:cNvSpPr txBox="1"/>
          <p:nvPr/>
        </p:nvSpPr>
        <p:spPr>
          <a:xfrm>
            <a:off x="3310128" y="4804258"/>
            <a:ext cx="1508760" cy="274320"/>
          </a:xfrm>
          <a:prstGeom prst="rect">
            <a:avLst/>
          </a:prstGeom>
          <a:noFill/>
          <a:ln/>
        </p:spPr>
        <p:txBody>
          <a:bodyPr wrap="square" lIns="0" tIns="0" rIns="0" bIns="0" rtlCol="0" anchor="ctr"/>
          <a:lstStyle/>
          <a:p>
            <a:pPr algn="l" indent="0" marL="0">
              <a:buNone/>
            </a:pPr>
            <a:r>
              <a:rPr lang="en-US" sz="1150" b="1" dirty="0">
                <a:solidFill>
                  <a:srgbClr val="2F8A5B"/>
                </a:solidFill>
                <a:latin typeface="Calibri" pitchFamily="34" charset="0"/>
                <a:ea typeface="Calibri" pitchFamily="34" charset="-122"/>
                <a:cs typeface="Calibri" pitchFamily="34" charset="-120"/>
              </a:rPr>
              <a:t>Brand C</a:t>
            </a:r>
            <a:endParaRPr lang="en-US" sz="1150" dirty="0"/>
          </a:p>
        </p:txBody>
      </p:sp>
      <p:sp>
        <p:nvSpPr>
          <p:cNvPr id="17" name="Shape 15"/>
          <p:cNvSpPr/>
          <p:nvPr/>
        </p:nvSpPr>
        <p:spPr>
          <a:xfrm>
            <a:off x="4517136" y="4802429"/>
            <a:ext cx="164592" cy="164592"/>
          </a:xfrm>
          <a:prstGeom prst="ellipse">
            <a:avLst/>
          </a:prstGeom>
          <a:solidFill>
            <a:srgbClr val="C14B37"/>
          </a:solidFill>
          <a:ln w="19050">
            <a:solidFill>
              <a:srgbClr val="FFFFFF"/>
            </a:solidFill>
            <a:prstDash val="solid"/>
          </a:ln>
        </p:spPr>
      </p:sp>
      <p:sp>
        <p:nvSpPr>
          <p:cNvPr id="18" name="Text 16"/>
          <p:cNvSpPr txBox="1"/>
          <p:nvPr/>
        </p:nvSpPr>
        <p:spPr>
          <a:xfrm>
            <a:off x="2999232" y="4738421"/>
            <a:ext cx="1508760" cy="274320"/>
          </a:xfrm>
          <a:prstGeom prst="rect">
            <a:avLst/>
          </a:prstGeom>
          <a:noFill/>
          <a:ln/>
        </p:spPr>
        <p:txBody>
          <a:bodyPr wrap="square" lIns="0" tIns="0" rIns="0" bIns="0" rtlCol="0" anchor="ctr"/>
          <a:lstStyle/>
          <a:p>
            <a:pPr algn="r" indent="0" marL="0">
              <a:buNone/>
            </a:pPr>
            <a:r>
              <a:rPr lang="en-US" sz="1150" b="1" dirty="0">
                <a:solidFill>
                  <a:srgbClr val="C14B37"/>
                </a:solidFill>
                <a:latin typeface="Calibri" pitchFamily="34" charset="0"/>
                <a:ea typeface="Calibri" pitchFamily="34" charset="-122"/>
                <a:cs typeface="Calibri" pitchFamily="34" charset="-120"/>
              </a:rPr>
              <a:t>Brand B</a:t>
            </a:r>
            <a:endParaRPr lang="en-US" sz="1150" dirty="0"/>
          </a:p>
        </p:txBody>
      </p:sp>
      <p:sp>
        <p:nvSpPr>
          <p:cNvPr id="19" name="Shape 17"/>
          <p:cNvSpPr/>
          <p:nvPr/>
        </p:nvSpPr>
        <p:spPr>
          <a:xfrm>
            <a:off x="4284878" y="3059582"/>
            <a:ext cx="914400" cy="621792"/>
          </a:xfrm>
          <a:prstGeom prst="ellipse">
            <a:avLst/>
          </a:prstGeom>
          <a:ln w="28575">
            <a:solidFill>
              <a:srgbClr val="E0940F"/>
            </a:solidFill>
            <a:prstDash val="dash"/>
          </a:ln>
        </p:spPr>
      </p:sp>
      <p:sp>
        <p:nvSpPr>
          <p:cNvPr id="20" name="Text 18"/>
          <p:cNvSpPr txBox="1"/>
          <p:nvPr/>
        </p:nvSpPr>
        <p:spPr>
          <a:xfrm>
            <a:off x="3919118" y="3233318"/>
            <a:ext cx="1645920" cy="274320"/>
          </a:xfrm>
          <a:prstGeom prst="rect">
            <a:avLst/>
          </a:prstGeom>
          <a:noFill/>
          <a:ln/>
        </p:spPr>
        <p:txBody>
          <a:bodyPr wrap="square" lIns="0" tIns="0" rIns="0" bIns="0" rtlCol="0" anchor="ctr"/>
          <a:lstStyle/>
          <a:p>
            <a:pPr algn="ctr" indent="0" marL="0">
              <a:buNone/>
            </a:pPr>
            <a:r>
              <a:rPr lang="en-US" sz="1100" b="1" i="1" dirty="0">
                <a:solidFill>
                  <a:srgbClr val="8A5A06"/>
                </a:solidFill>
                <a:latin typeface="Calibri" pitchFamily="34" charset="0"/>
                <a:ea typeface="Calibri" pitchFamily="34" charset="-122"/>
                <a:cs typeface="Calibri" pitchFamily="34" charset="-120"/>
              </a:rPr>
              <a:t>GAP?</a:t>
            </a:r>
            <a:endParaRPr lang="en-US" sz="1100" dirty="0"/>
          </a:p>
        </p:txBody>
      </p:sp>
      <p:sp>
        <p:nvSpPr>
          <p:cNvPr id="21" name="Shape 19"/>
          <p:cNvSpPr/>
          <p:nvPr/>
        </p:nvSpPr>
        <p:spPr>
          <a:xfrm>
            <a:off x="6492240" y="2514600"/>
            <a:ext cx="5148072" cy="3291840"/>
          </a:xfrm>
          <a:prstGeom prst="roundRect">
            <a:avLst>
              <a:gd name="adj" fmla="val 222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2" name="Text 20"/>
          <p:cNvSpPr txBox="1"/>
          <p:nvPr/>
        </p:nvSpPr>
        <p:spPr>
          <a:xfrm>
            <a:off x="6702552" y="2633472"/>
            <a:ext cx="475488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Reading the map</a:t>
            </a:r>
            <a:endParaRPr lang="en-US" sz="1400" dirty="0"/>
          </a:p>
        </p:txBody>
      </p:sp>
      <p:sp>
        <p:nvSpPr>
          <p:cNvPr id="23" name="Text 21"/>
          <p:cNvSpPr txBox="1"/>
          <p:nvPr/>
        </p:nvSpPr>
        <p:spPr>
          <a:xfrm>
            <a:off x="6702552" y="3017520"/>
            <a:ext cx="4754880" cy="26517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Each dot is a brand, placed by how customers see it on the two variables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Brands close together are CLOSE COMPETITORS fighting for the same customers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An empty space is a possible GAP in the market — room for a new product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Here: a gap for a high-quality, higher-price product (top-right) with few rivals</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MARKET MAPPING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How to construct a market map — the rules</a:t>
            </a:r>
            <a:endParaRPr lang="en-US" sz="2700" dirty="0"/>
          </a:p>
        </p:txBody>
      </p:sp>
      <p:sp>
        <p:nvSpPr>
          <p:cNvPr id="4" name="Shape 2"/>
          <p:cNvSpPr/>
          <p:nvPr/>
        </p:nvSpPr>
        <p:spPr>
          <a:xfrm>
            <a:off x="548640" y="1508760"/>
            <a:ext cx="11091672" cy="1325880"/>
          </a:xfrm>
          <a:prstGeom prst="roundRect">
            <a:avLst>
              <a:gd name="adj" fmla="val 5517"/>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508760"/>
            <a:ext cx="109728" cy="1325880"/>
          </a:xfrm>
          <a:prstGeom prst="roundRect">
            <a:avLst/>
          </a:prstGeom>
          <a:solidFill>
            <a:srgbClr val="0E7C86"/>
          </a:solidFill>
          <a:ln/>
        </p:spPr>
      </p:sp>
      <p:sp>
        <p:nvSpPr>
          <p:cNvPr id="6" name="Text 4"/>
          <p:cNvSpPr txBox="1"/>
          <p:nvPr/>
        </p:nvSpPr>
        <p:spPr>
          <a:xfrm>
            <a:off x="868680" y="1691640"/>
            <a:ext cx="10515600" cy="41148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1 · Pick two customer-relevant variables</a:t>
            </a:r>
            <a:endParaRPr lang="en-US" sz="1600" dirty="0"/>
          </a:p>
        </p:txBody>
      </p:sp>
      <p:sp>
        <p:nvSpPr>
          <p:cNvPr id="7" name="Text 5"/>
          <p:cNvSpPr txBox="1"/>
          <p:nvPr/>
        </p:nvSpPr>
        <p:spPr>
          <a:xfrm>
            <a:off x="868680" y="2130552"/>
            <a:ext cx="10607040" cy="59436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Choose two things customers actually care about — e.g. price, quality, service, healthiness, age range. Not two versions of the same thing.</a:t>
            </a:r>
            <a:endParaRPr lang="en-US" sz="1300" dirty="0"/>
          </a:p>
        </p:txBody>
      </p:sp>
      <p:sp>
        <p:nvSpPr>
          <p:cNvPr id="8" name="Shape 6"/>
          <p:cNvSpPr/>
          <p:nvPr/>
        </p:nvSpPr>
        <p:spPr>
          <a:xfrm>
            <a:off x="548640" y="2926080"/>
            <a:ext cx="11091672" cy="1325880"/>
          </a:xfrm>
          <a:prstGeom prst="roundRect">
            <a:avLst>
              <a:gd name="adj" fmla="val 5517"/>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9" name="Shape 7"/>
          <p:cNvSpPr/>
          <p:nvPr/>
        </p:nvSpPr>
        <p:spPr>
          <a:xfrm>
            <a:off x="548640" y="2926080"/>
            <a:ext cx="109728" cy="1325880"/>
          </a:xfrm>
          <a:prstGeom prst="roundRect">
            <a:avLst/>
          </a:prstGeom>
          <a:solidFill>
            <a:srgbClr val="E0940F"/>
          </a:solidFill>
          <a:ln/>
        </p:spPr>
      </p:sp>
      <p:sp>
        <p:nvSpPr>
          <p:cNvPr id="10" name="Text 8"/>
          <p:cNvSpPr txBox="1"/>
          <p:nvPr/>
        </p:nvSpPr>
        <p:spPr>
          <a:xfrm>
            <a:off x="868680" y="3108960"/>
            <a:ext cx="10515600" cy="411480"/>
          </a:xfrm>
          <a:prstGeom prst="rect">
            <a:avLst/>
          </a:prstGeom>
          <a:noFill/>
          <a:ln/>
        </p:spPr>
        <p:txBody>
          <a:bodyPr wrap="square" lIns="0" tIns="0" rIns="0" bIns="0" rtlCol="0" anchor="ctr"/>
          <a:lstStyle/>
          <a:p>
            <a:pPr indent="0" marL="0">
              <a:buNone/>
            </a:pPr>
            <a:r>
              <a:rPr lang="en-US" sz="1600" b="1" dirty="0">
                <a:solidFill>
                  <a:srgbClr val="E0940F"/>
                </a:solidFill>
                <a:latin typeface="Calibri" pitchFamily="34" charset="0"/>
                <a:ea typeface="Calibri" pitchFamily="34" charset="-122"/>
                <a:cs typeface="Calibri" pitchFamily="34" charset="-120"/>
              </a:rPr>
              <a:t>2 · Each axis = opposite ends of ONE variable</a:t>
            </a:r>
            <a:endParaRPr lang="en-US" sz="1600" dirty="0"/>
          </a:p>
        </p:txBody>
      </p:sp>
      <p:sp>
        <p:nvSpPr>
          <p:cNvPr id="11" name="Text 9"/>
          <p:cNvSpPr txBox="1"/>
          <p:nvPr/>
        </p:nvSpPr>
        <p:spPr>
          <a:xfrm>
            <a:off x="868680" y="3547872"/>
            <a:ext cx="10607040" cy="59436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Label each axis with the two extremes of one variable (LOW PRICE ↔ HIGH PRICE). The axes cross in the middle.</a:t>
            </a:r>
            <a:endParaRPr lang="en-US" sz="1300" dirty="0"/>
          </a:p>
        </p:txBody>
      </p:sp>
      <p:sp>
        <p:nvSpPr>
          <p:cNvPr id="12" name="Shape 10"/>
          <p:cNvSpPr/>
          <p:nvPr/>
        </p:nvSpPr>
        <p:spPr>
          <a:xfrm>
            <a:off x="548640" y="4343400"/>
            <a:ext cx="11091672" cy="1325880"/>
          </a:xfrm>
          <a:prstGeom prst="roundRect">
            <a:avLst>
              <a:gd name="adj" fmla="val 5517"/>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548640" y="4343400"/>
            <a:ext cx="109728" cy="1325880"/>
          </a:xfrm>
          <a:prstGeom prst="roundRect">
            <a:avLst/>
          </a:prstGeom>
          <a:solidFill>
            <a:srgbClr val="2F8A5B"/>
          </a:solidFill>
          <a:ln/>
        </p:spPr>
      </p:sp>
      <p:sp>
        <p:nvSpPr>
          <p:cNvPr id="14" name="Text 12"/>
          <p:cNvSpPr txBox="1"/>
          <p:nvPr/>
        </p:nvSpPr>
        <p:spPr>
          <a:xfrm>
            <a:off x="868680" y="4526280"/>
            <a:ext cx="10515600" cy="411480"/>
          </a:xfrm>
          <a:prstGeom prst="rect">
            <a:avLst/>
          </a:prstGeom>
          <a:noFill/>
          <a:ln/>
        </p:spPr>
        <p:txBody>
          <a:bodyPr wrap="square" lIns="0" tIns="0" rIns="0" bIns="0" rtlCol="0" anchor="ctr"/>
          <a:lstStyle/>
          <a:p>
            <a:pPr indent="0" marL="0">
              <a:buNone/>
            </a:pPr>
            <a:r>
              <a:rPr lang="en-US" sz="1600" b="1" dirty="0">
                <a:solidFill>
                  <a:srgbClr val="2F8A5B"/>
                </a:solidFill>
                <a:latin typeface="Calibri" pitchFamily="34" charset="0"/>
                <a:ea typeface="Calibri" pitchFamily="34" charset="-122"/>
                <a:cs typeface="Calibri" pitchFamily="34" charset="-120"/>
              </a:rPr>
              <a:t>3 · Plot each brand by customer PERCEPTION</a:t>
            </a:r>
            <a:endParaRPr lang="en-US" sz="1600" dirty="0"/>
          </a:p>
        </p:txBody>
      </p:sp>
      <p:sp>
        <p:nvSpPr>
          <p:cNvPr id="15" name="Text 13"/>
          <p:cNvSpPr txBox="1"/>
          <p:nvPr/>
        </p:nvSpPr>
        <p:spPr>
          <a:xfrm>
            <a:off x="868680" y="4965192"/>
            <a:ext cx="10607040" cy="59436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Place every competitor using how customers see them — backed by research, not personal opinion.</a:t>
            </a:r>
            <a:endParaRPr lang="en-US" sz="1300" dirty="0"/>
          </a:p>
        </p:txBody>
      </p:sp>
      <p:sp>
        <p:nvSpPr>
          <p:cNvPr id="16" name="Shape 14"/>
          <p:cNvSpPr/>
          <p:nvPr/>
        </p:nvSpPr>
        <p:spPr>
          <a:xfrm>
            <a:off x="548640" y="5760720"/>
            <a:ext cx="11091672" cy="457200"/>
          </a:xfrm>
          <a:prstGeom prst="roundRect">
            <a:avLst>
              <a:gd name="adj" fmla="val 16000"/>
            </a:avLst>
          </a:prstGeom>
          <a:solidFill>
            <a:srgbClr val="FBF0D8"/>
          </a:solidFill>
          <a:ln/>
          <a:effectLst>
            <a:outerShdw sx="100000" sy="100000" kx="0" ky="0" algn="bl" rotWithShape="0" blurRad="76200" dist="25400" dir="5400000">
              <a:srgbClr val="9AAAB0">
                <a:alpha val="28000"/>
              </a:srgbClr>
            </a:outerShdw>
          </a:effectLst>
        </p:spPr>
      </p:sp>
      <p:sp>
        <p:nvSpPr>
          <p:cNvPr id="17" name="Text 15"/>
          <p:cNvSpPr txBox="1"/>
          <p:nvPr/>
        </p:nvSpPr>
        <p:spPr>
          <a:xfrm>
            <a:off x="777240" y="5779008"/>
            <a:ext cx="10698480" cy="420624"/>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Common error:  </a:t>
            </a:r>
            <a:pPr indent="0" marL="0">
              <a:buNone/>
            </a:pPr>
            <a:r>
              <a:rPr lang="en-US" sz="1250" dirty="0">
                <a:solidFill>
                  <a:srgbClr val="1F2A33"/>
                </a:solidFill>
                <a:latin typeface="Calibri" pitchFamily="34" charset="0"/>
                <a:ea typeface="Calibri" pitchFamily="34" charset="-122"/>
                <a:cs typeface="Calibri" pitchFamily="34" charset="-120"/>
              </a:rPr>
              <a:t>choosing two variables that measure the same thing (e.g. ‘cheap’ and ‘low price’). Pick two DIFFERENT dimensions, such as price AND quality.</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INTERPRETING A MAP</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Spotting gaps &amp; competitors: the airline market</a:t>
            </a:r>
            <a:endParaRPr lang="en-US" sz="2700" dirty="0"/>
          </a:p>
        </p:txBody>
      </p:sp>
      <p:sp>
        <p:nvSpPr>
          <p:cNvPr id="4" name="Shape 2"/>
          <p:cNvSpPr/>
          <p:nvPr/>
        </p:nvSpPr>
        <p:spPr>
          <a:xfrm>
            <a:off x="1920240" y="1828800"/>
            <a:ext cx="3383280" cy="3749040"/>
          </a:xfrm>
          <a:prstGeom prst="rect">
            <a:avLst/>
          </a:prstGeom>
          <a:solidFill>
            <a:srgbClr val="FCFEFE"/>
          </a:solidFill>
          <a:ln w="12700">
            <a:solidFill>
              <a:srgbClr val="D7E1E4"/>
            </a:solidFill>
            <a:prstDash val="solid"/>
          </a:ln>
        </p:spPr>
      </p:sp>
      <p:sp>
        <p:nvSpPr>
          <p:cNvPr id="5" name="Shape 3"/>
          <p:cNvSpPr/>
          <p:nvPr/>
        </p:nvSpPr>
        <p:spPr>
          <a:xfrm>
            <a:off x="3611880" y="1828800"/>
            <a:ext cx="0" cy="3749040"/>
          </a:xfrm>
          <a:prstGeom prst="line">
            <a:avLst/>
          </a:prstGeom>
          <a:noFill/>
          <a:ln w="22225">
            <a:solidFill>
              <a:srgbClr val="1F2A33"/>
            </a:solidFill>
            <a:prstDash val="solid"/>
          </a:ln>
        </p:spPr>
      </p:sp>
      <p:sp>
        <p:nvSpPr>
          <p:cNvPr id="6" name="Shape 4"/>
          <p:cNvSpPr/>
          <p:nvPr/>
        </p:nvSpPr>
        <p:spPr>
          <a:xfrm>
            <a:off x="1920240" y="3703320"/>
            <a:ext cx="3383280" cy="0"/>
          </a:xfrm>
          <a:prstGeom prst="line">
            <a:avLst/>
          </a:prstGeom>
          <a:noFill/>
          <a:ln w="22225">
            <a:solidFill>
              <a:srgbClr val="1F2A33"/>
            </a:solidFill>
            <a:prstDash val="solid"/>
          </a:ln>
        </p:spPr>
      </p:sp>
      <p:sp>
        <p:nvSpPr>
          <p:cNvPr id="7" name="Text 5"/>
          <p:cNvSpPr txBox="1"/>
          <p:nvPr/>
        </p:nvSpPr>
        <p:spPr>
          <a:xfrm>
            <a:off x="2148840" y="1527048"/>
            <a:ext cx="2926080" cy="274320"/>
          </a:xfrm>
          <a:prstGeom prst="rect">
            <a:avLst/>
          </a:prstGeom>
          <a:noFill/>
          <a:ln/>
        </p:spPr>
        <p:txBody>
          <a:bodyPr wrap="square" lIns="0" tIns="0" rIns="0" bIns="0" rtlCol="0" anchor="ctr"/>
          <a:lstStyle/>
          <a:p>
            <a:pPr algn="ctr" indent="0" marL="0">
              <a:buNone/>
            </a:pPr>
            <a:r>
              <a:rPr lang="en-US" sz="1100" b="1" dirty="0">
                <a:solidFill>
                  <a:srgbClr val="5B6B73"/>
                </a:solidFill>
                <a:latin typeface="Calibri" pitchFamily="34" charset="0"/>
                <a:ea typeface="Calibri" pitchFamily="34" charset="-122"/>
                <a:cs typeface="Calibri" pitchFamily="34" charset="-120"/>
              </a:rPr>
              <a:t>FULL SERVICE</a:t>
            </a:r>
            <a:endParaRPr lang="en-US" sz="1100" dirty="0"/>
          </a:p>
        </p:txBody>
      </p:sp>
      <p:sp>
        <p:nvSpPr>
          <p:cNvPr id="8" name="Text 6"/>
          <p:cNvSpPr txBox="1"/>
          <p:nvPr/>
        </p:nvSpPr>
        <p:spPr>
          <a:xfrm>
            <a:off x="2148840" y="5614416"/>
            <a:ext cx="2926080" cy="274320"/>
          </a:xfrm>
          <a:prstGeom prst="rect">
            <a:avLst/>
          </a:prstGeom>
          <a:noFill/>
          <a:ln/>
        </p:spPr>
        <p:txBody>
          <a:bodyPr wrap="square" lIns="0" tIns="0" rIns="0" bIns="0" rtlCol="0" anchor="ctr"/>
          <a:lstStyle/>
          <a:p>
            <a:pPr algn="ctr" indent="0" marL="0">
              <a:buNone/>
            </a:pPr>
            <a:r>
              <a:rPr lang="en-US" sz="1100" b="1" dirty="0">
                <a:solidFill>
                  <a:srgbClr val="5B6B73"/>
                </a:solidFill>
                <a:latin typeface="Calibri" pitchFamily="34" charset="0"/>
                <a:ea typeface="Calibri" pitchFamily="34" charset="-122"/>
                <a:cs typeface="Calibri" pitchFamily="34" charset="-120"/>
              </a:rPr>
              <a:t>BASIC SERVICE</a:t>
            </a:r>
            <a:endParaRPr lang="en-US" sz="1100" dirty="0"/>
          </a:p>
        </p:txBody>
      </p:sp>
      <p:sp>
        <p:nvSpPr>
          <p:cNvPr id="9" name="Text 7"/>
          <p:cNvSpPr txBox="1"/>
          <p:nvPr/>
        </p:nvSpPr>
        <p:spPr>
          <a:xfrm>
            <a:off x="502920" y="3566160"/>
            <a:ext cx="1280160" cy="274320"/>
          </a:xfrm>
          <a:prstGeom prst="rect">
            <a:avLst/>
          </a:prstGeom>
          <a:noFill/>
          <a:ln/>
        </p:spPr>
        <p:txBody>
          <a:bodyPr wrap="square" lIns="0" tIns="0" rIns="0" bIns="0" rtlCol="0" anchor="ctr"/>
          <a:lstStyle/>
          <a:p>
            <a:pPr algn="r" indent="0" marL="0">
              <a:buNone/>
            </a:pPr>
            <a:r>
              <a:rPr lang="en-US" sz="1100" b="1" dirty="0">
                <a:solidFill>
                  <a:srgbClr val="5B6B73"/>
                </a:solidFill>
                <a:latin typeface="Calibri" pitchFamily="34" charset="0"/>
                <a:ea typeface="Calibri" pitchFamily="34" charset="-122"/>
                <a:cs typeface="Calibri" pitchFamily="34" charset="-120"/>
              </a:rPr>
              <a:t>LOW PRICE</a:t>
            </a:r>
            <a:endParaRPr lang="en-US" sz="1100" dirty="0"/>
          </a:p>
        </p:txBody>
      </p:sp>
      <p:sp>
        <p:nvSpPr>
          <p:cNvPr id="10" name="Text 8"/>
          <p:cNvSpPr txBox="1"/>
          <p:nvPr/>
        </p:nvSpPr>
        <p:spPr>
          <a:xfrm>
            <a:off x="5413248" y="3566160"/>
            <a:ext cx="1325880" cy="274320"/>
          </a:xfrm>
          <a:prstGeom prst="rect">
            <a:avLst/>
          </a:prstGeom>
          <a:noFill/>
          <a:ln/>
        </p:spPr>
        <p:txBody>
          <a:bodyPr wrap="square" lIns="0" tIns="0" rIns="0" bIns="0" rtlCol="0" anchor="ctr"/>
          <a:lstStyle/>
          <a:p>
            <a:pPr algn="l" indent="0" marL="0">
              <a:buNone/>
            </a:pPr>
            <a:r>
              <a:rPr lang="en-US" sz="1100" b="1" dirty="0">
                <a:solidFill>
                  <a:srgbClr val="5B6B73"/>
                </a:solidFill>
                <a:latin typeface="Calibri" pitchFamily="34" charset="0"/>
                <a:ea typeface="Calibri" pitchFamily="34" charset="-122"/>
                <a:cs typeface="Calibri" pitchFamily="34" charset="-120"/>
              </a:rPr>
              <a:t>HIGH PRICE</a:t>
            </a:r>
            <a:endParaRPr lang="en-US" sz="1100" dirty="0"/>
          </a:p>
        </p:txBody>
      </p:sp>
      <p:sp>
        <p:nvSpPr>
          <p:cNvPr id="11" name="Shape 9"/>
          <p:cNvSpPr/>
          <p:nvPr/>
        </p:nvSpPr>
        <p:spPr>
          <a:xfrm>
            <a:off x="2311603" y="5045659"/>
            <a:ext cx="164592" cy="164592"/>
          </a:xfrm>
          <a:prstGeom prst="ellipse">
            <a:avLst/>
          </a:prstGeom>
          <a:solidFill>
            <a:srgbClr val="0E7C86"/>
          </a:solidFill>
          <a:ln w="19050">
            <a:solidFill>
              <a:srgbClr val="FFFFFF"/>
            </a:solidFill>
            <a:prstDash val="solid"/>
          </a:ln>
        </p:spPr>
      </p:sp>
      <p:sp>
        <p:nvSpPr>
          <p:cNvPr id="12" name="Text 10"/>
          <p:cNvSpPr txBox="1"/>
          <p:nvPr/>
        </p:nvSpPr>
        <p:spPr>
          <a:xfrm>
            <a:off x="2531059" y="4981651"/>
            <a:ext cx="1508760" cy="274320"/>
          </a:xfrm>
          <a:prstGeom prst="rect">
            <a:avLst/>
          </a:prstGeom>
          <a:noFill/>
          <a:ln/>
        </p:spPr>
        <p:txBody>
          <a:bodyPr wrap="square" lIns="0" tIns="0" rIns="0" bIns="0" rtlCol="0" anchor="ctr"/>
          <a:lstStyle/>
          <a:p>
            <a:pPr algn="l" indent="0" marL="0">
              <a:buNone/>
            </a:pPr>
            <a:r>
              <a:rPr lang="en-US" sz="1150" b="1" dirty="0">
                <a:solidFill>
                  <a:srgbClr val="0E7C86"/>
                </a:solidFill>
                <a:latin typeface="Calibri" pitchFamily="34" charset="0"/>
                <a:ea typeface="Calibri" pitchFamily="34" charset="-122"/>
                <a:cs typeface="Calibri" pitchFamily="34" charset="-120"/>
              </a:rPr>
              <a:t>Air Arabia</a:t>
            </a:r>
            <a:endParaRPr lang="en-US" sz="1150" dirty="0"/>
          </a:p>
        </p:txBody>
      </p:sp>
      <p:sp>
        <p:nvSpPr>
          <p:cNvPr id="13" name="Shape 11"/>
          <p:cNvSpPr/>
          <p:nvPr/>
        </p:nvSpPr>
        <p:spPr>
          <a:xfrm>
            <a:off x="2852928" y="4520794"/>
            <a:ext cx="164592" cy="164592"/>
          </a:xfrm>
          <a:prstGeom prst="ellipse">
            <a:avLst/>
          </a:prstGeom>
          <a:solidFill>
            <a:srgbClr val="0E7C86"/>
          </a:solidFill>
          <a:ln w="19050">
            <a:solidFill>
              <a:srgbClr val="FFFFFF"/>
            </a:solidFill>
            <a:prstDash val="solid"/>
          </a:ln>
        </p:spPr>
      </p:sp>
      <p:sp>
        <p:nvSpPr>
          <p:cNvPr id="14" name="Text 12"/>
          <p:cNvSpPr txBox="1"/>
          <p:nvPr/>
        </p:nvSpPr>
        <p:spPr>
          <a:xfrm>
            <a:off x="3072384" y="4456786"/>
            <a:ext cx="1508760" cy="274320"/>
          </a:xfrm>
          <a:prstGeom prst="rect">
            <a:avLst/>
          </a:prstGeom>
          <a:noFill/>
          <a:ln/>
        </p:spPr>
        <p:txBody>
          <a:bodyPr wrap="square" lIns="0" tIns="0" rIns="0" bIns="0" rtlCol="0" anchor="ctr"/>
          <a:lstStyle/>
          <a:p>
            <a:pPr algn="l" indent="0" marL="0">
              <a:buNone/>
            </a:pPr>
            <a:r>
              <a:rPr lang="en-US" sz="1150" b="1" dirty="0">
                <a:solidFill>
                  <a:srgbClr val="0E7C86"/>
                </a:solidFill>
                <a:latin typeface="Calibri" pitchFamily="34" charset="0"/>
                <a:ea typeface="Calibri" pitchFamily="34" charset="-122"/>
                <a:cs typeface="Calibri" pitchFamily="34" charset="-120"/>
              </a:rPr>
              <a:t>flydubai</a:t>
            </a:r>
            <a:endParaRPr lang="en-US" sz="1150" dirty="0"/>
          </a:p>
        </p:txBody>
      </p:sp>
      <p:sp>
        <p:nvSpPr>
          <p:cNvPr id="15" name="Shape 13"/>
          <p:cNvSpPr/>
          <p:nvPr/>
        </p:nvSpPr>
        <p:spPr>
          <a:xfrm>
            <a:off x="4612234" y="2271370"/>
            <a:ext cx="164592" cy="164592"/>
          </a:xfrm>
          <a:prstGeom prst="ellipse">
            <a:avLst/>
          </a:prstGeom>
          <a:solidFill>
            <a:srgbClr val="C14B37"/>
          </a:solidFill>
          <a:ln w="19050">
            <a:solidFill>
              <a:srgbClr val="FFFFFF"/>
            </a:solidFill>
            <a:prstDash val="solid"/>
          </a:ln>
        </p:spPr>
      </p:sp>
      <p:sp>
        <p:nvSpPr>
          <p:cNvPr id="16" name="Text 14"/>
          <p:cNvSpPr txBox="1"/>
          <p:nvPr/>
        </p:nvSpPr>
        <p:spPr>
          <a:xfrm>
            <a:off x="3094330" y="2207362"/>
            <a:ext cx="1508760" cy="274320"/>
          </a:xfrm>
          <a:prstGeom prst="rect">
            <a:avLst/>
          </a:prstGeom>
          <a:noFill/>
          <a:ln/>
        </p:spPr>
        <p:txBody>
          <a:bodyPr wrap="square" lIns="0" tIns="0" rIns="0" bIns="0" rtlCol="0" anchor="ctr"/>
          <a:lstStyle/>
          <a:p>
            <a:pPr algn="r" indent="0" marL="0">
              <a:buNone/>
            </a:pPr>
            <a:r>
              <a:rPr lang="en-US" sz="1150" b="1" dirty="0">
                <a:solidFill>
                  <a:srgbClr val="C14B37"/>
                </a:solidFill>
                <a:latin typeface="Calibri" pitchFamily="34" charset="0"/>
                <a:ea typeface="Calibri" pitchFamily="34" charset="-122"/>
                <a:cs typeface="Calibri" pitchFamily="34" charset="-120"/>
              </a:rPr>
              <a:t>Emirates</a:t>
            </a:r>
            <a:endParaRPr lang="en-US" sz="1150" dirty="0"/>
          </a:p>
        </p:txBody>
      </p:sp>
      <p:sp>
        <p:nvSpPr>
          <p:cNvPr id="17" name="Shape 15"/>
          <p:cNvSpPr/>
          <p:nvPr/>
        </p:nvSpPr>
        <p:spPr>
          <a:xfrm>
            <a:off x="4206240" y="2721254"/>
            <a:ext cx="164592" cy="164592"/>
          </a:xfrm>
          <a:prstGeom prst="ellipse">
            <a:avLst/>
          </a:prstGeom>
          <a:solidFill>
            <a:srgbClr val="C14B37"/>
          </a:solidFill>
          <a:ln w="19050">
            <a:solidFill>
              <a:srgbClr val="FFFFFF"/>
            </a:solidFill>
            <a:prstDash val="solid"/>
          </a:ln>
        </p:spPr>
      </p:sp>
      <p:sp>
        <p:nvSpPr>
          <p:cNvPr id="18" name="Text 16"/>
          <p:cNvSpPr txBox="1"/>
          <p:nvPr/>
        </p:nvSpPr>
        <p:spPr>
          <a:xfrm>
            <a:off x="2688336" y="2657246"/>
            <a:ext cx="1508760" cy="274320"/>
          </a:xfrm>
          <a:prstGeom prst="rect">
            <a:avLst/>
          </a:prstGeom>
          <a:noFill/>
          <a:ln/>
        </p:spPr>
        <p:txBody>
          <a:bodyPr wrap="square" lIns="0" tIns="0" rIns="0" bIns="0" rtlCol="0" anchor="ctr"/>
          <a:lstStyle/>
          <a:p>
            <a:pPr algn="r" indent="0" marL="0">
              <a:buNone/>
            </a:pPr>
            <a:r>
              <a:rPr lang="en-US" sz="1150" b="1" dirty="0">
                <a:solidFill>
                  <a:srgbClr val="C14B37"/>
                </a:solidFill>
                <a:latin typeface="Calibri" pitchFamily="34" charset="0"/>
                <a:ea typeface="Calibri" pitchFamily="34" charset="-122"/>
                <a:cs typeface="Calibri" pitchFamily="34" charset="-120"/>
              </a:rPr>
              <a:t>Etihad</a:t>
            </a:r>
            <a:endParaRPr lang="en-US" sz="1150" dirty="0"/>
          </a:p>
        </p:txBody>
      </p:sp>
      <p:sp>
        <p:nvSpPr>
          <p:cNvPr id="19" name="Shape 17"/>
          <p:cNvSpPr/>
          <p:nvPr/>
        </p:nvSpPr>
        <p:spPr>
          <a:xfrm>
            <a:off x="2207362" y="2267712"/>
            <a:ext cx="914400" cy="621792"/>
          </a:xfrm>
          <a:prstGeom prst="ellipse">
            <a:avLst/>
          </a:prstGeom>
          <a:ln w="28575">
            <a:solidFill>
              <a:srgbClr val="E0940F"/>
            </a:solidFill>
            <a:prstDash val="dash"/>
          </a:ln>
        </p:spPr>
      </p:sp>
      <p:sp>
        <p:nvSpPr>
          <p:cNvPr id="20" name="Text 18"/>
          <p:cNvSpPr txBox="1"/>
          <p:nvPr/>
        </p:nvSpPr>
        <p:spPr>
          <a:xfrm>
            <a:off x="1841602" y="2441448"/>
            <a:ext cx="1645920" cy="274320"/>
          </a:xfrm>
          <a:prstGeom prst="rect">
            <a:avLst/>
          </a:prstGeom>
          <a:noFill/>
          <a:ln/>
        </p:spPr>
        <p:txBody>
          <a:bodyPr wrap="square" lIns="0" tIns="0" rIns="0" bIns="0" rtlCol="0" anchor="ctr"/>
          <a:lstStyle/>
          <a:p>
            <a:pPr algn="ctr" indent="0" marL="0">
              <a:buNone/>
            </a:pPr>
            <a:r>
              <a:rPr lang="en-US" sz="1100" b="1" i="1" dirty="0">
                <a:solidFill>
                  <a:srgbClr val="8A5A06"/>
                </a:solidFill>
                <a:latin typeface="Calibri" pitchFamily="34" charset="0"/>
                <a:ea typeface="Calibri" pitchFamily="34" charset="-122"/>
                <a:cs typeface="Calibri" pitchFamily="34" charset="-120"/>
              </a:rPr>
              <a:t>GAP?</a:t>
            </a:r>
            <a:endParaRPr lang="en-US" sz="1100" dirty="0"/>
          </a:p>
        </p:txBody>
      </p:sp>
      <p:sp>
        <p:nvSpPr>
          <p:cNvPr id="21" name="Shape 19"/>
          <p:cNvSpPr/>
          <p:nvPr/>
        </p:nvSpPr>
        <p:spPr>
          <a:xfrm>
            <a:off x="6766560" y="1828800"/>
            <a:ext cx="4873752" cy="3749040"/>
          </a:xfrm>
          <a:prstGeom prst="roundRect">
            <a:avLst>
              <a:gd name="adj" fmla="val 1951"/>
            </a:avLst>
          </a:prstGeom>
          <a:solidFill>
            <a:srgbClr val="EAF3F4"/>
          </a:solidFill>
          <a:ln/>
          <a:effectLst>
            <a:outerShdw sx="100000" sy="100000" kx="0" ky="0" algn="bl" rotWithShape="0" blurRad="76200" dist="25400" dir="5400000">
              <a:srgbClr val="9AAAB0">
                <a:alpha val="28000"/>
              </a:srgbClr>
            </a:outerShdw>
          </a:effectLst>
        </p:spPr>
      </p:sp>
      <p:sp>
        <p:nvSpPr>
          <p:cNvPr id="22" name="Text 20"/>
          <p:cNvSpPr txBox="1"/>
          <p:nvPr/>
        </p:nvSpPr>
        <p:spPr>
          <a:xfrm>
            <a:off x="6976872" y="1947672"/>
            <a:ext cx="448056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Model reasoning (how to read it)</a:t>
            </a:r>
            <a:endParaRPr lang="en-US" sz="1400" dirty="0"/>
          </a:p>
        </p:txBody>
      </p:sp>
      <p:sp>
        <p:nvSpPr>
          <p:cNvPr id="23" name="Text 21"/>
          <p:cNvSpPr txBox="1"/>
          <p:nvPr/>
        </p:nvSpPr>
        <p:spPr>
          <a:xfrm>
            <a:off x="6976872" y="2331720"/>
            <a:ext cx="4480560" cy="32004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Observation: Emirates &amp; Etihad sit high-price / full-service — close rivals.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Meaning: they compete for the same premium customers, so rivalry is intense there.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top-left space (low price + full service) looks like a gap…</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…but it may be empty because full service at a low price is hard to deliver profitably.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Decision: Emirates may differentiate through superior service or add value, rather than chase the gap.</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MARKET MAPPING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Benefits &amp; drawbacks of market mapping</a:t>
            </a:r>
            <a:endParaRPr lang="en-US" sz="2700" dirty="0"/>
          </a:p>
        </p:txBody>
      </p:sp>
      <p:sp>
        <p:nvSpPr>
          <p:cNvPr id="4" name="Shape 2"/>
          <p:cNvSpPr/>
          <p:nvPr/>
        </p:nvSpPr>
        <p:spPr>
          <a:xfrm>
            <a:off x="548640" y="1463040"/>
            <a:ext cx="5440680" cy="4663440"/>
          </a:xfrm>
          <a:prstGeom prst="roundRect">
            <a:avLst>
              <a:gd name="adj" fmla="val 1569"/>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2286000" cy="310896"/>
          </a:xfrm>
          <a:prstGeom prst="roundRect">
            <a:avLst>
              <a:gd name="adj" fmla="val 50000"/>
            </a:avLst>
          </a:prstGeom>
          <a:solidFill>
            <a:srgbClr val="2F8A5B"/>
          </a:solidFill>
          <a:ln/>
        </p:spPr>
      </p:sp>
      <p:sp>
        <p:nvSpPr>
          <p:cNvPr id="6" name="Text 4"/>
          <p:cNvSpPr txBox="1"/>
          <p:nvPr/>
        </p:nvSpPr>
        <p:spPr>
          <a:xfrm>
            <a:off x="777240" y="1627632"/>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BENEFITS</a:t>
            </a:r>
            <a:endParaRPr lang="en-US" sz="1050" dirty="0"/>
          </a:p>
        </p:txBody>
      </p:sp>
      <p:sp>
        <p:nvSpPr>
          <p:cNvPr id="7" name="Text 5"/>
          <p:cNvSpPr txBox="1"/>
          <p:nvPr/>
        </p:nvSpPr>
        <p:spPr>
          <a:xfrm>
            <a:off x="777240" y="2103120"/>
            <a:ext cx="4983480" cy="39319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Visually shows how customers perceive competing brands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Identifies possible GAPS in the market for new products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Identifies close competitors and how intense rivalry is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Supports differentiation &amp; positioning decisions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Informs product, price and promotion choices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Can be repeated to track changes in perception over time</a:t>
            </a:r>
            <a:endParaRPr lang="en-US" sz="1300" dirty="0"/>
          </a:p>
        </p:txBody>
      </p:sp>
      <p:sp>
        <p:nvSpPr>
          <p:cNvPr id="8" name="Shape 6"/>
          <p:cNvSpPr/>
          <p:nvPr/>
        </p:nvSpPr>
        <p:spPr>
          <a:xfrm>
            <a:off x="6199632" y="1463040"/>
            <a:ext cx="5440680" cy="4663440"/>
          </a:xfrm>
          <a:prstGeom prst="roundRect">
            <a:avLst>
              <a:gd name="adj" fmla="val 1569"/>
            </a:avLst>
          </a:prstGeom>
          <a:solidFill>
            <a:srgbClr val="F9EAE6"/>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627632"/>
            <a:ext cx="2651760" cy="310896"/>
          </a:xfrm>
          <a:prstGeom prst="roundRect">
            <a:avLst>
              <a:gd name="adj" fmla="val 50000"/>
            </a:avLst>
          </a:prstGeom>
          <a:solidFill>
            <a:srgbClr val="C14B37"/>
          </a:solidFill>
          <a:ln/>
        </p:spPr>
      </p:sp>
      <p:sp>
        <p:nvSpPr>
          <p:cNvPr id="10" name="Text 8"/>
          <p:cNvSpPr txBox="1"/>
          <p:nvPr/>
        </p:nvSpPr>
        <p:spPr>
          <a:xfrm>
            <a:off x="6428232" y="1627632"/>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DRAWBACKS</a:t>
            </a:r>
            <a:endParaRPr lang="en-US" sz="1050" dirty="0"/>
          </a:p>
        </p:txBody>
      </p:sp>
      <p:sp>
        <p:nvSpPr>
          <p:cNvPr id="11" name="Text 9"/>
          <p:cNvSpPr txBox="1"/>
          <p:nvPr/>
        </p:nvSpPr>
        <p:spPr>
          <a:xfrm>
            <a:off x="6428232" y="2103120"/>
            <a:ext cx="4983480" cy="39319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Positions are SUBJECTIVE — based on perception, not hard data</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An apparent gap may exist because there is no real demand</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Only two variables — oversimplifies a complex market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Perceptions differ between segments and change over time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Shows no market size, costs, profit or commercial viability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Only as reliable as the research behind it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Exam practice: market mapping (Emirates)</a:t>
            </a:r>
            <a:endParaRPr lang="en-US" sz="27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Assess the extent to which market mapping may have been useful to Emirates in growing its business.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[10]</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weigh how USEFUL mapping is to Emirates against its limits,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airline context: premium/full-service position, low-cost &amp; premium rivals, gaps by route/segment.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Level 4 (8–10): balanced, well-applied, competing arguments, a clear judgement.</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(10-mark template)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 (useful): mapping shows Emirates its premium position &amp; close rivals (Etihad) → helps it differentiate on service → protect premium pricing &amp; grow loyal customers.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 (limit): the map is subjective, shows only 2 variables, and reveals no demand/cost — an apparent gap may be unprofitable.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useful for seeing position &amp; spotting gaps, but not sufficient alone — Emirates must also use research &amp; costing; depends on the quality of the data.</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Segmentation &amp; differentiation</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market segmentation &amp; its bases  ·  competitive advantage  ·  product differentiation  ·  adding value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SEGMENTATION</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Market segmentation</a:t>
            </a:r>
            <a:endParaRPr lang="en-US" sz="27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Definition:  </a:t>
            </a:r>
            <a:pPr indent="0" marL="0">
              <a:buNone/>
            </a:pPr>
            <a:r>
              <a:rPr lang="en-US" sz="1300" dirty="0">
                <a:solidFill>
                  <a:srgbClr val="1F2A33"/>
                </a:solidFill>
                <a:latin typeface="Calibri" pitchFamily="34" charset="0"/>
                <a:ea typeface="Calibri" pitchFamily="34" charset="-122"/>
                <a:cs typeface="Calibri" pitchFamily="34" charset="-120"/>
              </a:rPr>
              <a:t>dividing a market into distinct groups of customers (segments) with similar needs or characteristics, so the business can target each more precisely.</a:t>
            </a:r>
            <a:endParaRPr lang="en-US" sz="1300" dirty="0"/>
          </a:p>
        </p:txBody>
      </p:sp>
      <p:sp>
        <p:nvSpPr>
          <p:cNvPr id="6" name="Shape 4"/>
          <p:cNvSpPr/>
          <p:nvPr/>
        </p:nvSpPr>
        <p:spPr>
          <a:xfrm>
            <a:off x="548640" y="2240280"/>
            <a:ext cx="5440680" cy="1234440"/>
          </a:xfrm>
          <a:prstGeom prst="roundRect">
            <a:avLst>
              <a:gd name="adj" fmla="val 592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240280"/>
            <a:ext cx="91440" cy="1234440"/>
          </a:xfrm>
          <a:prstGeom prst="roundRect">
            <a:avLst/>
          </a:prstGeom>
          <a:solidFill>
            <a:srgbClr val="0E7C86"/>
          </a:solidFill>
          <a:ln/>
        </p:spPr>
      </p:sp>
      <p:sp>
        <p:nvSpPr>
          <p:cNvPr id="8" name="Text 6"/>
          <p:cNvSpPr txBox="1"/>
          <p:nvPr/>
        </p:nvSpPr>
        <p:spPr>
          <a:xfrm>
            <a:off x="804672" y="2386584"/>
            <a:ext cx="4983480" cy="320040"/>
          </a:xfrm>
          <a:prstGeom prst="rect">
            <a:avLst/>
          </a:prstGeom>
          <a:noFill/>
          <a:ln/>
        </p:spPr>
        <p:txBody>
          <a:bodyPr wrap="square" lIns="0" tIns="0" rIns="0" bIns="0" rtlCol="0" anchor="ctr"/>
          <a:lstStyle/>
          <a:p>
            <a:pPr indent="0" marL="0">
              <a:buNone/>
            </a:pPr>
            <a:r>
              <a:rPr lang="en-US" sz="1450" b="1" dirty="0">
                <a:solidFill>
                  <a:srgbClr val="0E7C86"/>
                </a:solidFill>
                <a:latin typeface="Calibri" pitchFamily="34" charset="0"/>
                <a:ea typeface="Calibri" pitchFamily="34" charset="-122"/>
                <a:cs typeface="Calibri" pitchFamily="34" charset="-120"/>
              </a:rPr>
              <a:t>Demographic</a:t>
            </a:r>
            <a:endParaRPr lang="en-US" sz="1450" dirty="0"/>
          </a:p>
        </p:txBody>
      </p:sp>
      <p:sp>
        <p:nvSpPr>
          <p:cNvPr id="9" name="Text 7"/>
          <p:cNvSpPr txBox="1"/>
          <p:nvPr/>
        </p:nvSpPr>
        <p:spPr>
          <a:xfrm>
            <a:off x="804672" y="2743200"/>
            <a:ext cx="4983480" cy="36576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Age, gender, income, family, occupation</a:t>
            </a:r>
            <a:endParaRPr lang="en-US" sz="1200" dirty="0"/>
          </a:p>
        </p:txBody>
      </p:sp>
      <p:sp>
        <p:nvSpPr>
          <p:cNvPr id="10" name="Text 8"/>
          <p:cNvSpPr txBox="1"/>
          <p:nvPr/>
        </p:nvSpPr>
        <p:spPr>
          <a:xfrm>
            <a:off x="804672" y="3090672"/>
            <a:ext cx="4983480" cy="3200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Luxury cars → higher-income buyers</a:t>
            </a:r>
            <a:endParaRPr lang="en-US" sz="1150" dirty="0"/>
          </a:p>
        </p:txBody>
      </p:sp>
      <p:sp>
        <p:nvSpPr>
          <p:cNvPr id="11" name="Shape 9"/>
          <p:cNvSpPr/>
          <p:nvPr/>
        </p:nvSpPr>
        <p:spPr>
          <a:xfrm>
            <a:off x="6199632" y="2240280"/>
            <a:ext cx="5440680" cy="1234440"/>
          </a:xfrm>
          <a:prstGeom prst="roundRect">
            <a:avLst>
              <a:gd name="adj" fmla="val 592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6199632" y="2240280"/>
            <a:ext cx="91440" cy="1234440"/>
          </a:xfrm>
          <a:prstGeom prst="roundRect">
            <a:avLst/>
          </a:prstGeom>
          <a:solidFill>
            <a:srgbClr val="E0940F"/>
          </a:solidFill>
          <a:ln/>
        </p:spPr>
      </p:sp>
      <p:sp>
        <p:nvSpPr>
          <p:cNvPr id="13" name="Text 11"/>
          <p:cNvSpPr txBox="1"/>
          <p:nvPr/>
        </p:nvSpPr>
        <p:spPr>
          <a:xfrm>
            <a:off x="6455664" y="2386584"/>
            <a:ext cx="4983480" cy="320040"/>
          </a:xfrm>
          <a:prstGeom prst="rect">
            <a:avLst/>
          </a:prstGeom>
          <a:noFill/>
          <a:ln/>
        </p:spPr>
        <p:txBody>
          <a:bodyPr wrap="square" lIns="0" tIns="0" rIns="0" bIns="0" rtlCol="0" anchor="ctr"/>
          <a:lstStyle/>
          <a:p>
            <a:pPr indent="0" marL="0">
              <a:buNone/>
            </a:pPr>
            <a:r>
              <a:rPr lang="en-US" sz="1450" b="1" dirty="0">
                <a:solidFill>
                  <a:srgbClr val="E0940F"/>
                </a:solidFill>
                <a:latin typeface="Calibri" pitchFamily="34" charset="0"/>
                <a:ea typeface="Calibri" pitchFamily="34" charset="-122"/>
                <a:cs typeface="Calibri" pitchFamily="34" charset="-120"/>
              </a:rPr>
              <a:t>Geographic</a:t>
            </a:r>
            <a:endParaRPr lang="en-US" sz="1450" dirty="0"/>
          </a:p>
        </p:txBody>
      </p:sp>
      <p:sp>
        <p:nvSpPr>
          <p:cNvPr id="14" name="Text 12"/>
          <p:cNvSpPr txBox="1"/>
          <p:nvPr/>
        </p:nvSpPr>
        <p:spPr>
          <a:xfrm>
            <a:off x="6455664" y="2743200"/>
            <a:ext cx="4983480" cy="36576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Region, country, climate, urban/rural</a:t>
            </a:r>
            <a:endParaRPr lang="en-US" sz="1200" dirty="0"/>
          </a:p>
        </p:txBody>
      </p:sp>
      <p:sp>
        <p:nvSpPr>
          <p:cNvPr id="15" name="Text 13"/>
          <p:cNvSpPr txBox="1"/>
          <p:nvPr/>
        </p:nvSpPr>
        <p:spPr>
          <a:xfrm>
            <a:off x="6455664" y="3090672"/>
            <a:ext cx="4983480" cy="3200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Air-con marketed in hot climates</a:t>
            </a:r>
            <a:endParaRPr lang="en-US" sz="1150" dirty="0"/>
          </a:p>
        </p:txBody>
      </p:sp>
      <p:sp>
        <p:nvSpPr>
          <p:cNvPr id="16" name="Shape 14"/>
          <p:cNvSpPr/>
          <p:nvPr/>
        </p:nvSpPr>
        <p:spPr>
          <a:xfrm>
            <a:off x="548640" y="3602736"/>
            <a:ext cx="5440680" cy="1234440"/>
          </a:xfrm>
          <a:prstGeom prst="roundRect">
            <a:avLst>
              <a:gd name="adj" fmla="val 592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548640" y="3602736"/>
            <a:ext cx="91440" cy="1234440"/>
          </a:xfrm>
          <a:prstGeom prst="roundRect">
            <a:avLst/>
          </a:prstGeom>
          <a:solidFill>
            <a:srgbClr val="2F8A5B"/>
          </a:solidFill>
          <a:ln/>
        </p:spPr>
      </p:sp>
      <p:sp>
        <p:nvSpPr>
          <p:cNvPr id="18" name="Text 16"/>
          <p:cNvSpPr txBox="1"/>
          <p:nvPr/>
        </p:nvSpPr>
        <p:spPr>
          <a:xfrm>
            <a:off x="804672" y="3749040"/>
            <a:ext cx="4983480" cy="320040"/>
          </a:xfrm>
          <a:prstGeom prst="rect">
            <a:avLst/>
          </a:prstGeom>
          <a:noFill/>
          <a:ln/>
        </p:spPr>
        <p:txBody>
          <a:bodyPr wrap="square" lIns="0" tIns="0" rIns="0" bIns="0" rtlCol="0" anchor="ctr"/>
          <a:lstStyle/>
          <a:p>
            <a:pPr indent="0" marL="0">
              <a:buNone/>
            </a:pPr>
            <a:r>
              <a:rPr lang="en-US" sz="1450" b="1" dirty="0">
                <a:solidFill>
                  <a:srgbClr val="2F8A5B"/>
                </a:solidFill>
                <a:latin typeface="Calibri" pitchFamily="34" charset="0"/>
                <a:ea typeface="Calibri" pitchFamily="34" charset="-122"/>
                <a:cs typeface="Calibri" pitchFamily="34" charset="-120"/>
              </a:rPr>
              <a:t>Psychographic</a:t>
            </a:r>
            <a:endParaRPr lang="en-US" sz="1450" dirty="0"/>
          </a:p>
        </p:txBody>
      </p:sp>
      <p:sp>
        <p:nvSpPr>
          <p:cNvPr id="19" name="Text 17"/>
          <p:cNvSpPr txBox="1"/>
          <p:nvPr/>
        </p:nvSpPr>
        <p:spPr>
          <a:xfrm>
            <a:off x="804672" y="4105656"/>
            <a:ext cx="4983480" cy="36576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Lifestyle, values, personality, attitudes</a:t>
            </a:r>
            <a:endParaRPr lang="en-US" sz="1200" dirty="0"/>
          </a:p>
        </p:txBody>
      </p:sp>
      <p:sp>
        <p:nvSpPr>
          <p:cNvPr id="20" name="Text 18"/>
          <p:cNvSpPr txBox="1"/>
          <p:nvPr/>
        </p:nvSpPr>
        <p:spPr>
          <a:xfrm>
            <a:off x="804672" y="4453128"/>
            <a:ext cx="4983480" cy="3200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Eco-products → environmentally-minded buyers</a:t>
            </a:r>
            <a:endParaRPr lang="en-US" sz="1150" dirty="0"/>
          </a:p>
        </p:txBody>
      </p:sp>
      <p:sp>
        <p:nvSpPr>
          <p:cNvPr id="21" name="Shape 19"/>
          <p:cNvSpPr/>
          <p:nvPr/>
        </p:nvSpPr>
        <p:spPr>
          <a:xfrm>
            <a:off x="6199632" y="3602736"/>
            <a:ext cx="5440680" cy="1234440"/>
          </a:xfrm>
          <a:prstGeom prst="roundRect">
            <a:avLst>
              <a:gd name="adj" fmla="val 592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2" name="Shape 20"/>
          <p:cNvSpPr/>
          <p:nvPr/>
        </p:nvSpPr>
        <p:spPr>
          <a:xfrm>
            <a:off x="6199632" y="3602736"/>
            <a:ext cx="91440" cy="1234440"/>
          </a:xfrm>
          <a:prstGeom prst="roundRect">
            <a:avLst/>
          </a:prstGeom>
          <a:solidFill>
            <a:srgbClr val="6B4FA0"/>
          </a:solidFill>
          <a:ln/>
        </p:spPr>
      </p:sp>
      <p:sp>
        <p:nvSpPr>
          <p:cNvPr id="23" name="Text 21"/>
          <p:cNvSpPr txBox="1"/>
          <p:nvPr/>
        </p:nvSpPr>
        <p:spPr>
          <a:xfrm>
            <a:off x="6455664" y="3749040"/>
            <a:ext cx="4983480" cy="320040"/>
          </a:xfrm>
          <a:prstGeom prst="rect">
            <a:avLst/>
          </a:prstGeom>
          <a:noFill/>
          <a:ln/>
        </p:spPr>
        <p:txBody>
          <a:bodyPr wrap="square" lIns="0" tIns="0" rIns="0" bIns="0" rtlCol="0" anchor="ctr"/>
          <a:lstStyle/>
          <a:p>
            <a:pPr indent="0" marL="0">
              <a:buNone/>
            </a:pPr>
            <a:r>
              <a:rPr lang="en-US" sz="1450" b="1" dirty="0">
                <a:solidFill>
                  <a:srgbClr val="6B4FA0"/>
                </a:solidFill>
                <a:latin typeface="Calibri" pitchFamily="34" charset="0"/>
                <a:ea typeface="Calibri" pitchFamily="34" charset="-122"/>
                <a:cs typeface="Calibri" pitchFamily="34" charset="-120"/>
              </a:rPr>
              <a:t>Behavioural</a:t>
            </a:r>
            <a:endParaRPr lang="en-US" sz="1450" dirty="0"/>
          </a:p>
        </p:txBody>
      </p:sp>
      <p:sp>
        <p:nvSpPr>
          <p:cNvPr id="24" name="Text 22"/>
          <p:cNvSpPr txBox="1"/>
          <p:nvPr/>
        </p:nvSpPr>
        <p:spPr>
          <a:xfrm>
            <a:off x="6455664" y="4105656"/>
            <a:ext cx="4983480" cy="36576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Usage, loyalty, occasion, benefits sought</a:t>
            </a:r>
            <a:endParaRPr lang="en-US" sz="1200" dirty="0"/>
          </a:p>
        </p:txBody>
      </p:sp>
      <p:sp>
        <p:nvSpPr>
          <p:cNvPr id="25" name="Text 23"/>
          <p:cNvSpPr txBox="1"/>
          <p:nvPr/>
        </p:nvSpPr>
        <p:spPr>
          <a:xfrm>
            <a:off x="6455664" y="4453128"/>
            <a:ext cx="4983480" cy="3200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Frequent flyers → loyalty schemes</a:t>
            </a:r>
            <a:endParaRPr lang="en-US" sz="1150" dirty="0"/>
          </a:p>
        </p:txBody>
      </p:sp>
      <p:sp>
        <p:nvSpPr>
          <p:cNvPr id="26" name="Shape 24"/>
          <p:cNvSpPr/>
          <p:nvPr/>
        </p:nvSpPr>
        <p:spPr>
          <a:xfrm>
            <a:off x="548640" y="5166360"/>
            <a:ext cx="5440680" cy="1005840"/>
          </a:xfrm>
          <a:prstGeom prst="roundRect">
            <a:avLst>
              <a:gd name="adj" fmla="val 7273"/>
            </a:avLst>
          </a:prstGeom>
          <a:solidFill>
            <a:srgbClr val="E8F3EC"/>
          </a:solidFill>
          <a:ln/>
          <a:effectLst>
            <a:outerShdw sx="100000" sy="100000" kx="0" ky="0" algn="bl" rotWithShape="0" blurRad="76200" dist="25400" dir="5400000">
              <a:srgbClr val="9AAAB0">
                <a:alpha val="28000"/>
              </a:srgbClr>
            </a:outerShdw>
          </a:effectLst>
        </p:spPr>
      </p:sp>
      <p:sp>
        <p:nvSpPr>
          <p:cNvPr id="27" name="Text 25"/>
          <p:cNvSpPr txBox="1"/>
          <p:nvPr/>
        </p:nvSpPr>
        <p:spPr>
          <a:xfrm>
            <a:off x="777240" y="5257800"/>
            <a:ext cx="5029200" cy="822960"/>
          </a:xfrm>
          <a:prstGeom prst="rect">
            <a:avLst/>
          </a:prstGeom>
          <a:noFill/>
          <a:ln/>
        </p:spPr>
        <p:txBody>
          <a:bodyPr wrap="square" lIns="0" tIns="0" rIns="0" bIns="0" rtlCol="0" anchor="ctr"/>
          <a:lstStyle/>
          <a:p>
            <a:pPr indent="0" marL="0">
              <a:buNone/>
            </a:pPr>
            <a:r>
              <a:rPr lang="en-US" sz="1200" b="1" dirty="0">
                <a:solidFill>
                  <a:srgbClr val="2F8A5B"/>
                </a:solidFill>
                <a:latin typeface="Calibri" pitchFamily="34" charset="0"/>
                <a:ea typeface="Calibri" pitchFamily="34" charset="-122"/>
                <a:cs typeface="Calibri" pitchFamily="34" charset="-120"/>
              </a:rPr>
              <a:t>Benefits:  </a:t>
            </a:r>
            <a:pPr indent="0" marL="0">
              <a:buNone/>
            </a:pPr>
            <a:r>
              <a:rPr lang="en-US" sz="1200" dirty="0">
                <a:solidFill>
                  <a:srgbClr val="1F2A33"/>
                </a:solidFill>
                <a:latin typeface="Calibri" pitchFamily="34" charset="0"/>
                <a:ea typeface="Calibri" pitchFamily="34" charset="-122"/>
                <a:cs typeface="Calibri" pitchFamily="34" charset="-120"/>
              </a:rPr>
              <a:t>target marketing precisely; meet needs better; find niches; less wasted spend; can charge more to the right segment.</a:t>
            </a:r>
            <a:endParaRPr lang="en-US" sz="1200" dirty="0"/>
          </a:p>
        </p:txBody>
      </p:sp>
      <p:sp>
        <p:nvSpPr>
          <p:cNvPr id="28" name="Shape 26"/>
          <p:cNvSpPr/>
          <p:nvPr/>
        </p:nvSpPr>
        <p:spPr>
          <a:xfrm>
            <a:off x="6199632" y="5166360"/>
            <a:ext cx="5440680" cy="1005840"/>
          </a:xfrm>
          <a:prstGeom prst="roundRect">
            <a:avLst>
              <a:gd name="adj" fmla="val 7273"/>
            </a:avLst>
          </a:prstGeom>
          <a:solidFill>
            <a:srgbClr val="F9EAE6"/>
          </a:solidFill>
          <a:ln/>
          <a:effectLst>
            <a:outerShdw sx="100000" sy="100000" kx="0" ky="0" algn="bl" rotWithShape="0" blurRad="76200" dist="25400" dir="5400000">
              <a:srgbClr val="9AAAB0">
                <a:alpha val="28000"/>
              </a:srgbClr>
            </a:outerShdw>
          </a:effectLst>
        </p:spPr>
      </p:sp>
      <p:sp>
        <p:nvSpPr>
          <p:cNvPr id="29" name="Text 27"/>
          <p:cNvSpPr txBox="1"/>
          <p:nvPr/>
        </p:nvSpPr>
        <p:spPr>
          <a:xfrm>
            <a:off x="6428232" y="5257800"/>
            <a:ext cx="5029200" cy="822960"/>
          </a:xfrm>
          <a:prstGeom prst="rect">
            <a:avLst/>
          </a:prstGeom>
          <a:noFill/>
          <a:ln/>
        </p:spPr>
        <p:txBody>
          <a:bodyPr wrap="square" lIns="0" tIns="0" rIns="0" bIns="0" rtlCol="0" anchor="ctr"/>
          <a:lstStyle/>
          <a:p>
            <a:pPr indent="0" marL="0">
              <a:buNone/>
            </a:pPr>
            <a:r>
              <a:rPr lang="en-US" sz="1200" b="1" dirty="0">
                <a:solidFill>
                  <a:srgbClr val="C14B37"/>
                </a:solidFill>
                <a:latin typeface="Calibri" pitchFamily="34" charset="0"/>
                <a:ea typeface="Calibri" pitchFamily="34" charset="-122"/>
                <a:cs typeface="Calibri" pitchFamily="34" charset="-120"/>
              </a:rPr>
              <a:t>Drawbacks:  </a:t>
            </a:r>
            <a:pPr indent="0" marL="0">
              <a:buNone/>
            </a:pPr>
            <a:r>
              <a:rPr lang="en-US" sz="1200" dirty="0">
                <a:solidFill>
                  <a:srgbClr val="1F2A33"/>
                </a:solidFill>
                <a:latin typeface="Calibri" pitchFamily="34" charset="0"/>
                <a:ea typeface="Calibri" pitchFamily="34" charset="-122"/>
                <a:cs typeface="Calibri" pitchFamily="34" charset="-120"/>
              </a:rPr>
              <a:t>research &amp; multiple campaigns cost more; segments can be misjudged or too small; needs can change over time.</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POSITIONING TOOLS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Differentiation, competitive advantage &amp; adding value</a:t>
            </a:r>
            <a:endParaRPr lang="en-US" sz="2700" dirty="0"/>
          </a:p>
        </p:txBody>
      </p:sp>
      <p:sp>
        <p:nvSpPr>
          <p:cNvPr id="4" name="Shape 2"/>
          <p:cNvSpPr/>
          <p:nvPr/>
        </p:nvSpPr>
        <p:spPr>
          <a:xfrm>
            <a:off x="548640" y="1508760"/>
            <a:ext cx="3575304" cy="3291840"/>
          </a:xfrm>
          <a:prstGeom prst="roundRect">
            <a:avLst>
              <a:gd name="adj" fmla="val 222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508760"/>
            <a:ext cx="3575304" cy="91440"/>
          </a:xfrm>
          <a:prstGeom prst="roundRect">
            <a:avLst/>
          </a:prstGeom>
          <a:solidFill>
            <a:srgbClr val="0E7C86"/>
          </a:solidFill>
          <a:ln/>
        </p:spPr>
      </p:sp>
      <p:sp>
        <p:nvSpPr>
          <p:cNvPr id="6" name="Text 4"/>
          <p:cNvSpPr txBox="1"/>
          <p:nvPr/>
        </p:nvSpPr>
        <p:spPr>
          <a:xfrm>
            <a:off x="749808" y="1737360"/>
            <a:ext cx="3172968" cy="77724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Product differentiation</a:t>
            </a:r>
            <a:endParaRPr lang="en-US" sz="1500" dirty="0"/>
          </a:p>
        </p:txBody>
      </p:sp>
      <p:sp>
        <p:nvSpPr>
          <p:cNvPr id="7" name="Text 5"/>
          <p:cNvSpPr txBox="1"/>
          <p:nvPr/>
        </p:nvSpPr>
        <p:spPr>
          <a:xfrm>
            <a:off x="749808" y="2514600"/>
            <a:ext cx="3172968" cy="14173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Making a product stand out from rivals — through design, quality, features, branding or service.</a:t>
            </a:r>
            <a:endParaRPr lang="en-US" sz="1250" dirty="0"/>
          </a:p>
        </p:txBody>
      </p:sp>
      <p:sp>
        <p:nvSpPr>
          <p:cNvPr id="8" name="Text 6"/>
          <p:cNvSpPr txBox="1"/>
          <p:nvPr/>
        </p:nvSpPr>
        <p:spPr>
          <a:xfrm>
            <a:off x="749808" y="3977640"/>
            <a:ext cx="3172968" cy="7772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Apple's design &amp; ecosystem set it apart</a:t>
            </a:r>
            <a:endParaRPr lang="en-US" sz="1150" dirty="0"/>
          </a:p>
        </p:txBody>
      </p:sp>
      <p:sp>
        <p:nvSpPr>
          <p:cNvPr id="9" name="Shape 7"/>
          <p:cNvSpPr/>
          <p:nvPr/>
        </p:nvSpPr>
        <p:spPr>
          <a:xfrm>
            <a:off x="4306824" y="1508760"/>
            <a:ext cx="3575304" cy="3291840"/>
          </a:xfrm>
          <a:prstGeom prst="roundRect">
            <a:avLst>
              <a:gd name="adj" fmla="val 222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4306824" y="1508760"/>
            <a:ext cx="3575304" cy="91440"/>
          </a:xfrm>
          <a:prstGeom prst="roundRect">
            <a:avLst/>
          </a:prstGeom>
          <a:solidFill>
            <a:srgbClr val="E0940F"/>
          </a:solidFill>
          <a:ln/>
        </p:spPr>
      </p:sp>
      <p:sp>
        <p:nvSpPr>
          <p:cNvPr id="11" name="Text 9"/>
          <p:cNvSpPr txBox="1"/>
          <p:nvPr/>
        </p:nvSpPr>
        <p:spPr>
          <a:xfrm>
            <a:off x="4507992" y="1737360"/>
            <a:ext cx="3172968" cy="777240"/>
          </a:xfrm>
          <a:prstGeom prst="rect">
            <a:avLst/>
          </a:prstGeom>
          <a:noFill/>
          <a:ln/>
        </p:spPr>
        <p:txBody>
          <a:bodyPr wrap="square" lIns="0" tIns="0" rIns="0" bIns="0" rtlCol="0" anchor="t"/>
          <a:lstStyle/>
          <a:p>
            <a:pPr indent="0" marL="0">
              <a:buNone/>
            </a:pPr>
            <a:r>
              <a:rPr lang="en-US" sz="1500" b="1" dirty="0">
                <a:solidFill>
                  <a:srgbClr val="E0940F"/>
                </a:solidFill>
                <a:latin typeface="Calibri" pitchFamily="34" charset="0"/>
                <a:ea typeface="Calibri" pitchFamily="34" charset="-122"/>
                <a:cs typeface="Calibri" pitchFamily="34" charset="-120"/>
              </a:rPr>
              <a:t>Competitive advantage</a:t>
            </a:r>
            <a:endParaRPr lang="en-US" sz="1500" dirty="0"/>
          </a:p>
        </p:txBody>
      </p:sp>
      <p:sp>
        <p:nvSpPr>
          <p:cNvPr id="12" name="Text 10"/>
          <p:cNvSpPr txBox="1"/>
          <p:nvPr/>
        </p:nvSpPr>
        <p:spPr>
          <a:xfrm>
            <a:off x="4507992" y="2514600"/>
            <a:ext cx="3172968" cy="14173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A feature that lets a firm outperform rivals — e.g. lower cost or a strong USP that is hard to copy.</a:t>
            </a:r>
            <a:endParaRPr lang="en-US" sz="1250" dirty="0"/>
          </a:p>
        </p:txBody>
      </p:sp>
      <p:sp>
        <p:nvSpPr>
          <p:cNvPr id="13" name="Text 11"/>
          <p:cNvSpPr txBox="1"/>
          <p:nvPr/>
        </p:nvSpPr>
        <p:spPr>
          <a:xfrm>
            <a:off x="4507992" y="3977640"/>
            <a:ext cx="3172968" cy="7772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IKEA's low-cost model; a patented technology</a:t>
            </a:r>
            <a:endParaRPr lang="en-US" sz="1150" dirty="0"/>
          </a:p>
        </p:txBody>
      </p:sp>
      <p:sp>
        <p:nvSpPr>
          <p:cNvPr id="14" name="Shape 12"/>
          <p:cNvSpPr/>
          <p:nvPr/>
        </p:nvSpPr>
        <p:spPr>
          <a:xfrm>
            <a:off x="8065008" y="1508760"/>
            <a:ext cx="3575304" cy="3291840"/>
          </a:xfrm>
          <a:prstGeom prst="roundRect">
            <a:avLst>
              <a:gd name="adj" fmla="val 222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8065008" y="1508760"/>
            <a:ext cx="3575304" cy="91440"/>
          </a:xfrm>
          <a:prstGeom prst="roundRect">
            <a:avLst/>
          </a:prstGeom>
          <a:solidFill>
            <a:srgbClr val="2F8A5B"/>
          </a:solidFill>
          <a:ln/>
        </p:spPr>
      </p:sp>
      <p:sp>
        <p:nvSpPr>
          <p:cNvPr id="16" name="Text 14"/>
          <p:cNvSpPr txBox="1"/>
          <p:nvPr/>
        </p:nvSpPr>
        <p:spPr>
          <a:xfrm>
            <a:off x="8266176" y="1737360"/>
            <a:ext cx="3172968" cy="777240"/>
          </a:xfrm>
          <a:prstGeom prst="rect">
            <a:avLst/>
          </a:prstGeom>
          <a:noFill/>
          <a:ln/>
        </p:spPr>
        <p:txBody>
          <a:bodyPr wrap="square" lIns="0" tIns="0" rIns="0" bIns="0" rtlCol="0" anchor="t"/>
          <a:lstStyle/>
          <a:p>
            <a:pPr indent="0" marL="0">
              <a:buNone/>
            </a:pPr>
            <a:r>
              <a:rPr lang="en-US" sz="1500" b="1" dirty="0">
                <a:solidFill>
                  <a:srgbClr val="2F8A5B"/>
                </a:solidFill>
                <a:latin typeface="Calibri" pitchFamily="34" charset="0"/>
                <a:ea typeface="Calibri" pitchFamily="34" charset="-122"/>
                <a:cs typeface="Calibri" pitchFamily="34" charset="-120"/>
              </a:rPr>
              <a:t>Adding value</a:t>
            </a:r>
            <a:endParaRPr lang="en-US" sz="1500" dirty="0"/>
          </a:p>
        </p:txBody>
      </p:sp>
      <p:sp>
        <p:nvSpPr>
          <p:cNvPr id="17" name="Text 15"/>
          <p:cNvSpPr txBox="1"/>
          <p:nvPr/>
        </p:nvSpPr>
        <p:spPr>
          <a:xfrm>
            <a:off x="8266176" y="2514600"/>
            <a:ext cx="3172968" cy="14173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Increasing what customers will pay above the cost of making the product — via brand, quality, service or convenience.</a:t>
            </a:r>
            <a:endParaRPr lang="en-US" sz="1250" dirty="0"/>
          </a:p>
        </p:txBody>
      </p:sp>
      <p:sp>
        <p:nvSpPr>
          <p:cNvPr id="18" name="Text 16"/>
          <p:cNvSpPr txBox="1"/>
          <p:nvPr/>
        </p:nvSpPr>
        <p:spPr>
          <a:xfrm>
            <a:off x="8266176" y="3977640"/>
            <a:ext cx="3172968" cy="77724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Branding &amp; service let a café charge AED 28 for coffee</a:t>
            </a:r>
            <a:endParaRPr lang="en-US" sz="1150" dirty="0"/>
          </a:p>
        </p:txBody>
      </p:sp>
      <p:sp>
        <p:nvSpPr>
          <p:cNvPr id="19" name="Shape 17"/>
          <p:cNvSpPr/>
          <p:nvPr/>
        </p:nvSpPr>
        <p:spPr>
          <a:xfrm>
            <a:off x="548640" y="4983480"/>
            <a:ext cx="11091672" cy="1188720"/>
          </a:xfrm>
          <a:prstGeom prst="roundRect">
            <a:avLst>
              <a:gd name="adj" fmla="val 6154"/>
            </a:avLst>
          </a:prstGeom>
          <a:solidFill>
            <a:srgbClr val="FBF0D8"/>
          </a:solidFill>
          <a:ln/>
          <a:effectLst>
            <a:outerShdw sx="100000" sy="100000" kx="0" ky="0" algn="bl" rotWithShape="0" blurRad="76200" dist="25400" dir="5400000">
              <a:srgbClr val="9AAAB0">
                <a:alpha val="28000"/>
              </a:srgbClr>
            </a:outerShdw>
          </a:effectLst>
        </p:spPr>
      </p:sp>
      <p:sp>
        <p:nvSpPr>
          <p:cNvPr id="20" name="Shape 18"/>
          <p:cNvSpPr/>
          <p:nvPr/>
        </p:nvSpPr>
        <p:spPr>
          <a:xfrm>
            <a:off x="548640" y="4983480"/>
            <a:ext cx="109728" cy="1188720"/>
          </a:xfrm>
          <a:prstGeom prst="roundRect">
            <a:avLst/>
          </a:prstGeom>
          <a:solidFill>
            <a:srgbClr val="E0940F"/>
          </a:solidFill>
          <a:ln/>
        </p:spPr>
      </p:sp>
      <p:sp>
        <p:nvSpPr>
          <p:cNvPr id="21" name="Text 19"/>
          <p:cNvSpPr txBox="1"/>
          <p:nvPr/>
        </p:nvSpPr>
        <p:spPr>
          <a:xfrm>
            <a:off x="777240" y="5093208"/>
            <a:ext cx="10698480" cy="100584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How they connect:  </a:t>
            </a:r>
            <a:pPr indent="0" marL="0">
              <a:buNone/>
            </a:pPr>
            <a:r>
              <a:rPr lang="en-US" sz="1250" dirty="0">
                <a:solidFill>
                  <a:srgbClr val="1F2A33"/>
                </a:solidFill>
                <a:latin typeface="Calibri" pitchFamily="34" charset="0"/>
                <a:ea typeface="Calibri" pitchFamily="34" charset="-122"/>
                <a:cs typeface="Calibri" pitchFamily="34" charset="-120"/>
              </a:rPr>
              <a:t>a firm segments the market, positions a DIFFERENTIATED offer for a chosen segment, and the uniqueness gives COMPETITIVE ADVANTAGE and ADDS VALUE — letting it charge more and win loyal customers. This is the purpose of product differentiation: to stand apart and avoid competing on price alone.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Exam practice: segmentation (Innocent)</a:t>
            </a:r>
            <a:endParaRPr lang="en-US" sz="27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Discuss the benefits of market segmentation to a business such as Innocent.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[8]</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 one benefit developed + one ‘However’ limitation, applied to Innocent.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separate conclusion is not required; stay balanced and applied to Innocent.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Use segmentation bases — e.g. health-conscious (psychographic), families (demographic).</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(one side, then However)</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segmenting lets Innocent target health-conscious &amp; family buyers with the right products &amp; messages → more relevant marketing → higher sales &amp; loyalty.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Develop: it can also spot a niche (e.g. kids' smoothies) and charge a premium to a willing segment.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HOWEVER: running several targeted ranges &amp; campaigns costs more, and a segment may be misjudged or too small.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Judgement: valuable for a differentiated brand like Innocent, but depends on the segments being large &amp; profitable enough.</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A-grade exam skills</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market-mapping 20-marker  ·  decode and plan with 5×5  ·  a model answer and how to reach the top band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The 20-mark: decode it, then plan with 5×5</a:t>
            </a:r>
            <a:endParaRPr lang="en-US" sz="2700" dirty="0"/>
          </a:p>
        </p:txBody>
      </p:sp>
      <p:sp>
        <p:nvSpPr>
          <p:cNvPr id="4" name="Shape 2"/>
          <p:cNvSpPr/>
          <p:nvPr/>
        </p:nvSpPr>
        <p:spPr>
          <a:xfrm>
            <a:off x="548640" y="1371600"/>
            <a:ext cx="11091672" cy="1005840"/>
          </a:xfrm>
          <a:prstGeom prst="roundRect">
            <a:avLst>
              <a:gd name="adj" fmla="val 727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5486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Evaluate whether Kellogg's should continue to use market mapping as a tool to identify gaps in the market.  </a:t>
            </a:r>
            <a:pPr indent="0" marL="0">
              <a:buNone/>
            </a:pPr>
            <a:r>
              <a:rPr lang="en-US" sz="1350" b="1" dirty="0">
                <a:solidFill>
                  <a:srgbClr val="E0940F"/>
                </a:solidFill>
                <a:latin typeface="Calibri" pitchFamily="34" charset="0"/>
                <a:ea typeface="Calibri" pitchFamily="34" charset="-122"/>
                <a:cs typeface="Calibri" pitchFamily="34" charset="-120"/>
              </a:rPr>
              <a:t>[20]</a:t>
            </a:r>
            <a:endParaRPr lang="en-US" sz="1350" dirty="0"/>
          </a:p>
        </p:txBody>
      </p:sp>
      <p:sp>
        <p:nvSpPr>
          <p:cNvPr id="7" name="Shape 5"/>
          <p:cNvSpPr/>
          <p:nvPr/>
        </p:nvSpPr>
        <p:spPr>
          <a:xfrm>
            <a:off x="548640" y="2514600"/>
            <a:ext cx="5029200" cy="3685032"/>
          </a:xfrm>
          <a:prstGeom prst="roundRect">
            <a:avLst>
              <a:gd name="adj" fmla="val 1985"/>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624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990088"/>
            <a:ext cx="461772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Evaluate = argue both sides, then a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Focus: is mapping a GOOD tool for finding gaps — for Kellogg's specifically?</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Apply: cereal market, rivals (Nestlé, General Mills, Weetabix), healthy vs fun / adult vs child axes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(16–20): balanced, well-contextualised, competing arguments, supported judgement</a:t>
            </a:r>
            <a:endParaRPr lang="en-US" sz="1180" dirty="0"/>
          </a:p>
        </p:txBody>
      </p:sp>
      <p:sp>
        <p:nvSpPr>
          <p:cNvPr id="10" name="Shape 8"/>
          <p:cNvSpPr/>
          <p:nvPr/>
        </p:nvSpPr>
        <p:spPr>
          <a:xfrm>
            <a:off x="5788152" y="2514600"/>
            <a:ext cx="5852160" cy="3685032"/>
          </a:xfrm>
          <a:prstGeom prst="roundRect">
            <a:avLst>
              <a:gd name="adj" fmla="val 198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624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PECAN, 5 paragraphs</a:t>
            </a:r>
            <a:endParaRPr lang="en-US" sz="1300" dirty="0"/>
          </a:p>
        </p:txBody>
      </p:sp>
      <p:sp>
        <p:nvSpPr>
          <p:cNvPr id="12" name="Text 10"/>
          <p:cNvSpPr txBox="1"/>
          <p:nvPr/>
        </p:nvSpPr>
        <p:spPr>
          <a:xfrm>
            <a:off x="5989320" y="2990088"/>
            <a:ext cx="5440680" cy="310896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¶1 For: mapping spots a gap (e.g. healthy + child) → first-mover product → market share &amp; brand identity</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¶2 For: shows position vs Nestlé/General Mills → focus on competitive advantage &amp; defend leadership (30.1% share)</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¶3 However: positions are subjective; a gap may lack real demand</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¶4 However: shows no size/cost/profit → needs research, focus groups, Mintel before launch</a:t>
            </a:r>
            <a:endParaRPr lang="en-US" sz="1150" dirty="0"/>
          </a:p>
          <a:p>
            <a:pPr marL="177800" indent="-177800">
              <a:spcAft>
                <a:spcPts val="700"/>
              </a:spcAft>
              <a:buSzPct val="100000"/>
              <a:buChar char="•"/>
            </a:pPr>
            <a:r>
              <a:rPr lang="en-US" sz="1150" dirty="0">
                <a:solidFill>
                  <a:srgbClr val="1F2A33"/>
                </a:solidFill>
                <a:latin typeface="Calibri" pitchFamily="34" charset="0"/>
                <a:ea typeface="Calibri" pitchFamily="34" charset="-122"/>
                <a:cs typeface="Calibri" pitchFamily="34" charset="-120"/>
              </a:rPr>
              <a:t>¶5 Conclusion (4Ws): keep using it, but only alongside other tools — depends on the quality of the research behind it</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A model 20-mark answer (Kellogg's) — body &amp; conclusion</a:t>
            </a:r>
            <a:endParaRPr lang="en-US" sz="27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For — spotting a gap (apply).  </a:t>
            </a:r>
            <a:pPr indent="0" marL="0">
              <a:buNone/>
            </a:pPr>
            <a:r>
              <a:rPr lang="en-US" sz="1180" dirty="0">
                <a:solidFill>
                  <a:srgbClr val="1F2A33"/>
                </a:solidFill>
                <a:latin typeface="Calibri" pitchFamily="34" charset="0"/>
                <a:ea typeface="Calibri" pitchFamily="34" charset="-122"/>
                <a:cs typeface="Calibri" pitchFamily="34" charset="-120"/>
              </a:rPr>
              <a:t>Market mapping lets Kellogg's plot its cereals against rivals on dimensions customers care about, such as healthy vs fun and adult vs child. This can reveal a gap — say, a healthy children's cereal — where there is little competition. This means Kellogg's could launch a product aimed at that segment and gain first-mover advantage, quickly building market share and a distinct brand identity that rivals like Nestlé do not have.</a:t>
            </a:r>
            <a:endParaRPr lang="en-US" sz="1180" dirty="0"/>
          </a:p>
        </p:txBody>
      </p:sp>
      <p:sp>
        <p:nvSpPr>
          <p:cNvPr id="6" name="Shape 4"/>
          <p:cNvSpPr/>
          <p:nvPr/>
        </p:nvSpPr>
        <p:spPr>
          <a:xfrm>
            <a:off x="548640" y="3017520"/>
            <a:ext cx="11091672" cy="1572768"/>
          </a:xfrm>
          <a:prstGeom prst="roundRect">
            <a:avLst>
              <a:gd name="adj" fmla="val 4651"/>
            </a:avLst>
          </a:prstGeom>
          <a:solidFill>
            <a:srgbClr val="F9EAE6"/>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However — a gap is not a guarantee.  </a:t>
            </a:r>
            <a:pPr indent="0" marL="0">
              <a:buNone/>
            </a:pPr>
            <a:r>
              <a:rPr lang="en-US" sz="1180" dirty="0">
                <a:solidFill>
                  <a:srgbClr val="1F2A33"/>
                </a:solidFill>
                <a:latin typeface="Calibri" pitchFamily="34" charset="0"/>
                <a:ea typeface="Calibri" pitchFamily="34" charset="-122"/>
                <a:cs typeface="Calibri" pitchFamily="34" charset="-120"/>
              </a:rPr>
              <a:t>However, a map only shows PERCEPTIONS and two variables; it reveals no market size, cost or profit, and the gap may be empty simply because there is no demand. The positions also depend on the opinion of whoever drew it. So Kellogg's would need primary and secondary research — focus groups, Mintel reports, sampling — to confirm real demand, especially as taste, smell and texture drive food sales.</a:t>
            </a:r>
            <a:endParaRPr lang="en-US" sz="1180" dirty="0"/>
          </a:p>
        </p:txBody>
      </p:sp>
      <p:sp>
        <p:nvSpPr>
          <p:cNvPr id="8" name="Shape 6"/>
          <p:cNvSpPr/>
          <p:nvPr/>
        </p:nvSpPr>
        <p:spPr>
          <a:xfrm>
            <a:off x="548640" y="4663440"/>
            <a:ext cx="11091672" cy="1517904"/>
          </a:xfrm>
          <a:prstGeom prst="roundRect">
            <a:avLst>
              <a:gd name="adj" fmla="val 4819"/>
            </a:avLst>
          </a:prstGeom>
          <a:solidFill>
            <a:srgbClr val="0E3A43"/>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E0940F"/>
                </a:solidFill>
                <a:latin typeface="Calibri" pitchFamily="34" charset="0"/>
                <a:ea typeface="Calibri" pitchFamily="34" charset="-122"/>
                <a:cs typeface="Calibri" pitchFamily="34" charset="-120"/>
              </a:rPr>
              <a:t>Conclusion (4Ws).  </a:t>
            </a:r>
            <a:pPr indent="0" marL="0">
              <a:buNone/>
            </a:pPr>
            <a:r>
              <a:rPr lang="en-US" sz="1180" dirty="0">
                <a:solidFill>
                  <a:srgbClr val="FFFFFF"/>
                </a:solidFill>
                <a:latin typeface="Calibri" pitchFamily="34" charset="0"/>
                <a:ea typeface="Calibri" pitchFamily="34" charset="-122"/>
                <a:cs typeface="Calibri" pitchFamily="34" charset="-120"/>
              </a:rPr>
              <a:t>Overall, Kellogg's should continue to use market mapping, because in a ~$54bn market where it leads with ~30% share it needs to see its position against General Mills and spot gaps early. But mapping should be ONE tool among several — its value depends on being combined with research, branding and pricing to confirm a gap is genuinely profitable before launch.</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market-positioning questions</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651760"/>
                <a:gridCol w="670255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(market orientation, segmentation, differentiation…).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 / Construct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 with evidence + a chain; OR construct a correctly-labelled market map.</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PECAN: both sides, applied, + a supported ‘it depends’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Golden rule for mapping: it identifies a POSSIBLE gap and your close rivals — but it shows no demand, cost or profit, so it guides a decision, it never makes it.</a:t>
            </a:r>
            <a:endParaRPr lang="en-US" sz="1250" dirty="0"/>
          </a:p>
        </p:txBody>
      </p:sp>
      <p:sp>
        <p:nvSpPr>
          <p:cNvPr id="6" name="Text 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This completes Topic 1.3.1 ‘Meeting customer needs’: the market · market research · market positioning.</a:t>
            </a:r>
            <a:endParaRPr lang="en-US" sz="125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2026-10-20T07:37:55Z</dcterms:created>
  <dcterms:modified xsi:type="dcterms:W3CDTF">2026-10-20T07:37:55Z</dcterms:modified>
</cp:coreProperties>
</file>