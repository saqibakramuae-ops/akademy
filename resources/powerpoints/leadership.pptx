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Management vs leadership" id="{f9df4c95-0d82-ed8e-65c6-2e6b41aa86ea}">
          <p14:sldIdLst>
            <p14:sldId id="259"/>
            <p14:sldId id="260"/>
            <p14:sldId id="261"/>
          </p14:sldIdLst>
        </p14:section>
        <p14:section name="B · The four styles" id="{0ef14f69-fe12-a2d0-7165-bbc4821fb76f}">
          <p14:sldIdLst>
            <p14:sldId id="262"/>
            <p14:sldId id="263"/>
            <p14:sldId id="264"/>
            <p14:sldId id="265"/>
            <p14:sldId id="266"/>
            <p14:sldId id="267"/>
            <p14:sldId id="268"/>
          </p14:sldIdLst>
        </p14:section>
        <p14:section name="D · Entrepreneur to leader" id="{5aae633a-fed7-22da-9295-a77f7f0e3b64}">
          <p14:sldIdLst>
            <p14:sldId id="269"/>
            <p14:sldId id="270"/>
          </p14:sldIdLst>
        </p14:section>
        <p14:section name="E · A-grade exam skills" id="{2ca1f8a3-a79d-f213-b78d-c11fe9129cca}">
          <p14:sldIdLst>
            <p14:sldId id="271"/>
            <p14:sldId id="272"/>
            <p14:sldId id="273"/>
            <p14:sldId id="274"/>
            <p14:sldId id="275"/>
          </p14:sldIdLst>
        </p14:section>
        <p14:section name="Default-1" id="{e6f5819a-502d-e845-c800-e2aa375d89f0}">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deck on leadership (spec 1.3.4 'Managing people', section 5 of 5 - the final section), pitched for A-grade students. Covers both spec parts: the distinction between management and leadership; and the four leadership styles (autocratic, paternalistic, democratic, laissez-faire). Exam practice anchored on the Perfect Paper plc / Jayne Coles case with a [10] and a [20]. NOTE: the student calls Managing people '1.4'; in the spec it is 1.3.4. 'From entrepreneur to leader' is bridged here but belongs to the next section, 1.3.5 Entrepreneurs &amp; leaders.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spec 1.3.4(5) parts are covered: 5a the distinction between management and leadership; 5b the four leadership styles. Parts C (choosing) and D (entrepreneur-to-leader bridge) deepen and connect the content - D signposts the next deck, 1.3.5 Entrepreneurs &amp; leaders. The exam skills use the Perfect Paper plc case. Pace over the week; this closes Managing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section of Managing people. Leadership is where the earlier content comes together: the leader's STYLE determines how staffing, structure and motivation are actually delivered. It also bridges into 1.3.5 (Entrepreneurs &amp; leaders) via the entrepreneur-to-leader transition. After this, Unit 1's 'people' half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5a. Draw out the distinction: leadership = direction &amp; vision (doing the right things); management = control &amp; efficiency (doing things right). Oxford definitions are on the slide. The key exam-ready point is that they OVERLAP - a founder or senior manager usually needs both, which is why the entrepreneur-to-leader shift (Part D) matters. Do Now suggestion: 'Write one sentence each - what does a manager do? what does a leader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5a. Use the two columns for a sorting/cold-call task (OneNote: students build the two lists). The synthesis: a business needs BOTH - management for stability, leadership for change. The question 'can someone be a good leader but a poor manager?' sets up Part D (entrepreneur to leader). Challenge: name a real leader vs a real manager and justify.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reference across all four. Key idea: they form a SPECTRUM from most leader control (autocratic) to least (laissez-faire). Moving down the spectrum trades speed &amp; control for motivation &amp; ideas. This 'no single best style' point is the springboard for Part C (choosing) and for the Perfect Paper 20-marker.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5b applied. Two ideas: (1) choice of style is SITUATIONAL - it depends on task, staff, time, culture and the leader; (2) there is a long-run shift away from autocratic towards more participative styles, driven by a skilled workforce, legislation and changing values. The exam-winning habit: never declare one style 'best' - argue 'it depends' and support it with case evidence. Quick task: 'Which style for an A&amp;E? For a tech design team?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bridges Managing people into 1.3.5 (Entrepreneurs &amp; leaders). The core idea: a founder's skills must change as the firm grows - from doing everything to delegating, from informal to strategic, from personal passion to building culture. Many entrepreneurs struggle with this and some are best stepping aside. The Sofia/TechHub case in your old deck fits here; the detail (delegation, trust, emotional intelligence, being proactive) is taught in full in the next deck. Keep this as a signpost, not a full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case before the questions. The analytical gold is in the data: reams sold fell ~21% but revenue fell only ~2%, because price rose 25% (£2→£2.50). That means the volume fall may be driven by the PRICE RISE and the declining market, NOT only Jayne's leadership style - a crucial counter-argument for the [20]. OneNote: students annotate the case and calculate the % changes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 is an 'Assess' - two sides + judgement, no need for the full 20-mark depth. FOR democratic: she requested feedback and used a junior's idea. AGAINST: she ignored the feedback, dictated to the team, threatened redundancies and planned tighter monitoring - that's autocratic, with a paternalistic hint (well-paid travel). A-grade judgement: she describes herself as democratic but is actually shifting toward autocratic. Students write the answer in OneNote, then peer-mark.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 Evaluate needs both sides + a supported judgement. FOR a style change raising sales: declining market + tight deadline favour fast, decisive leadership; Taylor-style monitoring/bonuses may lift effort. AGAINST: the experienced team may have better ideas (democratic finds them); and crucially the data shows volume fell mainly because PRICE rose 25% and the market is shrinking - so leadership style may not be the cause at all. That causation point is the Level 4 differentiator. Students plan in OneNote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weaves case facts (declining market, 6-month deadline, long-serving team, autocratic seniors) with the killer data point (price +25% likely explains the volume fall). The Level 4 judgement is conditional: a style change alone won't fix sales because the cause is probably price &amp; market, not leadership - so it DEPENDS on the true cause and on balancing speed with involvement. Use this to compare a weaker answer (declares 'autocratic is best', no data, one side) with this stronger one in a peer-mark.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 this completes section 5 of 5 and the whole of Managing people (1.3.4). Both spec parts covered: management vs leadership; the four styles. Students should be able to define &amp; apply all four styles, explain management vs leadership, and evaluate which style suits a situation using case evidence (Perfect Paper). The golden habit: never say one style is simply 'best' - argue 'it depends' and support with the case. Next deck: 1.3.5 Entrepreneurs &amp; leaders (which develops the entrepreneur-to-leader transition bridged in Part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37376"/>
            <a:ext cx="1005840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IAL Business  ·  Unit 1  ·  Spec 1.3.4 Managing people  (Leadership)</a:t>
            </a:r>
            <a:endParaRPr lang="en-US" sz="9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280160"/>
            <a:ext cx="10515600" cy="365760"/>
          </a:xfrm>
          <a:prstGeom prst="rect">
            <a:avLst/>
          </a:prstGeom>
          <a:noFill/>
          <a:ln/>
        </p:spPr>
        <p:txBody>
          <a:bodyPr wrap="square" lIns="0" tIns="0" rIns="0" bIns="0" rtlCol="0" anchor="ctr"/>
          <a:lstStyle/>
          <a:p>
            <a:pPr indent="0" marL="0">
              <a:buNone/>
            </a:pPr>
            <a:r>
              <a:rPr lang="en-US" sz="1250" b="1" spc="150" kern="0" dirty="0">
                <a:solidFill>
                  <a:srgbClr val="7FC4CB"/>
                </a:solidFill>
                <a:latin typeface="Calibri" pitchFamily="34" charset="0"/>
                <a:ea typeface="Calibri" pitchFamily="34" charset="-122"/>
                <a:cs typeface="Calibri" pitchFamily="34" charset="-120"/>
              </a:rPr>
              <a:t>PEARSON EDEXCEL  ·  INTERNATIONAL A LEVEL BUSINESS  ·  UNIT 1 (WBS11)</a:t>
            </a:r>
            <a:endParaRPr lang="en-US" sz="1250" dirty="0"/>
          </a:p>
        </p:txBody>
      </p:sp>
      <p:sp>
        <p:nvSpPr>
          <p:cNvPr id="3" name="Text 1"/>
          <p:cNvSpPr txBox="1"/>
          <p:nvPr/>
        </p:nvSpPr>
        <p:spPr>
          <a:xfrm>
            <a:off x="822960" y="1737360"/>
            <a:ext cx="1088136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Leadership</a:t>
            </a:r>
            <a:endParaRPr lang="en-US" sz="4800" dirty="0"/>
          </a:p>
        </p:txBody>
      </p:sp>
      <p:sp>
        <p:nvSpPr>
          <p:cNvPr id="4" name="Text 2"/>
          <p:cNvSpPr txBox="1"/>
          <p:nvPr/>
        </p:nvSpPr>
        <p:spPr>
          <a:xfrm>
            <a:off x="822960" y="2697480"/>
            <a:ext cx="10607040" cy="457200"/>
          </a:xfrm>
          <a:prstGeom prst="rect">
            <a:avLst/>
          </a:prstGeom>
          <a:noFill/>
          <a:ln/>
        </p:spPr>
        <p:txBody>
          <a:bodyPr wrap="square" lIns="0" tIns="0" rIns="0" bIns="0" rtlCol="0" anchor="ctr"/>
          <a:lstStyle/>
          <a:p>
            <a:pPr indent="0" marL="0">
              <a:buNone/>
            </a:pPr>
            <a:r>
              <a:rPr lang="en-US" sz="1500" i="1" dirty="0">
                <a:solidFill>
                  <a:srgbClr val="D7E6E8"/>
                </a:solidFill>
                <a:latin typeface="Calibri" pitchFamily="34" charset="0"/>
                <a:ea typeface="Calibri" pitchFamily="34" charset="-122"/>
                <a:cs typeface="Calibri" pitchFamily="34" charset="-120"/>
              </a:rPr>
              <a:t>Spec 1.3.4 Managing people (section 5 of 5)  —  management vs leadership, the four leadership styles, and A-grade exam practice</a:t>
            </a:r>
            <a:endParaRPr lang="en-US" sz="1500" dirty="0"/>
          </a:p>
        </p:txBody>
      </p:sp>
      <p:sp>
        <p:nvSpPr>
          <p:cNvPr id="5" name="Shape 3"/>
          <p:cNvSpPr/>
          <p:nvPr/>
        </p:nvSpPr>
        <p:spPr>
          <a:xfrm>
            <a:off x="822960" y="3749040"/>
            <a:ext cx="2626157" cy="420624"/>
          </a:xfrm>
          <a:prstGeom prst="roundRect">
            <a:avLst>
              <a:gd name="adj" fmla="val 50000"/>
            </a:avLst>
          </a:prstGeom>
          <a:solidFill>
            <a:srgbClr val="0B2E35"/>
          </a:solidFill>
          <a:ln w="12700">
            <a:solidFill>
              <a:srgbClr val="0E7C86"/>
            </a:solidFill>
            <a:prstDash val="solid"/>
          </a:ln>
        </p:spPr>
      </p:sp>
      <p:sp>
        <p:nvSpPr>
          <p:cNvPr id="6" name="Text 4"/>
          <p:cNvSpPr txBox="1"/>
          <p:nvPr/>
        </p:nvSpPr>
        <p:spPr>
          <a:xfrm>
            <a:off x="822960" y="3749040"/>
            <a:ext cx="2626157"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Management vs leadership</a:t>
            </a:r>
            <a:endParaRPr lang="en-US" sz="1250" dirty="0"/>
          </a:p>
        </p:txBody>
      </p:sp>
      <p:sp>
        <p:nvSpPr>
          <p:cNvPr id="7" name="Shape 5"/>
          <p:cNvSpPr/>
          <p:nvPr/>
        </p:nvSpPr>
        <p:spPr>
          <a:xfrm>
            <a:off x="3631997" y="3749040"/>
            <a:ext cx="5687568" cy="420624"/>
          </a:xfrm>
          <a:prstGeom prst="roundRect">
            <a:avLst>
              <a:gd name="adj" fmla="val 50000"/>
            </a:avLst>
          </a:prstGeom>
          <a:solidFill>
            <a:srgbClr val="0B2E35"/>
          </a:solidFill>
          <a:ln w="12700">
            <a:solidFill>
              <a:srgbClr val="0E7C86"/>
            </a:solidFill>
            <a:prstDash val="solid"/>
          </a:ln>
        </p:spPr>
      </p:sp>
      <p:sp>
        <p:nvSpPr>
          <p:cNvPr id="8" name="Text 6"/>
          <p:cNvSpPr txBox="1"/>
          <p:nvPr/>
        </p:nvSpPr>
        <p:spPr>
          <a:xfrm>
            <a:off x="3631997" y="3749040"/>
            <a:ext cx="5687568"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Autocratic · Paternalistic · Democratic · Laissez-faire</a:t>
            </a:r>
            <a:endParaRPr lang="en-US" sz="1250" dirty="0"/>
          </a:p>
        </p:txBody>
      </p:sp>
      <p:sp>
        <p:nvSpPr>
          <p:cNvPr id="9" name="Shape 7"/>
          <p:cNvSpPr/>
          <p:nvPr/>
        </p:nvSpPr>
        <p:spPr>
          <a:xfrm>
            <a:off x="9502445" y="3749040"/>
            <a:ext cx="1836115" cy="420624"/>
          </a:xfrm>
          <a:prstGeom prst="roundRect">
            <a:avLst>
              <a:gd name="adj" fmla="val 50000"/>
            </a:avLst>
          </a:prstGeom>
          <a:solidFill>
            <a:srgbClr val="0B2E35"/>
          </a:solidFill>
          <a:ln w="12700">
            <a:solidFill>
              <a:srgbClr val="0E7C86"/>
            </a:solidFill>
            <a:prstDash val="solid"/>
          </a:ln>
        </p:spPr>
      </p:sp>
      <p:sp>
        <p:nvSpPr>
          <p:cNvPr id="10" name="Text 8"/>
          <p:cNvSpPr txBox="1"/>
          <p:nvPr/>
        </p:nvSpPr>
        <p:spPr>
          <a:xfrm>
            <a:off x="9502445" y="3749040"/>
            <a:ext cx="1836115"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Choosing a style</a:t>
            </a:r>
            <a:endParaRPr lang="en-US" sz="1250" dirty="0"/>
          </a:p>
        </p:txBody>
      </p:sp>
      <p:sp>
        <p:nvSpPr>
          <p:cNvPr id="11" name="Shape 9"/>
          <p:cNvSpPr/>
          <p:nvPr/>
        </p:nvSpPr>
        <p:spPr>
          <a:xfrm>
            <a:off x="822960" y="4315968"/>
            <a:ext cx="2527402" cy="420624"/>
          </a:xfrm>
          <a:prstGeom prst="roundRect">
            <a:avLst>
              <a:gd name="adj" fmla="val 50000"/>
            </a:avLst>
          </a:prstGeom>
          <a:solidFill>
            <a:srgbClr val="0B2E35"/>
          </a:solidFill>
          <a:ln w="12700">
            <a:solidFill>
              <a:srgbClr val="0E7C86"/>
            </a:solidFill>
            <a:prstDash val="solid"/>
          </a:ln>
        </p:spPr>
      </p:sp>
      <p:sp>
        <p:nvSpPr>
          <p:cNvPr id="12" name="Text 10"/>
          <p:cNvSpPr txBox="1"/>
          <p:nvPr/>
        </p:nvSpPr>
        <p:spPr>
          <a:xfrm>
            <a:off x="822960" y="4315968"/>
            <a:ext cx="2527402"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Exam: Perfect Paper plc</a:t>
            </a:r>
            <a:endParaRPr lang="en-US" sz="1250" dirty="0"/>
          </a:p>
        </p:txBody>
      </p:sp>
      <p:sp>
        <p:nvSpPr>
          <p:cNvPr id="13" name="Text 11"/>
          <p:cNvSpPr txBox="1"/>
          <p:nvPr/>
        </p:nvSpPr>
        <p:spPr>
          <a:xfrm>
            <a:off x="822960" y="5989320"/>
            <a:ext cx="10607040" cy="365760"/>
          </a:xfrm>
          <a:prstGeom prst="rect">
            <a:avLst/>
          </a:prstGeom>
          <a:noFill/>
          <a:ln/>
        </p:spPr>
        <p:txBody>
          <a:bodyPr wrap="square" lIns="0" tIns="0" rIns="0" bIns="0" rtlCol="0" anchor="ctr"/>
          <a:lstStyle/>
          <a:p>
            <a:pPr indent="0" marL="0">
              <a:buNone/>
            </a:pPr>
            <a:r>
              <a:rPr lang="en-US" sz="1300" dirty="0">
                <a:solidFill>
                  <a:srgbClr val="9FBCC0"/>
                </a:solidFill>
                <a:latin typeface="Calibri" pitchFamily="34" charset="0"/>
                <a:ea typeface="Calibri" pitchFamily="34" charset="-122"/>
                <a:cs typeface="Calibri" pitchFamily="34" charset="-120"/>
              </a:rPr>
              <a:t>Mr. Akram  ·  GEMS Metropole School  ·  Cases: Perfect Paper plc · Cadbury · Virgin · Berkshire Hathaway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What this lesson covers — the full spec</a:t>
            </a:r>
            <a:endParaRPr lang="en-US" sz="2600" dirty="0"/>
          </a:p>
        </p:txBody>
      </p:sp>
      <p:sp>
        <p:nvSpPr>
          <p:cNvPr id="4" name="Shape 2"/>
          <p:cNvSpPr/>
          <p:nvPr/>
        </p:nvSpPr>
        <p:spPr>
          <a:xfrm>
            <a:off x="548640" y="1417320"/>
            <a:ext cx="11091672" cy="841248"/>
          </a:xfrm>
          <a:prstGeom prst="roundRect">
            <a:avLst>
              <a:gd name="adj" fmla="val 8696"/>
            </a:avLst>
          </a:prstGeom>
          <a:solidFill>
            <a:srgbClr val="EAF3F4"/>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13232" y="1600200"/>
            <a:ext cx="475488" cy="475488"/>
          </a:xfrm>
          <a:prstGeom prst="roundRect">
            <a:avLst>
              <a:gd name="adj" fmla="val 19231"/>
            </a:avLst>
          </a:prstGeom>
          <a:solidFill>
            <a:srgbClr val="0E7C86"/>
          </a:solidFill>
          <a:ln/>
        </p:spPr>
      </p:sp>
      <p:sp>
        <p:nvSpPr>
          <p:cNvPr id="6" name="Text 4"/>
          <p:cNvSpPr txBox="1"/>
          <p:nvPr/>
        </p:nvSpPr>
        <p:spPr>
          <a:xfrm>
            <a:off x="713232" y="1600200"/>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A</a:t>
            </a:r>
            <a:endParaRPr lang="en-US" sz="2100" dirty="0"/>
          </a:p>
        </p:txBody>
      </p:sp>
      <p:sp>
        <p:nvSpPr>
          <p:cNvPr id="7" name="Text 5"/>
          <p:cNvSpPr txBox="1"/>
          <p:nvPr/>
        </p:nvSpPr>
        <p:spPr>
          <a:xfrm>
            <a:off x="1371600" y="1545336"/>
            <a:ext cx="393192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Management vs leadership</a:t>
            </a:r>
            <a:endParaRPr lang="en-US" sz="1450" dirty="0"/>
          </a:p>
        </p:txBody>
      </p:sp>
      <p:sp>
        <p:nvSpPr>
          <p:cNvPr id="8" name="Text 6"/>
          <p:cNvSpPr txBox="1"/>
          <p:nvPr/>
        </p:nvSpPr>
        <p:spPr>
          <a:xfrm>
            <a:off x="5394960" y="1545336"/>
            <a:ext cx="5257800" cy="585216"/>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The distinction between managing and leading</a:t>
            </a:r>
            <a:endParaRPr lang="en-US" sz="1150" dirty="0"/>
          </a:p>
        </p:txBody>
      </p:sp>
      <p:sp>
        <p:nvSpPr>
          <p:cNvPr id="9" name="Shape 7"/>
          <p:cNvSpPr/>
          <p:nvPr/>
        </p:nvSpPr>
        <p:spPr>
          <a:xfrm>
            <a:off x="10744200" y="1673352"/>
            <a:ext cx="749808" cy="347472"/>
          </a:xfrm>
          <a:prstGeom prst="roundRect">
            <a:avLst>
              <a:gd name="adj" fmla="val 26316"/>
            </a:avLst>
          </a:prstGeom>
          <a:solidFill>
            <a:srgbClr val="FBF0D8"/>
          </a:solidFill>
          <a:ln/>
        </p:spPr>
      </p:sp>
      <p:sp>
        <p:nvSpPr>
          <p:cNvPr id="10" name="Text 8"/>
          <p:cNvSpPr txBox="1"/>
          <p:nvPr/>
        </p:nvSpPr>
        <p:spPr>
          <a:xfrm>
            <a:off x="10744200" y="1673352"/>
            <a:ext cx="749808" cy="347472"/>
          </a:xfrm>
          <a:prstGeom prst="rect">
            <a:avLst/>
          </a:prstGeom>
          <a:noFill/>
          <a:ln/>
        </p:spPr>
        <p:txBody>
          <a:bodyPr wrap="square" lIns="0" tIns="0" rIns="0" bIns="0" rtlCol="0" anchor="ctr"/>
          <a:lstStyle/>
          <a:p>
            <a:pPr algn="ctr" indent="0" marL="0">
              <a:buNone/>
            </a:pPr>
            <a:r>
              <a:rPr lang="en-US" sz="950" b="1" dirty="0">
                <a:solidFill>
                  <a:srgbClr val="8A5A06"/>
                </a:solidFill>
                <a:latin typeface="Calibri" pitchFamily="34" charset="0"/>
                <a:ea typeface="Calibri" pitchFamily="34" charset="-122"/>
                <a:cs typeface="Calibri" pitchFamily="34" charset="-120"/>
              </a:rPr>
              <a:t>5a</a:t>
            </a:r>
            <a:endParaRPr lang="en-US" sz="950" dirty="0"/>
          </a:p>
        </p:txBody>
      </p:sp>
      <p:sp>
        <p:nvSpPr>
          <p:cNvPr id="11" name="Shape 9"/>
          <p:cNvSpPr/>
          <p:nvPr/>
        </p:nvSpPr>
        <p:spPr>
          <a:xfrm>
            <a:off x="548640" y="2350008"/>
            <a:ext cx="11091672" cy="841248"/>
          </a:xfrm>
          <a:prstGeom prst="roundRect">
            <a:avLst>
              <a:gd name="adj" fmla="val 869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2" name="Shape 10"/>
          <p:cNvSpPr/>
          <p:nvPr/>
        </p:nvSpPr>
        <p:spPr>
          <a:xfrm>
            <a:off x="713232" y="2532888"/>
            <a:ext cx="475488" cy="475488"/>
          </a:xfrm>
          <a:prstGeom prst="roundRect">
            <a:avLst>
              <a:gd name="adj" fmla="val 19231"/>
            </a:avLst>
          </a:prstGeom>
          <a:solidFill>
            <a:srgbClr val="0E7C86"/>
          </a:solidFill>
          <a:ln/>
        </p:spPr>
      </p:sp>
      <p:sp>
        <p:nvSpPr>
          <p:cNvPr id="13" name="Text 11"/>
          <p:cNvSpPr txBox="1"/>
          <p:nvPr/>
        </p:nvSpPr>
        <p:spPr>
          <a:xfrm>
            <a:off x="713232" y="2532888"/>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B</a:t>
            </a:r>
            <a:endParaRPr lang="en-US" sz="2100" dirty="0"/>
          </a:p>
        </p:txBody>
      </p:sp>
      <p:sp>
        <p:nvSpPr>
          <p:cNvPr id="14" name="Text 12"/>
          <p:cNvSpPr txBox="1"/>
          <p:nvPr/>
        </p:nvSpPr>
        <p:spPr>
          <a:xfrm>
            <a:off x="1371600" y="2478024"/>
            <a:ext cx="393192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The four leadership styles</a:t>
            </a:r>
            <a:endParaRPr lang="en-US" sz="1450" dirty="0"/>
          </a:p>
        </p:txBody>
      </p:sp>
      <p:sp>
        <p:nvSpPr>
          <p:cNvPr id="15" name="Text 13"/>
          <p:cNvSpPr txBox="1"/>
          <p:nvPr/>
        </p:nvSpPr>
        <p:spPr>
          <a:xfrm>
            <a:off x="5394960" y="2478024"/>
            <a:ext cx="5257800" cy="585216"/>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Autocratic · paternalistic · democratic · laissez-faire</a:t>
            </a:r>
            <a:endParaRPr lang="en-US" sz="1150" dirty="0"/>
          </a:p>
        </p:txBody>
      </p:sp>
      <p:sp>
        <p:nvSpPr>
          <p:cNvPr id="16" name="Shape 14"/>
          <p:cNvSpPr/>
          <p:nvPr/>
        </p:nvSpPr>
        <p:spPr>
          <a:xfrm>
            <a:off x="10744200" y="2606040"/>
            <a:ext cx="749808" cy="347472"/>
          </a:xfrm>
          <a:prstGeom prst="roundRect">
            <a:avLst>
              <a:gd name="adj" fmla="val 26316"/>
            </a:avLst>
          </a:prstGeom>
          <a:solidFill>
            <a:srgbClr val="FBF0D8"/>
          </a:solidFill>
          <a:ln/>
        </p:spPr>
      </p:sp>
      <p:sp>
        <p:nvSpPr>
          <p:cNvPr id="17" name="Text 15"/>
          <p:cNvSpPr txBox="1"/>
          <p:nvPr/>
        </p:nvSpPr>
        <p:spPr>
          <a:xfrm>
            <a:off x="10744200" y="2606040"/>
            <a:ext cx="749808" cy="347472"/>
          </a:xfrm>
          <a:prstGeom prst="rect">
            <a:avLst/>
          </a:prstGeom>
          <a:noFill/>
          <a:ln/>
        </p:spPr>
        <p:txBody>
          <a:bodyPr wrap="square" lIns="0" tIns="0" rIns="0" bIns="0" rtlCol="0" anchor="ctr"/>
          <a:lstStyle/>
          <a:p>
            <a:pPr algn="ctr" indent="0" marL="0">
              <a:buNone/>
            </a:pPr>
            <a:r>
              <a:rPr lang="en-US" sz="950" b="1" dirty="0">
                <a:solidFill>
                  <a:srgbClr val="8A5A06"/>
                </a:solidFill>
                <a:latin typeface="Calibri" pitchFamily="34" charset="0"/>
                <a:ea typeface="Calibri" pitchFamily="34" charset="-122"/>
                <a:cs typeface="Calibri" pitchFamily="34" charset="-120"/>
              </a:rPr>
              <a:t>5b</a:t>
            </a:r>
            <a:endParaRPr lang="en-US" sz="950" dirty="0"/>
          </a:p>
        </p:txBody>
      </p:sp>
      <p:sp>
        <p:nvSpPr>
          <p:cNvPr id="18" name="Shape 16"/>
          <p:cNvSpPr/>
          <p:nvPr/>
        </p:nvSpPr>
        <p:spPr>
          <a:xfrm>
            <a:off x="548640" y="3282696"/>
            <a:ext cx="11091672" cy="841248"/>
          </a:xfrm>
          <a:prstGeom prst="roundRect">
            <a:avLst>
              <a:gd name="adj" fmla="val 869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9" name="Shape 17"/>
          <p:cNvSpPr/>
          <p:nvPr/>
        </p:nvSpPr>
        <p:spPr>
          <a:xfrm>
            <a:off x="713232" y="3465576"/>
            <a:ext cx="475488" cy="475488"/>
          </a:xfrm>
          <a:prstGeom prst="roundRect">
            <a:avLst>
              <a:gd name="adj" fmla="val 19231"/>
            </a:avLst>
          </a:prstGeom>
          <a:solidFill>
            <a:srgbClr val="0E7C86"/>
          </a:solidFill>
          <a:ln/>
        </p:spPr>
      </p:sp>
      <p:sp>
        <p:nvSpPr>
          <p:cNvPr id="20" name="Text 18"/>
          <p:cNvSpPr txBox="1"/>
          <p:nvPr/>
        </p:nvSpPr>
        <p:spPr>
          <a:xfrm>
            <a:off x="713232" y="3465576"/>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C</a:t>
            </a:r>
            <a:endParaRPr lang="en-US" sz="2100" dirty="0"/>
          </a:p>
        </p:txBody>
      </p:sp>
      <p:sp>
        <p:nvSpPr>
          <p:cNvPr id="21" name="Text 19"/>
          <p:cNvSpPr txBox="1"/>
          <p:nvPr/>
        </p:nvSpPr>
        <p:spPr>
          <a:xfrm>
            <a:off x="1371600" y="3410712"/>
            <a:ext cx="393192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Choosing a style</a:t>
            </a:r>
            <a:endParaRPr lang="en-US" sz="1450" dirty="0"/>
          </a:p>
        </p:txBody>
      </p:sp>
      <p:sp>
        <p:nvSpPr>
          <p:cNvPr id="22" name="Text 20"/>
          <p:cNvSpPr txBox="1"/>
          <p:nvPr/>
        </p:nvSpPr>
        <p:spPr>
          <a:xfrm>
            <a:off x="5394960" y="3410712"/>
            <a:ext cx="5257800" cy="585216"/>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Which style suits which situation — and why styles are changing</a:t>
            </a:r>
            <a:endParaRPr lang="en-US" sz="1150" dirty="0"/>
          </a:p>
        </p:txBody>
      </p:sp>
      <p:sp>
        <p:nvSpPr>
          <p:cNvPr id="23" name="Shape 21"/>
          <p:cNvSpPr/>
          <p:nvPr/>
        </p:nvSpPr>
        <p:spPr>
          <a:xfrm>
            <a:off x="10744200" y="3538728"/>
            <a:ext cx="749808" cy="347472"/>
          </a:xfrm>
          <a:prstGeom prst="roundRect">
            <a:avLst>
              <a:gd name="adj" fmla="val 26316"/>
            </a:avLst>
          </a:prstGeom>
          <a:solidFill>
            <a:srgbClr val="FBF0D8"/>
          </a:solidFill>
          <a:ln/>
        </p:spPr>
      </p:sp>
      <p:sp>
        <p:nvSpPr>
          <p:cNvPr id="24" name="Text 22"/>
          <p:cNvSpPr txBox="1"/>
          <p:nvPr/>
        </p:nvSpPr>
        <p:spPr>
          <a:xfrm>
            <a:off x="10744200" y="3538728"/>
            <a:ext cx="749808" cy="347472"/>
          </a:xfrm>
          <a:prstGeom prst="rect">
            <a:avLst/>
          </a:prstGeom>
          <a:noFill/>
          <a:ln/>
        </p:spPr>
        <p:txBody>
          <a:bodyPr wrap="square" lIns="0" tIns="0" rIns="0" bIns="0" rtlCol="0" anchor="ctr"/>
          <a:lstStyle/>
          <a:p>
            <a:pPr algn="ctr" indent="0" marL="0">
              <a:buNone/>
            </a:pPr>
            <a:r>
              <a:rPr lang="en-US" sz="950" b="1" dirty="0">
                <a:solidFill>
                  <a:srgbClr val="8A5A06"/>
                </a:solidFill>
                <a:latin typeface="Calibri" pitchFamily="34" charset="0"/>
                <a:ea typeface="Calibri" pitchFamily="34" charset="-122"/>
                <a:cs typeface="Calibri" pitchFamily="34" charset="-120"/>
              </a:rPr>
              <a:t>5b</a:t>
            </a:r>
            <a:endParaRPr lang="en-US" sz="950" dirty="0"/>
          </a:p>
        </p:txBody>
      </p:sp>
      <p:sp>
        <p:nvSpPr>
          <p:cNvPr id="25" name="Shape 23"/>
          <p:cNvSpPr/>
          <p:nvPr/>
        </p:nvSpPr>
        <p:spPr>
          <a:xfrm>
            <a:off x="548640" y="4215384"/>
            <a:ext cx="11091672" cy="841248"/>
          </a:xfrm>
          <a:prstGeom prst="roundRect">
            <a:avLst>
              <a:gd name="adj" fmla="val 869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6" name="Shape 24"/>
          <p:cNvSpPr/>
          <p:nvPr/>
        </p:nvSpPr>
        <p:spPr>
          <a:xfrm>
            <a:off x="713232" y="4398264"/>
            <a:ext cx="475488" cy="475488"/>
          </a:xfrm>
          <a:prstGeom prst="roundRect">
            <a:avLst>
              <a:gd name="adj" fmla="val 19231"/>
            </a:avLst>
          </a:prstGeom>
          <a:solidFill>
            <a:srgbClr val="0E7C86"/>
          </a:solidFill>
          <a:ln/>
        </p:spPr>
      </p:sp>
      <p:sp>
        <p:nvSpPr>
          <p:cNvPr id="27" name="Text 25"/>
          <p:cNvSpPr txBox="1"/>
          <p:nvPr/>
        </p:nvSpPr>
        <p:spPr>
          <a:xfrm>
            <a:off x="713232" y="4398264"/>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D</a:t>
            </a:r>
            <a:endParaRPr lang="en-US" sz="2100" dirty="0"/>
          </a:p>
        </p:txBody>
      </p:sp>
      <p:sp>
        <p:nvSpPr>
          <p:cNvPr id="28" name="Text 26"/>
          <p:cNvSpPr txBox="1"/>
          <p:nvPr/>
        </p:nvSpPr>
        <p:spPr>
          <a:xfrm>
            <a:off x="1371600" y="4343400"/>
            <a:ext cx="393192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Bridge: entrepreneur → leader</a:t>
            </a:r>
            <a:endParaRPr lang="en-US" sz="1450" dirty="0"/>
          </a:p>
        </p:txBody>
      </p:sp>
      <p:sp>
        <p:nvSpPr>
          <p:cNvPr id="29" name="Text 27"/>
          <p:cNvSpPr txBox="1"/>
          <p:nvPr/>
        </p:nvSpPr>
        <p:spPr>
          <a:xfrm>
            <a:off x="5394960" y="4343400"/>
            <a:ext cx="5257800" cy="585216"/>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How a founder's role changes as the business grows (leads to 1.3.5)</a:t>
            </a:r>
            <a:endParaRPr lang="en-US" sz="1150" dirty="0"/>
          </a:p>
        </p:txBody>
      </p:sp>
      <p:sp>
        <p:nvSpPr>
          <p:cNvPr id="30" name="Shape 28"/>
          <p:cNvSpPr/>
          <p:nvPr/>
        </p:nvSpPr>
        <p:spPr>
          <a:xfrm>
            <a:off x="10744200" y="4471416"/>
            <a:ext cx="749808" cy="347472"/>
          </a:xfrm>
          <a:prstGeom prst="roundRect">
            <a:avLst>
              <a:gd name="adj" fmla="val 26316"/>
            </a:avLst>
          </a:prstGeom>
          <a:solidFill>
            <a:srgbClr val="FBF0D8"/>
          </a:solidFill>
          <a:ln/>
        </p:spPr>
      </p:sp>
      <p:sp>
        <p:nvSpPr>
          <p:cNvPr id="31" name="Text 29"/>
          <p:cNvSpPr txBox="1"/>
          <p:nvPr/>
        </p:nvSpPr>
        <p:spPr>
          <a:xfrm>
            <a:off x="10744200" y="4471416"/>
            <a:ext cx="749808" cy="347472"/>
          </a:xfrm>
          <a:prstGeom prst="rect">
            <a:avLst/>
          </a:prstGeom>
          <a:noFill/>
          <a:ln/>
        </p:spPr>
        <p:txBody>
          <a:bodyPr wrap="square" lIns="0" tIns="0" rIns="0" bIns="0" rtlCol="0" anchor="ctr"/>
          <a:lstStyle/>
          <a:p>
            <a:pPr algn="ctr" indent="0" marL="0">
              <a:buNone/>
            </a:pPr>
            <a:r>
              <a:rPr lang="en-US" sz="950" b="1" dirty="0">
                <a:solidFill>
                  <a:srgbClr val="8A5A06"/>
                </a:solidFill>
                <a:latin typeface="Calibri" pitchFamily="34" charset="0"/>
                <a:ea typeface="Calibri" pitchFamily="34" charset="-122"/>
                <a:cs typeface="Calibri" pitchFamily="34" charset="-120"/>
              </a:rPr>
              <a:t>→</a:t>
            </a:r>
            <a:endParaRPr lang="en-US" sz="950" dirty="0"/>
          </a:p>
        </p:txBody>
      </p:sp>
      <p:sp>
        <p:nvSpPr>
          <p:cNvPr id="32" name="Shape 30"/>
          <p:cNvSpPr/>
          <p:nvPr/>
        </p:nvSpPr>
        <p:spPr>
          <a:xfrm>
            <a:off x="548640" y="5148072"/>
            <a:ext cx="11091672" cy="841248"/>
          </a:xfrm>
          <a:prstGeom prst="roundRect">
            <a:avLst>
              <a:gd name="adj" fmla="val 869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33" name="Shape 31"/>
          <p:cNvSpPr/>
          <p:nvPr/>
        </p:nvSpPr>
        <p:spPr>
          <a:xfrm>
            <a:off x="713232" y="5330952"/>
            <a:ext cx="475488" cy="475488"/>
          </a:xfrm>
          <a:prstGeom prst="roundRect">
            <a:avLst>
              <a:gd name="adj" fmla="val 19231"/>
            </a:avLst>
          </a:prstGeom>
          <a:solidFill>
            <a:srgbClr val="0E7C86"/>
          </a:solidFill>
          <a:ln/>
        </p:spPr>
      </p:sp>
      <p:sp>
        <p:nvSpPr>
          <p:cNvPr id="34" name="Text 32"/>
          <p:cNvSpPr txBox="1"/>
          <p:nvPr/>
        </p:nvSpPr>
        <p:spPr>
          <a:xfrm>
            <a:off x="713232" y="5330952"/>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E</a:t>
            </a:r>
            <a:endParaRPr lang="en-US" sz="2100" dirty="0"/>
          </a:p>
        </p:txBody>
      </p:sp>
      <p:sp>
        <p:nvSpPr>
          <p:cNvPr id="35" name="Text 33"/>
          <p:cNvSpPr txBox="1"/>
          <p:nvPr/>
        </p:nvSpPr>
        <p:spPr>
          <a:xfrm>
            <a:off x="1371600" y="5276088"/>
            <a:ext cx="393192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A-grade exam skills</a:t>
            </a:r>
            <a:endParaRPr lang="en-US" sz="1450" dirty="0"/>
          </a:p>
        </p:txBody>
      </p:sp>
      <p:sp>
        <p:nvSpPr>
          <p:cNvPr id="36" name="Text 34"/>
          <p:cNvSpPr txBox="1"/>
          <p:nvPr/>
        </p:nvSpPr>
        <p:spPr>
          <a:xfrm>
            <a:off x="5394960" y="5276088"/>
            <a:ext cx="5257800" cy="585216"/>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Perfect Paper plc — the [10] and the [20]</a:t>
            </a:r>
            <a:endParaRPr lang="en-US" sz="1150" dirty="0"/>
          </a:p>
        </p:txBody>
      </p:sp>
      <p:sp>
        <p:nvSpPr>
          <p:cNvPr id="37" name="Shape 35"/>
          <p:cNvSpPr/>
          <p:nvPr/>
        </p:nvSpPr>
        <p:spPr>
          <a:xfrm>
            <a:off x="10744200" y="5404104"/>
            <a:ext cx="749808" cy="347472"/>
          </a:xfrm>
          <a:prstGeom prst="roundRect">
            <a:avLst>
              <a:gd name="adj" fmla="val 26316"/>
            </a:avLst>
          </a:prstGeom>
          <a:solidFill>
            <a:srgbClr val="FBF0D8"/>
          </a:solidFill>
          <a:ln/>
        </p:spPr>
      </p:sp>
      <p:sp>
        <p:nvSpPr>
          <p:cNvPr id="38" name="Text 36"/>
          <p:cNvSpPr txBox="1"/>
          <p:nvPr/>
        </p:nvSpPr>
        <p:spPr>
          <a:xfrm>
            <a:off x="10744200" y="5404104"/>
            <a:ext cx="749808" cy="347472"/>
          </a:xfrm>
          <a:prstGeom prst="rect">
            <a:avLst/>
          </a:prstGeom>
          <a:noFill/>
          <a:ln/>
        </p:spPr>
        <p:txBody>
          <a:bodyPr wrap="square" lIns="0" tIns="0" rIns="0" bIns="0" rtlCol="0" anchor="ctr"/>
          <a:lstStyle/>
          <a:p>
            <a:pPr algn="ctr" indent="0" marL="0">
              <a:buNone/>
            </a:pPr>
            <a:r>
              <a:rPr lang="en-US" sz="950" b="1" dirty="0">
                <a:solidFill>
                  <a:srgbClr val="8A5A06"/>
                </a:solidFill>
                <a:latin typeface="Calibri" pitchFamily="34" charset="0"/>
                <a:ea typeface="Calibri" pitchFamily="34" charset="-122"/>
                <a:cs typeface="Calibri" pitchFamily="34" charset="-120"/>
              </a:rPr>
              <a:t>—</a:t>
            </a:r>
            <a:endParaRPr lang="en-US" sz="9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WHERE IT FITS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Where this sits in Managing people (1.3.4)</a:t>
            </a:r>
            <a:endParaRPr lang="en-US" sz="2600" dirty="0"/>
          </a:p>
        </p:txBody>
      </p:sp>
      <p:sp>
        <p:nvSpPr>
          <p:cNvPr id="4" name="Shape 2"/>
          <p:cNvSpPr/>
          <p:nvPr/>
        </p:nvSpPr>
        <p:spPr>
          <a:xfrm>
            <a:off x="548640" y="1371600"/>
            <a:ext cx="6675120" cy="4800600"/>
          </a:xfrm>
          <a:prstGeom prst="roundRect">
            <a:avLst>
              <a:gd name="adj" fmla="val 152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6217920" cy="329184"/>
          </a:xfrm>
          <a:prstGeom prst="rect">
            <a:avLst/>
          </a:prstGeom>
          <a:noFill/>
          <a:ln/>
        </p:spPr>
        <p:txBody>
          <a:bodyPr wrap="square" lIns="0" tIns="0" rIns="0" bIns="0" rtlCol="0" anchor="ctr"/>
          <a:lstStyle/>
          <a:p>
            <a:pPr indent="0" marL="0">
              <a:buNone/>
            </a:pPr>
            <a:r>
              <a:rPr lang="en-US" sz="1350" b="1" dirty="0">
                <a:solidFill>
                  <a:srgbClr val="0E3A43"/>
                </a:solidFill>
                <a:latin typeface="Calibri" pitchFamily="34" charset="0"/>
                <a:ea typeface="Calibri" pitchFamily="34" charset="-122"/>
                <a:cs typeface="Calibri" pitchFamily="34" charset="-120"/>
              </a:rPr>
              <a:t>Section 1.3.4  Managing people</a:t>
            </a:r>
            <a:endParaRPr lang="en-US" sz="1350" dirty="0"/>
          </a:p>
        </p:txBody>
      </p:sp>
      <p:sp>
        <p:nvSpPr>
          <p:cNvPr id="6" name="Shape 4"/>
          <p:cNvSpPr/>
          <p:nvPr/>
        </p:nvSpPr>
        <p:spPr>
          <a:xfrm>
            <a:off x="749808" y="1901952"/>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7" name="Shape 5"/>
          <p:cNvSpPr/>
          <p:nvPr/>
        </p:nvSpPr>
        <p:spPr>
          <a:xfrm>
            <a:off x="914400" y="2084832"/>
            <a:ext cx="457200" cy="457200"/>
          </a:xfrm>
          <a:prstGeom prst="roundRect">
            <a:avLst>
              <a:gd name="adj" fmla="val 20000"/>
            </a:avLst>
          </a:prstGeom>
          <a:solidFill>
            <a:srgbClr val="0E7C86"/>
          </a:solidFill>
          <a:ln/>
        </p:spPr>
      </p:sp>
      <p:sp>
        <p:nvSpPr>
          <p:cNvPr id="8" name="Text 6"/>
          <p:cNvSpPr txBox="1"/>
          <p:nvPr/>
        </p:nvSpPr>
        <p:spPr>
          <a:xfrm>
            <a:off x="914400" y="208483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Text 7"/>
          <p:cNvSpPr txBox="1"/>
          <p:nvPr/>
        </p:nvSpPr>
        <p:spPr>
          <a:xfrm>
            <a:off x="1508760" y="2011680"/>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Approaches to staffing</a:t>
            </a:r>
            <a:endParaRPr lang="en-US" sz="1250" dirty="0"/>
          </a:p>
        </p:txBody>
      </p:sp>
      <p:sp>
        <p:nvSpPr>
          <p:cNvPr id="10" name="Text 8"/>
          <p:cNvSpPr txBox="1"/>
          <p:nvPr/>
        </p:nvSpPr>
        <p:spPr>
          <a:xfrm>
            <a:off x="1508760" y="2313432"/>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asset vs cost, flexible workforce — done</a:t>
            </a:r>
            <a:endParaRPr lang="en-US" sz="1030" dirty="0"/>
          </a:p>
        </p:txBody>
      </p:sp>
      <p:sp>
        <p:nvSpPr>
          <p:cNvPr id="11" name="Shape 9"/>
          <p:cNvSpPr/>
          <p:nvPr/>
        </p:nvSpPr>
        <p:spPr>
          <a:xfrm>
            <a:off x="749808" y="2761488"/>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12" name="Shape 10"/>
          <p:cNvSpPr/>
          <p:nvPr/>
        </p:nvSpPr>
        <p:spPr>
          <a:xfrm>
            <a:off x="914400" y="2944368"/>
            <a:ext cx="457200" cy="457200"/>
          </a:xfrm>
          <a:prstGeom prst="roundRect">
            <a:avLst>
              <a:gd name="adj" fmla="val 20000"/>
            </a:avLst>
          </a:prstGeom>
          <a:solidFill>
            <a:srgbClr val="0E7C86"/>
          </a:solidFill>
          <a:ln/>
        </p:spPr>
      </p:sp>
      <p:sp>
        <p:nvSpPr>
          <p:cNvPr id="13" name="Text 11"/>
          <p:cNvSpPr txBox="1"/>
          <p:nvPr/>
        </p:nvSpPr>
        <p:spPr>
          <a:xfrm>
            <a:off x="914400" y="294436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4" name="Text 12"/>
          <p:cNvSpPr txBox="1"/>
          <p:nvPr/>
        </p:nvSpPr>
        <p:spPr>
          <a:xfrm>
            <a:off x="1508760" y="2871216"/>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Recruitment, selection &amp; training</a:t>
            </a:r>
            <a:endParaRPr lang="en-US" sz="1250" dirty="0"/>
          </a:p>
        </p:txBody>
      </p:sp>
      <p:sp>
        <p:nvSpPr>
          <p:cNvPr id="15" name="Text 13"/>
          <p:cNvSpPr txBox="1"/>
          <p:nvPr/>
        </p:nvSpPr>
        <p:spPr>
          <a:xfrm>
            <a:off x="1508760" y="3172968"/>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internal/external, costs, training types — done</a:t>
            </a:r>
            <a:endParaRPr lang="en-US" sz="1030" dirty="0"/>
          </a:p>
        </p:txBody>
      </p:sp>
      <p:sp>
        <p:nvSpPr>
          <p:cNvPr id="16" name="Shape 14"/>
          <p:cNvSpPr/>
          <p:nvPr/>
        </p:nvSpPr>
        <p:spPr>
          <a:xfrm>
            <a:off x="749808" y="3621024"/>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17" name="Shape 15"/>
          <p:cNvSpPr/>
          <p:nvPr/>
        </p:nvSpPr>
        <p:spPr>
          <a:xfrm>
            <a:off x="914400" y="3803904"/>
            <a:ext cx="457200" cy="457200"/>
          </a:xfrm>
          <a:prstGeom prst="roundRect">
            <a:avLst>
              <a:gd name="adj" fmla="val 20000"/>
            </a:avLst>
          </a:prstGeom>
          <a:solidFill>
            <a:srgbClr val="0E7C86"/>
          </a:solidFill>
          <a:ln/>
        </p:spPr>
      </p:sp>
      <p:sp>
        <p:nvSpPr>
          <p:cNvPr id="18" name="Text 16"/>
          <p:cNvSpPr txBox="1"/>
          <p:nvPr/>
        </p:nvSpPr>
        <p:spPr>
          <a:xfrm>
            <a:off x="914400" y="380390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19" name="Text 17"/>
          <p:cNvSpPr txBox="1"/>
          <p:nvPr/>
        </p:nvSpPr>
        <p:spPr>
          <a:xfrm>
            <a:off x="1508760" y="3730752"/>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Organisational design</a:t>
            </a:r>
            <a:endParaRPr lang="en-US" sz="1250" dirty="0"/>
          </a:p>
        </p:txBody>
      </p:sp>
      <p:sp>
        <p:nvSpPr>
          <p:cNvPr id="20" name="Text 18"/>
          <p:cNvSpPr txBox="1"/>
          <p:nvPr/>
        </p:nvSpPr>
        <p:spPr>
          <a:xfrm>
            <a:off x="1508760" y="4032504"/>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hierarchy, span, tall/flat/matrix — done</a:t>
            </a:r>
            <a:endParaRPr lang="en-US" sz="1030" dirty="0"/>
          </a:p>
        </p:txBody>
      </p:sp>
      <p:sp>
        <p:nvSpPr>
          <p:cNvPr id="21" name="Shape 19"/>
          <p:cNvSpPr/>
          <p:nvPr/>
        </p:nvSpPr>
        <p:spPr>
          <a:xfrm>
            <a:off x="749808" y="4480560"/>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22" name="Shape 20"/>
          <p:cNvSpPr/>
          <p:nvPr/>
        </p:nvSpPr>
        <p:spPr>
          <a:xfrm>
            <a:off x="914400" y="4663440"/>
            <a:ext cx="457200" cy="457200"/>
          </a:xfrm>
          <a:prstGeom prst="roundRect">
            <a:avLst>
              <a:gd name="adj" fmla="val 20000"/>
            </a:avLst>
          </a:prstGeom>
          <a:solidFill>
            <a:srgbClr val="0E7C86"/>
          </a:solidFill>
          <a:ln/>
        </p:spPr>
      </p:sp>
      <p:sp>
        <p:nvSpPr>
          <p:cNvPr id="23" name="Text 21"/>
          <p:cNvSpPr txBox="1"/>
          <p:nvPr/>
        </p:nvSpPr>
        <p:spPr>
          <a:xfrm>
            <a:off x="914400" y="46634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4" name="Text 22"/>
          <p:cNvSpPr txBox="1"/>
          <p:nvPr/>
        </p:nvSpPr>
        <p:spPr>
          <a:xfrm>
            <a:off x="1508760" y="4590288"/>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Motivation in theory &amp; practice</a:t>
            </a:r>
            <a:endParaRPr lang="en-US" sz="1250" dirty="0"/>
          </a:p>
        </p:txBody>
      </p:sp>
      <p:sp>
        <p:nvSpPr>
          <p:cNvPr id="25" name="Text 23"/>
          <p:cNvSpPr txBox="1"/>
          <p:nvPr/>
        </p:nvSpPr>
        <p:spPr>
          <a:xfrm>
            <a:off x="1508760" y="4892040"/>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theories, financial &amp; non-financial methods — done</a:t>
            </a:r>
            <a:endParaRPr lang="en-US" sz="1030" dirty="0"/>
          </a:p>
        </p:txBody>
      </p:sp>
      <p:sp>
        <p:nvSpPr>
          <p:cNvPr id="26" name="Shape 24"/>
          <p:cNvSpPr/>
          <p:nvPr/>
        </p:nvSpPr>
        <p:spPr>
          <a:xfrm>
            <a:off x="749808" y="5340096"/>
            <a:ext cx="6272784" cy="841248"/>
          </a:xfrm>
          <a:prstGeom prst="roundRect">
            <a:avLst>
              <a:gd name="adj" fmla="val 8696"/>
            </a:avLst>
          </a:prstGeom>
          <a:solidFill>
            <a:srgbClr val="FBF0D8"/>
          </a:solidFill>
          <a:ln/>
          <a:effectLst>
            <a:outerShdw sx="100000" sy="100000" kx="0" ky="0" algn="bl" rotWithShape="0" blurRad="76200" dist="25400" dir="5400000">
              <a:srgbClr val="9AAAB0">
                <a:alpha val="28000"/>
              </a:srgbClr>
            </a:outerShdw>
          </a:effectLst>
        </p:spPr>
      </p:sp>
      <p:sp>
        <p:nvSpPr>
          <p:cNvPr id="27" name="Shape 25"/>
          <p:cNvSpPr/>
          <p:nvPr/>
        </p:nvSpPr>
        <p:spPr>
          <a:xfrm>
            <a:off x="749808" y="5340096"/>
            <a:ext cx="91440" cy="841248"/>
          </a:xfrm>
          <a:prstGeom prst="roundRect">
            <a:avLst/>
          </a:prstGeom>
          <a:solidFill>
            <a:srgbClr val="E0940F"/>
          </a:solidFill>
          <a:ln/>
        </p:spPr>
      </p:sp>
      <p:sp>
        <p:nvSpPr>
          <p:cNvPr id="28" name="Shape 26"/>
          <p:cNvSpPr/>
          <p:nvPr/>
        </p:nvSpPr>
        <p:spPr>
          <a:xfrm>
            <a:off x="914400" y="5522976"/>
            <a:ext cx="457200" cy="457200"/>
          </a:xfrm>
          <a:prstGeom prst="roundRect">
            <a:avLst>
              <a:gd name="adj" fmla="val 20000"/>
            </a:avLst>
          </a:prstGeom>
          <a:solidFill>
            <a:srgbClr val="E0940F"/>
          </a:solidFill>
          <a:ln/>
        </p:spPr>
      </p:sp>
      <p:sp>
        <p:nvSpPr>
          <p:cNvPr id="29" name="Text 27"/>
          <p:cNvSpPr txBox="1"/>
          <p:nvPr/>
        </p:nvSpPr>
        <p:spPr>
          <a:xfrm>
            <a:off x="914400" y="552297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30" name="Text 28"/>
          <p:cNvSpPr txBox="1"/>
          <p:nvPr/>
        </p:nvSpPr>
        <p:spPr>
          <a:xfrm>
            <a:off x="1508760" y="5449824"/>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Leadership   ← this lesson</a:t>
            </a:r>
            <a:endParaRPr lang="en-US" sz="1250" dirty="0"/>
          </a:p>
        </p:txBody>
      </p:sp>
      <p:sp>
        <p:nvSpPr>
          <p:cNvPr id="31" name="Text 29"/>
          <p:cNvSpPr txBox="1"/>
          <p:nvPr/>
        </p:nvSpPr>
        <p:spPr>
          <a:xfrm>
            <a:off x="1508760" y="5751576"/>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management vs leadership; the four leadership styles</a:t>
            </a:r>
            <a:endParaRPr lang="en-US" sz="1030" dirty="0"/>
          </a:p>
        </p:txBody>
      </p:sp>
      <p:sp>
        <p:nvSpPr>
          <p:cNvPr id="32" name="Shape 30"/>
          <p:cNvSpPr/>
          <p:nvPr/>
        </p:nvSpPr>
        <p:spPr>
          <a:xfrm>
            <a:off x="7360920" y="1371600"/>
            <a:ext cx="4279392" cy="4800600"/>
          </a:xfrm>
          <a:prstGeom prst="roundRect">
            <a:avLst>
              <a:gd name="adj" fmla="val 1709"/>
            </a:avLst>
          </a:prstGeom>
          <a:solidFill>
            <a:srgbClr val="EAF3F4"/>
          </a:solidFill>
          <a:ln/>
          <a:effectLst>
            <a:outerShdw sx="100000" sy="100000" kx="0" ky="0" algn="bl" rotWithShape="0" blurRad="76200" dist="25400" dir="5400000">
              <a:srgbClr val="9AAAB0">
                <a:alpha val="28000"/>
              </a:srgbClr>
            </a:outerShdw>
          </a:effectLst>
        </p:spPr>
      </p:sp>
      <p:sp>
        <p:nvSpPr>
          <p:cNvPr id="33" name="Text 31"/>
          <p:cNvSpPr txBox="1"/>
          <p:nvPr/>
        </p:nvSpPr>
        <p:spPr>
          <a:xfrm>
            <a:off x="7571232" y="1508760"/>
            <a:ext cx="3840480" cy="36576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How it links across the course</a:t>
            </a:r>
            <a:endParaRPr lang="en-US" sz="1400" dirty="0"/>
          </a:p>
        </p:txBody>
      </p:sp>
      <p:sp>
        <p:nvSpPr>
          <p:cNvPr id="34" name="Text 32"/>
          <p:cNvSpPr txBox="1"/>
          <p:nvPr/>
        </p:nvSpPr>
        <p:spPr>
          <a:xfrm>
            <a:off x="7571232" y="1965960"/>
            <a:ext cx="3886200" cy="4023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Leadership style decides how motivation (section 4) is delivered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Delegation &amp; empowerment link to democratic &amp; laissez-faire styles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Paternalistic leadership links back to Mayo &amp; Maslow</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The entrepreneur→leader shift leads into 1.3.5</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Closes Managing people — the ‘people’ half of Unit 1</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A</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A</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Management vs leadership</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what each word means  ·  how leaders and managers differ  ·  why a growing business needs both</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DEFINITIONS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Leadership and management — not the same thing</a:t>
            </a:r>
            <a:endParaRPr lang="en-US" sz="2600" dirty="0"/>
          </a:p>
        </p:txBody>
      </p:sp>
      <p:sp>
        <p:nvSpPr>
          <p:cNvPr id="4" name="Shape 2"/>
          <p:cNvSpPr/>
          <p:nvPr/>
        </p:nvSpPr>
        <p:spPr>
          <a:xfrm>
            <a:off x="548640" y="1463040"/>
            <a:ext cx="5440680" cy="2286000"/>
          </a:xfrm>
          <a:prstGeom prst="roundRect">
            <a:avLst>
              <a:gd name="adj" fmla="val 3200"/>
            </a:avLst>
          </a:prstGeom>
          <a:solidFill>
            <a:srgbClr val="EAF3F4"/>
          </a:solidFill>
          <a:ln/>
          <a:effectLst>
            <a:outerShdw sx="100000" sy="100000" kx="0" ky="0" algn="bl" rotWithShape="0" blurRad="76200" dist="25400" dir="5400000">
              <a:srgbClr val="9AAAB0">
                <a:alpha val="28000"/>
              </a:srgbClr>
            </a:outerShdw>
          </a:effectLst>
        </p:spPr>
      </p:sp>
      <p:sp>
        <p:nvSpPr>
          <p:cNvPr id="5" name="Shape 3"/>
          <p:cNvSpPr/>
          <p:nvPr/>
        </p:nvSpPr>
        <p:spPr>
          <a:xfrm>
            <a:off x="777240" y="1627632"/>
            <a:ext cx="2743200" cy="310896"/>
          </a:xfrm>
          <a:prstGeom prst="roundRect">
            <a:avLst>
              <a:gd name="adj" fmla="val 50000"/>
            </a:avLst>
          </a:prstGeom>
          <a:solidFill>
            <a:srgbClr val="0E7C86"/>
          </a:solidFill>
          <a:ln/>
        </p:spPr>
      </p:sp>
      <p:sp>
        <p:nvSpPr>
          <p:cNvPr id="6" name="Text 4"/>
          <p:cNvSpPr txBox="1"/>
          <p:nvPr/>
        </p:nvSpPr>
        <p:spPr>
          <a:xfrm>
            <a:off x="777240" y="1627632"/>
            <a:ext cx="2743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LEADERSHIP</a:t>
            </a:r>
            <a:endParaRPr lang="en-US" sz="1050" dirty="0"/>
          </a:p>
        </p:txBody>
      </p:sp>
      <p:sp>
        <p:nvSpPr>
          <p:cNvPr id="7" name="Text 5"/>
          <p:cNvSpPr txBox="1"/>
          <p:nvPr/>
        </p:nvSpPr>
        <p:spPr>
          <a:xfrm>
            <a:off x="777240" y="2066544"/>
            <a:ext cx="4983480" cy="822960"/>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The action of leading a group of people or an organisation — showing direction and setting the vision.</a:t>
            </a:r>
            <a:endParaRPr lang="en-US" sz="1350" dirty="0"/>
          </a:p>
        </p:txBody>
      </p:sp>
      <p:sp>
        <p:nvSpPr>
          <p:cNvPr id="8" name="Text 6"/>
          <p:cNvSpPr txBox="1"/>
          <p:nvPr/>
        </p:nvSpPr>
        <p:spPr>
          <a:xfrm>
            <a:off x="777240" y="2926080"/>
            <a:ext cx="4983480" cy="731520"/>
          </a:xfrm>
          <a:prstGeom prst="rect">
            <a:avLst/>
          </a:prstGeom>
          <a:noFill/>
          <a:ln/>
        </p:spPr>
        <p:txBody>
          <a:bodyPr wrap="square" lIns="0" tIns="0" rIns="0" bIns="0" rtlCol="0" anchor="t"/>
          <a:lstStyle/>
          <a:p>
            <a:pPr indent="0" marL="0">
              <a:buNone/>
            </a:pPr>
            <a:r>
              <a:rPr lang="en-US" sz="1250" b="1" dirty="0">
                <a:solidFill>
                  <a:srgbClr val="0B5E66"/>
                </a:solidFill>
                <a:latin typeface="Calibri" pitchFamily="34" charset="0"/>
                <a:ea typeface="Calibri" pitchFamily="34" charset="-122"/>
                <a:cs typeface="Calibri" pitchFamily="34" charset="-120"/>
              </a:rPr>
              <a:t>To lead:  </a:t>
            </a:r>
            <a:pPr indent="0" marL="0">
              <a:buNone/>
            </a:pPr>
            <a:r>
              <a:rPr lang="en-US" sz="1250" i="1" dirty="0">
                <a:solidFill>
                  <a:srgbClr val="5B6B73"/>
                </a:solidFill>
                <a:latin typeface="Calibri" pitchFamily="34" charset="0"/>
                <a:ea typeface="Calibri" pitchFamily="34" charset="-122"/>
                <a:cs typeface="Calibri" pitchFamily="34" charset="-120"/>
              </a:rPr>
              <a:t>to be in charge, to show direction, to inspire others to follow.</a:t>
            </a:r>
            <a:endParaRPr lang="en-US" sz="1250" dirty="0"/>
          </a:p>
        </p:txBody>
      </p:sp>
      <p:sp>
        <p:nvSpPr>
          <p:cNvPr id="9" name="Shape 7"/>
          <p:cNvSpPr/>
          <p:nvPr/>
        </p:nvSpPr>
        <p:spPr>
          <a:xfrm>
            <a:off x="6199632" y="1463040"/>
            <a:ext cx="5440680" cy="2286000"/>
          </a:xfrm>
          <a:prstGeom prst="roundRect">
            <a:avLst>
              <a:gd name="adj" fmla="val 3200"/>
            </a:avLst>
          </a:prstGeom>
          <a:solidFill>
            <a:srgbClr val="FBF0D8"/>
          </a:solidFill>
          <a:ln/>
          <a:effectLst>
            <a:outerShdw sx="100000" sy="100000" kx="0" ky="0" algn="bl" rotWithShape="0" blurRad="76200" dist="25400" dir="5400000">
              <a:srgbClr val="9AAAB0">
                <a:alpha val="28000"/>
              </a:srgbClr>
            </a:outerShdw>
          </a:effectLst>
        </p:spPr>
      </p:sp>
      <p:sp>
        <p:nvSpPr>
          <p:cNvPr id="10" name="Shape 8"/>
          <p:cNvSpPr/>
          <p:nvPr/>
        </p:nvSpPr>
        <p:spPr>
          <a:xfrm>
            <a:off x="6428232" y="1627632"/>
            <a:ext cx="2743200" cy="310896"/>
          </a:xfrm>
          <a:prstGeom prst="roundRect">
            <a:avLst>
              <a:gd name="adj" fmla="val 50000"/>
            </a:avLst>
          </a:prstGeom>
          <a:solidFill>
            <a:srgbClr val="E0940F"/>
          </a:solidFill>
          <a:ln/>
        </p:spPr>
      </p:sp>
      <p:sp>
        <p:nvSpPr>
          <p:cNvPr id="11" name="Text 9"/>
          <p:cNvSpPr txBox="1"/>
          <p:nvPr/>
        </p:nvSpPr>
        <p:spPr>
          <a:xfrm>
            <a:off x="6428232" y="1627632"/>
            <a:ext cx="2743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MANAGEMENT</a:t>
            </a:r>
            <a:endParaRPr lang="en-US" sz="1050" dirty="0"/>
          </a:p>
        </p:txBody>
      </p:sp>
      <p:sp>
        <p:nvSpPr>
          <p:cNvPr id="12" name="Text 10"/>
          <p:cNvSpPr txBox="1"/>
          <p:nvPr/>
        </p:nvSpPr>
        <p:spPr>
          <a:xfrm>
            <a:off x="6428232" y="2066544"/>
            <a:ext cx="4983480" cy="822960"/>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The process of dealing with or controlling things or people — responsibility for running a company day to day.</a:t>
            </a:r>
            <a:endParaRPr lang="en-US" sz="1350" dirty="0"/>
          </a:p>
        </p:txBody>
      </p:sp>
      <p:sp>
        <p:nvSpPr>
          <p:cNvPr id="13" name="Text 11"/>
          <p:cNvSpPr txBox="1"/>
          <p:nvPr/>
        </p:nvSpPr>
        <p:spPr>
          <a:xfrm>
            <a:off x="6428232" y="2926080"/>
            <a:ext cx="4983480" cy="731520"/>
          </a:xfrm>
          <a:prstGeom prst="rect">
            <a:avLst/>
          </a:prstGeom>
          <a:noFill/>
          <a:ln/>
        </p:spPr>
        <p:txBody>
          <a:bodyPr wrap="square" lIns="0" tIns="0" rIns="0" bIns="0" rtlCol="0" anchor="t"/>
          <a:lstStyle/>
          <a:p>
            <a:pPr indent="0" marL="0">
              <a:buNone/>
            </a:pPr>
            <a:r>
              <a:rPr lang="en-US" sz="1250" b="1" dirty="0">
                <a:solidFill>
                  <a:srgbClr val="8A5A06"/>
                </a:solidFill>
                <a:latin typeface="Calibri" pitchFamily="34" charset="0"/>
                <a:ea typeface="Calibri" pitchFamily="34" charset="-122"/>
                <a:cs typeface="Calibri" pitchFamily="34" charset="-120"/>
              </a:rPr>
              <a:t>To manage:  </a:t>
            </a:r>
            <a:pPr indent="0" marL="0">
              <a:buNone/>
            </a:pPr>
            <a:r>
              <a:rPr lang="en-US" sz="1250" i="1" dirty="0">
                <a:solidFill>
                  <a:srgbClr val="5B6B73"/>
                </a:solidFill>
                <a:latin typeface="Calibri" pitchFamily="34" charset="0"/>
                <a:ea typeface="Calibri" pitchFamily="34" charset="-122"/>
                <a:cs typeface="Calibri" pitchFamily="34" charset="-120"/>
              </a:rPr>
              <a:t>to supervise, to control resources, to keep the plan on track.</a:t>
            </a:r>
            <a:endParaRPr lang="en-US" sz="1250" dirty="0"/>
          </a:p>
        </p:txBody>
      </p:sp>
      <p:sp>
        <p:nvSpPr>
          <p:cNvPr id="14" name="Shape 12"/>
          <p:cNvSpPr/>
          <p:nvPr/>
        </p:nvSpPr>
        <p:spPr>
          <a:xfrm>
            <a:off x="548640" y="3931920"/>
            <a:ext cx="11091672"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15" name="Text 13"/>
          <p:cNvSpPr txBox="1"/>
          <p:nvPr/>
        </p:nvSpPr>
        <p:spPr>
          <a:xfrm>
            <a:off x="777240" y="4069080"/>
            <a:ext cx="10607040" cy="320040"/>
          </a:xfrm>
          <a:prstGeom prst="rect">
            <a:avLst/>
          </a:prstGeom>
          <a:noFill/>
          <a:ln/>
        </p:spPr>
        <p:txBody>
          <a:bodyPr wrap="square" lIns="0" tIns="0" rIns="0" bIns="0" rtlCol="0" anchor="ctr"/>
          <a:lstStyle/>
          <a:p>
            <a:pPr indent="0" marL="0">
              <a:buNone/>
            </a:pPr>
            <a:r>
              <a:rPr lang="en-US" sz="1400" b="1" dirty="0">
                <a:solidFill>
                  <a:srgbClr val="2F8A5B"/>
                </a:solidFill>
                <a:latin typeface="Calibri" pitchFamily="34" charset="0"/>
                <a:ea typeface="Calibri" pitchFamily="34" charset="-122"/>
                <a:cs typeface="Calibri" pitchFamily="34" charset="-120"/>
              </a:rPr>
              <a:t>The simplest way to remember it</a:t>
            </a:r>
            <a:endParaRPr lang="en-US" sz="1400" dirty="0"/>
          </a:p>
        </p:txBody>
      </p:sp>
      <p:sp>
        <p:nvSpPr>
          <p:cNvPr id="16" name="Text 14"/>
          <p:cNvSpPr txBox="1"/>
          <p:nvPr/>
        </p:nvSpPr>
        <p:spPr>
          <a:xfrm>
            <a:off x="777240" y="4434840"/>
            <a:ext cx="10698480" cy="164592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Leaders do the RIGHT things — </a:t>
            </a:r>
            <a:pPr indent="0" marL="0">
              <a:buNone/>
            </a:pPr>
            <a:r>
              <a:rPr lang="en-US" sz="1300" dirty="0">
                <a:solidFill>
                  <a:srgbClr val="1F2A33"/>
                </a:solidFill>
                <a:latin typeface="Calibri" pitchFamily="34" charset="0"/>
                <a:ea typeface="Calibri" pitchFamily="34" charset="-122"/>
                <a:cs typeface="Calibri" pitchFamily="34" charset="-120"/>
              </a:rPr>
              <a:t>they set the direction and inspire people to get there.
</a:t>
            </a:r>
            <a:pPr indent="0" marL="0">
              <a:buNone/>
            </a:pPr>
            <a:r>
              <a:rPr lang="en-US" sz="1300" b="1" dirty="0">
                <a:solidFill>
                  <a:srgbClr val="E0940F"/>
                </a:solidFill>
                <a:latin typeface="Calibri" pitchFamily="34" charset="0"/>
                <a:ea typeface="Calibri" pitchFamily="34" charset="-122"/>
                <a:cs typeface="Calibri" pitchFamily="34" charset="-120"/>
              </a:rPr>
              <a:t>Managers do things RIGHT — </a:t>
            </a:r>
            <a:pPr indent="0" marL="0">
              <a:buNone/>
            </a:pPr>
            <a:r>
              <a:rPr lang="en-US" sz="1300" dirty="0">
                <a:solidFill>
                  <a:srgbClr val="1F2A33"/>
                </a:solidFill>
                <a:latin typeface="Calibri" pitchFamily="34" charset="0"/>
                <a:ea typeface="Calibri" pitchFamily="34" charset="-122"/>
                <a:cs typeface="Calibri" pitchFamily="34" charset="-120"/>
              </a:rPr>
              <a:t>they organise resources and make sure the plan is carried out efficiently.
</a:t>
            </a:r>
            <a:pPr indent="0" marL="0">
              <a:buNone/>
            </a:pPr>
            <a:r>
              <a:rPr lang="en-US" sz="1300" b="1" dirty="0">
                <a:solidFill>
                  <a:srgbClr val="1F2A33"/>
                </a:solidFill>
                <a:latin typeface="Calibri" pitchFamily="34" charset="0"/>
                <a:ea typeface="Calibri" pitchFamily="34" charset="-122"/>
                <a:cs typeface="Calibri" pitchFamily="34" charset="-120"/>
              </a:rPr>
              <a:t>In reality the two overlap: </a:t>
            </a:r>
            <a:pPr indent="0" marL="0">
              <a:buNone/>
            </a:pPr>
            <a:r>
              <a:rPr lang="en-US" sz="1300" dirty="0">
                <a:solidFill>
                  <a:srgbClr val="1F2A33"/>
                </a:solidFill>
                <a:latin typeface="Calibri" pitchFamily="34" charset="0"/>
                <a:ea typeface="Calibri" pitchFamily="34" charset="-122"/>
                <a:cs typeface="Calibri" pitchFamily="34" charset="-120"/>
              </a:rPr>
              <a:t>most senior roles need both. A startup founder, for example, must set a vision (leadership) AND keep the business running day to day (management) at the same time.</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COMPARED</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Leader or manager? Spot the difference</a:t>
            </a:r>
            <a:endParaRPr lang="en-US" sz="2600" dirty="0"/>
          </a:p>
        </p:txBody>
      </p:sp>
      <p:sp>
        <p:nvSpPr>
          <p:cNvPr id="4" name="Shape 2"/>
          <p:cNvSpPr/>
          <p:nvPr/>
        </p:nvSpPr>
        <p:spPr>
          <a:xfrm>
            <a:off x="548640" y="1463040"/>
            <a:ext cx="5440680" cy="3383280"/>
          </a:xfrm>
          <a:prstGeom prst="roundRect">
            <a:avLst>
              <a:gd name="adj" fmla="val 2162"/>
            </a:avLst>
          </a:prstGeom>
          <a:solidFill>
            <a:srgbClr val="EAF3F4"/>
          </a:solidFill>
          <a:ln/>
          <a:effectLst>
            <a:outerShdw sx="100000" sy="100000" kx="0" ky="0" algn="bl" rotWithShape="0" blurRad="76200" dist="25400" dir="5400000">
              <a:srgbClr val="9AAAB0">
                <a:alpha val="28000"/>
              </a:srgbClr>
            </a:outerShdw>
          </a:effectLst>
        </p:spPr>
      </p:sp>
      <p:sp>
        <p:nvSpPr>
          <p:cNvPr id="5" name="Shape 3"/>
          <p:cNvSpPr/>
          <p:nvPr/>
        </p:nvSpPr>
        <p:spPr>
          <a:xfrm>
            <a:off x="777240" y="1627632"/>
            <a:ext cx="2377440" cy="310896"/>
          </a:xfrm>
          <a:prstGeom prst="roundRect">
            <a:avLst>
              <a:gd name="adj" fmla="val 50000"/>
            </a:avLst>
          </a:prstGeom>
          <a:solidFill>
            <a:srgbClr val="0E7C86"/>
          </a:solidFill>
          <a:ln/>
        </p:spPr>
      </p:sp>
      <p:sp>
        <p:nvSpPr>
          <p:cNvPr id="6" name="Text 4"/>
          <p:cNvSpPr txBox="1"/>
          <p:nvPr/>
        </p:nvSpPr>
        <p:spPr>
          <a:xfrm>
            <a:off x="777240" y="1627632"/>
            <a:ext cx="23774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LEADERS</a:t>
            </a:r>
            <a:endParaRPr lang="en-US" sz="1050" dirty="0"/>
          </a:p>
        </p:txBody>
      </p:sp>
      <p:sp>
        <p:nvSpPr>
          <p:cNvPr id="7" name="Text 5"/>
          <p:cNvSpPr txBox="1"/>
          <p:nvPr/>
        </p:nvSpPr>
        <p:spPr>
          <a:xfrm>
            <a:off x="777240" y="2103120"/>
            <a:ext cx="4983480" cy="256032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Inspire people</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Build relationships</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Set the vision &amp; take risks</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Have followers</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Focus on change &amp; the future</a:t>
            </a:r>
            <a:endParaRPr lang="en-US" sz="1350" dirty="0"/>
          </a:p>
        </p:txBody>
      </p:sp>
      <p:sp>
        <p:nvSpPr>
          <p:cNvPr id="8" name="Shape 6"/>
          <p:cNvSpPr/>
          <p:nvPr/>
        </p:nvSpPr>
        <p:spPr>
          <a:xfrm>
            <a:off x="6199632" y="1463040"/>
            <a:ext cx="5440680" cy="3383280"/>
          </a:xfrm>
          <a:prstGeom prst="roundRect">
            <a:avLst>
              <a:gd name="adj" fmla="val 2162"/>
            </a:avLst>
          </a:prstGeom>
          <a:solidFill>
            <a:srgbClr val="FBF0D8"/>
          </a:solidFill>
          <a:ln/>
          <a:effectLst>
            <a:outerShdw sx="100000" sy="100000" kx="0" ky="0" algn="bl" rotWithShape="0" blurRad="76200" dist="25400" dir="5400000">
              <a:srgbClr val="9AAAB0">
                <a:alpha val="28000"/>
              </a:srgbClr>
            </a:outerShdw>
          </a:effectLst>
        </p:spPr>
      </p:sp>
      <p:sp>
        <p:nvSpPr>
          <p:cNvPr id="9" name="Shape 7"/>
          <p:cNvSpPr/>
          <p:nvPr/>
        </p:nvSpPr>
        <p:spPr>
          <a:xfrm>
            <a:off x="6428232" y="1627632"/>
            <a:ext cx="2377440" cy="310896"/>
          </a:xfrm>
          <a:prstGeom prst="roundRect">
            <a:avLst>
              <a:gd name="adj" fmla="val 50000"/>
            </a:avLst>
          </a:prstGeom>
          <a:solidFill>
            <a:srgbClr val="E0940F"/>
          </a:solidFill>
          <a:ln/>
        </p:spPr>
      </p:sp>
      <p:sp>
        <p:nvSpPr>
          <p:cNvPr id="10" name="Text 8"/>
          <p:cNvSpPr txBox="1"/>
          <p:nvPr/>
        </p:nvSpPr>
        <p:spPr>
          <a:xfrm>
            <a:off x="6428232" y="1627632"/>
            <a:ext cx="23774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MANAGERS</a:t>
            </a:r>
            <a:endParaRPr lang="en-US" sz="1050" dirty="0"/>
          </a:p>
        </p:txBody>
      </p:sp>
      <p:sp>
        <p:nvSpPr>
          <p:cNvPr id="11" name="Text 9"/>
          <p:cNvSpPr txBox="1"/>
          <p:nvPr/>
        </p:nvSpPr>
        <p:spPr>
          <a:xfrm>
            <a:off x="6428232" y="2103120"/>
            <a:ext cx="4983480" cy="256032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Enact the plan</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Use their authority</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Organise &amp; manage risks</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Have subordinates</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Focus on stability &amp; the present</a:t>
            </a:r>
            <a:endParaRPr lang="en-US" sz="1350" dirty="0"/>
          </a:p>
        </p:txBody>
      </p:sp>
      <p:sp>
        <p:nvSpPr>
          <p:cNvPr id="12" name="Shape 10"/>
          <p:cNvSpPr/>
          <p:nvPr/>
        </p:nvSpPr>
        <p:spPr>
          <a:xfrm>
            <a:off x="548640" y="5029200"/>
            <a:ext cx="11091672" cy="1143000"/>
          </a:xfrm>
          <a:prstGeom prst="roundRect">
            <a:avLst>
              <a:gd name="adj" fmla="val 6400"/>
            </a:avLst>
          </a:prstGeom>
          <a:solidFill>
            <a:srgbClr val="0E3A43"/>
          </a:solidFill>
          <a:ln/>
          <a:effectLst>
            <a:outerShdw sx="100000" sy="100000" kx="0" ky="0" algn="bl" rotWithShape="0" blurRad="76200" dist="25400" dir="5400000">
              <a:srgbClr val="9AAAB0">
                <a:alpha val="28000"/>
              </a:srgbClr>
            </a:outerShdw>
          </a:effectLst>
        </p:spPr>
      </p:sp>
      <p:sp>
        <p:nvSpPr>
          <p:cNvPr id="13" name="Text 11"/>
          <p:cNvSpPr txBox="1"/>
          <p:nvPr/>
        </p:nvSpPr>
        <p:spPr>
          <a:xfrm>
            <a:off x="777240" y="5138928"/>
            <a:ext cx="10698480" cy="914400"/>
          </a:xfrm>
          <a:prstGeom prst="rect">
            <a:avLst/>
          </a:prstGeom>
          <a:noFill/>
          <a:ln/>
        </p:spPr>
        <p:txBody>
          <a:bodyPr wrap="square" lIns="0" tIns="0" rIns="0" bIns="0" rtlCol="0" anchor="ctr"/>
          <a:lstStyle/>
          <a:p>
            <a:pPr indent="0" marL="0">
              <a:buNone/>
            </a:pPr>
            <a:r>
              <a:rPr lang="en-US" sz="1250" b="1" dirty="0">
                <a:solidFill>
                  <a:srgbClr val="7FC4CB"/>
                </a:solidFill>
                <a:latin typeface="Calibri" pitchFamily="34" charset="0"/>
                <a:ea typeface="Calibri" pitchFamily="34" charset="-122"/>
                <a:cs typeface="Calibri" pitchFamily="34" charset="-120"/>
              </a:rPr>
              <a:t>In reality, both are closely linked.  </a:t>
            </a:r>
            <a:pPr indent="0" marL="0">
              <a:buNone/>
            </a:pPr>
            <a:r>
              <a:rPr lang="en-US" sz="1250" dirty="0">
                <a:solidFill>
                  <a:srgbClr val="FFFFFF"/>
                </a:solidFill>
                <a:latin typeface="Calibri" pitchFamily="34" charset="0"/>
                <a:ea typeface="Calibri" pitchFamily="34" charset="-122"/>
                <a:cs typeface="Calibri" pitchFamily="34" charset="-120"/>
              </a:rPr>
              <a:t>A business needs strong management for stability and strong leadership for change. Can someone be a good leader but a poor manager? Yes — a visionary founder may inspire people but struggle to run the day-to-day. That is exactly why growing firms build a team around the leader.</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B</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B</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The four leadership styles</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autocratic  ·  paternalistic  ·  democratic  ·  laissez-faire — definition, features, weakness and where each suits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STYLE 1</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Autocratic (authoritarian) leadership</a:t>
            </a:r>
            <a:endParaRPr lang="en-US" sz="2600" dirty="0"/>
          </a:p>
        </p:txBody>
      </p:sp>
      <p:sp>
        <p:nvSpPr>
          <p:cNvPr id="4" name="Shape 2"/>
          <p:cNvSpPr/>
          <p:nvPr/>
        </p:nvSpPr>
        <p:spPr>
          <a:xfrm>
            <a:off x="548640" y="1371600"/>
            <a:ext cx="11091672" cy="786384"/>
          </a:xfrm>
          <a:prstGeom prst="roundRect">
            <a:avLst>
              <a:gd name="adj" fmla="val 9302"/>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585216"/>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Definition:  </a:t>
            </a:r>
            <a:pPr indent="0" marL="0">
              <a:buNone/>
            </a:pPr>
            <a:r>
              <a:rPr lang="en-US" sz="1350" dirty="0">
                <a:solidFill>
                  <a:srgbClr val="1F2A33"/>
                </a:solidFill>
                <a:latin typeface="Calibri" pitchFamily="34" charset="0"/>
                <a:ea typeface="Calibri" pitchFamily="34" charset="-122"/>
                <a:cs typeface="Calibri" pitchFamily="34" charset="-120"/>
              </a:rPr>
              <a:t>The leader makes decisions alone and expects obedience. Orders are given top-down and are to be followed.</a:t>
            </a:r>
            <a:endParaRPr lang="en-US" sz="1350" dirty="0"/>
          </a:p>
        </p:txBody>
      </p:sp>
      <p:sp>
        <p:nvSpPr>
          <p:cNvPr id="6" name="Shape 4"/>
          <p:cNvSpPr/>
          <p:nvPr/>
        </p:nvSpPr>
        <p:spPr>
          <a:xfrm>
            <a:off x="548640" y="2340864"/>
            <a:ext cx="5440680" cy="1920240"/>
          </a:xfrm>
          <a:prstGeom prst="roundRect">
            <a:avLst>
              <a:gd name="adj" fmla="val 3810"/>
            </a:avLst>
          </a:prstGeom>
          <a:solidFill>
            <a:srgbClr val="E8F3EC"/>
          </a:solidFill>
          <a:ln/>
          <a:effectLst>
            <a:outerShdw sx="100000" sy="100000" kx="0" ky="0" algn="bl" rotWithShape="0" blurRad="76200" dist="25400" dir="5400000">
              <a:srgbClr val="9AAAB0">
                <a:alpha val="28000"/>
              </a:srgbClr>
            </a:outerShdw>
          </a:effectLst>
        </p:spPr>
      </p:sp>
      <p:sp>
        <p:nvSpPr>
          <p:cNvPr id="7" name="Shape 5"/>
          <p:cNvSpPr/>
          <p:nvPr/>
        </p:nvSpPr>
        <p:spPr>
          <a:xfrm>
            <a:off x="777240" y="2487168"/>
            <a:ext cx="3108960" cy="310896"/>
          </a:xfrm>
          <a:prstGeom prst="roundRect">
            <a:avLst>
              <a:gd name="adj" fmla="val 50000"/>
            </a:avLst>
          </a:prstGeom>
          <a:solidFill>
            <a:srgbClr val="2F8A5B"/>
          </a:solidFill>
          <a:ln/>
        </p:spPr>
      </p:sp>
      <p:sp>
        <p:nvSpPr>
          <p:cNvPr id="8" name="Text 6"/>
          <p:cNvSpPr txBox="1"/>
          <p:nvPr/>
        </p:nvSpPr>
        <p:spPr>
          <a:xfrm>
            <a:off x="777240" y="2487168"/>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KEY FEATURES</a:t>
            </a:r>
            <a:endParaRPr lang="en-US" sz="1050" dirty="0"/>
          </a:p>
        </p:txBody>
      </p:sp>
      <p:sp>
        <p:nvSpPr>
          <p:cNvPr id="9" name="Text 7"/>
          <p:cNvSpPr txBox="1"/>
          <p:nvPr/>
        </p:nvSpPr>
        <p:spPr>
          <a:xfrm>
            <a:off x="777240" y="2889504"/>
            <a:ext cx="4983480" cy="12801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Power sits with the leader</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Communication is top-down &amp; one-way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Formal command &amp; control; rewards &amp; penalties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Very little delegation</a:t>
            </a:r>
            <a:endParaRPr lang="en-US" sz="1250" dirty="0"/>
          </a:p>
        </p:txBody>
      </p:sp>
      <p:sp>
        <p:nvSpPr>
          <p:cNvPr id="10" name="Shape 8"/>
          <p:cNvSpPr/>
          <p:nvPr/>
        </p:nvSpPr>
        <p:spPr>
          <a:xfrm>
            <a:off x="6199632" y="2340864"/>
            <a:ext cx="5440680" cy="1920240"/>
          </a:xfrm>
          <a:prstGeom prst="roundRect">
            <a:avLst>
              <a:gd name="adj" fmla="val 3810"/>
            </a:avLst>
          </a:prstGeom>
          <a:solidFill>
            <a:srgbClr val="F9EAE6"/>
          </a:solidFill>
          <a:ln/>
          <a:effectLst>
            <a:outerShdw sx="100000" sy="100000" kx="0" ky="0" algn="bl" rotWithShape="0" blurRad="76200" dist="25400" dir="5400000">
              <a:srgbClr val="9AAAB0">
                <a:alpha val="28000"/>
              </a:srgbClr>
            </a:outerShdw>
          </a:effectLst>
        </p:spPr>
      </p:sp>
      <p:sp>
        <p:nvSpPr>
          <p:cNvPr id="11" name="Shape 9"/>
          <p:cNvSpPr/>
          <p:nvPr/>
        </p:nvSpPr>
        <p:spPr>
          <a:xfrm>
            <a:off x="6428232" y="2487168"/>
            <a:ext cx="3108960" cy="310896"/>
          </a:xfrm>
          <a:prstGeom prst="roundRect">
            <a:avLst>
              <a:gd name="adj" fmla="val 50000"/>
            </a:avLst>
          </a:prstGeom>
          <a:solidFill>
            <a:srgbClr val="C14B37"/>
          </a:solidFill>
          <a:ln/>
        </p:spPr>
      </p:sp>
      <p:sp>
        <p:nvSpPr>
          <p:cNvPr id="12" name="Text 10"/>
          <p:cNvSpPr txBox="1"/>
          <p:nvPr/>
        </p:nvSpPr>
        <p:spPr>
          <a:xfrm>
            <a:off x="6428232" y="2487168"/>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WEAKNESS</a:t>
            </a:r>
            <a:endParaRPr lang="en-US" sz="1050" dirty="0"/>
          </a:p>
        </p:txBody>
      </p:sp>
      <p:sp>
        <p:nvSpPr>
          <p:cNvPr id="13" name="Text 11"/>
          <p:cNvSpPr txBox="1"/>
          <p:nvPr/>
        </p:nvSpPr>
        <p:spPr>
          <a:xfrm>
            <a:off x="6428232" y="2889504"/>
            <a:ext cx="4983480" cy="12801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Staff may feel ignored → demotivated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No input means ideas are missed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Over-reliance on one person</a:t>
            </a:r>
            <a:endParaRPr lang="en-US" sz="1250" dirty="0"/>
          </a:p>
        </p:txBody>
      </p:sp>
      <p:sp>
        <p:nvSpPr>
          <p:cNvPr id="14" name="Shape 12"/>
          <p:cNvSpPr/>
          <p:nvPr/>
        </p:nvSpPr>
        <p:spPr>
          <a:xfrm>
            <a:off x="548640" y="4407408"/>
            <a:ext cx="11091672" cy="658368"/>
          </a:xfrm>
          <a:prstGeom prst="roundRect">
            <a:avLst>
              <a:gd name="adj" fmla="val 11111"/>
            </a:avLst>
          </a:prstGeom>
          <a:solidFill>
            <a:srgbClr val="FBF0D8"/>
          </a:solidFill>
          <a:ln/>
          <a:effectLst>
            <a:outerShdw sx="100000" sy="100000" kx="0" ky="0" algn="bl" rotWithShape="0" blurRad="76200" dist="25400" dir="5400000">
              <a:srgbClr val="9AAAB0">
                <a:alpha val="28000"/>
              </a:srgbClr>
            </a:outerShdw>
          </a:effectLst>
        </p:spPr>
      </p:sp>
      <p:sp>
        <p:nvSpPr>
          <p:cNvPr id="15" name="Text 13"/>
          <p:cNvSpPr txBox="1"/>
          <p:nvPr/>
        </p:nvSpPr>
        <p:spPr>
          <a:xfrm>
            <a:off x="777240" y="4498848"/>
            <a:ext cx="10698480" cy="475488"/>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Suits:  </a:t>
            </a:r>
            <a:pPr indent="0" marL="0">
              <a:buNone/>
            </a:pPr>
            <a:r>
              <a:rPr lang="en-US" sz="1300" dirty="0">
                <a:solidFill>
                  <a:srgbClr val="1F2A33"/>
                </a:solidFill>
                <a:latin typeface="Calibri" pitchFamily="34" charset="0"/>
                <a:ea typeface="Calibri" pitchFamily="34" charset="-122"/>
                <a:cs typeface="Calibri" pitchFamily="34" charset="-120"/>
              </a:rPr>
              <a:t>simple or urgent tasks, emergencies, inexperienced staff — e.g. armed forces, factories, fast-food kitchens.</a:t>
            </a:r>
            <a:endParaRPr lang="en-US" sz="1300" dirty="0"/>
          </a:p>
        </p:txBody>
      </p:sp>
      <p:sp>
        <p:nvSpPr>
          <p:cNvPr id="16" name="Shape 14"/>
          <p:cNvSpPr/>
          <p:nvPr/>
        </p:nvSpPr>
        <p:spPr>
          <a:xfrm>
            <a:off x="548640" y="5175504"/>
            <a:ext cx="11091672" cy="1005840"/>
          </a:xfrm>
          <a:prstGeom prst="roundRect">
            <a:avLst>
              <a:gd name="adj" fmla="val 727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548640" y="5175504"/>
            <a:ext cx="109728" cy="1005840"/>
          </a:xfrm>
          <a:prstGeom prst="roundRect">
            <a:avLst/>
          </a:prstGeom>
          <a:solidFill>
            <a:srgbClr val="0E7C86"/>
          </a:solidFill>
          <a:ln/>
        </p:spPr>
      </p:sp>
      <p:sp>
        <p:nvSpPr>
          <p:cNvPr id="18" name="Text 16"/>
          <p:cNvSpPr txBox="1"/>
          <p:nvPr/>
        </p:nvSpPr>
        <p:spPr>
          <a:xfrm>
            <a:off x="777240" y="5248656"/>
            <a:ext cx="10607040" cy="237744"/>
          </a:xfrm>
          <a:prstGeom prst="rect">
            <a:avLst/>
          </a:prstGeom>
          <a:noFill/>
          <a:ln/>
        </p:spPr>
        <p:txBody>
          <a:bodyPr wrap="square" lIns="0" tIns="0" rIns="0" bIns="0" rtlCol="0" anchor="ctr"/>
          <a:lstStyle/>
          <a:p>
            <a:pPr indent="0" marL="0">
              <a:buNone/>
            </a:pPr>
            <a:r>
              <a:rPr lang="en-US" sz="1050" b="1" spc="100" kern="0" dirty="0">
                <a:solidFill>
                  <a:srgbClr val="0B5E66"/>
                </a:solidFill>
                <a:latin typeface="Calibri" pitchFamily="34" charset="0"/>
                <a:ea typeface="Calibri" pitchFamily="34" charset="-122"/>
                <a:cs typeface="Calibri" pitchFamily="34" charset="-120"/>
              </a:rPr>
              <a:t>REAL EXAMPLE</a:t>
            </a:r>
            <a:endParaRPr lang="en-US" sz="1050" dirty="0"/>
          </a:p>
        </p:txBody>
      </p:sp>
      <p:sp>
        <p:nvSpPr>
          <p:cNvPr id="19" name="Text 17"/>
          <p:cNvSpPr txBox="1"/>
          <p:nvPr/>
        </p:nvSpPr>
        <p:spPr>
          <a:xfrm>
            <a:off x="777240" y="5486400"/>
            <a:ext cx="10744200" cy="64008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Emergency services &amp; the military use a clear chain of command: in a crisis there is no time to debate, so decisions are made at the top and carried out immediately. Fast and decisive — but it would demotivate skilled, creative staff over time.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STYLE 2</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Paternalistic leadership</a:t>
            </a:r>
            <a:endParaRPr lang="en-US" sz="2600" dirty="0"/>
          </a:p>
        </p:txBody>
      </p:sp>
      <p:sp>
        <p:nvSpPr>
          <p:cNvPr id="4" name="Shape 2"/>
          <p:cNvSpPr/>
          <p:nvPr/>
        </p:nvSpPr>
        <p:spPr>
          <a:xfrm>
            <a:off x="548640" y="1371600"/>
            <a:ext cx="11091672" cy="786384"/>
          </a:xfrm>
          <a:prstGeom prst="roundRect">
            <a:avLst>
              <a:gd name="adj" fmla="val 9302"/>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585216"/>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Definition:  </a:t>
            </a:r>
            <a:pPr indent="0" marL="0">
              <a:buNone/>
            </a:pPr>
            <a:r>
              <a:rPr lang="en-US" sz="1350" dirty="0">
                <a:solidFill>
                  <a:srgbClr val="1F2A33"/>
                </a:solidFill>
                <a:latin typeface="Calibri" pitchFamily="34" charset="0"/>
                <a:ea typeface="Calibri" pitchFamily="34" charset="-122"/>
                <a:cs typeface="Calibri" pitchFamily="34" charset="-120"/>
              </a:rPr>
              <a:t>The leader acts like a parent figure — decides what is best for employees and has their welfare at heart, but still makes the final decision.</a:t>
            </a:r>
            <a:endParaRPr lang="en-US" sz="1350" dirty="0"/>
          </a:p>
        </p:txBody>
      </p:sp>
      <p:sp>
        <p:nvSpPr>
          <p:cNvPr id="6" name="Shape 4"/>
          <p:cNvSpPr/>
          <p:nvPr/>
        </p:nvSpPr>
        <p:spPr>
          <a:xfrm>
            <a:off x="548640" y="2340864"/>
            <a:ext cx="5440680" cy="1920240"/>
          </a:xfrm>
          <a:prstGeom prst="roundRect">
            <a:avLst>
              <a:gd name="adj" fmla="val 3810"/>
            </a:avLst>
          </a:prstGeom>
          <a:solidFill>
            <a:srgbClr val="E8F3EC"/>
          </a:solidFill>
          <a:ln/>
          <a:effectLst>
            <a:outerShdw sx="100000" sy="100000" kx="0" ky="0" algn="bl" rotWithShape="0" blurRad="76200" dist="25400" dir="5400000">
              <a:srgbClr val="9AAAB0">
                <a:alpha val="28000"/>
              </a:srgbClr>
            </a:outerShdw>
          </a:effectLst>
        </p:spPr>
      </p:sp>
      <p:sp>
        <p:nvSpPr>
          <p:cNvPr id="7" name="Shape 5"/>
          <p:cNvSpPr/>
          <p:nvPr/>
        </p:nvSpPr>
        <p:spPr>
          <a:xfrm>
            <a:off x="777240" y="2487168"/>
            <a:ext cx="3108960" cy="310896"/>
          </a:xfrm>
          <a:prstGeom prst="roundRect">
            <a:avLst>
              <a:gd name="adj" fmla="val 50000"/>
            </a:avLst>
          </a:prstGeom>
          <a:solidFill>
            <a:srgbClr val="2F8A5B"/>
          </a:solidFill>
          <a:ln/>
        </p:spPr>
      </p:sp>
      <p:sp>
        <p:nvSpPr>
          <p:cNvPr id="8" name="Text 6"/>
          <p:cNvSpPr txBox="1"/>
          <p:nvPr/>
        </p:nvSpPr>
        <p:spPr>
          <a:xfrm>
            <a:off x="777240" y="2487168"/>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KEY FEATURES</a:t>
            </a:r>
            <a:endParaRPr lang="en-US" sz="1050" dirty="0"/>
          </a:p>
        </p:txBody>
      </p:sp>
      <p:sp>
        <p:nvSpPr>
          <p:cNvPr id="9" name="Text 7"/>
          <p:cNvSpPr txBox="1"/>
          <p:nvPr/>
        </p:nvSpPr>
        <p:spPr>
          <a:xfrm>
            <a:off x="777240" y="2889504"/>
            <a:ext cx="4983480" cy="12801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Leader decides what is best for staff</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Consults staff, but makes the final call</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Based on a parent/child relationship</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 softer form of authoritarian; still little delegation</a:t>
            </a:r>
            <a:endParaRPr lang="en-US" sz="1250" dirty="0"/>
          </a:p>
        </p:txBody>
      </p:sp>
      <p:sp>
        <p:nvSpPr>
          <p:cNvPr id="10" name="Shape 8"/>
          <p:cNvSpPr/>
          <p:nvPr/>
        </p:nvSpPr>
        <p:spPr>
          <a:xfrm>
            <a:off x="6199632" y="2340864"/>
            <a:ext cx="5440680" cy="1920240"/>
          </a:xfrm>
          <a:prstGeom prst="roundRect">
            <a:avLst>
              <a:gd name="adj" fmla="val 3810"/>
            </a:avLst>
          </a:prstGeom>
          <a:solidFill>
            <a:srgbClr val="F9EAE6"/>
          </a:solidFill>
          <a:ln/>
          <a:effectLst>
            <a:outerShdw sx="100000" sy="100000" kx="0" ky="0" algn="bl" rotWithShape="0" blurRad="76200" dist="25400" dir="5400000">
              <a:srgbClr val="9AAAB0">
                <a:alpha val="28000"/>
              </a:srgbClr>
            </a:outerShdw>
          </a:effectLst>
        </p:spPr>
      </p:sp>
      <p:sp>
        <p:nvSpPr>
          <p:cNvPr id="11" name="Shape 9"/>
          <p:cNvSpPr/>
          <p:nvPr/>
        </p:nvSpPr>
        <p:spPr>
          <a:xfrm>
            <a:off x="6428232" y="2487168"/>
            <a:ext cx="3108960" cy="310896"/>
          </a:xfrm>
          <a:prstGeom prst="roundRect">
            <a:avLst>
              <a:gd name="adj" fmla="val 50000"/>
            </a:avLst>
          </a:prstGeom>
          <a:solidFill>
            <a:srgbClr val="C14B37"/>
          </a:solidFill>
          <a:ln/>
        </p:spPr>
      </p:sp>
      <p:sp>
        <p:nvSpPr>
          <p:cNvPr id="12" name="Text 10"/>
          <p:cNvSpPr txBox="1"/>
          <p:nvPr/>
        </p:nvSpPr>
        <p:spPr>
          <a:xfrm>
            <a:off x="6428232" y="2487168"/>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WEAKNESS</a:t>
            </a:r>
            <a:endParaRPr lang="en-US" sz="1050" dirty="0"/>
          </a:p>
        </p:txBody>
      </p:sp>
      <p:sp>
        <p:nvSpPr>
          <p:cNvPr id="13" name="Text 11"/>
          <p:cNvSpPr txBox="1"/>
          <p:nvPr/>
        </p:nvSpPr>
        <p:spPr>
          <a:xfrm>
            <a:off x="6428232" y="2889504"/>
            <a:ext cx="4983480" cy="12801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Staff may become dependent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Can feel controlling or ‘fatherly’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Still limited real say for employees</a:t>
            </a:r>
            <a:endParaRPr lang="en-US" sz="1250" dirty="0"/>
          </a:p>
        </p:txBody>
      </p:sp>
      <p:sp>
        <p:nvSpPr>
          <p:cNvPr id="14" name="Shape 12"/>
          <p:cNvSpPr/>
          <p:nvPr/>
        </p:nvSpPr>
        <p:spPr>
          <a:xfrm>
            <a:off x="548640" y="4407408"/>
            <a:ext cx="11091672" cy="658368"/>
          </a:xfrm>
          <a:prstGeom prst="roundRect">
            <a:avLst>
              <a:gd name="adj" fmla="val 11111"/>
            </a:avLst>
          </a:prstGeom>
          <a:solidFill>
            <a:srgbClr val="FBF0D8"/>
          </a:solidFill>
          <a:ln/>
          <a:effectLst>
            <a:outerShdw sx="100000" sy="100000" kx="0" ky="0" algn="bl" rotWithShape="0" blurRad="76200" dist="25400" dir="5400000">
              <a:srgbClr val="9AAAB0">
                <a:alpha val="28000"/>
              </a:srgbClr>
            </a:outerShdw>
          </a:effectLst>
        </p:spPr>
      </p:sp>
      <p:sp>
        <p:nvSpPr>
          <p:cNvPr id="15" name="Text 13"/>
          <p:cNvSpPr txBox="1"/>
          <p:nvPr/>
        </p:nvSpPr>
        <p:spPr>
          <a:xfrm>
            <a:off x="777240" y="4498848"/>
            <a:ext cx="10698480" cy="475488"/>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Suits:  </a:t>
            </a:r>
            <a:pPr indent="0" marL="0">
              <a:buNone/>
            </a:pPr>
            <a:r>
              <a:rPr lang="en-US" sz="1300" dirty="0">
                <a:solidFill>
                  <a:srgbClr val="1F2A33"/>
                </a:solidFill>
                <a:latin typeface="Calibri" pitchFamily="34" charset="0"/>
                <a:ea typeface="Calibri" pitchFamily="34" charset="-122"/>
                <a:cs typeface="Calibri" pitchFamily="34" charset="-120"/>
              </a:rPr>
              <a:t>loyal, family-firm cultures where staff welfare is valued — links to Mayo (social needs) and Maslow.</a:t>
            </a:r>
            <a:endParaRPr lang="en-US" sz="1300" dirty="0"/>
          </a:p>
        </p:txBody>
      </p:sp>
      <p:sp>
        <p:nvSpPr>
          <p:cNvPr id="16" name="Shape 14"/>
          <p:cNvSpPr/>
          <p:nvPr/>
        </p:nvSpPr>
        <p:spPr>
          <a:xfrm>
            <a:off x="548640" y="5175504"/>
            <a:ext cx="11091672" cy="1005840"/>
          </a:xfrm>
          <a:prstGeom prst="roundRect">
            <a:avLst>
              <a:gd name="adj" fmla="val 727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548640" y="5175504"/>
            <a:ext cx="109728" cy="1005840"/>
          </a:xfrm>
          <a:prstGeom prst="roundRect">
            <a:avLst/>
          </a:prstGeom>
          <a:solidFill>
            <a:srgbClr val="0E7C86"/>
          </a:solidFill>
          <a:ln/>
        </p:spPr>
      </p:sp>
      <p:sp>
        <p:nvSpPr>
          <p:cNvPr id="18" name="Text 16"/>
          <p:cNvSpPr txBox="1"/>
          <p:nvPr/>
        </p:nvSpPr>
        <p:spPr>
          <a:xfrm>
            <a:off x="777240" y="5248656"/>
            <a:ext cx="10607040" cy="237744"/>
          </a:xfrm>
          <a:prstGeom prst="rect">
            <a:avLst/>
          </a:prstGeom>
          <a:noFill/>
          <a:ln/>
        </p:spPr>
        <p:txBody>
          <a:bodyPr wrap="square" lIns="0" tIns="0" rIns="0" bIns="0" rtlCol="0" anchor="ctr"/>
          <a:lstStyle/>
          <a:p>
            <a:pPr indent="0" marL="0">
              <a:buNone/>
            </a:pPr>
            <a:r>
              <a:rPr lang="en-US" sz="1050" b="1" spc="100" kern="0" dirty="0">
                <a:solidFill>
                  <a:srgbClr val="0B5E66"/>
                </a:solidFill>
                <a:latin typeface="Calibri" pitchFamily="34" charset="0"/>
                <a:ea typeface="Calibri" pitchFamily="34" charset="-122"/>
                <a:cs typeface="Calibri" pitchFamily="34" charset="-120"/>
              </a:rPr>
              <a:t>REAL EXAMPLE</a:t>
            </a:r>
            <a:endParaRPr lang="en-US" sz="1050" dirty="0"/>
          </a:p>
        </p:txBody>
      </p:sp>
      <p:sp>
        <p:nvSpPr>
          <p:cNvPr id="19" name="Text 17"/>
          <p:cNvSpPr txBox="1"/>
          <p:nvPr/>
        </p:nvSpPr>
        <p:spPr>
          <a:xfrm>
            <a:off x="777240" y="5486400"/>
            <a:ext cx="10744200" cy="64008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Cadbury is the classic example: the Quaker founders built Bournville village — good housing, schools and conditions for workers — looking after staff welfare while still directing the business. Loyalty and low turnover were the pay-off.</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STYLE 3</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Democratic leadership</a:t>
            </a:r>
            <a:endParaRPr lang="en-US" sz="2600" dirty="0"/>
          </a:p>
        </p:txBody>
      </p:sp>
      <p:sp>
        <p:nvSpPr>
          <p:cNvPr id="4" name="Shape 2"/>
          <p:cNvSpPr/>
          <p:nvPr/>
        </p:nvSpPr>
        <p:spPr>
          <a:xfrm>
            <a:off x="548640" y="1371600"/>
            <a:ext cx="11091672" cy="786384"/>
          </a:xfrm>
          <a:prstGeom prst="roundRect">
            <a:avLst>
              <a:gd name="adj" fmla="val 9302"/>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585216"/>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Definition:  </a:t>
            </a:r>
            <a:pPr indent="0" marL="0">
              <a:buNone/>
            </a:pPr>
            <a:r>
              <a:rPr lang="en-US" sz="1350" dirty="0">
                <a:solidFill>
                  <a:srgbClr val="1F2A33"/>
                </a:solidFill>
                <a:latin typeface="Calibri" pitchFamily="34" charset="0"/>
                <a:ea typeface="Calibri" pitchFamily="34" charset="-122"/>
                <a:cs typeface="Calibri" pitchFamily="34" charset="-120"/>
              </a:rPr>
              <a:t>The leader involves employees in decisions, encouraging input, ideas and teamwork before deciding.</a:t>
            </a:r>
            <a:endParaRPr lang="en-US" sz="1350" dirty="0"/>
          </a:p>
        </p:txBody>
      </p:sp>
      <p:sp>
        <p:nvSpPr>
          <p:cNvPr id="6" name="Shape 4"/>
          <p:cNvSpPr/>
          <p:nvPr/>
        </p:nvSpPr>
        <p:spPr>
          <a:xfrm>
            <a:off x="548640" y="2340864"/>
            <a:ext cx="5440680" cy="1920240"/>
          </a:xfrm>
          <a:prstGeom prst="roundRect">
            <a:avLst>
              <a:gd name="adj" fmla="val 3810"/>
            </a:avLst>
          </a:prstGeom>
          <a:solidFill>
            <a:srgbClr val="E8F3EC"/>
          </a:solidFill>
          <a:ln/>
          <a:effectLst>
            <a:outerShdw sx="100000" sy="100000" kx="0" ky="0" algn="bl" rotWithShape="0" blurRad="76200" dist="25400" dir="5400000">
              <a:srgbClr val="9AAAB0">
                <a:alpha val="28000"/>
              </a:srgbClr>
            </a:outerShdw>
          </a:effectLst>
        </p:spPr>
      </p:sp>
      <p:sp>
        <p:nvSpPr>
          <p:cNvPr id="7" name="Shape 5"/>
          <p:cNvSpPr/>
          <p:nvPr/>
        </p:nvSpPr>
        <p:spPr>
          <a:xfrm>
            <a:off x="777240" y="2487168"/>
            <a:ext cx="3108960" cy="310896"/>
          </a:xfrm>
          <a:prstGeom prst="roundRect">
            <a:avLst>
              <a:gd name="adj" fmla="val 50000"/>
            </a:avLst>
          </a:prstGeom>
          <a:solidFill>
            <a:srgbClr val="2F8A5B"/>
          </a:solidFill>
          <a:ln/>
        </p:spPr>
      </p:sp>
      <p:sp>
        <p:nvSpPr>
          <p:cNvPr id="8" name="Text 6"/>
          <p:cNvSpPr txBox="1"/>
          <p:nvPr/>
        </p:nvSpPr>
        <p:spPr>
          <a:xfrm>
            <a:off x="777240" y="2487168"/>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KEY FEATURES</a:t>
            </a:r>
            <a:endParaRPr lang="en-US" sz="1050" dirty="0"/>
          </a:p>
        </p:txBody>
      </p:sp>
      <p:sp>
        <p:nvSpPr>
          <p:cNvPr id="9" name="Text 7"/>
          <p:cNvSpPr txBox="1"/>
          <p:nvPr/>
        </p:nvSpPr>
        <p:spPr>
          <a:xfrm>
            <a:off x="777240" y="2889504"/>
            <a:ext cx="4983480" cy="12801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Power is shared more with the group</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Emphasis on delegation &amp; consultation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Consultative (consult, then decide) or persuasive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Greater employee involvement in decisions</a:t>
            </a:r>
            <a:endParaRPr lang="en-US" sz="1250" dirty="0"/>
          </a:p>
        </p:txBody>
      </p:sp>
      <p:sp>
        <p:nvSpPr>
          <p:cNvPr id="10" name="Shape 8"/>
          <p:cNvSpPr/>
          <p:nvPr/>
        </p:nvSpPr>
        <p:spPr>
          <a:xfrm>
            <a:off x="6199632" y="2340864"/>
            <a:ext cx="5440680" cy="1920240"/>
          </a:xfrm>
          <a:prstGeom prst="roundRect">
            <a:avLst>
              <a:gd name="adj" fmla="val 3810"/>
            </a:avLst>
          </a:prstGeom>
          <a:solidFill>
            <a:srgbClr val="F9EAE6"/>
          </a:solidFill>
          <a:ln/>
          <a:effectLst>
            <a:outerShdw sx="100000" sy="100000" kx="0" ky="0" algn="bl" rotWithShape="0" blurRad="76200" dist="25400" dir="5400000">
              <a:srgbClr val="9AAAB0">
                <a:alpha val="28000"/>
              </a:srgbClr>
            </a:outerShdw>
          </a:effectLst>
        </p:spPr>
      </p:sp>
      <p:sp>
        <p:nvSpPr>
          <p:cNvPr id="11" name="Shape 9"/>
          <p:cNvSpPr/>
          <p:nvPr/>
        </p:nvSpPr>
        <p:spPr>
          <a:xfrm>
            <a:off x="6428232" y="2487168"/>
            <a:ext cx="3108960" cy="310896"/>
          </a:xfrm>
          <a:prstGeom prst="roundRect">
            <a:avLst>
              <a:gd name="adj" fmla="val 50000"/>
            </a:avLst>
          </a:prstGeom>
          <a:solidFill>
            <a:srgbClr val="C14B37"/>
          </a:solidFill>
          <a:ln/>
        </p:spPr>
      </p:sp>
      <p:sp>
        <p:nvSpPr>
          <p:cNvPr id="12" name="Text 10"/>
          <p:cNvSpPr txBox="1"/>
          <p:nvPr/>
        </p:nvSpPr>
        <p:spPr>
          <a:xfrm>
            <a:off x="6428232" y="2487168"/>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WEAKNESS</a:t>
            </a:r>
            <a:endParaRPr lang="en-US" sz="1050" dirty="0"/>
          </a:p>
        </p:txBody>
      </p:sp>
      <p:sp>
        <p:nvSpPr>
          <p:cNvPr id="13" name="Text 11"/>
          <p:cNvSpPr txBox="1"/>
          <p:nvPr/>
        </p:nvSpPr>
        <p:spPr>
          <a:xfrm>
            <a:off x="6428232" y="2889504"/>
            <a:ext cx="4983480" cy="12801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Decision-making can be slower</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Too much discussion can delay action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Not ideal in a crisis</a:t>
            </a:r>
            <a:endParaRPr lang="en-US" sz="1250" dirty="0"/>
          </a:p>
        </p:txBody>
      </p:sp>
      <p:sp>
        <p:nvSpPr>
          <p:cNvPr id="14" name="Shape 12"/>
          <p:cNvSpPr/>
          <p:nvPr/>
        </p:nvSpPr>
        <p:spPr>
          <a:xfrm>
            <a:off x="548640" y="4407408"/>
            <a:ext cx="11091672" cy="658368"/>
          </a:xfrm>
          <a:prstGeom prst="roundRect">
            <a:avLst>
              <a:gd name="adj" fmla="val 11111"/>
            </a:avLst>
          </a:prstGeom>
          <a:solidFill>
            <a:srgbClr val="FBF0D8"/>
          </a:solidFill>
          <a:ln/>
          <a:effectLst>
            <a:outerShdw sx="100000" sy="100000" kx="0" ky="0" algn="bl" rotWithShape="0" blurRad="76200" dist="25400" dir="5400000">
              <a:srgbClr val="9AAAB0">
                <a:alpha val="28000"/>
              </a:srgbClr>
            </a:outerShdw>
          </a:effectLst>
        </p:spPr>
      </p:sp>
      <p:sp>
        <p:nvSpPr>
          <p:cNvPr id="15" name="Text 13"/>
          <p:cNvSpPr txBox="1"/>
          <p:nvPr/>
        </p:nvSpPr>
        <p:spPr>
          <a:xfrm>
            <a:off x="777240" y="4498848"/>
            <a:ext cx="10698480" cy="475488"/>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Suits:  </a:t>
            </a:r>
            <a:pPr indent="0" marL="0">
              <a:buNone/>
            </a:pPr>
            <a:r>
              <a:rPr lang="en-US" sz="1300" dirty="0">
                <a:solidFill>
                  <a:srgbClr val="1F2A33"/>
                </a:solidFill>
                <a:latin typeface="Calibri" pitchFamily="34" charset="0"/>
                <a:ea typeface="Calibri" pitchFamily="34" charset="-122"/>
                <a:cs typeface="Calibri" pitchFamily="34" charset="-120"/>
              </a:rPr>
              <a:t>creative or professional settings where staff are skilled and ideas matter — e.g. tech firms, schools.</a:t>
            </a:r>
            <a:endParaRPr lang="en-US" sz="1300" dirty="0"/>
          </a:p>
        </p:txBody>
      </p:sp>
      <p:sp>
        <p:nvSpPr>
          <p:cNvPr id="16" name="Shape 14"/>
          <p:cNvSpPr/>
          <p:nvPr/>
        </p:nvSpPr>
        <p:spPr>
          <a:xfrm>
            <a:off x="548640" y="5175504"/>
            <a:ext cx="11091672" cy="1005840"/>
          </a:xfrm>
          <a:prstGeom prst="roundRect">
            <a:avLst>
              <a:gd name="adj" fmla="val 727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548640" y="5175504"/>
            <a:ext cx="109728" cy="1005840"/>
          </a:xfrm>
          <a:prstGeom prst="roundRect">
            <a:avLst/>
          </a:prstGeom>
          <a:solidFill>
            <a:srgbClr val="0E7C86"/>
          </a:solidFill>
          <a:ln/>
        </p:spPr>
      </p:sp>
      <p:sp>
        <p:nvSpPr>
          <p:cNvPr id="18" name="Text 16"/>
          <p:cNvSpPr txBox="1"/>
          <p:nvPr/>
        </p:nvSpPr>
        <p:spPr>
          <a:xfrm>
            <a:off x="777240" y="5248656"/>
            <a:ext cx="10607040" cy="237744"/>
          </a:xfrm>
          <a:prstGeom prst="rect">
            <a:avLst/>
          </a:prstGeom>
          <a:noFill/>
          <a:ln/>
        </p:spPr>
        <p:txBody>
          <a:bodyPr wrap="square" lIns="0" tIns="0" rIns="0" bIns="0" rtlCol="0" anchor="ctr"/>
          <a:lstStyle/>
          <a:p>
            <a:pPr indent="0" marL="0">
              <a:buNone/>
            </a:pPr>
            <a:r>
              <a:rPr lang="en-US" sz="1050" b="1" spc="100" kern="0" dirty="0">
                <a:solidFill>
                  <a:srgbClr val="0B5E66"/>
                </a:solidFill>
                <a:latin typeface="Calibri" pitchFamily="34" charset="0"/>
                <a:ea typeface="Calibri" pitchFamily="34" charset="-122"/>
                <a:cs typeface="Calibri" pitchFamily="34" charset="-120"/>
              </a:rPr>
              <a:t>REAL EXAMPLE</a:t>
            </a:r>
            <a:endParaRPr lang="en-US" sz="1050" dirty="0"/>
          </a:p>
        </p:txBody>
      </p:sp>
      <p:sp>
        <p:nvSpPr>
          <p:cNvPr id="19" name="Text 17"/>
          <p:cNvSpPr txBox="1"/>
          <p:nvPr/>
        </p:nvSpPr>
        <p:spPr>
          <a:xfrm>
            <a:off x="777240" y="5486400"/>
            <a:ext cx="10744200" cy="64008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Richard Branson (Virgin) is known for a democratic, people-first style — listening to staff, valuing their ideas and delegating widely across the Virgin companies. The trade-off: better motivation and morale in exchange for slower decisions.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STYLE 4</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Laissez-faire leadership</a:t>
            </a:r>
            <a:endParaRPr lang="en-US" sz="2600" dirty="0"/>
          </a:p>
        </p:txBody>
      </p:sp>
      <p:sp>
        <p:nvSpPr>
          <p:cNvPr id="4" name="Shape 2"/>
          <p:cNvSpPr/>
          <p:nvPr/>
        </p:nvSpPr>
        <p:spPr>
          <a:xfrm>
            <a:off x="548640" y="1371600"/>
            <a:ext cx="11091672" cy="786384"/>
          </a:xfrm>
          <a:prstGeom prst="roundRect">
            <a:avLst>
              <a:gd name="adj" fmla="val 9302"/>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585216"/>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Definition:  </a:t>
            </a:r>
            <a:pPr indent="0" marL="0">
              <a:buNone/>
            </a:pPr>
            <a:r>
              <a:rPr lang="en-US" sz="1350" dirty="0">
                <a:solidFill>
                  <a:srgbClr val="1F2A33"/>
                </a:solidFill>
                <a:latin typeface="Calibri" pitchFamily="34" charset="0"/>
                <a:ea typeface="Calibri" pitchFamily="34" charset="-122"/>
                <a:cs typeface="Calibri" pitchFamily="34" charset="-120"/>
              </a:rPr>
              <a:t>The leader gives staff freedom to make decisions and manage their own work, with little direction or supervision.</a:t>
            </a:r>
            <a:endParaRPr lang="en-US" sz="1350" dirty="0"/>
          </a:p>
        </p:txBody>
      </p:sp>
      <p:sp>
        <p:nvSpPr>
          <p:cNvPr id="6" name="Shape 4"/>
          <p:cNvSpPr/>
          <p:nvPr/>
        </p:nvSpPr>
        <p:spPr>
          <a:xfrm>
            <a:off x="548640" y="2340864"/>
            <a:ext cx="5440680" cy="1920240"/>
          </a:xfrm>
          <a:prstGeom prst="roundRect">
            <a:avLst>
              <a:gd name="adj" fmla="val 3810"/>
            </a:avLst>
          </a:prstGeom>
          <a:solidFill>
            <a:srgbClr val="E8F3EC"/>
          </a:solidFill>
          <a:ln/>
          <a:effectLst>
            <a:outerShdw sx="100000" sy="100000" kx="0" ky="0" algn="bl" rotWithShape="0" blurRad="76200" dist="25400" dir="5400000">
              <a:srgbClr val="9AAAB0">
                <a:alpha val="28000"/>
              </a:srgbClr>
            </a:outerShdw>
          </a:effectLst>
        </p:spPr>
      </p:sp>
      <p:sp>
        <p:nvSpPr>
          <p:cNvPr id="7" name="Shape 5"/>
          <p:cNvSpPr/>
          <p:nvPr/>
        </p:nvSpPr>
        <p:spPr>
          <a:xfrm>
            <a:off x="777240" y="2487168"/>
            <a:ext cx="3108960" cy="310896"/>
          </a:xfrm>
          <a:prstGeom prst="roundRect">
            <a:avLst>
              <a:gd name="adj" fmla="val 50000"/>
            </a:avLst>
          </a:prstGeom>
          <a:solidFill>
            <a:srgbClr val="2F8A5B"/>
          </a:solidFill>
          <a:ln/>
        </p:spPr>
      </p:sp>
      <p:sp>
        <p:nvSpPr>
          <p:cNvPr id="8" name="Text 6"/>
          <p:cNvSpPr txBox="1"/>
          <p:nvPr/>
        </p:nvSpPr>
        <p:spPr>
          <a:xfrm>
            <a:off x="777240" y="2487168"/>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KEY FEATURES</a:t>
            </a:r>
            <a:endParaRPr lang="en-US" sz="1050" dirty="0"/>
          </a:p>
        </p:txBody>
      </p:sp>
      <p:sp>
        <p:nvSpPr>
          <p:cNvPr id="9" name="Text 7"/>
          <p:cNvSpPr txBox="1"/>
          <p:nvPr/>
        </p:nvSpPr>
        <p:spPr>
          <a:xfrm>
            <a:off x="777240" y="2889504"/>
            <a:ext cx="4983480" cy="12801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Staff have a high degree of freedom</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Very little direction or guidelines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Leader steps back from day-to-day control</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Relies on self-motivated, skilled staff</a:t>
            </a:r>
            <a:endParaRPr lang="en-US" sz="1250" dirty="0"/>
          </a:p>
        </p:txBody>
      </p:sp>
      <p:sp>
        <p:nvSpPr>
          <p:cNvPr id="10" name="Shape 8"/>
          <p:cNvSpPr/>
          <p:nvPr/>
        </p:nvSpPr>
        <p:spPr>
          <a:xfrm>
            <a:off x="6199632" y="2340864"/>
            <a:ext cx="5440680" cy="1920240"/>
          </a:xfrm>
          <a:prstGeom prst="roundRect">
            <a:avLst>
              <a:gd name="adj" fmla="val 3810"/>
            </a:avLst>
          </a:prstGeom>
          <a:solidFill>
            <a:srgbClr val="F9EAE6"/>
          </a:solidFill>
          <a:ln/>
          <a:effectLst>
            <a:outerShdw sx="100000" sy="100000" kx="0" ky="0" algn="bl" rotWithShape="0" blurRad="76200" dist="25400" dir="5400000">
              <a:srgbClr val="9AAAB0">
                <a:alpha val="28000"/>
              </a:srgbClr>
            </a:outerShdw>
          </a:effectLst>
        </p:spPr>
      </p:sp>
      <p:sp>
        <p:nvSpPr>
          <p:cNvPr id="11" name="Shape 9"/>
          <p:cNvSpPr/>
          <p:nvPr/>
        </p:nvSpPr>
        <p:spPr>
          <a:xfrm>
            <a:off x="6428232" y="2487168"/>
            <a:ext cx="3108960" cy="310896"/>
          </a:xfrm>
          <a:prstGeom prst="roundRect">
            <a:avLst>
              <a:gd name="adj" fmla="val 50000"/>
            </a:avLst>
          </a:prstGeom>
          <a:solidFill>
            <a:srgbClr val="C14B37"/>
          </a:solidFill>
          <a:ln/>
        </p:spPr>
      </p:sp>
      <p:sp>
        <p:nvSpPr>
          <p:cNvPr id="12" name="Text 10"/>
          <p:cNvSpPr txBox="1"/>
          <p:nvPr/>
        </p:nvSpPr>
        <p:spPr>
          <a:xfrm>
            <a:off x="6428232" y="2487168"/>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WEAKNESS</a:t>
            </a:r>
            <a:endParaRPr lang="en-US" sz="1050" dirty="0"/>
          </a:p>
        </p:txBody>
      </p:sp>
      <p:sp>
        <p:nvSpPr>
          <p:cNvPr id="13" name="Text 11"/>
          <p:cNvSpPr txBox="1"/>
          <p:nvPr/>
        </p:nvSpPr>
        <p:spPr>
          <a:xfrm>
            <a:off x="6428232" y="2889504"/>
            <a:ext cx="4983480" cy="12801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Poor productivity if staff lack motivation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Lack of guidance → confusion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Can look like weak leadership</a:t>
            </a:r>
            <a:endParaRPr lang="en-US" sz="1250" dirty="0"/>
          </a:p>
        </p:txBody>
      </p:sp>
      <p:sp>
        <p:nvSpPr>
          <p:cNvPr id="14" name="Shape 12"/>
          <p:cNvSpPr/>
          <p:nvPr/>
        </p:nvSpPr>
        <p:spPr>
          <a:xfrm>
            <a:off x="548640" y="4407408"/>
            <a:ext cx="11091672" cy="658368"/>
          </a:xfrm>
          <a:prstGeom prst="roundRect">
            <a:avLst>
              <a:gd name="adj" fmla="val 11111"/>
            </a:avLst>
          </a:prstGeom>
          <a:solidFill>
            <a:srgbClr val="FBF0D8"/>
          </a:solidFill>
          <a:ln/>
          <a:effectLst>
            <a:outerShdw sx="100000" sy="100000" kx="0" ky="0" algn="bl" rotWithShape="0" blurRad="76200" dist="25400" dir="5400000">
              <a:srgbClr val="9AAAB0">
                <a:alpha val="28000"/>
              </a:srgbClr>
            </a:outerShdw>
          </a:effectLst>
        </p:spPr>
      </p:sp>
      <p:sp>
        <p:nvSpPr>
          <p:cNvPr id="15" name="Text 13"/>
          <p:cNvSpPr txBox="1"/>
          <p:nvPr/>
        </p:nvSpPr>
        <p:spPr>
          <a:xfrm>
            <a:off x="777240" y="4498848"/>
            <a:ext cx="10698480" cy="475488"/>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Suits:  </a:t>
            </a:r>
            <a:pPr indent="0" marL="0">
              <a:buNone/>
            </a:pPr>
            <a:r>
              <a:rPr lang="en-US" sz="1300" dirty="0">
                <a:solidFill>
                  <a:srgbClr val="1F2A33"/>
                </a:solidFill>
                <a:latin typeface="Calibri" pitchFamily="34" charset="0"/>
                <a:ea typeface="Calibri" pitchFamily="34" charset="-122"/>
                <a:cs typeface="Calibri" pitchFamily="34" charset="-120"/>
              </a:rPr>
              <a:t>highly skilled, creative, self-driven staff — e.g. engineers, designers, researchers, R&amp;D teams.</a:t>
            </a:r>
            <a:endParaRPr lang="en-US" sz="1300" dirty="0"/>
          </a:p>
        </p:txBody>
      </p:sp>
      <p:sp>
        <p:nvSpPr>
          <p:cNvPr id="16" name="Shape 14"/>
          <p:cNvSpPr/>
          <p:nvPr/>
        </p:nvSpPr>
        <p:spPr>
          <a:xfrm>
            <a:off x="548640" y="5175504"/>
            <a:ext cx="11091672" cy="1005840"/>
          </a:xfrm>
          <a:prstGeom prst="roundRect">
            <a:avLst>
              <a:gd name="adj" fmla="val 727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548640" y="5175504"/>
            <a:ext cx="109728" cy="1005840"/>
          </a:xfrm>
          <a:prstGeom prst="roundRect">
            <a:avLst/>
          </a:prstGeom>
          <a:solidFill>
            <a:srgbClr val="0E7C86"/>
          </a:solidFill>
          <a:ln/>
        </p:spPr>
      </p:sp>
      <p:sp>
        <p:nvSpPr>
          <p:cNvPr id="18" name="Text 16"/>
          <p:cNvSpPr txBox="1"/>
          <p:nvPr/>
        </p:nvSpPr>
        <p:spPr>
          <a:xfrm>
            <a:off x="777240" y="5248656"/>
            <a:ext cx="10607040" cy="237744"/>
          </a:xfrm>
          <a:prstGeom prst="rect">
            <a:avLst/>
          </a:prstGeom>
          <a:noFill/>
          <a:ln/>
        </p:spPr>
        <p:txBody>
          <a:bodyPr wrap="square" lIns="0" tIns="0" rIns="0" bIns="0" rtlCol="0" anchor="ctr"/>
          <a:lstStyle/>
          <a:p>
            <a:pPr indent="0" marL="0">
              <a:buNone/>
            </a:pPr>
            <a:r>
              <a:rPr lang="en-US" sz="1050" b="1" spc="100" kern="0" dirty="0">
                <a:solidFill>
                  <a:srgbClr val="0B5E66"/>
                </a:solidFill>
                <a:latin typeface="Calibri" pitchFamily="34" charset="0"/>
                <a:ea typeface="Calibri" pitchFamily="34" charset="-122"/>
                <a:cs typeface="Calibri" pitchFamily="34" charset="-120"/>
              </a:rPr>
              <a:t>REAL EXAMPLE</a:t>
            </a:r>
            <a:endParaRPr lang="en-US" sz="1050" dirty="0"/>
          </a:p>
        </p:txBody>
      </p:sp>
      <p:sp>
        <p:nvSpPr>
          <p:cNvPr id="19" name="Text 17"/>
          <p:cNvSpPr txBox="1"/>
          <p:nvPr/>
        </p:nvSpPr>
        <p:spPr>
          <a:xfrm>
            <a:off x="777240" y="5486400"/>
            <a:ext cx="10744200" cy="64008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Warren Buffett at Berkshire Hathaway is a well-known example: he largely leaves the managers of his subsidiary businesses to run them as they see fit. It works because those managers are highly capable — but the same hands-off approach would fail with staff who need direction.</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COMPARED</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four styles at a glance</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920240"/>
                <a:gridCol w="2560320"/>
                <a:gridCol w="3685032"/>
                <a:gridCol w="2926080"/>
              </a:tblGrid>
              <a:tr h="45720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Style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Who decides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Best when…</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Watch out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749808">
                <a:tc>
                  <a:txBody>
                    <a:bodyPr/>
                    <a:lstStyle/>
                    <a:p>
                      <a:pPr algn="l" indent="0" marL="0">
                        <a:buNone/>
                      </a:pPr>
                      <a:r>
                        <a:rPr lang="en-US" sz="1250" b="1" dirty="0">
                          <a:solidFill>
                            <a:srgbClr val="0E7C86"/>
                          </a:solidFill>
                          <a:latin typeface="Calibri" pitchFamily="34" charset="0"/>
                          <a:ea typeface="Calibri" pitchFamily="34" charset="-122"/>
                          <a:cs typeface="Calibri" pitchFamily="34" charset="-120"/>
                        </a:rPr>
                        <a:t>Autocratic</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Leader alone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Urgent/simple tasks; inexperienced staff</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Demotivates skilled staff</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49808">
                <a:tc>
                  <a:txBody>
                    <a:bodyPr/>
                    <a:lstStyle/>
                    <a:p>
                      <a:pPr algn="l" indent="0" marL="0">
                        <a:buNone/>
                      </a:pPr>
                      <a:r>
                        <a:rPr lang="en-US" sz="1250" b="1" dirty="0">
                          <a:solidFill>
                            <a:srgbClr val="E0940F"/>
                          </a:solidFill>
                          <a:latin typeface="Calibri" pitchFamily="34" charset="0"/>
                          <a:ea typeface="Calibri" pitchFamily="34" charset="-122"/>
                          <a:cs typeface="Calibri" pitchFamily="34" charset="-120"/>
                        </a:rPr>
                        <a:t>Paternalistic</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Leader (in staff's interest)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Loyal, welfare-focused cultures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Staff dependency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49808">
                <a:tc>
                  <a:txBody>
                    <a:bodyPr/>
                    <a:lstStyle/>
                    <a:p>
                      <a:pPr algn="l" indent="0" marL="0">
                        <a:buNone/>
                      </a:pPr>
                      <a:r>
                        <a:rPr lang="en-US" sz="1250" b="1" dirty="0">
                          <a:solidFill>
                            <a:srgbClr val="2F8A5B"/>
                          </a:solidFill>
                          <a:latin typeface="Calibri" pitchFamily="34" charset="0"/>
                          <a:ea typeface="Calibri" pitchFamily="34" charset="-122"/>
                          <a:cs typeface="Calibri" pitchFamily="34" charset="-120"/>
                        </a:rPr>
                        <a:t>Democratic</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Leader + group</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Creative/professional work</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Slower decisions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49808">
                <a:tc>
                  <a:txBody>
                    <a:bodyPr/>
                    <a:lstStyle/>
                    <a:p>
                      <a:pPr algn="l" indent="0" marL="0">
                        <a:buNone/>
                      </a:pPr>
                      <a:r>
                        <a:rPr lang="en-US" sz="1250" b="1" dirty="0">
                          <a:solidFill>
                            <a:srgbClr val="6B4FA0"/>
                          </a:solidFill>
                          <a:latin typeface="Calibri" pitchFamily="34" charset="0"/>
                          <a:ea typeface="Calibri" pitchFamily="34" charset="-122"/>
                          <a:cs typeface="Calibri" pitchFamily="34" charset="-120"/>
                        </a:rPr>
                        <a:t>Laissez-faire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Staff themselves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Skilled, self-driven experts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Poor output if unmotivated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029200"/>
            <a:ext cx="11091672" cy="1143000"/>
          </a:xfrm>
          <a:prstGeom prst="roundRect">
            <a:avLst>
              <a:gd name="adj" fmla="val 6400"/>
            </a:avLst>
          </a:prstGeom>
          <a:solidFill>
            <a:srgbClr val="FBF0D8"/>
          </a:solidFill>
          <a:ln/>
          <a:effectLst>
            <a:outerShdw sx="100000" sy="100000" kx="0" ky="0" algn="bl" rotWithShape="0" blurRad="76200" dist="25400" dir="5400000">
              <a:srgbClr val="9AAAB0">
                <a:alpha val="28000"/>
              </a:srgbClr>
            </a:outerShdw>
          </a:effectLst>
        </p:spPr>
      </p:sp>
      <p:sp>
        <p:nvSpPr>
          <p:cNvPr id="6" name="Text 3"/>
          <p:cNvSpPr txBox="1"/>
          <p:nvPr/>
        </p:nvSpPr>
        <p:spPr>
          <a:xfrm>
            <a:off x="777240" y="5138928"/>
            <a:ext cx="10698480" cy="914400"/>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The spectrum:  </a:t>
            </a:r>
            <a:pPr indent="0" marL="0">
              <a:buNone/>
            </a:pPr>
            <a:r>
              <a:rPr lang="en-US" sz="1250" dirty="0">
                <a:solidFill>
                  <a:srgbClr val="1F2A33"/>
                </a:solidFill>
                <a:latin typeface="Calibri" pitchFamily="34" charset="0"/>
                <a:ea typeface="Calibri" pitchFamily="34" charset="-122"/>
                <a:cs typeface="Calibri" pitchFamily="34" charset="-120"/>
              </a:rPr>
              <a:t>the styles run from most control (autocratic) to least control (laissez-faire). As you move down, the leader hands over more power — gaining motivation and ideas, but losing speed and control. No style is ‘best’ on its own; the right one depends on the task, the staff and the situation.</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CHOOSING</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Which style, when? Leadership is situational</a:t>
            </a:r>
            <a:endParaRPr lang="en-US" sz="2600" dirty="0"/>
          </a:p>
        </p:txBody>
      </p:sp>
      <p:sp>
        <p:nvSpPr>
          <p:cNvPr id="4" name="Shape 2"/>
          <p:cNvSpPr/>
          <p:nvPr/>
        </p:nvSpPr>
        <p:spPr>
          <a:xfrm>
            <a:off x="548640" y="1463040"/>
            <a:ext cx="544068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581912"/>
            <a:ext cx="5029200" cy="32004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It depends on…</a:t>
            </a:r>
            <a:endParaRPr lang="en-US" sz="1400" dirty="0"/>
          </a:p>
        </p:txBody>
      </p:sp>
      <p:sp>
        <p:nvSpPr>
          <p:cNvPr id="6" name="Text 4"/>
          <p:cNvSpPr txBox="1"/>
          <p:nvPr/>
        </p:nvSpPr>
        <p:spPr>
          <a:xfrm>
            <a:off x="777240" y="1938528"/>
            <a:ext cx="4983480" cy="22860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The task — urgent &amp; simple vs complex &amp; creative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The staff — skilled &amp; motivated vs new &amp; needing direction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Time pressure — a crisis needs fast, autocratic calls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The culture — family firm vs flat tech start-up</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The leader's own personality &amp; experience</a:t>
            </a:r>
            <a:endParaRPr lang="en-US" sz="1250" dirty="0"/>
          </a:p>
        </p:txBody>
      </p:sp>
      <p:sp>
        <p:nvSpPr>
          <p:cNvPr id="7" name="Shape 5"/>
          <p:cNvSpPr/>
          <p:nvPr/>
        </p:nvSpPr>
        <p:spPr>
          <a:xfrm>
            <a:off x="6199632" y="1463040"/>
            <a:ext cx="5440680" cy="2834640"/>
          </a:xfrm>
          <a:prstGeom prst="roundRect">
            <a:avLst>
              <a:gd name="adj" fmla="val 2581"/>
            </a:avLst>
          </a:prstGeom>
          <a:solidFill>
            <a:srgbClr val="E8F3EC"/>
          </a:solidFill>
          <a:ln/>
          <a:effectLst>
            <a:outerShdw sx="100000" sy="100000" kx="0" ky="0" algn="bl" rotWithShape="0" blurRad="76200" dist="25400" dir="5400000">
              <a:srgbClr val="9AAAB0">
                <a:alpha val="28000"/>
              </a:srgbClr>
            </a:outerShdw>
          </a:effectLst>
        </p:spPr>
      </p:sp>
      <p:sp>
        <p:nvSpPr>
          <p:cNvPr id="8" name="Text 6"/>
          <p:cNvSpPr txBox="1"/>
          <p:nvPr/>
        </p:nvSpPr>
        <p:spPr>
          <a:xfrm>
            <a:off x="6428232" y="1581912"/>
            <a:ext cx="5029200" cy="320040"/>
          </a:xfrm>
          <a:prstGeom prst="rect">
            <a:avLst/>
          </a:prstGeom>
          <a:noFill/>
          <a:ln/>
        </p:spPr>
        <p:txBody>
          <a:bodyPr wrap="square" lIns="0" tIns="0" rIns="0" bIns="0" rtlCol="0" anchor="ctr"/>
          <a:lstStyle/>
          <a:p>
            <a:pPr indent="0" marL="0">
              <a:buNone/>
            </a:pPr>
            <a:r>
              <a:rPr lang="en-US" sz="1400" b="1" dirty="0">
                <a:solidFill>
                  <a:srgbClr val="2F8A5B"/>
                </a:solidFill>
                <a:latin typeface="Calibri" pitchFamily="34" charset="0"/>
                <a:ea typeface="Calibri" pitchFamily="34" charset="-122"/>
                <a:cs typeface="Calibri" pitchFamily="34" charset="-120"/>
              </a:rPr>
              <a:t>Why business is moving away from autocratic</a:t>
            </a:r>
            <a:endParaRPr lang="en-US" sz="1400" dirty="0"/>
          </a:p>
        </p:txBody>
      </p:sp>
      <p:sp>
        <p:nvSpPr>
          <p:cNvPr id="9" name="Text 7"/>
          <p:cNvSpPr txBox="1"/>
          <p:nvPr/>
        </p:nvSpPr>
        <p:spPr>
          <a:xfrm>
            <a:off x="6428232" y="1938528"/>
            <a:ext cx="4983480" cy="22860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 better-educated, more skilled workforce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Society values involvement &amp; fairness more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Need for soft HR skills &amp; employee engagement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More workplace legislation &amp; employee rights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Flatter, more flexible organisations</a:t>
            </a:r>
            <a:endParaRPr lang="en-US" sz="1250" dirty="0"/>
          </a:p>
        </p:txBody>
      </p:sp>
      <p:sp>
        <p:nvSpPr>
          <p:cNvPr id="10" name="Shape 8"/>
          <p:cNvSpPr/>
          <p:nvPr/>
        </p:nvSpPr>
        <p:spPr>
          <a:xfrm>
            <a:off x="548640" y="4434840"/>
            <a:ext cx="11091672" cy="1737360"/>
          </a:xfrm>
          <a:prstGeom prst="roundRect">
            <a:avLst>
              <a:gd name="adj" fmla="val 421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777240" y="4553712"/>
            <a:ext cx="10607040" cy="320040"/>
          </a:xfrm>
          <a:prstGeom prst="rect">
            <a:avLst/>
          </a:prstGeom>
          <a:noFill/>
          <a:ln/>
        </p:spPr>
        <p:txBody>
          <a:bodyPr wrap="square" lIns="0" tIns="0" rIns="0" bIns="0" rtlCol="0" anchor="ctr"/>
          <a:lstStyle/>
          <a:p>
            <a:pPr indent="0" marL="0">
              <a:buNone/>
            </a:pPr>
            <a:r>
              <a:rPr lang="en-US" sz="1400" b="1" dirty="0">
                <a:solidFill>
                  <a:srgbClr val="8A5A06"/>
                </a:solidFill>
                <a:latin typeface="Calibri" pitchFamily="34" charset="0"/>
                <a:ea typeface="Calibri" pitchFamily="34" charset="-122"/>
                <a:cs typeface="Calibri" pitchFamily="34" charset="-120"/>
              </a:rPr>
              <a:t>The A-grade point: good leaders flex their style</a:t>
            </a:r>
            <a:endParaRPr lang="en-US" sz="1400" dirty="0"/>
          </a:p>
        </p:txBody>
      </p:sp>
      <p:sp>
        <p:nvSpPr>
          <p:cNvPr id="12" name="Text 10"/>
          <p:cNvSpPr txBox="1"/>
          <p:nvPr/>
        </p:nvSpPr>
        <p:spPr>
          <a:xfrm>
            <a:off x="777240" y="4892040"/>
            <a:ext cx="10698480" cy="118872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The best leaders are not fixed to one style — they adapt to the situation. A hospital A&amp;E needs autocratic speed; a tech design team thrives under democratic or laissez-faire freedom. A leader might even use different styles with different staff at different times. In the exam, never say one style is simply ‘best’ — argue that it depends on the business context, and support your judgement with the case.</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D</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D</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Bridge: from entrepreneur to leader</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how a founder's role changes as the business grows — delegation, trust and strategy  (leads into 1.3.5)</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TRANSITION</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From entrepreneur to leader of a growing business</a:t>
            </a:r>
            <a:endParaRPr lang="en-US" sz="2600" dirty="0"/>
          </a:p>
        </p:txBody>
      </p:sp>
      <p:sp>
        <p:nvSpPr>
          <p:cNvPr id="4" name="Shape 2"/>
          <p:cNvSpPr/>
          <p:nvPr/>
        </p:nvSpPr>
        <p:spPr>
          <a:xfrm>
            <a:off x="548640" y="1371600"/>
            <a:ext cx="11091672" cy="713232"/>
          </a:xfrm>
          <a:prstGeom prst="roundRect">
            <a:avLst>
              <a:gd name="adj" fmla="val 1025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530352"/>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The shift:  </a:t>
            </a:r>
            <a:pPr indent="0" marL="0">
              <a:buNone/>
            </a:pPr>
            <a:r>
              <a:rPr lang="en-US" sz="1300" dirty="0">
                <a:solidFill>
                  <a:srgbClr val="1F2A33"/>
                </a:solidFill>
                <a:latin typeface="Calibri" pitchFamily="34" charset="0"/>
                <a:ea typeface="Calibri" pitchFamily="34" charset="-122"/>
                <a:cs typeface="Calibri" pitchFamily="34" charset="-120"/>
              </a:rPr>
              <a:t>as a business grows, the founder can no longer do everything. They must move from doing the work themselves to leading others to do it — which needs a different set of skills.</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212848"/>
          <a:ext cx="11091672" cy="914400"/>
        </p:xfrm>
        <a:graphic>
          <a:graphicData uri="http://schemas.openxmlformats.org/drawingml/2006/table">
            <a:tbl>
              <a:tblPr/>
              <a:tblGrid>
                <a:gridCol w="5541264"/>
                <a:gridCol w="5550408"/>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As an entrepreneur…</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7C86"/>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…must become a leader</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566928">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Creates the idea, takes risks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Sets the vision &amp; direction for the organisation</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Works alone / in a small team</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Leads larger teams &amp; departments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Hands-on with every task</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Delegates and empowers managers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Informal, reactive decisions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Formal structure &amp; strategic planning</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Motivates by personal passion</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Motivates through leadership style &amp; culture</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091672" cy="713232"/>
          </a:xfrm>
          <a:prstGeom prst="roundRect">
            <a:avLst>
              <a:gd name="adj" fmla="val 10256"/>
            </a:avLst>
          </a:prstGeom>
          <a:solidFill>
            <a:srgbClr val="FBF0D8"/>
          </a:solidFill>
          <a:ln/>
          <a:effectLst>
            <a:outerShdw sx="100000" sy="100000" kx="0" ky="0" algn="bl" rotWithShape="0" blurRad="76200" dist="25400" dir="5400000">
              <a:srgbClr val="9AAAB0">
                <a:alpha val="28000"/>
              </a:srgbClr>
            </a:outerShdw>
          </a:effectLst>
        </p:spPr>
      </p:sp>
      <p:sp>
        <p:nvSpPr>
          <p:cNvPr id="8" name="Text 5"/>
          <p:cNvSpPr txBox="1"/>
          <p:nvPr/>
        </p:nvSpPr>
        <p:spPr>
          <a:xfrm>
            <a:off x="777240" y="5577840"/>
            <a:ext cx="10698480" cy="530352"/>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Leads into 1.3.5:  </a:t>
            </a:r>
            <a:pPr indent="0" marL="0">
              <a:buNone/>
            </a:pPr>
            <a:r>
              <a:rPr lang="en-US" sz="1250" dirty="0">
                <a:solidFill>
                  <a:srgbClr val="1F2A33"/>
                </a:solidFill>
                <a:latin typeface="Calibri" pitchFamily="34" charset="0"/>
                <a:ea typeface="Calibri" pitchFamily="34" charset="-122"/>
                <a:cs typeface="Calibri" pitchFamily="34" charset="-120"/>
              </a:rPr>
              <a:t>the entrepreneur-to-leader transition — delegating, trusting others, listening, and leading strategically — is explored fully in the next lesson, Entrepreneurs &amp; leaders.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E</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E</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A-grade exam skills</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Perfect Paper plc  ·  the [10] ‘is she democratic?’ and the [20] ‘will changing style raise sales?’</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E · THE CASE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case: Perfect Paper plc</a:t>
            </a:r>
            <a:endParaRPr lang="en-US" sz="2600" dirty="0"/>
          </a:p>
        </p:txBody>
      </p:sp>
      <p:sp>
        <p:nvSpPr>
          <p:cNvPr id="4" name="Shape 2"/>
          <p:cNvSpPr/>
          <p:nvPr/>
        </p:nvSpPr>
        <p:spPr>
          <a:xfrm>
            <a:off x="548640" y="1371600"/>
            <a:ext cx="6903720" cy="4800600"/>
          </a:xfrm>
          <a:prstGeom prst="roundRect">
            <a:avLst>
              <a:gd name="adj" fmla="val 1524"/>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6400800" cy="320040"/>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The situation</a:t>
            </a:r>
            <a:endParaRPr lang="en-US" sz="1350" dirty="0"/>
          </a:p>
        </p:txBody>
      </p:sp>
      <p:sp>
        <p:nvSpPr>
          <p:cNvPr id="6" name="Text 4"/>
          <p:cNvSpPr txBox="1"/>
          <p:nvPr/>
        </p:nvSpPr>
        <p:spPr>
          <a:xfrm>
            <a:off x="777240" y="1847088"/>
            <a:ext cx="6446520" cy="425196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Scottish paper firm, 450+ staff over two sites; paper industry down 4%+ (email replacing letters)</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Jayne Coles manages the 25-strong sales team — most with 10+ years' service; she rose from salesperson to team leader to sales manager</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She called herself a democratic leader in her interview</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Told by seniors: raise sales 3% in 6 months. She took new staffer Mark's idea (visit clients face-to-face in London &amp; Manchester)</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Asked senior staff for feedback — they were sceptical (cost, travel with young children) — but her mind was made up</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Told the whole team the change would happen next month: ‘this or redundancies’. Plans closer monitoring, more targets &amp; bonuses</a:t>
            </a:r>
            <a:endParaRPr lang="en-US" sz="1150" dirty="0"/>
          </a:p>
        </p:txBody>
      </p:sp>
      <p:sp>
        <p:nvSpPr>
          <p:cNvPr id="7" name="Shape 5"/>
          <p:cNvSpPr/>
          <p:nvPr/>
        </p:nvSpPr>
        <p:spPr>
          <a:xfrm>
            <a:off x="7662672" y="1371600"/>
            <a:ext cx="3977640" cy="4800600"/>
          </a:xfrm>
          <a:prstGeom prst="roundRect">
            <a:avLst>
              <a:gd name="adj" fmla="val 1839"/>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8" name="Text 6"/>
          <p:cNvSpPr txBox="1"/>
          <p:nvPr/>
        </p:nvSpPr>
        <p:spPr>
          <a:xfrm>
            <a:off x="7863840" y="1499616"/>
            <a:ext cx="3566160" cy="320040"/>
          </a:xfrm>
          <a:prstGeom prst="rect">
            <a:avLst/>
          </a:prstGeom>
          <a:noFill/>
          <a:ln/>
        </p:spPr>
        <p:txBody>
          <a:bodyPr wrap="square" lIns="0" tIns="0" rIns="0" bIns="0" rtlCol="0" anchor="ctr"/>
          <a:lstStyle/>
          <a:p>
            <a:pPr indent="0" marL="0">
              <a:buNone/>
            </a:pPr>
            <a:r>
              <a:rPr lang="en-US" sz="1350" b="1" dirty="0">
                <a:solidFill>
                  <a:srgbClr val="0E3A43"/>
                </a:solidFill>
                <a:latin typeface="Calibri" pitchFamily="34" charset="0"/>
                <a:ea typeface="Calibri" pitchFamily="34" charset="-122"/>
                <a:cs typeface="Calibri" pitchFamily="34" charset="-120"/>
              </a:rPr>
              <a:t>Sales data</a:t>
            </a:r>
            <a:endParaRPr lang="en-US" sz="13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863840" y="1874520"/>
          <a:ext cx="3611880" cy="914400"/>
        </p:xfrm>
        <a:graphic>
          <a:graphicData uri="http://schemas.openxmlformats.org/drawingml/2006/table">
            <a:tbl>
              <a:tblPr/>
              <a:tblGrid>
                <a:gridCol w="1600200"/>
                <a:gridCol w="1005840"/>
                <a:gridCol w="1005840"/>
              </a:tblGrid>
              <a:tr h="365760">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Last yr</a:t>
                      </a:r>
                      <a:endParaRPr lang="en-US" sz="11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This yr</a:t>
                      </a:r>
                      <a:endParaRPr lang="en-US" sz="11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457200">
                <a:tc>
                  <a:txBody>
                    <a:bodyPr/>
                    <a:lstStyle/>
                    <a:p>
                      <a:pPr algn="l" indent="0" marL="0">
                        <a:buNone/>
                      </a:pPr>
                      <a:r>
                        <a:rPr lang="en-US" sz="1150" b="1" dirty="0">
                          <a:solidFill>
                            <a:srgbClr val="1F2A33"/>
                          </a:solidFill>
                          <a:latin typeface="Calibri" pitchFamily="34" charset="0"/>
                          <a:ea typeface="Calibri" pitchFamily="34" charset="-122"/>
                          <a:cs typeface="Calibri" pitchFamily="34" charset="-120"/>
                        </a:rPr>
                        <a:t>Revenue</a:t>
                      </a:r>
                      <a:endParaRPr lang="en-US" sz="11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A33"/>
                          </a:solidFill>
                          <a:latin typeface="Calibri" pitchFamily="34" charset="0"/>
                          <a:ea typeface="Calibri" pitchFamily="34" charset="-122"/>
                          <a:cs typeface="Calibri" pitchFamily="34" charset="-120"/>
                        </a:rPr>
                        <a:t>£27m</a:t>
                      </a:r>
                      <a:endParaRPr lang="en-US" sz="11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A33"/>
                          </a:solidFill>
                          <a:latin typeface="Calibri" pitchFamily="34" charset="0"/>
                          <a:ea typeface="Calibri" pitchFamily="34" charset="-122"/>
                          <a:cs typeface="Calibri" pitchFamily="34" charset="-120"/>
                        </a:rPr>
                        <a:t>£26.5m</a:t>
                      </a:r>
                      <a:endParaRPr lang="en-US" sz="11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1F2A33"/>
                          </a:solidFill>
                          <a:latin typeface="Calibri" pitchFamily="34" charset="0"/>
                          <a:ea typeface="Calibri" pitchFamily="34" charset="-122"/>
                          <a:cs typeface="Calibri" pitchFamily="34" charset="-120"/>
                        </a:rPr>
                        <a:t>Reams sold</a:t>
                      </a:r>
                      <a:endParaRPr lang="en-US" sz="11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A33"/>
                          </a:solidFill>
                          <a:latin typeface="Calibri" pitchFamily="34" charset="0"/>
                          <a:ea typeface="Calibri" pitchFamily="34" charset="-122"/>
                          <a:cs typeface="Calibri" pitchFamily="34" charset="-120"/>
                        </a:rPr>
                        <a:t>13.5m</a:t>
                      </a:r>
                      <a:endParaRPr lang="en-US" sz="11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A33"/>
                          </a:solidFill>
                          <a:latin typeface="Calibri" pitchFamily="34" charset="0"/>
                          <a:ea typeface="Calibri" pitchFamily="34" charset="-122"/>
                          <a:cs typeface="Calibri" pitchFamily="34" charset="-120"/>
                        </a:rPr>
                        <a:t>10.6m</a:t>
                      </a:r>
                      <a:endParaRPr lang="en-US" sz="11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1F2A33"/>
                          </a:solidFill>
                          <a:latin typeface="Calibri" pitchFamily="34" charset="0"/>
                          <a:ea typeface="Calibri" pitchFamily="34" charset="-122"/>
                          <a:cs typeface="Calibri" pitchFamily="34" charset="-120"/>
                        </a:rPr>
                        <a:t>Price/ream</a:t>
                      </a:r>
                      <a:endParaRPr lang="en-US" sz="11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A33"/>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A33"/>
                          </a:solidFill>
                          <a:latin typeface="Calibri" pitchFamily="34" charset="0"/>
                          <a:ea typeface="Calibri" pitchFamily="34" charset="-122"/>
                          <a:cs typeface="Calibri" pitchFamily="34" charset="-120"/>
                        </a:rPr>
                        <a:t>£2.50</a:t>
                      </a:r>
                      <a:endParaRPr lang="en-US" sz="11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10" name="Shape 7"/>
          <p:cNvSpPr/>
          <p:nvPr/>
        </p:nvSpPr>
        <p:spPr>
          <a:xfrm>
            <a:off x="7863840" y="3977640"/>
            <a:ext cx="3611880" cy="2057400"/>
          </a:xfrm>
          <a:prstGeom prst="roundRect">
            <a:avLst>
              <a:gd name="adj" fmla="val 3556"/>
            </a:avLst>
          </a:prstGeom>
          <a:solidFill>
            <a:srgbClr val="FBF0D8"/>
          </a:solidFill>
          <a:ln/>
          <a:effectLst>
            <a:outerShdw sx="100000" sy="100000" kx="0" ky="0" algn="bl" rotWithShape="0" blurRad="76200" dist="25400" dir="5400000">
              <a:srgbClr val="9AAAB0">
                <a:alpha val="28000"/>
              </a:srgbClr>
            </a:outerShdw>
          </a:effectLst>
        </p:spPr>
      </p:sp>
      <p:sp>
        <p:nvSpPr>
          <p:cNvPr id="11" name="Text 8"/>
          <p:cNvSpPr txBox="1"/>
          <p:nvPr/>
        </p:nvSpPr>
        <p:spPr>
          <a:xfrm>
            <a:off x="8028432" y="4078224"/>
            <a:ext cx="3291840" cy="274320"/>
          </a:xfrm>
          <a:prstGeom prst="rect">
            <a:avLst/>
          </a:prstGeom>
          <a:noFill/>
          <a:ln/>
        </p:spPr>
        <p:txBody>
          <a:bodyPr wrap="square" lIns="0" tIns="0" rIns="0" bIns="0" rtlCol="0" anchor="ctr"/>
          <a:lstStyle/>
          <a:p>
            <a:pPr indent="0" marL="0">
              <a:buNone/>
            </a:pPr>
            <a:r>
              <a:rPr lang="en-US" sz="1200" b="1" dirty="0">
                <a:solidFill>
                  <a:srgbClr val="8A5A06"/>
                </a:solidFill>
                <a:latin typeface="Calibri" pitchFamily="34" charset="0"/>
                <a:ea typeface="Calibri" pitchFamily="34" charset="-122"/>
                <a:cs typeface="Calibri" pitchFamily="34" charset="-120"/>
              </a:rPr>
              <a:t>Spot this in the data</a:t>
            </a:r>
            <a:endParaRPr lang="en-US" sz="1200" dirty="0"/>
          </a:p>
        </p:txBody>
      </p:sp>
      <p:sp>
        <p:nvSpPr>
          <p:cNvPr id="12" name="Text 9"/>
          <p:cNvSpPr txBox="1"/>
          <p:nvPr/>
        </p:nvSpPr>
        <p:spPr>
          <a:xfrm>
            <a:off x="8028432" y="4389120"/>
            <a:ext cx="3310128" cy="1554480"/>
          </a:xfrm>
          <a:prstGeom prst="rect">
            <a:avLst/>
          </a:prstGeom>
          <a:noFill/>
          <a:ln/>
        </p:spPr>
        <p:txBody>
          <a:bodyPr wrap="square" lIns="0" tIns="0" rIns="0" bIns="0" rtlCol="0" anchor="t"/>
          <a:lstStyle/>
          <a:p>
            <a:pPr indent="0" marL="0">
              <a:buNone/>
            </a:pPr>
            <a:r>
              <a:rPr lang="en-US" sz="1100" dirty="0">
                <a:solidFill>
                  <a:srgbClr val="1F2A33"/>
                </a:solidFill>
                <a:latin typeface="Calibri" pitchFamily="34" charset="0"/>
                <a:ea typeface="Calibri" pitchFamily="34" charset="-122"/>
                <a:cs typeface="Calibri" pitchFamily="34" charset="-120"/>
              </a:rPr>
              <a:t>Volume fell 21% (13.5m→10.6m) but revenue only fell ~2% — because </a:t>
            </a:r>
            <a:pPr indent="0" marL="0">
              <a:buNone/>
            </a:pPr>
            <a:r>
              <a:rPr lang="en-US" sz="1100" b="1" dirty="0">
                <a:solidFill>
                  <a:srgbClr val="1F2A33"/>
                </a:solidFill>
                <a:latin typeface="Calibri" pitchFamily="34" charset="0"/>
                <a:ea typeface="Calibri" pitchFamily="34" charset="-122"/>
                <a:cs typeface="Calibri" pitchFamily="34" charset="-120"/>
              </a:rPr>
              <a:t>price rose £2→£2.50 (+25%).
</a:t>
            </a:r>
            <a:pPr indent="0" marL="0">
              <a:buNone/>
            </a:pPr>
            <a:r>
              <a:rPr lang="en-US" sz="1100" i="1" dirty="0">
                <a:solidFill>
                  <a:srgbClr val="5B6B73"/>
                </a:solidFill>
                <a:latin typeface="Calibri" pitchFamily="34" charset="0"/>
                <a:ea typeface="Calibri" pitchFamily="34" charset="-122"/>
                <a:cs typeface="Calibri" pitchFamily="34" charset="-120"/>
              </a:rPr>
              <a:t>So the price rise, not just her leadership, may explain falling sales volume.</a:t>
            </a:r>
            <a:endParaRPr lang="en-US" sz="11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E · THE [10]</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Q1: ‘Assess whether Jayne is a democratic leader.’ [10]</a:t>
            </a:r>
            <a:endParaRPr lang="en-US" sz="2600" dirty="0"/>
          </a:p>
        </p:txBody>
      </p:sp>
      <p:sp>
        <p:nvSpPr>
          <p:cNvPr id="4" name="Shape 2"/>
          <p:cNvSpPr/>
          <p:nvPr/>
        </p:nvSpPr>
        <p:spPr>
          <a:xfrm>
            <a:off x="548640" y="1371600"/>
            <a:ext cx="5029200" cy="4800600"/>
          </a:xfrm>
          <a:prstGeom prst="roundRect">
            <a:avLst>
              <a:gd name="adj" fmla="val 1524"/>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49808" y="1481328"/>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Decode &amp; plan (10-mark Assess)</a:t>
            </a:r>
            <a:endParaRPr lang="en-US" sz="1300" dirty="0"/>
          </a:p>
        </p:txBody>
      </p:sp>
      <p:sp>
        <p:nvSpPr>
          <p:cNvPr id="6" name="Text 4"/>
          <p:cNvSpPr txBox="1"/>
          <p:nvPr/>
        </p:nvSpPr>
        <p:spPr>
          <a:xfrm>
            <a:off x="749808" y="1874520"/>
            <a:ext cx="4617720" cy="210312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Assess = weigh both sides (is she / isn't she), then a supported judgement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Use case evidence, not opinion</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Structure: one side, then the other, then judge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Bring in the other styles (autocratic/paternalistic) to sharpen the point</a:t>
            </a:r>
            <a:endParaRPr lang="en-US" sz="1200" dirty="0"/>
          </a:p>
        </p:txBody>
      </p:sp>
      <p:sp>
        <p:nvSpPr>
          <p:cNvPr id="7" name="Text 5"/>
          <p:cNvSpPr txBox="1"/>
          <p:nvPr/>
        </p:nvSpPr>
        <p:spPr>
          <a:xfrm>
            <a:off x="749808" y="4069080"/>
            <a:ext cx="4663440" cy="274320"/>
          </a:xfrm>
          <a:prstGeom prst="rect">
            <a:avLst/>
          </a:prstGeom>
          <a:noFill/>
          <a:ln/>
        </p:spPr>
        <p:txBody>
          <a:bodyPr wrap="square" lIns="0" tIns="0" rIns="0" bIns="0" rtlCol="0" anchor="ctr"/>
          <a:lstStyle/>
          <a:p>
            <a:pPr indent="0" marL="0">
              <a:buNone/>
            </a:pPr>
            <a:r>
              <a:rPr lang="en-US" sz="1250" b="1" dirty="0">
                <a:solidFill>
                  <a:srgbClr val="0B5E66"/>
                </a:solidFill>
                <a:latin typeface="Calibri" pitchFamily="34" charset="0"/>
                <a:ea typeface="Calibri" pitchFamily="34" charset="-122"/>
                <a:cs typeface="Calibri" pitchFamily="34" charset="-120"/>
              </a:rPr>
              <a:t>Judgement</a:t>
            </a:r>
            <a:endParaRPr lang="en-US" sz="1250" dirty="0"/>
          </a:p>
        </p:txBody>
      </p:sp>
      <p:sp>
        <p:nvSpPr>
          <p:cNvPr id="8" name="Text 6"/>
          <p:cNvSpPr txBox="1"/>
          <p:nvPr/>
        </p:nvSpPr>
        <p:spPr>
          <a:xfrm>
            <a:off x="749808" y="4370832"/>
            <a:ext cx="4617720" cy="164592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On balance she is drifting AWAY from democratic: she consulted but ignored the feedback and dictated the outcome — more autocratic, with a paternalistic touch (well-paid travel).</a:t>
            </a:r>
            <a:endParaRPr lang="en-US" sz="1200" dirty="0"/>
          </a:p>
        </p:txBody>
      </p:sp>
      <p:sp>
        <p:nvSpPr>
          <p:cNvPr id="9" name="Shape 7"/>
          <p:cNvSpPr/>
          <p:nvPr/>
        </p:nvSpPr>
        <p:spPr>
          <a:xfrm>
            <a:off x="5788152" y="1371600"/>
            <a:ext cx="5852160" cy="4800600"/>
          </a:xfrm>
          <a:prstGeom prst="roundRect">
            <a:avLst>
              <a:gd name="adj" fmla="val 1524"/>
            </a:avLst>
          </a:prstGeom>
          <a:solidFill>
            <a:srgbClr val="FBF0D8"/>
          </a:solidFill>
          <a:ln/>
          <a:effectLst>
            <a:outerShdw sx="100000" sy="100000" kx="0" ky="0" algn="bl" rotWithShape="0" blurRad="76200" dist="25400" dir="5400000">
              <a:srgbClr val="9AAAB0">
                <a:alpha val="28000"/>
              </a:srgbClr>
            </a:outerShdw>
          </a:effectLst>
        </p:spPr>
      </p:sp>
      <p:sp>
        <p:nvSpPr>
          <p:cNvPr id="10" name="Text 8"/>
          <p:cNvSpPr txBox="1"/>
          <p:nvPr/>
        </p:nvSpPr>
        <p:spPr>
          <a:xfrm>
            <a:off x="5989320" y="1481328"/>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Both sides from the case</a:t>
            </a:r>
            <a:endParaRPr lang="en-US" sz="1300" dirty="0"/>
          </a:p>
        </p:txBody>
      </p:sp>
      <p:sp>
        <p:nvSpPr>
          <p:cNvPr id="11" name="Text 9"/>
          <p:cNvSpPr txBox="1"/>
          <p:nvPr/>
        </p:nvSpPr>
        <p:spPr>
          <a:xfrm>
            <a:off x="5989320" y="1874520"/>
            <a:ext cx="5440680" cy="274320"/>
          </a:xfrm>
          <a:prstGeom prst="rect">
            <a:avLst/>
          </a:prstGeom>
          <a:noFill/>
          <a:ln/>
        </p:spPr>
        <p:txBody>
          <a:bodyPr wrap="square" lIns="0" tIns="0" rIns="0" bIns="0" rtlCol="0" anchor="ctr"/>
          <a:lstStyle/>
          <a:p>
            <a:pPr indent="0" marL="0">
              <a:buNone/>
            </a:pPr>
            <a:r>
              <a:rPr lang="en-US" sz="1250" b="1" dirty="0">
                <a:solidFill>
                  <a:srgbClr val="2F8A5B"/>
                </a:solidFill>
                <a:latin typeface="Calibri" pitchFamily="34" charset="0"/>
                <a:ea typeface="Calibri" pitchFamily="34" charset="-122"/>
                <a:cs typeface="Calibri" pitchFamily="34" charset="-120"/>
              </a:rPr>
              <a:t>✔ Points TO democratic:  </a:t>
            </a:r>
            <a:endParaRPr lang="en-US" sz="1250" dirty="0"/>
          </a:p>
        </p:txBody>
      </p:sp>
      <p:sp>
        <p:nvSpPr>
          <p:cNvPr id="12" name="Text 10"/>
          <p:cNvSpPr txBox="1"/>
          <p:nvPr/>
        </p:nvSpPr>
        <p:spPr>
          <a:xfrm>
            <a:off x="5989320" y="2176272"/>
            <a:ext cx="5440680" cy="100584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Asked senior staff for feedback on the idea</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Used Mark's idea — he felt able to share it, suggesting an open culture</a:t>
            </a:r>
            <a:endParaRPr lang="en-US" sz="1180" dirty="0"/>
          </a:p>
        </p:txBody>
      </p:sp>
      <p:sp>
        <p:nvSpPr>
          <p:cNvPr id="13" name="Text 11"/>
          <p:cNvSpPr txBox="1"/>
          <p:nvPr/>
        </p:nvSpPr>
        <p:spPr>
          <a:xfrm>
            <a:off x="5989320" y="3246120"/>
            <a:ext cx="5440680" cy="274320"/>
          </a:xfrm>
          <a:prstGeom prst="rect">
            <a:avLst/>
          </a:prstGeom>
          <a:noFill/>
          <a:ln/>
        </p:spPr>
        <p:txBody>
          <a:bodyPr wrap="square" lIns="0" tIns="0" rIns="0" bIns="0" rtlCol="0" anchor="ctr"/>
          <a:lstStyle/>
          <a:p>
            <a:pPr indent="0" marL="0">
              <a:buNone/>
            </a:pPr>
            <a:r>
              <a:rPr lang="en-US" sz="1250" b="1" dirty="0">
                <a:solidFill>
                  <a:srgbClr val="C14B37"/>
                </a:solidFill>
                <a:latin typeface="Calibri" pitchFamily="34" charset="0"/>
                <a:ea typeface="Calibri" pitchFamily="34" charset="-122"/>
                <a:cs typeface="Calibri" pitchFamily="34" charset="-120"/>
              </a:rPr>
              <a:t>✘ Points AGAINST (autocratic/paternalistic):  </a:t>
            </a:r>
            <a:endParaRPr lang="en-US" sz="1250" dirty="0"/>
          </a:p>
        </p:txBody>
      </p:sp>
      <p:sp>
        <p:nvSpPr>
          <p:cNvPr id="14" name="Text 12"/>
          <p:cNvSpPr txBox="1"/>
          <p:nvPr/>
        </p:nvSpPr>
        <p:spPr>
          <a:xfrm>
            <a:off x="5989320" y="3547872"/>
            <a:ext cx="5440680" cy="237744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Sought views but did NOT act on them — made her mind up</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Told (not discussed with) the whole team; threatened redundancies</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Plans closer monitoring, more targets &amp; bonuses — control</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Well-paid travel hints at paternalistic (looking after staff)</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E · THE [20]</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Q2: decode &amp; plan with 5×5</a:t>
            </a:r>
            <a:endParaRPr lang="en-US" sz="2600" dirty="0"/>
          </a:p>
        </p:txBody>
      </p:sp>
      <p:sp>
        <p:nvSpPr>
          <p:cNvPr id="4" name="Shape 2"/>
          <p:cNvSpPr/>
          <p:nvPr/>
        </p:nvSpPr>
        <p:spPr>
          <a:xfrm>
            <a:off x="548640" y="1371600"/>
            <a:ext cx="11091672" cy="868680"/>
          </a:xfrm>
          <a:prstGeom prst="roundRect">
            <a:avLst>
              <a:gd name="adj" fmla="val 8421"/>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THE QUESTION</a:t>
            </a:r>
            <a:endParaRPr lang="en-US" sz="1050" dirty="0"/>
          </a:p>
        </p:txBody>
      </p:sp>
      <p:sp>
        <p:nvSpPr>
          <p:cNvPr id="6" name="Text 4"/>
          <p:cNvSpPr txBox="1"/>
          <p:nvPr/>
        </p:nvSpPr>
        <p:spPr>
          <a:xfrm>
            <a:off x="777240" y="1737360"/>
            <a:ext cx="10607040" cy="4572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Evaluate whether Jayne moving away from a democratic leadership style will increase sales volumes.  </a:t>
            </a:r>
            <a:pPr indent="0" marL="0">
              <a:buNone/>
            </a:pPr>
            <a:r>
              <a:rPr lang="en-US" sz="1300" b="1" dirty="0">
                <a:solidFill>
                  <a:srgbClr val="E0940F"/>
                </a:solidFill>
                <a:latin typeface="Calibri" pitchFamily="34" charset="0"/>
                <a:ea typeface="Calibri" pitchFamily="34" charset="-122"/>
                <a:cs typeface="Calibri" pitchFamily="34" charset="-120"/>
              </a:rPr>
              <a:t>[20]</a:t>
            </a:r>
            <a:endParaRPr lang="en-US" sz="1300" dirty="0"/>
          </a:p>
        </p:txBody>
      </p:sp>
      <p:sp>
        <p:nvSpPr>
          <p:cNvPr id="7" name="Shape 5"/>
          <p:cNvSpPr/>
          <p:nvPr/>
        </p:nvSpPr>
        <p:spPr>
          <a:xfrm>
            <a:off x="548640" y="2377440"/>
            <a:ext cx="5029200" cy="3794760"/>
          </a:xfrm>
          <a:prstGeom prst="roundRect">
            <a:avLst>
              <a:gd name="adj" fmla="val 1928"/>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2487168"/>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Decode the command</a:t>
            </a:r>
            <a:endParaRPr lang="en-US" sz="1300" dirty="0"/>
          </a:p>
        </p:txBody>
      </p:sp>
      <p:sp>
        <p:nvSpPr>
          <p:cNvPr id="9" name="Text 7"/>
          <p:cNvSpPr txBox="1"/>
          <p:nvPr/>
        </p:nvSpPr>
        <p:spPr>
          <a:xfrm>
            <a:off x="749808" y="2852928"/>
            <a:ext cx="4617720" cy="320040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Evaluate = argue BOTH sides, then a supported ‘it depends’ judgement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Focus = will a style change raise sales VOLUMES (not just revenue)?</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Use the data: volume −21%, but price +25% and a declining market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Level 4 (16–20): applied both ways, theory used, judgement + what it depends on</a:t>
            </a:r>
            <a:endParaRPr lang="en-US" sz="1180" dirty="0"/>
          </a:p>
        </p:txBody>
      </p:sp>
      <p:sp>
        <p:nvSpPr>
          <p:cNvPr id="10" name="Shape 8"/>
          <p:cNvSpPr/>
          <p:nvPr/>
        </p:nvSpPr>
        <p:spPr>
          <a:xfrm>
            <a:off x="5788152" y="2377440"/>
            <a:ext cx="5852160" cy="3794760"/>
          </a:xfrm>
          <a:prstGeom prst="roundRect">
            <a:avLst>
              <a:gd name="adj" fmla="val 1928"/>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2487168"/>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 5×5, 4–5 paragraphs</a:t>
            </a:r>
            <a:endParaRPr lang="en-US" sz="1300" dirty="0"/>
          </a:p>
        </p:txBody>
      </p:sp>
      <p:sp>
        <p:nvSpPr>
          <p:cNvPr id="12" name="Text 10"/>
          <p:cNvSpPr txBox="1"/>
          <p:nvPr/>
        </p:nvSpPr>
        <p:spPr>
          <a:xfrm>
            <a:off x="5989320" y="2852928"/>
            <a:ext cx="5440680" cy="3200400"/>
          </a:xfrm>
          <a:prstGeom prst="rect">
            <a:avLst/>
          </a:prstGeom>
          <a:noFill/>
          <a:ln/>
        </p:spPr>
        <p:txBody>
          <a:bodyPr wrap="square" lIns="0" tIns="0" rIns="0" bIns="0" rtlCol="0" anchor="t"/>
          <a:lstStyle/>
          <a:p>
            <a:pPr marL="177800" indent="-177800">
              <a:spcAft>
                <a:spcPts val="700"/>
              </a:spcAft>
              <a:buSzPct val="100000"/>
              <a:buChar char="•"/>
            </a:pPr>
            <a:r>
              <a:rPr lang="en-US" sz="1080" dirty="0">
                <a:solidFill>
                  <a:srgbClr val="1F2A33"/>
                </a:solidFill>
                <a:latin typeface="Calibri" pitchFamily="34" charset="0"/>
                <a:ea typeface="Calibri" pitchFamily="34" charset="-122"/>
                <a:cs typeface="Calibri" pitchFamily="34" charset="-120"/>
              </a:rPr>
              <a:t>¶1 FOR: a declining market &amp; a 6-month deadline are time-sensitive → a faster, more autocratic style speeds decisions and asserts authority over long-serving staff who see her as a peer</a:t>
            </a:r>
            <a:endParaRPr lang="en-US" sz="1080" dirty="0"/>
          </a:p>
          <a:p>
            <a:pPr marL="177800" indent="-177800">
              <a:spcAft>
                <a:spcPts val="700"/>
              </a:spcAft>
              <a:buSzPct val="100000"/>
              <a:buChar char="•"/>
            </a:pPr>
            <a:r>
              <a:rPr lang="en-US" sz="1080" dirty="0">
                <a:solidFill>
                  <a:srgbClr val="1F2A33"/>
                </a:solidFill>
                <a:latin typeface="Calibri" pitchFamily="34" charset="0"/>
                <a:ea typeface="Calibri" pitchFamily="34" charset="-122"/>
                <a:cs typeface="Calibri" pitchFamily="34" charset="-120"/>
              </a:rPr>
              <a:t>¶2 FOR: closer monitoring, targets &amp; bonuses (Taylor) may lift sales effort in the short term</a:t>
            </a:r>
            <a:endParaRPr lang="en-US" sz="1080" dirty="0"/>
          </a:p>
          <a:p>
            <a:pPr marL="177800" indent="-177800">
              <a:spcAft>
                <a:spcPts val="700"/>
              </a:spcAft>
              <a:buSzPct val="100000"/>
              <a:buChar char="•"/>
            </a:pPr>
            <a:r>
              <a:rPr lang="en-US" sz="1080" dirty="0">
                <a:solidFill>
                  <a:srgbClr val="1F2A33"/>
                </a:solidFill>
                <a:latin typeface="Calibri" pitchFamily="34" charset="0"/>
                <a:ea typeface="Calibri" pitchFamily="34" charset="-122"/>
                <a:cs typeface="Calibri" pitchFamily="34" charset="-120"/>
              </a:rPr>
              <a:t>¶3 AGAINST: her experienced team had better ideas — a democratic style might find a stronger plan than risky face-to-face selling; ignoring them may demotivate</a:t>
            </a:r>
            <a:endParaRPr lang="en-US" sz="1080" dirty="0"/>
          </a:p>
          <a:p>
            <a:pPr marL="177800" indent="-177800">
              <a:spcAft>
                <a:spcPts val="700"/>
              </a:spcAft>
              <a:buSzPct val="100000"/>
              <a:buChar char="•"/>
            </a:pPr>
            <a:r>
              <a:rPr lang="en-US" sz="1080" dirty="0">
                <a:solidFill>
                  <a:srgbClr val="1F2A33"/>
                </a:solidFill>
                <a:latin typeface="Calibri" pitchFamily="34" charset="0"/>
                <a:ea typeface="Calibri" pitchFamily="34" charset="-122"/>
                <a:cs typeface="Calibri" pitchFamily="34" charset="-120"/>
              </a:rPr>
              <a:t>¶4 AGAINST (the key one): sales volume may be falling because of the 25% price rise (£2→£2.50) and the declining market — not her leadership, so a style change alone may NOT raise volumes</a:t>
            </a:r>
            <a:endParaRPr lang="en-US" sz="1080" dirty="0"/>
          </a:p>
          <a:p>
            <a:pPr marL="177800" indent="-177800">
              <a:spcAft>
                <a:spcPts val="700"/>
              </a:spcAft>
              <a:buSzPct val="100000"/>
              <a:buChar char="•"/>
            </a:pPr>
            <a:r>
              <a:rPr lang="en-US" sz="1080" dirty="0">
                <a:solidFill>
                  <a:srgbClr val="1F2A33"/>
                </a:solidFill>
                <a:latin typeface="Calibri" pitchFamily="34" charset="0"/>
                <a:ea typeface="Calibri" pitchFamily="34" charset="-122"/>
                <a:cs typeface="Calibri" pitchFamily="34" charset="-120"/>
              </a:rPr>
              <a:t>¶5 Conclusion (4Ws): depends on the real cause of the decline &amp; how the change is handled</a:t>
            </a:r>
            <a:endParaRPr lang="en-US" sz="10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E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[20]: a model argument &amp; conclusion</a:t>
            </a:r>
            <a:endParaRPr lang="en-US" sz="2600" dirty="0"/>
          </a:p>
        </p:txBody>
      </p:sp>
      <p:sp>
        <p:nvSpPr>
          <p:cNvPr id="4" name="Shape 2"/>
          <p:cNvSpPr/>
          <p:nvPr/>
        </p:nvSpPr>
        <p:spPr>
          <a:xfrm>
            <a:off x="548640" y="1371600"/>
            <a:ext cx="11091672" cy="1417320"/>
          </a:xfrm>
          <a:prstGeom prst="roundRect">
            <a:avLst>
              <a:gd name="adj" fmla="val 5161"/>
            </a:avLst>
          </a:prstGeom>
          <a:solidFill>
            <a:srgbClr val="E8F3EC"/>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07040" cy="1234440"/>
          </a:xfrm>
          <a:prstGeom prst="rect">
            <a:avLst/>
          </a:prstGeom>
          <a:noFill/>
          <a:ln/>
        </p:spPr>
        <p:txBody>
          <a:bodyPr wrap="square" lIns="0" tIns="0" rIns="0" bIns="0" rtlCol="0" anchor="t"/>
          <a:lstStyle/>
          <a:p>
            <a:pPr indent="0" marL="0">
              <a:buNone/>
            </a:pPr>
            <a:r>
              <a:rPr lang="en-US" sz="1150" b="1" dirty="0">
                <a:solidFill>
                  <a:srgbClr val="2F8A5B"/>
                </a:solidFill>
                <a:latin typeface="Calibri" pitchFamily="34" charset="0"/>
                <a:ea typeface="Calibri" pitchFamily="34" charset="-122"/>
                <a:cs typeface="Calibri" pitchFamily="34" charset="-120"/>
              </a:rPr>
              <a:t>¶ For (a change may help).  </a:t>
            </a:r>
            <a:pPr indent="0" marL="0">
              <a:buNone/>
            </a:pPr>
            <a:r>
              <a:rPr lang="en-US" sz="1150" dirty="0">
                <a:solidFill>
                  <a:srgbClr val="1F2A33"/>
                </a:solidFill>
                <a:latin typeface="Calibri" pitchFamily="34" charset="0"/>
                <a:ea typeface="Calibri" pitchFamily="34" charset="-122"/>
                <a:cs typeface="Calibri" pitchFamily="34" charset="-120"/>
              </a:rPr>
              <a:t>Paper is a declining industry and Jayne has just six months to lift sales by 3%, so decisions are time-sensitive. A more autocratic style lets her act fast and assert authority over a long-serving team who may see her as a colleague rather than a boss. Her managers appear autocratic with her, suggesting that is the industry norm, and closer monitoring, targets and bonuses (Taylor) could raise short-term sales effort.</a:t>
            </a:r>
            <a:endParaRPr lang="en-US" sz="1150" dirty="0"/>
          </a:p>
        </p:txBody>
      </p:sp>
      <p:sp>
        <p:nvSpPr>
          <p:cNvPr id="6" name="Shape 4"/>
          <p:cNvSpPr/>
          <p:nvPr/>
        </p:nvSpPr>
        <p:spPr>
          <a:xfrm>
            <a:off x="548640" y="2871216"/>
            <a:ext cx="11091672" cy="1463040"/>
          </a:xfrm>
          <a:prstGeom prst="roundRect">
            <a:avLst>
              <a:gd name="adj" fmla="val 5000"/>
            </a:avLst>
          </a:prstGeom>
          <a:solidFill>
            <a:srgbClr val="F9EAE6"/>
          </a:solidFill>
          <a:ln/>
          <a:effectLst>
            <a:outerShdw sx="100000" sy="100000" kx="0" ky="0" algn="bl" rotWithShape="0" blurRad="76200" dist="25400" dir="5400000">
              <a:srgbClr val="9AAAB0">
                <a:alpha val="28000"/>
              </a:srgbClr>
            </a:outerShdw>
          </a:effectLst>
        </p:spPr>
      </p:sp>
      <p:sp>
        <p:nvSpPr>
          <p:cNvPr id="7" name="Text 5"/>
          <p:cNvSpPr txBox="1"/>
          <p:nvPr/>
        </p:nvSpPr>
        <p:spPr>
          <a:xfrm>
            <a:off x="777240" y="2980944"/>
            <a:ext cx="10607040" cy="1280160"/>
          </a:xfrm>
          <a:prstGeom prst="rect">
            <a:avLst/>
          </a:prstGeom>
          <a:noFill/>
          <a:ln/>
        </p:spPr>
        <p:txBody>
          <a:bodyPr wrap="square" lIns="0" tIns="0" rIns="0" bIns="0" rtlCol="0" anchor="t"/>
          <a:lstStyle/>
          <a:p>
            <a:pPr indent="0" marL="0">
              <a:buNone/>
            </a:pPr>
            <a:r>
              <a:rPr lang="en-US" sz="1150" b="1" dirty="0">
                <a:solidFill>
                  <a:srgbClr val="C14B37"/>
                </a:solidFill>
                <a:latin typeface="Calibri" pitchFamily="34" charset="0"/>
                <a:ea typeface="Calibri" pitchFamily="34" charset="-122"/>
                <a:cs typeface="Calibri" pitchFamily="34" charset="-120"/>
              </a:rPr>
              <a:t>¶ However (it may not).  </a:t>
            </a:r>
            <a:pPr indent="0" marL="0">
              <a:buNone/>
            </a:pPr>
            <a:r>
              <a:rPr lang="en-US" sz="1150" dirty="0">
                <a:solidFill>
                  <a:srgbClr val="1F2A33"/>
                </a:solidFill>
                <a:latin typeface="Calibri" pitchFamily="34" charset="0"/>
                <a:ea typeface="Calibri" pitchFamily="34" charset="-122"/>
                <a:cs typeface="Calibri" pitchFamily="34" charset="-120"/>
              </a:rPr>
              <a:t>Her sales team has vast experience, so a democratic style might have produced a stronger plan than the risky, costly face-to-face idea — ignoring their feedback may demotivate them just as she needs their effort. More importantly, the data shows volume fell ~21% while revenue fell only ~2%, because price rose from £2 to £2.50 (+25%). The volume fall may therefore be driven by the price rise and a shrinking market, not her leadership — so changing style alone may not raise sales volumes.</a:t>
            </a:r>
            <a:endParaRPr lang="en-US" sz="1150" dirty="0"/>
          </a:p>
        </p:txBody>
      </p:sp>
      <p:sp>
        <p:nvSpPr>
          <p:cNvPr id="8" name="Shape 6"/>
          <p:cNvSpPr/>
          <p:nvPr/>
        </p:nvSpPr>
        <p:spPr>
          <a:xfrm>
            <a:off x="548640" y="4425696"/>
            <a:ext cx="11091672" cy="1755648"/>
          </a:xfrm>
          <a:prstGeom prst="roundRect">
            <a:avLst>
              <a:gd name="adj" fmla="val 4167"/>
            </a:avLst>
          </a:prstGeom>
          <a:solidFill>
            <a:srgbClr val="0E3A43"/>
          </a:solidFill>
          <a:ln/>
          <a:effectLst>
            <a:outerShdw sx="100000" sy="100000" kx="0" ky="0" algn="bl" rotWithShape="0" blurRad="76200" dist="25400" dir="5400000">
              <a:srgbClr val="9AAAB0">
                <a:alpha val="28000"/>
              </a:srgbClr>
            </a:outerShdw>
          </a:effectLst>
        </p:spPr>
      </p:sp>
      <p:sp>
        <p:nvSpPr>
          <p:cNvPr id="9" name="Text 7"/>
          <p:cNvSpPr txBox="1"/>
          <p:nvPr/>
        </p:nvSpPr>
        <p:spPr>
          <a:xfrm>
            <a:off x="777240" y="4526280"/>
            <a:ext cx="5486400" cy="256032"/>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CONCLUSION (4Ws)</a:t>
            </a:r>
            <a:endParaRPr lang="en-US" sz="1050" dirty="0"/>
          </a:p>
        </p:txBody>
      </p:sp>
      <p:sp>
        <p:nvSpPr>
          <p:cNvPr id="10" name="Text 8"/>
          <p:cNvSpPr txBox="1"/>
          <p:nvPr/>
        </p:nvSpPr>
        <p:spPr>
          <a:xfrm>
            <a:off x="777240" y="4791456"/>
            <a:ext cx="10607040" cy="1325880"/>
          </a:xfrm>
          <a:prstGeom prst="rect">
            <a:avLst/>
          </a:prstGeom>
          <a:noFill/>
          <a:ln/>
        </p:spPr>
        <p:txBody>
          <a:bodyPr wrap="square" lIns="0" tIns="0" rIns="0" bIns="0" rtlCol="0" anchor="t"/>
          <a:lstStyle/>
          <a:p>
            <a:pPr indent="0" marL="0">
              <a:buNone/>
            </a:pPr>
            <a:r>
              <a:rPr lang="en-US" sz="1180" dirty="0">
                <a:solidFill>
                  <a:srgbClr val="FFFFFF"/>
                </a:solidFill>
                <a:latin typeface="Calibri" pitchFamily="34" charset="0"/>
                <a:ea typeface="Calibri" pitchFamily="34" charset="-122"/>
                <a:cs typeface="Calibri" pitchFamily="34" charset="-120"/>
              </a:rPr>
              <a:t>Moving away from a democratic style is unlikely, on its own, to raise sales volumes. The evidence suggests the decline is driven mainly by the 25% price rise and a shrinking market, so Jayne should first address the real cause rather than assume her leadership is to blame. A firmer, more decisive style may help her act quickly on a tight deadline, but she risks demotivating an experienced team whose ideas she needs. The best approach therefore DEPENDS on the true cause of falling sales and on balancing speed with staff involvement — most likely keeping consultation while being more decisive once a plan is agreed.</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300" b="1" spc="200" kern="0" dirty="0">
                <a:solidFill>
                  <a:srgbClr val="E0940F"/>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Answering leadership questions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188720"/>
                <a:gridCol w="2651760"/>
                <a:gridCol w="6702552"/>
              </a:tblGrid>
              <a:tr h="457200">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Marks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Command</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What to do</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r>
              <a:tr h="621792">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Define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Meaning + an example (autocratic, laissez-faire…).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Explain</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Knowledge + two pieces of evidence + one consequence.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Analyse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Two points, each applied, each with a developed chain. No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8 / 10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Discuss / Assess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Both sides, applied to the case, + a supported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Evaluate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5×5: both sides, applied, + a supported ‘it depends’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bl>
          </a:graphicData>
        </a:graphic>
      </p:graphicFrame>
      <p:sp>
        <p:nvSpPr>
          <p:cNvPr id="5" name="Text 2"/>
          <p:cNvSpPr txBox="1"/>
          <p:nvPr/>
        </p:nvSpPr>
        <p:spPr>
          <a:xfrm>
            <a:off x="822960" y="5715000"/>
            <a:ext cx="10515600" cy="457200"/>
          </a:xfrm>
          <a:prstGeom prst="rect">
            <a:avLst/>
          </a:prstGeom>
          <a:noFill/>
          <a:ln/>
        </p:spPr>
        <p:txBody>
          <a:bodyPr wrap="square" lIns="0" tIns="0" rIns="0" bIns="0" rtlCol="0" anchor="ctr"/>
          <a:lstStyle/>
          <a:p>
            <a:pPr indent="0" marL="0">
              <a:buNone/>
            </a:pPr>
            <a:r>
              <a:rPr lang="en-US" sz="1250" i="1" dirty="0">
                <a:solidFill>
                  <a:srgbClr val="9FBCC0"/>
                </a:solidFill>
                <a:latin typeface="Calibri" pitchFamily="34" charset="0"/>
                <a:ea typeface="Calibri" pitchFamily="34" charset="-122"/>
                <a:cs typeface="Calibri" pitchFamily="34" charset="-120"/>
              </a:rPr>
              <a:t>Golden idea: no single style is ‘best’. The right style depends on the task, the staff, the time pressure and the situation — always argue ‘it depends’ and support it with the case.</a:t>
            </a:r>
            <a:endParaRPr lang="en-US" sz="1250" dirty="0"/>
          </a:p>
        </p:txBody>
      </p:sp>
      <p:sp>
        <p:nvSpPr>
          <p:cNvPr id="6" name="Text 3"/>
          <p:cNvSpPr txBox="1"/>
          <p:nvPr/>
        </p:nvSpPr>
        <p:spPr>
          <a:xfrm>
            <a:off x="822960" y="6172200"/>
            <a:ext cx="10515600" cy="320040"/>
          </a:xfrm>
          <a:prstGeom prst="rect">
            <a:avLst/>
          </a:prstGeom>
          <a:noFill/>
          <a:ln/>
        </p:spPr>
        <p:txBody>
          <a:bodyPr wrap="square" lIns="0" tIns="0" rIns="0" bIns="0" rtlCol="0" anchor="ctr"/>
          <a:lstStyle/>
          <a:p>
            <a:pPr indent="0" marL="0">
              <a:buNone/>
            </a:pPr>
            <a:r>
              <a:rPr lang="en-US" sz="1250" b="1" dirty="0">
                <a:solidFill>
                  <a:srgbClr val="7FC4CB"/>
                </a:solidFill>
                <a:latin typeface="Calibri" pitchFamily="34" charset="0"/>
                <a:ea typeface="Calibri" pitchFamily="34" charset="-122"/>
                <a:cs typeface="Calibri" pitchFamily="34" charset="-120"/>
              </a:rPr>
              <a:t>This completes Managing people (1.3.4).  Next unit: 1.3.5 Entrepreneurs &amp; leaders.</a:t>
            </a:r>
            <a:endParaRPr lang="en-US" sz="1250" dirty="0"/>
          </a:p>
        </p:txBody>
      </p:sp>
    </p:spTree>
  </p:cSld>
  <p:clrMapOvr>
    <a:masterClrMapping/>
  </p:clrMapOvr>
</p:sld>
</file>

<file path=ppt/theme/theme1.xml><?xml version="1.0" encoding="utf-8"?>
<a:theme xmlns:a="http://schemas.openxmlformats.org/drawingml/2006/main" name="IAL Managing People">
  <a:themeElements>
    <a:clrScheme name="IAL Managing People">
      <a:dk1>
        <a:srgbClr val="1F2A33"/>
      </a:dk1>
      <a:lt1>
        <a:srgbClr val="FFFFFF"/>
      </a:lt1>
      <a:dk2>
        <a:srgbClr val="0E3A43"/>
      </a:dk2>
      <a:lt2>
        <a:srgbClr val="EAF3F4"/>
      </a:lt2>
      <a:accent1>
        <a:srgbClr val="0E7C86"/>
      </a:accent1>
      <a:accent2>
        <a:srgbClr val="E0940F"/>
      </a:accent2>
      <a:accent3>
        <a:srgbClr val="2F8A5B"/>
      </a:accent3>
      <a:accent4>
        <a:srgbClr val="C14B37"/>
      </a:accent4>
      <a:accent5>
        <a:srgbClr val="5B6B73"/>
      </a:accent5>
      <a:accent6>
        <a:srgbClr val="6B4FA0"/>
      </a:accent6>
      <a:hlink>
        <a:srgbClr val="0E7C86"/>
      </a:hlink>
      <a:folHlink>
        <a:srgbClr val="0B5E66"/>
      </a:folHlink>
    </a:clrScheme>
    <a:fontScheme name="IAL Managing Peo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GEMS Metropole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Mr. Akram</dc:creator>
  <cp:lastModifiedBy>Mr. Akram</cp:lastModifiedBy>
  <cp:revision>1</cp:revision>
  <dcterms:created xsi:type="dcterms:W3CDTF">2026-10-20T15:30:27Z</dcterms:created>
  <dcterms:modified xsi:type="dcterms:W3CDTF">2026-10-20T15:30:27Z</dcterms:modified>
</cp:coreProperties>
</file>