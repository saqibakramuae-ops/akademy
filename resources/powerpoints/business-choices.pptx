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 · Opportunity cost" id="{99cb0645-8b9e-1f0e-1457-14fe99389fcf}">
          <p14:sldIdLst>
            <p14:sldId id="259"/>
            <p14:sldId id="260"/>
          </p14:sldIdLst>
        </p14:section>
        <p14:section name="B · Trade-offs" id="{f460e34e-2cbe-1d58-dca2-afead0b6880d}">
          <p14:sldIdLst>
            <p14:sldId id="261"/>
            <p14:sldId id="262"/>
            <p14:sldId id="263"/>
          </p14:sldIdLst>
        </p14:section>
        <p14:section name="C · A-grade exam skills" id="{fe4d5feb-2d80-e725-f0b2-197ab19208fa}">
          <p14:sldIdLst>
            <p14:sldId id="264"/>
            <p14:sldId id="265"/>
            <p14:sldId id="266"/>
            <p14:sldId id="267"/>
            <p14:sldId id="268"/>
          </p14:sldIdLst>
        </p14:section>
        <p14:section name="Default-1" id="{34ae038e-d4c3-ec33-861a-65d94fc0711b}">
          <p14:sldIdLst>
            <p14:sldId id="26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Tutoring deck on Business choices (spec 1.3.5 part 4 of 4 - the FINAL section of Unit 1), pitched for A-grade students. Covers both spec parts: (a) opportunity cost and (b) trade-offs, plus the distinction between them. Exam practice on the Jemerson EthoFuel [10] (upgrade vs merge) and a [4] (machinery vs training). NOTE: the student calls this '1.5'; in the spec it is 1.3.5. Completing this completes Unit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spec 1.3.5(4) parts are covered: opportunity cost (4a) and trade-offs (4b), plus the key distinction between them (a common exam trap). Exam practice: the Jemerson EthoFuel [10] and a [4]. This is a short but high-value topic - the concepts appear across the whole course whenever a business makes a decision. Completing it completes Unit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Part 4 of four - the last section of Entrepreneurs &amp; leaders and of Unit 1. Business choices is short but fundamental: because resources are scarce, every decision involves an opportunity cost and a trade-off. These ideas recur throughout the course. Completing this deck completes Unit 1 (Marketing &amp;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4a. Opportunity cost = the NEXT best alternative given up (not just 'the cost'). It can be monetary (financial return foregone) or non-monetary (skills, reputation, goodwill, time). The classic exam error: stating the amount spent (£100k) as the opportunity cost. The correct answer is the BENEFIT of the alternative - the productivity gain from the training foregone. OneNote: students write the definition + the worked example in their own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Spec 4b. A trade-off = sacrificing some of one thing to gain more of another (balancing two competing benefits). Examples: quality vs price, marketing vs R&amp;D, sustainability vs short-term profit, overtime pay vs wellbeing. The ⇄ shows the balance. Which way a firm leans depends on its objectives. OneNote: students add one more trade-off example of their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exam distinction (a classic trap): TRADE-OFF = the choice/balancing act (focus on the decision); OPPORTUNITY COST = the loss from that choice (focus on what's sacrificed - the next best alternative). One-liner: the trade-off is the choice you make; the opportunity cost is what you lose by making it. The Jemerson example (upgrade vs merge) previews the exam case. OneNote: students write both definitions side by side with the Jemerson example.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Jemerson case (BRL 40m; upgrade production +25% efficiency vs merge for economies of scale; chose to upgrade). The [4] machinery-vs-training is a clean application: opportunity cost = the productivity/skills gain from the training foregone (NOT the money spent); trade-off = balancing immediate output/efficiency (machinery) against a more skilled workforce later (training). OneNote: students write the [4] and check they named the BENEFIT foregone, not the cash.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[10] 'Discuss' = both sides + supported judgement. FOR upgrading: +25% efficiency → lower unit costs &amp; more output, keeps control/independence, avoids merger risks (culture clash, integration cost). AGAINST (the opportunity cost): the merger's economies of scale &amp; expansion are forgone and may be the bigger prize; upgrading only improves existing capacity. The judgement turns on Jemerson's objective (control/efficiency vs scale) and whether demand will absorb the extra output. Students plan in OneNote before writing.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weaves the concepts (opportunity cost = the forgone merger &amp; its economies of scale) with case facts (25% efficiency, BRL 40m, control vs scale). The Level 4 judgement is conditional: upgrading is right IF the firm values control &amp; demand absorbs the extra output; the merger would be better IF rapid scale is the priority. That 'it depends' - tied to the objective and the market - is what lifts it to the top band. Use for peer-marking a weaker vs stronger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REAL past-paper [10] with the official indicative content - directly on trade-offs (spec 4b) and linking to social objectives (part 3). Key terms the MS rewards: trade-off (two objectives can't both be fully met), social objective (benefits society), profit (TR-TC). YES a trade-off: environmental farming costs more (recyclable packaging, no pesticides, animal welfare) → lower margins; higher prices may cut demand. NO: ethical behaviour attracts like-minded customers, creates a USP, and brings long-term land/income benefits. Judgement DEPENDS on consumer social awareness and whether price dominates the industry. Students write this under timed conditions, then mark against the official levels.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here - completes spec 1.3.5(4): opportunity cost (4a) and trade-offs (4b), with the all-important distinction. Students should define &amp; apply both, avoid the 'opportunity cost = money spent' trap (it's the BENEFIT foregone), and handle the Jemerson [10] with a conditional judgement. This completes 1.3.5 Entrepreneurs &amp; leaders AND the whole of Unit 1 (Marketing &amp; people). Next up: Unit 3 (WBS13).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E3A43"/>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6437376"/>
            <a:ext cx="10058400" cy="274320"/>
          </a:xfrm>
          <a:prstGeom prst="rect">
            <a:avLst/>
          </a:prstGeom>
          <a:noFill/>
          <a:ln/>
        </p:spPr>
        <p:txBody>
          <a:bodyPr wrap="square" lIns="0" tIns="0" rIns="0" bIns="0" rtlCol="0" anchor="ctr"/>
          <a:lstStyle/>
          <a:p>
            <a:pPr algn="l" indent="0" marL="0">
              <a:buNone/>
            </a:pPr>
            <a:r>
              <a:rPr lang="en-US" sz="900" dirty="0">
                <a:solidFill>
                  <a:srgbClr val="5B6B73"/>
                </a:solidFill>
                <a:latin typeface="Calibri" pitchFamily="34" charset="0"/>
                <a:ea typeface="Calibri" pitchFamily="34" charset="-122"/>
                <a:cs typeface="Calibri" pitchFamily="34" charset="-120"/>
              </a:rPr>
              <a:t>IAL Business  ·  Unit 1  ·  Spec 1.3.5 Entrepreneurs &amp; leaders  (Business choices)</a:t>
            </a:r>
            <a:endParaRPr lang="en-US" sz="9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822960" y="1280160"/>
            <a:ext cx="10515600" cy="365760"/>
          </a:xfrm>
          <a:prstGeom prst="rect">
            <a:avLst/>
          </a:prstGeom>
          <a:noFill/>
          <a:ln/>
        </p:spPr>
        <p:txBody>
          <a:bodyPr wrap="square" lIns="0" tIns="0" rIns="0" bIns="0" rtlCol="0" anchor="ctr"/>
          <a:lstStyle/>
          <a:p>
            <a:pPr indent="0" marL="0">
              <a:buNone/>
            </a:pPr>
            <a:r>
              <a:rPr lang="en-US" sz="1250" b="1" spc="150" kern="0" dirty="0">
                <a:solidFill>
                  <a:srgbClr val="7FC4CB"/>
                </a:solidFill>
                <a:latin typeface="Calibri" pitchFamily="34" charset="0"/>
                <a:ea typeface="Calibri" pitchFamily="34" charset="-122"/>
                <a:cs typeface="Calibri" pitchFamily="34" charset="-120"/>
              </a:rPr>
              <a:t>PEARSON EDEXCEL  ·  INTERNATIONAL A LEVEL BUSINESS  ·  UNIT 1 (WBS11)</a:t>
            </a:r>
            <a:endParaRPr lang="en-US" sz="1250" dirty="0"/>
          </a:p>
        </p:txBody>
      </p:sp>
      <p:sp>
        <p:nvSpPr>
          <p:cNvPr id="3" name="Text 1"/>
          <p:cNvSpPr txBox="1"/>
          <p:nvPr/>
        </p:nvSpPr>
        <p:spPr>
          <a:xfrm>
            <a:off x="822960" y="1737360"/>
            <a:ext cx="109728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Business Choices</a:t>
            </a:r>
            <a:endParaRPr lang="en-US" sz="4400" dirty="0"/>
          </a:p>
        </p:txBody>
      </p:sp>
      <p:sp>
        <p:nvSpPr>
          <p:cNvPr id="4" name="Text 2"/>
          <p:cNvSpPr txBox="1"/>
          <p:nvPr/>
        </p:nvSpPr>
        <p:spPr>
          <a:xfrm>
            <a:off x="822960" y="2697480"/>
            <a:ext cx="10789920" cy="457200"/>
          </a:xfrm>
          <a:prstGeom prst="rect">
            <a:avLst/>
          </a:prstGeom>
          <a:noFill/>
          <a:ln/>
        </p:spPr>
        <p:txBody>
          <a:bodyPr wrap="square" lIns="0" tIns="0" rIns="0" bIns="0" rtlCol="0" anchor="ctr"/>
          <a:lstStyle/>
          <a:p>
            <a:pPr indent="0" marL="0">
              <a:buNone/>
            </a:pPr>
            <a:r>
              <a:rPr lang="en-US" sz="1500" i="1" dirty="0">
                <a:solidFill>
                  <a:srgbClr val="D7E6E8"/>
                </a:solidFill>
                <a:latin typeface="Calibri" pitchFamily="34" charset="0"/>
                <a:ea typeface="Calibri" pitchFamily="34" charset="-122"/>
                <a:cs typeface="Calibri" pitchFamily="34" charset="-120"/>
              </a:rPr>
              <a:t>Spec 1.3.5 Entrepreneurs &amp; leaders (part 4 of 4)  —  opportunity cost and trade-offs: how businesses choose when resources are scarce</a:t>
            </a:r>
            <a:endParaRPr lang="en-US" sz="1500" dirty="0"/>
          </a:p>
        </p:txBody>
      </p:sp>
      <p:sp>
        <p:nvSpPr>
          <p:cNvPr id="5" name="Shape 3"/>
          <p:cNvSpPr/>
          <p:nvPr/>
        </p:nvSpPr>
        <p:spPr>
          <a:xfrm>
            <a:off x="822960" y="3749040"/>
            <a:ext cx="1956816" cy="420624"/>
          </a:xfrm>
          <a:prstGeom prst="roundRect">
            <a:avLst>
              <a:gd name="adj" fmla="val 50000"/>
            </a:avLst>
          </a:prstGeom>
          <a:solidFill>
            <a:srgbClr val="0B2E35"/>
          </a:solidFill>
          <a:ln w="12700">
            <a:solidFill>
              <a:srgbClr val="0E7C86"/>
            </a:solidFill>
            <a:prstDash val="solid"/>
          </a:ln>
        </p:spPr>
      </p:sp>
      <p:sp>
        <p:nvSpPr>
          <p:cNvPr id="6" name="Text 4"/>
          <p:cNvSpPr txBox="1"/>
          <p:nvPr/>
        </p:nvSpPr>
        <p:spPr>
          <a:xfrm>
            <a:off x="822960" y="3749040"/>
            <a:ext cx="1956816"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Opportunity cost</a:t>
            </a:r>
            <a:endParaRPr lang="en-US" sz="1250" dirty="0"/>
          </a:p>
        </p:txBody>
      </p:sp>
      <p:sp>
        <p:nvSpPr>
          <p:cNvPr id="7" name="Shape 5"/>
          <p:cNvSpPr/>
          <p:nvPr/>
        </p:nvSpPr>
        <p:spPr>
          <a:xfrm>
            <a:off x="2962656" y="3749040"/>
            <a:ext cx="1325880" cy="420624"/>
          </a:xfrm>
          <a:prstGeom prst="roundRect">
            <a:avLst>
              <a:gd name="adj" fmla="val 50000"/>
            </a:avLst>
          </a:prstGeom>
          <a:solidFill>
            <a:srgbClr val="0B2E35"/>
          </a:solidFill>
          <a:ln w="12700">
            <a:solidFill>
              <a:srgbClr val="0E7C86"/>
            </a:solidFill>
            <a:prstDash val="solid"/>
          </a:ln>
        </p:spPr>
      </p:sp>
      <p:sp>
        <p:nvSpPr>
          <p:cNvPr id="8" name="Text 6"/>
          <p:cNvSpPr txBox="1"/>
          <p:nvPr/>
        </p:nvSpPr>
        <p:spPr>
          <a:xfrm>
            <a:off x="2962656" y="3749040"/>
            <a:ext cx="1325880"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Trade-offs</a:t>
            </a:r>
            <a:endParaRPr lang="en-US" sz="1250" dirty="0"/>
          </a:p>
        </p:txBody>
      </p:sp>
      <p:sp>
        <p:nvSpPr>
          <p:cNvPr id="9" name="Shape 7"/>
          <p:cNvSpPr/>
          <p:nvPr/>
        </p:nvSpPr>
        <p:spPr>
          <a:xfrm>
            <a:off x="4471416" y="3749040"/>
            <a:ext cx="1851660" cy="420624"/>
          </a:xfrm>
          <a:prstGeom prst="roundRect">
            <a:avLst>
              <a:gd name="adj" fmla="val 50000"/>
            </a:avLst>
          </a:prstGeom>
          <a:solidFill>
            <a:srgbClr val="0B2E35"/>
          </a:solidFill>
          <a:ln w="12700">
            <a:solidFill>
              <a:srgbClr val="0E7C86"/>
            </a:solidFill>
            <a:prstDash val="solid"/>
          </a:ln>
        </p:spPr>
      </p:sp>
      <p:sp>
        <p:nvSpPr>
          <p:cNvPr id="10" name="Text 8"/>
          <p:cNvSpPr txBox="1"/>
          <p:nvPr/>
        </p:nvSpPr>
        <p:spPr>
          <a:xfrm>
            <a:off x="4471416" y="3749040"/>
            <a:ext cx="1851660"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The distinction</a:t>
            </a:r>
            <a:endParaRPr lang="en-US" sz="1250" dirty="0"/>
          </a:p>
        </p:txBody>
      </p:sp>
      <p:sp>
        <p:nvSpPr>
          <p:cNvPr id="11" name="Shape 9"/>
          <p:cNvSpPr/>
          <p:nvPr/>
        </p:nvSpPr>
        <p:spPr>
          <a:xfrm>
            <a:off x="6505956" y="3749040"/>
            <a:ext cx="3218688" cy="420624"/>
          </a:xfrm>
          <a:prstGeom prst="roundRect">
            <a:avLst>
              <a:gd name="adj" fmla="val 50000"/>
            </a:avLst>
          </a:prstGeom>
          <a:solidFill>
            <a:srgbClr val="0B2E35"/>
          </a:solidFill>
          <a:ln w="12700">
            <a:solidFill>
              <a:srgbClr val="0E7C86"/>
            </a:solidFill>
            <a:prstDash val="solid"/>
          </a:ln>
        </p:spPr>
      </p:sp>
      <p:sp>
        <p:nvSpPr>
          <p:cNvPr id="12" name="Text 10"/>
          <p:cNvSpPr txBox="1"/>
          <p:nvPr/>
        </p:nvSpPr>
        <p:spPr>
          <a:xfrm>
            <a:off x="6505956" y="3749040"/>
            <a:ext cx="3218688" cy="420624"/>
          </a:xfrm>
          <a:prstGeom prst="rect">
            <a:avLst/>
          </a:prstGeom>
          <a:noFill/>
          <a:ln/>
        </p:spPr>
        <p:txBody>
          <a:bodyPr wrap="square" lIns="0" tIns="0" rIns="0" bIns="0" rtlCol="0" anchor="ctr"/>
          <a:lstStyle/>
          <a:p>
            <a:pPr algn="ctr" indent="0" marL="0">
              <a:buNone/>
            </a:pPr>
            <a:r>
              <a:rPr lang="en-US" sz="1250" dirty="0">
                <a:solidFill>
                  <a:srgbClr val="CDE6E8"/>
                </a:solidFill>
                <a:latin typeface="Calibri" pitchFamily="34" charset="0"/>
                <a:ea typeface="Calibri" pitchFamily="34" charset="-122"/>
                <a:cs typeface="Calibri" pitchFamily="34" charset="-120"/>
              </a:rPr>
              <a:t>Exam: Jemerson EthoFuel [10]</a:t>
            </a:r>
            <a:endParaRPr lang="en-US" sz="1250" dirty="0"/>
          </a:p>
        </p:txBody>
      </p:sp>
      <p:sp>
        <p:nvSpPr>
          <p:cNvPr id="13" name="Text 11"/>
          <p:cNvSpPr txBox="1"/>
          <p:nvPr/>
        </p:nvSpPr>
        <p:spPr>
          <a:xfrm>
            <a:off x="822960" y="5989320"/>
            <a:ext cx="10789920" cy="365760"/>
          </a:xfrm>
          <a:prstGeom prst="rect">
            <a:avLst/>
          </a:prstGeom>
          <a:noFill/>
          <a:ln/>
        </p:spPr>
        <p:txBody>
          <a:bodyPr wrap="square" lIns="0" tIns="0" rIns="0" bIns="0" rtlCol="0" anchor="ctr"/>
          <a:lstStyle/>
          <a:p>
            <a:pPr indent="0" marL="0">
              <a:buNone/>
            </a:pPr>
            <a:r>
              <a:rPr lang="en-US" sz="1300" dirty="0">
                <a:solidFill>
                  <a:srgbClr val="9FBCC0"/>
                </a:solidFill>
                <a:latin typeface="Calibri" pitchFamily="34" charset="0"/>
                <a:ea typeface="Calibri" pitchFamily="34" charset="-122"/>
                <a:cs typeface="Calibri" pitchFamily="34" charset="-120"/>
              </a:rPr>
              <a:t>Mr. Akram  ·  GEMS Metropole School  ·  The final section of Unit 1  ·  Case: Jemerson EthoFuel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OVERVIEW</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What this lesson covers — spec 1.3.5(4)</a:t>
            </a:r>
            <a:endParaRPr lang="en-US" sz="2600" dirty="0"/>
          </a:p>
        </p:txBody>
      </p:sp>
      <p:sp>
        <p:nvSpPr>
          <p:cNvPr id="4" name="Shape 2"/>
          <p:cNvSpPr/>
          <p:nvPr/>
        </p:nvSpPr>
        <p:spPr>
          <a:xfrm>
            <a:off x="548640" y="1554480"/>
            <a:ext cx="11091672" cy="1005840"/>
          </a:xfrm>
          <a:prstGeom prst="roundRect">
            <a:avLst>
              <a:gd name="adj" fmla="val 7273"/>
            </a:avLst>
          </a:prstGeom>
          <a:solidFill>
            <a:srgbClr val="EAF3F4"/>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Shape 3"/>
          <p:cNvSpPr/>
          <p:nvPr/>
        </p:nvSpPr>
        <p:spPr>
          <a:xfrm>
            <a:off x="731520" y="1828800"/>
            <a:ext cx="475488" cy="475488"/>
          </a:xfrm>
          <a:prstGeom prst="roundRect">
            <a:avLst>
              <a:gd name="adj" fmla="val 19231"/>
            </a:avLst>
          </a:prstGeom>
          <a:solidFill>
            <a:srgbClr val="0E7C86"/>
          </a:solidFill>
          <a:ln/>
        </p:spPr>
      </p:sp>
      <p:sp>
        <p:nvSpPr>
          <p:cNvPr id="6" name="Text 4"/>
          <p:cNvSpPr txBox="1"/>
          <p:nvPr/>
        </p:nvSpPr>
        <p:spPr>
          <a:xfrm>
            <a:off x="731520" y="1828800"/>
            <a:ext cx="475488" cy="475488"/>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A</a:t>
            </a:r>
            <a:endParaRPr lang="en-US" sz="2100" dirty="0"/>
          </a:p>
        </p:txBody>
      </p:sp>
      <p:sp>
        <p:nvSpPr>
          <p:cNvPr id="7" name="Text 5"/>
          <p:cNvSpPr txBox="1"/>
          <p:nvPr/>
        </p:nvSpPr>
        <p:spPr>
          <a:xfrm>
            <a:off x="1389888" y="1755648"/>
            <a:ext cx="4572000" cy="603504"/>
          </a:xfrm>
          <a:prstGeom prst="rect">
            <a:avLst/>
          </a:prstGeom>
          <a:noFill/>
          <a:ln/>
        </p:spPr>
        <p:txBody>
          <a:bodyPr wrap="square" lIns="0" tIns="0" rIns="0" bIns="0" rtlCol="0" anchor="ctr"/>
          <a:lstStyle/>
          <a:p>
            <a:pPr indent="0" marL="0">
              <a:buNone/>
            </a:pPr>
            <a:r>
              <a:rPr lang="en-US" sz="1450" b="1" dirty="0">
                <a:solidFill>
                  <a:srgbClr val="0E3A43"/>
                </a:solidFill>
                <a:latin typeface="Calibri" pitchFamily="34" charset="0"/>
                <a:ea typeface="Calibri" pitchFamily="34" charset="-122"/>
                <a:cs typeface="Calibri" pitchFamily="34" charset="-120"/>
              </a:rPr>
              <a:t>Opportunity cost</a:t>
            </a:r>
            <a:endParaRPr lang="en-US" sz="1450" dirty="0"/>
          </a:p>
        </p:txBody>
      </p:sp>
      <p:sp>
        <p:nvSpPr>
          <p:cNvPr id="8" name="Text 6"/>
          <p:cNvSpPr txBox="1"/>
          <p:nvPr/>
        </p:nvSpPr>
        <p:spPr>
          <a:xfrm>
            <a:off x="6035040" y="1755648"/>
            <a:ext cx="4617720" cy="603504"/>
          </a:xfrm>
          <a:prstGeom prst="rect">
            <a:avLst/>
          </a:prstGeom>
          <a:noFill/>
          <a:ln/>
        </p:spPr>
        <p:txBody>
          <a:bodyPr wrap="square" lIns="0" tIns="0" rIns="0" bIns="0" rtlCol="0" anchor="ctr"/>
          <a:lstStyle/>
          <a:p>
            <a:pPr indent="0" marL="0">
              <a:buNone/>
            </a:pPr>
            <a:r>
              <a:rPr lang="en-US" sz="1150" dirty="0">
                <a:solidFill>
                  <a:srgbClr val="5B6B73"/>
                </a:solidFill>
                <a:latin typeface="Calibri" pitchFamily="34" charset="0"/>
                <a:ea typeface="Calibri" pitchFamily="34" charset="-122"/>
                <a:cs typeface="Calibri" pitchFamily="34" charset="-120"/>
              </a:rPr>
              <a:t>The next best alternative given up when you choose</a:t>
            </a:r>
            <a:endParaRPr lang="en-US" sz="1150" dirty="0"/>
          </a:p>
        </p:txBody>
      </p:sp>
      <p:sp>
        <p:nvSpPr>
          <p:cNvPr id="9" name="Shape 7"/>
          <p:cNvSpPr/>
          <p:nvPr/>
        </p:nvSpPr>
        <p:spPr>
          <a:xfrm>
            <a:off x="10698480" y="1883664"/>
            <a:ext cx="841248" cy="347472"/>
          </a:xfrm>
          <a:prstGeom prst="roundRect">
            <a:avLst>
              <a:gd name="adj" fmla="val 26316"/>
            </a:avLst>
          </a:prstGeom>
          <a:solidFill>
            <a:srgbClr val="FBF0D8"/>
          </a:solidFill>
          <a:ln/>
        </p:spPr>
      </p:sp>
      <p:sp>
        <p:nvSpPr>
          <p:cNvPr id="10" name="Text 8"/>
          <p:cNvSpPr txBox="1"/>
          <p:nvPr/>
        </p:nvSpPr>
        <p:spPr>
          <a:xfrm>
            <a:off x="10698480" y="1883664"/>
            <a:ext cx="841248" cy="347472"/>
          </a:xfrm>
          <a:prstGeom prst="rect">
            <a:avLst/>
          </a:prstGeom>
          <a:noFill/>
          <a:ln/>
        </p:spPr>
        <p:txBody>
          <a:bodyPr wrap="square" lIns="0" tIns="0" rIns="0" bIns="0" rtlCol="0" anchor="ctr"/>
          <a:lstStyle/>
          <a:p>
            <a:pPr algn="ctr" indent="0" marL="0">
              <a:buNone/>
            </a:pPr>
            <a:r>
              <a:rPr lang="en-US" sz="850" b="1" dirty="0">
                <a:solidFill>
                  <a:srgbClr val="8A5A06"/>
                </a:solidFill>
                <a:latin typeface="Calibri" pitchFamily="34" charset="0"/>
                <a:ea typeface="Calibri" pitchFamily="34" charset="-122"/>
                <a:cs typeface="Calibri" pitchFamily="34" charset="-120"/>
              </a:rPr>
              <a:t>4a</a:t>
            </a:r>
            <a:endParaRPr lang="en-US" sz="850" dirty="0"/>
          </a:p>
        </p:txBody>
      </p:sp>
      <p:sp>
        <p:nvSpPr>
          <p:cNvPr id="11" name="Shape 9"/>
          <p:cNvSpPr/>
          <p:nvPr/>
        </p:nvSpPr>
        <p:spPr>
          <a:xfrm>
            <a:off x="548640" y="2670048"/>
            <a:ext cx="11091672" cy="1005840"/>
          </a:xfrm>
          <a:prstGeom prst="roundRect">
            <a:avLst>
              <a:gd name="adj" fmla="val 727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2" name="Shape 10"/>
          <p:cNvSpPr/>
          <p:nvPr/>
        </p:nvSpPr>
        <p:spPr>
          <a:xfrm>
            <a:off x="731520" y="2944368"/>
            <a:ext cx="475488" cy="475488"/>
          </a:xfrm>
          <a:prstGeom prst="roundRect">
            <a:avLst>
              <a:gd name="adj" fmla="val 19231"/>
            </a:avLst>
          </a:prstGeom>
          <a:solidFill>
            <a:srgbClr val="0E7C86"/>
          </a:solidFill>
          <a:ln/>
        </p:spPr>
      </p:sp>
      <p:sp>
        <p:nvSpPr>
          <p:cNvPr id="13" name="Text 11"/>
          <p:cNvSpPr txBox="1"/>
          <p:nvPr/>
        </p:nvSpPr>
        <p:spPr>
          <a:xfrm>
            <a:off x="731520" y="2944368"/>
            <a:ext cx="475488" cy="475488"/>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B</a:t>
            </a:r>
            <a:endParaRPr lang="en-US" sz="2100" dirty="0"/>
          </a:p>
        </p:txBody>
      </p:sp>
      <p:sp>
        <p:nvSpPr>
          <p:cNvPr id="14" name="Text 12"/>
          <p:cNvSpPr txBox="1"/>
          <p:nvPr/>
        </p:nvSpPr>
        <p:spPr>
          <a:xfrm>
            <a:off x="1389888" y="2871216"/>
            <a:ext cx="4572000" cy="603504"/>
          </a:xfrm>
          <a:prstGeom prst="rect">
            <a:avLst/>
          </a:prstGeom>
          <a:noFill/>
          <a:ln/>
        </p:spPr>
        <p:txBody>
          <a:bodyPr wrap="square" lIns="0" tIns="0" rIns="0" bIns="0" rtlCol="0" anchor="ctr"/>
          <a:lstStyle/>
          <a:p>
            <a:pPr indent="0" marL="0">
              <a:buNone/>
            </a:pPr>
            <a:r>
              <a:rPr lang="en-US" sz="1450" b="1" dirty="0">
                <a:solidFill>
                  <a:srgbClr val="0E3A43"/>
                </a:solidFill>
                <a:latin typeface="Calibri" pitchFamily="34" charset="0"/>
                <a:ea typeface="Calibri" pitchFamily="34" charset="-122"/>
                <a:cs typeface="Calibri" pitchFamily="34" charset="-120"/>
              </a:rPr>
              <a:t>Trade-offs</a:t>
            </a:r>
            <a:endParaRPr lang="en-US" sz="1450" dirty="0"/>
          </a:p>
        </p:txBody>
      </p:sp>
      <p:sp>
        <p:nvSpPr>
          <p:cNvPr id="15" name="Text 13"/>
          <p:cNvSpPr txBox="1"/>
          <p:nvPr/>
        </p:nvSpPr>
        <p:spPr>
          <a:xfrm>
            <a:off x="6035040" y="2871216"/>
            <a:ext cx="4617720" cy="603504"/>
          </a:xfrm>
          <a:prstGeom prst="rect">
            <a:avLst/>
          </a:prstGeom>
          <a:noFill/>
          <a:ln/>
        </p:spPr>
        <p:txBody>
          <a:bodyPr wrap="square" lIns="0" tIns="0" rIns="0" bIns="0" rtlCol="0" anchor="ctr"/>
          <a:lstStyle/>
          <a:p>
            <a:pPr indent="0" marL="0">
              <a:buNone/>
            </a:pPr>
            <a:r>
              <a:rPr lang="en-US" sz="1150" dirty="0">
                <a:solidFill>
                  <a:srgbClr val="5B6B73"/>
                </a:solidFill>
                <a:latin typeface="Calibri" pitchFamily="34" charset="0"/>
                <a:ea typeface="Calibri" pitchFamily="34" charset="-122"/>
                <a:cs typeface="Calibri" pitchFamily="34" charset="-120"/>
              </a:rPr>
              <a:t>Sacrificing some of one thing to gain more of another</a:t>
            </a:r>
            <a:endParaRPr lang="en-US" sz="1150" dirty="0"/>
          </a:p>
        </p:txBody>
      </p:sp>
      <p:sp>
        <p:nvSpPr>
          <p:cNvPr id="16" name="Shape 14"/>
          <p:cNvSpPr/>
          <p:nvPr/>
        </p:nvSpPr>
        <p:spPr>
          <a:xfrm>
            <a:off x="10698480" y="2999232"/>
            <a:ext cx="841248" cy="347472"/>
          </a:xfrm>
          <a:prstGeom prst="roundRect">
            <a:avLst>
              <a:gd name="adj" fmla="val 26316"/>
            </a:avLst>
          </a:prstGeom>
          <a:solidFill>
            <a:srgbClr val="FBF0D8"/>
          </a:solidFill>
          <a:ln/>
        </p:spPr>
      </p:sp>
      <p:sp>
        <p:nvSpPr>
          <p:cNvPr id="17" name="Text 15"/>
          <p:cNvSpPr txBox="1"/>
          <p:nvPr/>
        </p:nvSpPr>
        <p:spPr>
          <a:xfrm>
            <a:off x="10698480" y="2999232"/>
            <a:ext cx="841248" cy="347472"/>
          </a:xfrm>
          <a:prstGeom prst="rect">
            <a:avLst/>
          </a:prstGeom>
          <a:noFill/>
          <a:ln/>
        </p:spPr>
        <p:txBody>
          <a:bodyPr wrap="square" lIns="0" tIns="0" rIns="0" bIns="0" rtlCol="0" anchor="ctr"/>
          <a:lstStyle/>
          <a:p>
            <a:pPr algn="ctr" indent="0" marL="0">
              <a:buNone/>
            </a:pPr>
            <a:r>
              <a:rPr lang="en-US" sz="850" b="1" dirty="0">
                <a:solidFill>
                  <a:srgbClr val="8A5A06"/>
                </a:solidFill>
                <a:latin typeface="Calibri" pitchFamily="34" charset="0"/>
                <a:ea typeface="Calibri" pitchFamily="34" charset="-122"/>
                <a:cs typeface="Calibri" pitchFamily="34" charset="-120"/>
              </a:rPr>
              <a:t>4b</a:t>
            </a:r>
            <a:endParaRPr lang="en-US" sz="850" dirty="0"/>
          </a:p>
        </p:txBody>
      </p:sp>
      <p:sp>
        <p:nvSpPr>
          <p:cNvPr id="18" name="Shape 16"/>
          <p:cNvSpPr/>
          <p:nvPr/>
        </p:nvSpPr>
        <p:spPr>
          <a:xfrm>
            <a:off x="548640" y="3785616"/>
            <a:ext cx="11091672" cy="1005840"/>
          </a:xfrm>
          <a:prstGeom prst="roundRect">
            <a:avLst>
              <a:gd name="adj" fmla="val 727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9" name="Shape 17"/>
          <p:cNvSpPr/>
          <p:nvPr/>
        </p:nvSpPr>
        <p:spPr>
          <a:xfrm>
            <a:off x="731520" y="4059936"/>
            <a:ext cx="475488" cy="475488"/>
          </a:xfrm>
          <a:prstGeom prst="roundRect">
            <a:avLst>
              <a:gd name="adj" fmla="val 19231"/>
            </a:avLst>
          </a:prstGeom>
          <a:solidFill>
            <a:srgbClr val="0E7C86"/>
          </a:solidFill>
          <a:ln/>
        </p:spPr>
      </p:sp>
      <p:sp>
        <p:nvSpPr>
          <p:cNvPr id="20" name="Text 18"/>
          <p:cNvSpPr txBox="1"/>
          <p:nvPr/>
        </p:nvSpPr>
        <p:spPr>
          <a:xfrm>
            <a:off x="731520" y="4059936"/>
            <a:ext cx="475488" cy="475488"/>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C</a:t>
            </a:r>
            <a:endParaRPr lang="en-US" sz="2100" dirty="0"/>
          </a:p>
        </p:txBody>
      </p:sp>
      <p:sp>
        <p:nvSpPr>
          <p:cNvPr id="21" name="Text 19"/>
          <p:cNvSpPr txBox="1"/>
          <p:nvPr/>
        </p:nvSpPr>
        <p:spPr>
          <a:xfrm>
            <a:off x="1389888" y="3986784"/>
            <a:ext cx="4572000" cy="603504"/>
          </a:xfrm>
          <a:prstGeom prst="rect">
            <a:avLst/>
          </a:prstGeom>
          <a:noFill/>
          <a:ln/>
        </p:spPr>
        <p:txBody>
          <a:bodyPr wrap="square" lIns="0" tIns="0" rIns="0" bIns="0" rtlCol="0" anchor="ctr"/>
          <a:lstStyle/>
          <a:p>
            <a:pPr indent="0" marL="0">
              <a:buNone/>
            </a:pPr>
            <a:r>
              <a:rPr lang="en-US" sz="1450" b="1" dirty="0">
                <a:solidFill>
                  <a:srgbClr val="0E3A43"/>
                </a:solidFill>
                <a:latin typeface="Calibri" pitchFamily="34" charset="0"/>
                <a:ea typeface="Calibri" pitchFamily="34" charset="-122"/>
                <a:cs typeface="Calibri" pitchFamily="34" charset="-120"/>
              </a:rPr>
              <a:t>Opportunity cost vs trade-off</a:t>
            </a:r>
            <a:endParaRPr lang="en-US" sz="1450" dirty="0"/>
          </a:p>
        </p:txBody>
      </p:sp>
      <p:sp>
        <p:nvSpPr>
          <p:cNvPr id="22" name="Text 20"/>
          <p:cNvSpPr txBox="1"/>
          <p:nvPr/>
        </p:nvSpPr>
        <p:spPr>
          <a:xfrm>
            <a:off x="6035040" y="3986784"/>
            <a:ext cx="4617720" cy="603504"/>
          </a:xfrm>
          <a:prstGeom prst="rect">
            <a:avLst/>
          </a:prstGeom>
          <a:noFill/>
          <a:ln/>
        </p:spPr>
        <p:txBody>
          <a:bodyPr wrap="square" lIns="0" tIns="0" rIns="0" bIns="0" rtlCol="0" anchor="ctr"/>
          <a:lstStyle/>
          <a:p>
            <a:pPr indent="0" marL="0">
              <a:buNone/>
            </a:pPr>
            <a:r>
              <a:rPr lang="en-US" sz="1150" dirty="0">
                <a:solidFill>
                  <a:srgbClr val="5B6B73"/>
                </a:solidFill>
                <a:latin typeface="Calibri" pitchFamily="34" charset="0"/>
                <a:ea typeface="Calibri" pitchFamily="34" charset="-122"/>
                <a:cs typeface="Calibri" pitchFamily="34" charset="-120"/>
              </a:rPr>
              <a:t>The choice vs the loss — telling them apart</a:t>
            </a:r>
            <a:endParaRPr lang="en-US" sz="1150" dirty="0"/>
          </a:p>
        </p:txBody>
      </p:sp>
      <p:sp>
        <p:nvSpPr>
          <p:cNvPr id="23" name="Shape 21"/>
          <p:cNvSpPr/>
          <p:nvPr/>
        </p:nvSpPr>
        <p:spPr>
          <a:xfrm>
            <a:off x="10698480" y="4114800"/>
            <a:ext cx="841248" cy="347472"/>
          </a:xfrm>
          <a:prstGeom prst="roundRect">
            <a:avLst>
              <a:gd name="adj" fmla="val 26316"/>
            </a:avLst>
          </a:prstGeom>
          <a:solidFill>
            <a:srgbClr val="FBF0D8"/>
          </a:solidFill>
          <a:ln/>
        </p:spPr>
      </p:sp>
      <p:sp>
        <p:nvSpPr>
          <p:cNvPr id="24" name="Text 22"/>
          <p:cNvSpPr txBox="1"/>
          <p:nvPr/>
        </p:nvSpPr>
        <p:spPr>
          <a:xfrm>
            <a:off x="10698480" y="4114800"/>
            <a:ext cx="841248" cy="347472"/>
          </a:xfrm>
          <a:prstGeom prst="rect">
            <a:avLst/>
          </a:prstGeom>
          <a:noFill/>
          <a:ln/>
        </p:spPr>
        <p:txBody>
          <a:bodyPr wrap="square" lIns="0" tIns="0" rIns="0" bIns="0" rtlCol="0" anchor="ctr"/>
          <a:lstStyle/>
          <a:p>
            <a:pPr algn="ctr" indent="0" marL="0">
              <a:buNone/>
            </a:pPr>
            <a:r>
              <a:rPr lang="en-US" sz="850" b="1" dirty="0">
                <a:solidFill>
                  <a:srgbClr val="8A5A06"/>
                </a:solidFill>
                <a:latin typeface="Calibri" pitchFamily="34" charset="0"/>
                <a:ea typeface="Calibri" pitchFamily="34" charset="-122"/>
                <a:cs typeface="Calibri" pitchFamily="34" charset="-120"/>
              </a:rPr>
              <a:t>4a–4b</a:t>
            </a:r>
            <a:endParaRPr lang="en-US" sz="850" dirty="0"/>
          </a:p>
        </p:txBody>
      </p:sp>
      <p:sp>
        <p:nvSpPr>
          <p:cNvPr id="25" name="Shape 23"/>
          <p:cNvSpPr/>
          <p:nvPr/>
        </p:nvSpPr>
        <p:spPr>
          <a:xfrm>
            <a:off x="548640" y="4901184"/>
            <a:ext cx="11091672" cy="1005840"/>
          </a:xfrm>
          <a:prstGeom prst="roundRect">
            <a:avLst>
              <a:gd name="adj" fmla="val 7273"/>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26" name="Shape 24"/>
          <p:cNvSpPr/>
          <p:nvPr/>
        </p:nvSpPr>
        <p:spPr>
          <a:xfrm>
            <a:off x="731520" y="5175504"/>
            <a:ext cx="475488" cy="475488"/>
          </a:xfrm>
          <a:prstGeom prst="roundRect">
            <a:avLst>
              <a:gd name="adj" fmla="val 19231"/>
            </a:avLst>
          </a:prstGeom>
          <a:solidFill>
            <a:srgbClr val="0E7C86"/>
          </a:solidFill>
          <a:ln/>
        </p:spPr>
      </p:sp>
      <p:sp>
        <p:nvSpPr>
          <p:cNvPr id="27" name="Text 25"/>
          <p:cNvSpPr txBox="1"/>
          <p:nvPr/>
        </p:nvSpPr>
        <p:spPr>
          <a:xfrm>
            <a:off x="731520" y="5175504"/>
            <a:ext cx="475488" cy="475488"/>
          </a:xfrm>
          <a:prstGeom prst="rect">
            <a:avLst/>
          </a:prstGeom>
          <a:noFill/>
          <a:ln/>
        </p:spPr>
        <p:txBody>
          <a:bodyPr wrap="square" lIns="0" tIns="0" rIns="0" bIns="0" rtlCol="0" anchor="ctr"/>
          <a:lstStyle/>
          <a:p>
            <a:pPr algn="ctr" indent="0" marL="0">
              <a:buNone/>
            </a:pPr>
            <a:r>
              <a:rPr lang="en-US" sz="2100" b="1" dirty="0">
                <a:solidFill>
                  <a:srgbClr val="FFFFFF"/>
                </a:solidFill>
                <a:latin typeface="Cambria" pitchFamily="34" charset="0"/>
                <a:ea typeface="Cambria" pitchFamily="34" charset="-122"/>
                <a:cs typeface="Cambria" pitchFamily="34" charset="-120"/>
              </a:rPr>
              <a:t>D</a:t>
            </a:r>
            <a:endParaRPr lang="en-US" sz="2100" dirty="0"/>
          </a:p>
        </p:txBody>
      </p:sp>
      <p:sp>
        <p:nvSpPr>
          <p:cNvPr id="28" name="Text 26"/>
          <p:cNvSpPr txBox="1"/>
          <p:nvPr/>
        </p:nvSpPr>
        <p:spPr>
          <a:xfrm>
            <a:off x="1389888" y="5102352"/>
            <a:ext cx="4572000" cy="603504"/>
          </a:xfrm>
          <a:prstGeom prst="rect">
            <a:avLst/>
          </a:prstGeom>
          <a:noFill/>
          <a:ln/>
        </p:spPr>
        <p:txBody>
          <a:bodyPr wrap="square" lIns="0" tIns="0" rIns="0" bIns="0" rtlCol="0" anchor="ctr"/>
          <a:lstStyle/>
          <a:p>
            <a:pPr indent="0" marL="0">
              <a:buNone/>
            </a:pPr>
            <a:r>
              <a:rPr lang="en-US" sz="1450" b="1" dirty="0">
                <a:solidFill>
                  <a:srgbClr val="0E3A43"/>
                </a:solidFill>
                <a:latin typeface="Calibri" pitchFamily="34" charset="0"/>
                <a:ea typeface="Calibri" pitchFamily="34" charset="-122"/>
                <a:cs typeface="Calibri" pitchFamily="34" charset="-120"/>
              </a:rPr>
              <a:t>A-grade exam skills</a:t>
            </a:r>
            <a:endParaRPr lang="en-US" sz="1450" dirty="0"/>
          </a:p>
        </p:txBody>
      </p:sp>
      <p:sp>
        <p:nvSpPr>
          <p:cNvPr id="29" name="Text 27"/>
          <p:cNvSpPr txBox="1"/>
          <p:nvPr/>
        </p:nvSpPr>
        <p:spPr>
          <a:xfrm>
            <a:off x="6035040" y="5102352"/>
            <a:ext cx="4617720" cy="603504"/>
          </a:xfrm>
          <a:prstGeom prst="rect">
            <a:avLst/>
          </a:prstGeom>
          <a:noFill/>
          <a:ln/>
        </p:spPr>
        <p:txBody>
          <a:bodyPr wrap="square" lIns="0" tIns="0" rIns="0" bIns="0" rtlCol="0" anchor="ctr"/>
          <a:lstStyle/>
          <a:p>
            <a:pPr indent="0" marL="0">
              <a:buNone/>
            </a:pPr>
            <a:r>
              <a:rPr lang="en-US" sz="1150" dirty="0">
                <a:solidFill>
                  <a:srgbClr val="5B6B73"/>
                </a:solidFill>
                <a:latin typeface="Calibri" pitchFamily="34" charset="0"/>
                <a:ea typeface="Calibri" pitchFamily="34" charset="-122"/>
                <a:cs typeface="Calibri" pitchFamily="34" charset="-120"/>
              </a:rPr>
              <a:t>Jemerson EthoFuel [10] · the machinery-vs-training [4]</a:t>
            </a:r>
            <a:endParaRPr lang="en-US" sz="1150" dirty="0"/>
          </a:p>
        </p:txBody>
      </p:sp>
      <p:sp>
        <p:nvSpPr>
          <p:cNvPr id="30" name="Shape 28"/>
          <p:cNvSpPr/>
          <p:nvPr/>
        </p:nvSpPr>
        <p:spPr>
          <a:xfrm>
            <a:off x="10698480" y="5230368"/>
            <a:ext cx="841248" cy="347472"/>
          </a:xfrm>
          <a:prstGeom prst="roundRect">
            <a:avLst>
              <a:gd name="adj" fmla="val 26316"/>
            </a:avLst>
          </a:prstGeom>
          <a:solidFill>
            <a:srgbClr val="FBF0D8"/>
          </a:solidFill>
          <a:ln/>
        </p:spPr>
      </p:sp>
      <p:sp>
        <p:nvSpPr>
          <p:cNvPr id="31" name="Text 29"/>
          <p:cNvSpPr txBox="1"/>
          <p:nvPr/>
        </p:nvSpPr>
        <p:spPr>
          <a:xfrm>
            <a:off x="10698480" y="5230368"/>
            <a:ext cx="841248" cy="347472"/>
          </a:xfrm>
          <a:prstGeom prst="rect">
            <a:avLst/>
          </a:prstGeom>
          <a:noFill/>
          <a:ln/>
        </p:spPr>
        <p:txBody>
          <a:bodyPr wrap="square" lIns="0" tIns="0" rIns="0" bIns="0" rtlCol="0" anchor="ctr"/>
          <a:lstStyle/>
          <a:p>
            <a:pPr algn="ctr" indent="0" marL="0">
              <a:buNone/>
            </a:pPr>
            <a:r>
              <a:rPr lang="en-US" sz="850" b="1" dirty="0">
                <a:solidFill>
                  <a:srgbClr val="8A5A06"/>
                </a:solidFill>
                <a:latin typeface="Calibri" pitchFamily="34" charset="0"/>
                <a:ea typeface="Calibri" pitchFamily="34" charset="-122"/>
                <a:cs typeface="Calibri" pitchFamily="34" charset="-120"/>
              </a:rPr>
              <a:t>—</a:t>
            </a:r>
            <a:endParaRPr lang="en-US" sz="8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WHERE IT FITS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Where this sits in 1.3.5 — the final part of Unit 1</a:t>
            </a:r>
            <a:endParaRPr lang="en-US" sz="2600" dirty="0"/>
          </a:p>
        </p:txBody>
      </p:sp>
      <p:sp>
        <p:nvSpPr>
          <p:cNvPr id="4" name="Shape 2"/>
          <p:cNvSpPr/>
          <p:nvPr/>
        </p:nvSpPr>
        <p:spPr>
          <a:xfrm>
            <a:off x="548640" y="1371600"/>
            <a:ext cx="6675120" cy="4800600"/>
          </a:xfrm>
          <a:prstGeom prst="roundRect">
            <a:avLst>
              <a:gd name="adj" fmla="val 1524"/>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6217920" cy="329184"/>
          </a:xfrm>
          <a:prstGeom prst="rect">
            <a:avLst/>
          </a:prstGeom>
          <a:noFill/>
          <a:ln/>
        </p:spPr>
        <p:txBody>
          <a:bodyPr wrap="square" lIns="0" tIns="0" rIns="0" bIns="0" rtlCol="0" anchor="ctr"/>
          <a:lstStyle/>
          <a:p>
            <a:pPr indent="0" marL="0">
              <a:buNone/>
            </a:pPr>
            <a:r>
              <a:rPr lang="en-US" sz="1350" b="1" dirty="0">
                <a:solidFill>
                  <a:srgbClr val="0E3A43"/>
                </a:solidFill>
                <a:latin typeface="Calibri" pitchFamily="34" charset="0"/>
                <a:ea typeface="Calibri" pitchFamily="34" charset="-122"/>
                <a:cs typeface="Calibri" pitchFamily="34" charset="-120"/>
              </a:rPr>
              <a:t>Section 1.3.5  Entrepreneurs &amp; leaders</a:t>
            </a:r>
            <a:endParaRPr lang="en-US" sz="1350" dirty="0"/>
          </a:p>
        </p:txBody>
      </p:sp>
      <p:sp>
        <p:nvSpPr>
          <p:cNvPr id="6" name="Shape 4"/>
          <p:cNvSpPr/>
          <p:nvPr/>
        </p:nvSpPr>
        <p:spPr>
          <a:xfrm>
            <a:off x="749808" y="1956816"/>
            <a:ext cx="6272784" cy="987552"/>
          </a:xfrm>
          <a:prstGeom prst="roundRect">
            <a:avLst>
              <a:gd name="adj" fmla="val 7407"/>
            </a:avLst>
          </a:prstGeom>
          <a:solidFill>
            <a:srgbClr val="EAF3F4"/>
          </a:solidFill>
          <a:ln/>
          <a:effectLst>
            <a:outerShdw sx="100000" sy="100000" kx="0" ky="0" algn="bl" rotWithShape="0" blurRad="76200" dist="25400" dir="5400000">
              <a:srgbClr val="9AAAB0">
                <a:alpha val="28000"/>
              </a:srgbClr>
            </a:outerShdw>
          </a:effectLst>
        </p:spPr>
      </p:sp>
      <p:sp>
        <p:nvSpPr>
          <p:cNvPr id="7" name="Shape 5"/>
          <p:cNvSpPr/>
          <p:nvPr/>
        </p:nvSpPr>
        <p:spPr>
          <a:xfrm>
            <a:off x="914400" y="2212848"/>
            <a:ext cx="457200" cy="457200"/>
          </a:xfrm>
          <a:prstGeom prst="roundRect">
            <a:avLst>
              <a:gd name="adj" fmla="val 20000"/>
            </a:avLst>
          </a:prstGeom>
          <a:solidFill>
            <a:srgbClr val="0E7C86"/>
          </a:solidFill>
          <a:ln/>
        </p:spPr>
      </p:sp>
      <p:sp>
        <p:nvSpPr>
          <p:cNvPr id="8" name="Text 6"/>
          <p:cNvSpPr txBox="1"/>
          <p:nvPr/>
        </p:nvSpPr>
        <p:spPr>
          <a:xfrm>
            <a:off x="914400" y="2212848"/>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1</a:t>
            </a:r>
            <a:endParaRPr lang="en-US" sz="1900" dirty="0"/>
          </a:p>
        </p:txBody>
      </p:sp>
      <p:sp>
        <p:nvSpPr>
          <p:cNvPr id="9" name="Text 7"/>
          <p:cNvSpPr txBox="1"/>
          <p:nvPr/>
        </p:nvSpPr>
        <p:spPr>
          <a:xfrm>
            <a:off x="1508760" y="2139696"/>
            <a:ext cx="5440680" cy="365760"/>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Role of an entrepreneur</a:t>
            </a:r>
            <a:endParaRPr lang="en-US" sz="1250" dirty="0"/>
          </a:p>
        </p:txBody>
      </p:sp>
      <p:sp>
        <p:nvSpPr>
          <p:cNvPr id="10" name="Text 8"/>
          <p:cNvSpPr txBox="1"/>
          <p:nvPr/>
        </p:nvSpPr>
        <p:spPr>
          <a:xfrm>
            <a:off x="1508760" y="2505456"/>
            <a:ext cx="5440680" cy="384048"/>
          </a:xfrm>
          <a:prstGeom prst="rect">
            <a:avLst/>
          </a:prstGeom>
          <a:noFill/>
          <a:ln/>
        </p:spPr>
        <p:txBody>
          <a:bodyPr wrap="square" lIns="0" tIns="0" rIns="0" bIns="0" rtlCol="0" anchor="t"/>
          <a:lstStyle/>
          <a:p>
            <a:pPr indent="0" marL="0">
              <a:buNone/>
            </a:pPr>
            <a:r>
              <a:rPr lang="en-US" sz="1030" dirty="0">
                <a:solidFill>
                  <a:srgbClr val="5B6B73"/>
                </a:solidFill>
                <a:latin typeface="Calibri" pitchFamily="34" charset="0"/>
                <a:ea typeface="Calibri" pitchFamily="34" charset="-122"/>
                <a:cs typeface="Calibri" pitchFamily="34" charset="-120"/>
              </a:rPr>
              <a:t>creating, running, intrapreneurship, barriers, risk — done</a:t>
            </a:r>
            <a:endParaRPr lang="en-US" sz="1030" dirty="0"/>
          </a:p>
        </p:txBody>
      </p:sp>
      <p:sp>
        <p:nvSpPr>
          <p:cNvPr id="11" name="Shape 9"/>
          <p:cNvSpPr/>
          <p:nvPr/>
        </p:nvSpPr>
        <p:spPr>
          <a:xfrm>
            <a:off x="749808" y="3054096"/>
            <a:ext cx="6272784" cy="987552"/>
          </a:xfrm>
          <a:prstGeom prst="roundRect">
            <a:avLst>
              <a:gd name="adj" fmla="val 7407"/>
            </a:avLst>
          </a:prstGeom>
          <a:solidFill>
            <a:srgbClr val="EAF3F4"/>
          </a:solidFill>
          <a:ln/>
          <a:effectLst>
            <a:outerShdw sx="100000" sy="100000" kx="0" ky="0" algn="bl" rotWithShape="0" blurRad="76200" dist="25400" dir="5400000">
              <a:srgbClr val="9AAAB0">
                <a:alpha val="28000"/>
              </a:srgbClr>
            </a:outerShdw>
          </a:effectLst>
        </p:spPr>
      </p:sp>
      <p:sp>
        <p:nvSpPr>
          <p:cNvPr id="12" name="Shape 10"/>
          <p:cNvSpPr/>
          <p:nvPr/>
        </p:nvSpPr>
        <p:spPr>
          <a:xfrm>
            <a:off x="914400" y="3310128"/>
            <a:ext cx="457200" cy="457200"/>
          </a:xfrm>
          <a:prstGeom prst="roundRect">
            <a:avLst>
              <a:gd name="adj" fmla="val 20000"/>
            </a:avLst>
          </a:prstGeom>
          <a:solidFill>
            <a:srgbClr val="0E7C86"/>
          </a:solidFill>
          <a:ln/>
        </p:spPr>
      </p:sp>
      <p:sp>
        <p:nvSpPr>
          <p:cNvPr id="13" name="Text 11"/>
          <p:cNvSpPr txBox="1"/>
          <p:nvPr/>
        </p:nvSpPr>
        <p:spPr>
          <a:xfrm>
            <a:off x="914400" y="3310128"/>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2</a:t>
            </a:r>
            <a:endParaRPr lang="en-US" sz="1900" dirty="0"/>
          </a:p>
        </p:txBody>
      </p:sp>
      <p:sp>
        <p:nvSpPr>
          <p:cNvPr id="14" name="Text 12"/>
          <p:cNvSpPr txBox="1"/>
          <p:nvPr/>
        </p:nvSpPr>
        <p:spPr>
          <a:xfrm>
            <a:off x="1508760" y="3236976"/>
            <a:ext cx="5440680" cy="365760"/>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Entrepreneurial motives &amp; characteristics</a:t>
            </a:r>
            <a:endParaRPr lang="en-US" sz="1250" dirty="0"/>
          </a:p>
        </p:txBody>
      </p:sp>
      <p:sp>
        <p:nvSpPr>
          <p:cNvPr id="15" name="Text 13"/>
          <p:cNvSpPr txBox="1"/>
          <p:nvPr/>
        </p:nvSpPr>
        <p:spPr>
          <a:xfrm>
            <a:off x="1508760" y="3602736"/>
            <a:ext cx="5440680" cy="384048"/>
          </a:xfrm>
          <a:prstGeom prst="rect">
            <a:avLst/>
          </a:prstGeom>
          <a:noFill/>
          <a:ln/>
        </p:spPr>
        <p:txBody>
          <a:bodyPr wrap="square" lIns="0" tIns="0" rIns="0" bIns="0" rtlCol="0" anchor="t"/>
          <a:lstStyle/>
          <a:p>
            <a:pPr indent="0" marL="0">
              <a:buNone/>
            </a:pPr>
            <a:r>
              <a:rPr lang="en-US" sz="1030" dirty="0">
                <a:solidFill>
                  <a:srgbClr val="5B6B73"/>
                </a:solidFill>
                <a:latin typeface="Calibri" pitchFamily="34" charset="0"/>
                <a:ea typeface="Calibri" pitchFamily="34" charset="-122"/>
                <a:cs typeface="Calibri" pitchFamily="34" charset="-120"/>
              </a:rPr>
              <a:t>characteristics &amp; skills; motives — done</a:t>
            </a:r>
            <a:endParaRPr lang="en-US" sz="1030" dirty="0"/>
          </a:p>
        </p:txBody>
      </p:sp>
      <p:sp>
        <p:nvSpPr>
          <p:cNvPr id="16" name="Shape 14"/>
          <p:cNvSpPr/>
          <p:nvPr/>
        </p:nvSpPr>
        <p:spPr>
          <a:xfrm>
            <a:off x="749808" y="4151376"/>
            <a:ext cx="6272784" cy="987552"/>
          </a:xfrm>
          <a:prstGeom prst="roundRect">
            <a:avLst>
              <a:gd name="adj" fmla="val 7407"/>
            </a:avLst>
          </a:prstGeom>
          <a:solidFill>
            <a:srgbClr val="EAF3F4"/>
          </a:solidFill>
          <a:ln/>
          <a:effectLst>
            <a:outerShdw sx="100000" sy="100000" kx="0" ky="0" algn="bl" rotWithShape="0" blurRad="76200" dist="25400" dir="5400000">
              <a:srgbClr val="9AAAB0">
                <a:alpha val="28000"/>
              </a:srgbClr>
            </a:outerShdw>
          </a:effectLst>
        </p:spPr>
      </p:sp>
      <p:sp>
        <p:nvSpPr>
          <p:cNvPr id="17" name="Shape 15"/>
          <p:cNvSpPr/>
          <p:nvPr/>
        </p:nvSpPr>
        <p:spPr>
          <a:xfrm>
            <a:off x="914400" y="4407408"/>
            <a:ext cx="457200" cy="457200"/>
          </a:xfrm>
          <a:prstGeom prst="roundRect">
            <a:avLst>
              <a:gd name="adj" fmla="val 20000"/>
            </a:avLst>
          </a:prstGeom>
          <a:solidFill>
            <a:srgbClr val="0E7C86"/>
          </a:solidFill>
          <a:ln/>
        </p:spPr>
      </p:sp>
      <p:sp>
        <p:nvSpPr>
          <p:cNvPr id="18" name="Text 16"/>
          <p:cNvSpPr txBox="1"/>
          <p:nvPr/>
        </p:nvSpPr>
        <p:spPr>
          <a:xfrm>
            <a:off x="914400" y="4407408"/>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3</a:t>
            </a:r>
            <a:endParaRPr lang="en-US" sz="1900" dirty="0"/>
          </a:p>
        </p:txBody>
      </p:sp>
      <p:sp>
        <p:nvSpPr>
          <p:cNvPr id="19" name="Text 17"/>
          <p:cNvSpPr txBox="1"/>
          <p:nvPr/>
        </p:nvSpPr>
        <p:spPr>
          <a:xfrm>
            <a:off x="1508760" y="4334256"/>
            <a:ext cx="5440680" cy="365760"/>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Business objectives</a:t>
            </a:r>
            <a:endParaRPr lang="en-US" sz="1250" dirty="0"/>
          </a:p>
        </p:txBody>
      </p:sp>
      <p:sp>
        <p:nvSpPr>
          <p:cNvPr id="20" name="Text 18"/>
          <p:cNvSpPr txBox="1"/>
          <p:nvPr/>
        </p:nvSpPr>
        <p:spPr>
          <a:xfrm>
            <a:off x="1508760" y="4700016"/>
            <a:ext cx="5440680" cy="384048"/>
          </a:xfrm>
          <a:prstGeom prst="rect">
            <a:avLst/>
          </a:prstGeom>
          <a:noFill/>
          <a:ln/>
        </p:spPr>
        <p:txBody>
          <a:bodyPr wrap="square" lIns="0" tIns="0" rIns="0" bIns="0" rtlCol="0" anchor="t"/>
          <a:lstStyle/>
          <a:p>
            <a:pPr indent="0" marL="0">
              <a:buNone/>
            </a:pPr>
            <a:r>
              <a:rPr lang="en-US" sz="1030" dirty="0">
                <a:solidFill>
                  <a:srgbClr val="5B6B73"/>
                </a:solidFill>
                <a:latin typeface="Calibri" pitchFamily="34" charset="0"/>
                <a:ea typeface="Calibri" pitchFamily="34" charset="-122"/>
                <a:cs typeface="Calibri" pitchFamily="34" charset="-120"/>
              </a:rPr>
              <a:t>survival, profit max, six other objectives — done</a:t>
            </a:r>
            <a:endParaRPr lang="en-US" sz="1030" dirty="0"/>
          </a:p>
        </p:txBody>
      </p:sp>
      <p:sp>
        <p:nvSpPr>
          <p:cNvPr id="21" name="Shape 19"/>
          <p:cNvSpPr/>
          <p:nvPr/>
        </p:nvSpPr>
        <p:spPr>
          <a:xfrm>
            <a:off x="749808" y="5248656"/>
            <a:ext cx="6272784" cy="987552"/>
          </a:xfrm>
          <a:prstGeom prst="roundRect">
            <a:avLst>
              <a:gd name="adj" fmla="val 7407"/>
            </a:avLst>
          </a:prstGeom>
          <a:solidFill>
            <a:srgbClr val="FBF0D8"/>
          </a:solidFill>
          <a:ln/>
          <a:effectLst>
            <a:outerShdw sx="100000" sy="100000" kx="0" ky="0" algn="bl" rotWithShape="0" blurRad="76200" dist="25400" dir="5400000">
              <a:srgbClr val="9AAAB0">
                <a:alpha val="28000"/>
              </a:srgbClr>
            </a:outerShdw>
          </a:effectLst>
        </p:spPr>
      </p:sp>
      <p:sp>
        <p:nvSpPr>
          <p:cNvPr id="22" name="Shape 20"/>
          <p:cNvSpPr/>
          <p:nvPr/>
        </p:nvSpPr>
        <p:spPr>
          <a:xfrm>
            <a:off x="749808" y="5248656"/>
            <a:ext cx="91440" cy="987552"/>
          </a:xfrm>
          <a:prstGeom prst="roundRect">
            <a:avLst/>
          </a:prstGeom>
          <a:solidFill>
            <a:srgbClr val="E0940F"/>
          </a:solidFill>
          <a:ln/>
        </p:spPr>
      </p:sp>
      <p:sp>
        <p:nvSpPr>
          <p:cNvPr id="23" name="Shape 21"/>
          <p:cNvSpPr/>
          <p:nvPr/>
        </p:nvSpPr>
        <p:spPr>
          <a:xfrm>
            <a:off x="914400" y="5504688"/>
            <a:ext cx="457200" cy="457200"/>
          </a:xfrm>
          <a:prstGeom prst="roundRect">
            <a:avLst>
              <a:gd name="adj" fmla="val 20000"/>
            </a:avLst>
          </a:prstGeom>
          <a:solidFill>
            <a:srgbClr val="E0940F"/>
          </a:solidFill>
          <a:ln/>
        </p:spPr>
      </p:sp>
      <p:sp>
        <p:nvSpPr>
          <p:cNvPr id="24" name="Text 22"/>
          <p:cNvSpPr txBox="1"/>
          <p:nvPr/>
        </p:nvSpPr>
        <p:spPr>
          <a:xfrm>
            <a:off x="914400" y="5504688"/>
            <a:ext cx="457200" cy="457200"/>
          </a:xfrm>
          <a:prstGeom prst="rect">
            <a:avLst/>
          </a:prstGeom>
          <a:noFill/>
          <a:ln/>
        </p:spPr>
        <p:txBody>
          <a:bodyPr wrap="square" lIns="0" tIns="0" rIns="0" bIns="0" rtlCol="0" anchor="ctr"/>
          <a:lstStyle/>
          <a:p>
            <a:pPr algn="ctr" indent="0" marL="0">
              <a:buNone/>
            </a:pPr>
            <a:r>
              <a:rPr lang="en-US" sz="1900" b="1" dirty="0">
                <a:solidFill>
                  <a:srgbClr val="FFFFFF"/>
                </a:solidFill>
                <a:latin typeface="Cambria" pitchFamily="34" charset="0"/>
                <a:ea typeface="Cambria" pitchFamily="34" charset="-122"/>
                <a:cs typeface="Cambria" pitchFamily="34" charset="-120"/>
              </a:rPr>
              <a:t>4</a:t>
            </a:r>
            <a:endParaRPr lang="en-US" sz="1900" dirty="0"/>
          </a:p>
        </p:txBody>
      </p:sp>
      <p:sp>
        <p:nvSpPr>
          <p:cNvPr id="25" name="Text 23"/>
          <p:cNvSpPr txBox="1"/>
          <p:nvPr/>
        </p:nvSpPr>
        <p:spPr>
          <a:xfrm>
            <a:off x="1508760" y="5431536"/>
            <a:ext cx="5440680" cy="365760"/>
          </a:xfrm>
          <a:prstGeom prst="rect">
            <a:avLst/>
          </a:prstGeom>
          <a:noFill/>
          <a:ln/>
        </p:spPr>
        <p:txBody>
          <a:bodyPr wrap="square" lIns="0" tIns="0" rIns="0" bIns="0" rtlCol="0" anchor="ctr"/>
          <a:lstStyle/>
          <a:p>
            <a:pPr indent="0" marL="0">
              <a:buNone/>
            </a:pPr>
            <a:r>
              <a:rPr lang="en-US" sz="1250" b="1" dirty="0">
                <a:solidFill>
                  <a:srgbClr val="0E3A43"/>
                </a:solidFill>
                <a:latin typeface="Calibri" pitchFamily="34" charset="0"/>
                <a:ea typeface="Calibri" pitchFamily="34" charset="-122"/>
                <a:cs typeface="Calibri" pitchFamily="34" charset="-120"/>
              </a:rPr>
              <a:t>Business choices   ← this lesson</a:t>
            </a:r>
            <a:endParaRPr lang="en-US" sz="1250" dirty="0"/>
          </a:p>
        </p:txBody>
      </p:sp>
      <p:sp>
        <p:nvSpPr>
          <p:cNvPr id="26" name="Text 24"/>
          <p:cNvSpPr txBox="1"/>
          <p:nvPr/>
        </p:nvSpPr>
        <p:spPr>
          <a:xfrm>
            <a:off x="1508760" y="5797296"/>
            <a:ext cx="5440680" cy="384048"/>
          </a:xfrm>
          <a:prstGeom prst="rect">
            <a:avLst/>
          </a:prstGeom>
          <a:noFill/>
          <a:ln/>
        </p:spPr>
        <p:txBody>
          <a:bodyPr wrap="square" lIns="0" tIns="0" rIns="0" bIns="0" rtlCol="0" anchor="t"/>
          <a:lstStyle/>
          <a:p>
            <a:pPr indent="0" marL="0">
              <a:buNone/>
            </a:pPr>
            <a:r>
              <a:rPr lang="en-US" sz="1030" dirty="0">
                <a:solidFill>
                  <a:srgbClr val="5B6B73"/>
                </a:solidFill>
                <a:latin typeface="Calibri" pitchFamily="34" charset="0"/>
                <a:ea typeface="Calibri" pitchFamily="34" charset="-122"/>
                <a:cs typeface="Calibri" pitchFamily="34" charset="-120"/>
              </a:rPr>
              <a:t>opportunity cost &amp; trade-offs</a:t>
            </a:r>
            <a:endParaRPr lang="en-US" sz="1030" dirty="0"/>
          </a:p>
        </p:txBody>
      </p:sp>
      <p:sp>
        <p:nvSpPr>
          <p:cNvPr id="27" name="Shape 25"/>
          <p:cNvSpPr/>
          <p:nvPr/>
        </p:nvSpPr>
        <p:spPr>
          <a:xfrm>
            <a:off x="7360920" y="1371600"/>
            <a:ext cx="4279392" cy="4800600"/>
          </a:xfrm>
          <a:prstGeom prst="roundRect">
            <a:avLst>
              <a:gd name="adj" fmla="val 1709"/>
            </a:avLst>
          </a:prstGeom>
          <a:solidFill>
            <a:srgbClr val="FBF0D8"/>
          </a:solidFill>
          <a:ln/>
          <a:effectLst>
            <a:outerShdw sx="100000" sy="100000" kx="0" ky="0" algn="bl" rotWithShape="0" blurRad="76200" dist="25400" dir="5400000">
              <a:srgbClr val="9AAAB0">
                <a:alpha val="28000"/>
              </a:srgbClr>
            </a:outerShdw>
          </a:effectLst>
        </p:spPr>
      </p:sp>
      <p:sp>
        <p:nvSpPr>
          <p:cNvPr id="28" name="Shape 26"/>
          <p:cNvSpPr/>
          <p:nvPr/>
        </p:nvSpPr>
        <p:spPr>
          <a:xfrm>
            <a:off x="7360920" y="1371600"/>
            <a:ext cx="109728" cy="4800600"/>
          </a:xfrm>
          <a:prstGeom prst="roundRect">
            <a:avLst/>
          </a:prstGeom>
          <a:solidFill>
            <a:srgbClr val="E0940F"/>
          </a:solidFill>
          <a:ln/>
        </p:spPr>
      </p:sp>
      <p:sp>
        <p:nvSpPr>
          <p:cNvPr id="29" name="Text 27"/>
          <p:cNvSpPr txBox="1"/>
          <p:nvPr/>
        </p:nvSpPr>
        <p:spPr>
          <a:xfrm>
            <a:off x="7589520" y="1508760"/>
            <a:ext cx="3840480" cy="365760"/>
          </a:xfrm>
          <a:prstGeom prst="rect">
            <a:avLst/>
          </a:prstGeom>
          <a:noFill/>
          <a:ln/>
        </p:spPr>
        <p:txBody>
          <a:bodyPr wrap="square" lIns="0" tIns="0" rIns="0" bIns="0" rtlCol="0" anchor="ctr"/>
          <a:lstStyle/>
          <a:p>
            <a:pPr indent="0" marL="0">
              <a:buNone/>
            </a:pPr>
            <a:r>
              <a:rPr lang="en-US" sz="1400" b="1" dirty="0">
                <a:solidFill>
                  <a:srgbClr val="8A5A06"/>
                </a:solidFill>
                <a:latin typeface="Calibri" pitchFamily="34" charset="0"/>
                <a:ea typeface="Calibri" pitchFamily="34" charset="-122"/>
                <a:cs typeface="Calibri" pitchFamily="34" charset="-120"/>
              </a:rPr>
              <a:t>This completes Unit 1</a:t>
            </a:r>
            <a:endParaRPr lang="en-US" sz="1400" dirty="0"/>
          </a:p>
        </p:txBody>
      </p:sp>
      <p:sp>
        <p:nvSpPr>
          <p:cNvPr id="30" name="Text 28"/>
          <p:cNvSpPr txBox="1"/>
          <p:nvPr/>
        </p:nvSpPr>
        <p:spPr>
          <a:xfrm>
            <a:off x="7589520" y="1965960"/>
            <a:ext cx="3886200" cy="40233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Every choice a business makes has an opportunity cost</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Objectives (part 3) force trade-offs between competing goals</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The concepts recur across Units 2–4 in every decision</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Scarce resources → choice → opportunity cost → trade-off</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With this, the whole of Unit 1 (Marketing &amp; people) is complete</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A</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A</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Opportunity cost</a:t>
            </a:r>
            <a:endParaRPr lang="en-US" sz="31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the next best alternative given up when a choice is made  ·  monetary and non-monetary costs</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 · OPPORTUNITY COST</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Opportunity cost: the cost of choosing</a:t>
            </a:r>
            <a:endParaRPr lang="en-US" sz="2600" dirty="0"/>
          </a:p>
        </p:txBody>
      </p:sp>
      <p:sp>
        <p:nvSpPr>
          <p:cNvPr id="4" name="Shape 2"/>
          <p:cNvSpPr/>
          <p:nvPr/>
        </p:nvSpPr>
        <p:spPr>
          <a:xfrm>
            <a:off x="548640" y="1371600"/>
            <a:ext cx="11091672" cy="868680"/>
          </a:xfrm>
          <a:prstGeom prst="roundRect">
            <a:avLst>
              <a:gd name="adj" fmla="val 8421"/>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0698480" cy="658368"/>
          </a:xfrm>
          <a:prstGeom prst="rect">
            <a:avLst/>
          </a:prstGeom>
          <a:noFill/>
          <a:ln/>
        </p:spPr>
        <p:txBody>
          <a:bodyPr wrap="square" lIns="0" tIns="0" rIns="0" bIns="0" rtlCol="0" anchor="ctr"/>
          <a:lstStyle/>
          <a:p>
            <a:pPr indent="0" marL="0">
              <a:buNone/>
            </a:pPr>
            <a:r>
              <a:rPr lang="en-US" sz="1350" b="1" dirty="0">
                <a:solidFill>
                  <a:srgbClr val="0B5E66"/>
                </a:solidFill>
                <a:latin typeface="Calibri" pitchFamily="34" charset="0"/>
                <a:ea typeface="Calibri" pitchFamily="34" charset="-122"/>
                <a:cs typeface="Calibri" pitchFamily="34" charset="-120"/>
              </a:rPr>
              <a:t>Opportunity cost:  </a:t>
            </a:r>
            <a:pPr indent="0" marL="0">
              <a:buNone/>
            </a:pPr>
            <a:r>
              <a:rPr lang="en-US" sz="1350" dirty="0">
                <a:solidFill>
                  <a:srgbClr val="1F2A33"/>
                </a:solidFill>
                <a:latin typeface="Calibri" pitchFamily="34" charset="0"/>
                <a:ea typeface="Calibri" pitchFamily="34" charset="-122"/>
                <a:cs typeface="Calibri" pitchFamily="34" charset="-120"/>
              </a:rPr>
              <a:t>the value of the NEXT best alternative given up when a choice is made. Because resources (money, time, staff) are scarce, choosing one option always means sacrificing another.</a:t>
            </a:r>
            <a:endParaRPr lang="en-US" sz="1350" dirty="0"/>
          </a:p>
        </p:txBody>
      </p:sp>
      <p:sp>
        <p:nvSpPr>
          <p:cNvPr id="6" name="Shape 4"/>
          <p:cNvSpPr/>
          <p:nvPr/>
        </p:nvSpPr>
        <p:spPr>
          <a:xfrm>
            <a:off x="548640" y="2423160"/>
            <a:ext cx="5440680" cy="1920240"/>
          </a:xfrm>
          <a:prstGeom prst="roundRect">
            <a:avLst>
              <a:gd name="adj" fmla="val 3810"/>
            </a:avLst>
          </a:prstGeom>
          <a:solidFill>
            <a:srgbClr val="E8F3EC"/>
          </a:solidFill>
          <a:ln/>
          <a:effectLst>
            <a:outerShdw sx="100000" sy="100000" kx="0" ky="0" algn="bl" rotWithShape="0" blurRad="76200" dist="25400" dir="5400000">
              <a:srgbClr val="9AAAB0">
                <a:alpha val="28000"/>
              </a:srgbClr>
            </a:outerShdw>
          </a:effectLst>
        </p:spPr>
      </p:sp>
      <p:sp>
        <p:nvSpPr>
          <p:cNvPr id="7" name="Shape 5"/>
          <p:cNvSpPr/>
          <p:nvPr/>
        </p:nvSpPr>
        <p:spPr>
          <a:xfrm>
            <a:off x="777240" y="2578608"/>
            <a:ext cx="2743200" cy="310896"/>
          </a:xfrm>
          <a:prstGeom prst="roundRect">
            <a:avLst>
              <a:gd name="adj" fmla="val 50000"/>
            </a:avLst>
          </a:prstGeom>
          <a:solidFill>
            <a:srgbClr val="2F8A5B"/>
          </a:solidFill>
          <a:ln/>
        </p:spPr>
      </p:sp>
      <p:sp>
        <p:nvSpPr>
          <p:cNvPr id="8" name="Text 6"/>
          <p:cNvSpPr txBox="1"/>
          <p:nvPr/>
        </p:nvSpPr>
        <p:spPr>
          <a:xfrm>
            <a:off x="777240" y="2578608"/>
            <a:ext cx="274320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MONETARY</a:t>
            </a:r>
            <a:endParaRPr lang="en-US" sz="1050" dirty="0"/>
          </a:p>
        </p:txBody>
      </p:sp>
      <p:sp>
        <p:nvSpPr>
          <p:cNvPr id="9" name="Text 7"/>
          <p:cNvSpPr txBox="1"/>
          <p:nvPr/>
        </p:nvSpPr>
        <p:spPr>
          <a:xfrm>
            <a:off x="777240" y="2999232"/>
            <a:ext cx="4983480" cy="118872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Measured in money — the financial return given up by not choosing the alternative.</a:t>
            </a:r>
            <a:endParaRPr lang="en-US" sz="1300" dirty="0"/>
          </a:p>
        </p:txBody>
      </p:sp>
      <p:sp>
        <p:nvSpPr>
          <p:cNvPr id="10" name="Shape 8"/>
          <p:cNvSpPr/>
          <p:nvPr/>
        </p:nvSpPr>
        <p:spPr>
          <a:xfrm>
            <a:off x="6199632" y="2423160"/>
            <a:ext cx="5440680" cy="1920240"/>
          </a:xfrm>
          <a:prstGeom prst="roundRect">
            <a:avLst>
              <a:gd name="adj" fmla="val 3810"/>
            </a:avLst>
          </a:prstGeom>
          <a:solidFill>
            <a:srgbClr val="FBF0D8"/>
          </a:solidFill>
          <a:ln/>
          <a:effectLst>
            <a:outerShdw sx="100000" sy="100000" kx="0" ky="0" algn="bl" rotWithShape="0" blurRad="76200" dist="25400" dir="5400000">
              <a:srgbClr val="9AAAB0">
                <a:alpha val="28000"/>
              </a:srgbClr>
            </a:outerShdw>
          </a:effectLst>
        </p:spPr>
      </p:sp>
      <p:sp>
        <p:nvSpPr>
          <p:cNvPr id="11" name="Shape 9"/>
          <p:cNvSpPr/>
          <p:nvPr/>
        </p:nvSpPr>
        <p:spPr>
          <a:xfrm>
            <a:off x="6428232" y="2578608"/>
            <a:ext cx="3108960" cy="310896"/>
          </a:xfrm>
          <a:prstGeom prst="roundRect">
            <a:avLst>
              <a:gd name="adj" fmla="val 50000"/>
            </a:avLst>
          </a:prstGeom>
          <a:solidFill>
            <a:srgbClr val="E0940F"/>
          </a:solidFill>
          <a:ln/>
        </p:spPr>
      </p:sp>
      <p:sp>
        <p:nvSpPr>
          <p:cNvPr id="12" name="Text 10"/>
          <p:cNvSpPr txBox="1"/>
          <p:nvPr/>
        </p:nvSpPr>
        <p:spPr>
          <a:xfrm>
            <a:off x="6428232" y="2578608"/>
            <a:ext cx="31089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NON-MONETARY</a:t>
            </a:r>
            <a:endParaRPr lang="en-US" sz="1050" dirty="0"/>
          </a:p>
        </p:txBody>
      </p:sp>
      <p:sp>
        <p:nvSpPr>
          <p:cNvPr id="13" name="Text 11"/>
          <p:cNvSpPr txBox="1"/>
          <p:nvPr/>
        </p:nvSpPr>
        <p:spPr>
          <a:xfrm>
            <a:off x="6428232" y="2999232"/>
            <a:ext cx="4983480" cy="118872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Intangible things given up — e.g. staff skills &amp; productivity, reputation, customer goodwill or time.</a:t>
            </a:r>
            <a:endParaRPr lang="en-US" sz="1300" dirty="0"/>
          </a:p>
        </p:txBody>
      </p:sp>
      <p:sp>
        <p:nvSpPr>
          <p:cNvPr id="14" name="Shape 12"/>
          <p:cNvSpPr/>
          <p:nvPr/>
        </p:nvSpPr>
        <p:spPr>
          <a:xfrm>
            <a:off x="548640" y="4572000"/>
            <a:ext cx="11091672" cy="1600200"/>
          </a:xfrm>
          <a:prstGeom prst="roundRect">
            <a:avLst>
              <a:gd name="adj" fmla="val 4571"/>
            </a:avLst>
          </a:prstGeom>
          <a:solidFill>
            <a:srgbClr val="FFFFFF"/>
          </a:solidFill>
          <a:ln w="12700">
            <a:solidFill>
              <a:srgbClr val="D7E1E4"/>
            </a:solidFill>
            <a:prstDash val="solid"/>
          </a:ln>
          <a:effectLst>
            <a:outerShdw sx="100000" sy="100000" kx="0" ky="0" algn="bl" rotWithShape="0" blurRad="76200" dist="25400" dir="5400000">
              <a:srgbClr val="9AAAB0">
                <a:alpha val="28000"/>
              </a:srgbClr>
            </a:outerShdw>
          </a:effectLst>
        </p:spPr>
      </p:sp>
      <p:sp>
        <p:nvSpPr>
          <p:cNvPr id="15" name="Shape 13"/>
          <p:cNvSpPr/>
          <p:nvPr/>
        </p:nvSpPr>
        <p:spPr>
          <a:xfrm>
            <a:off x="548640" y="4572000"/>
            <a:ext cx="109728" cy="1600200"/>
          </a:xfrm>
          <a:prstGeom prst="roundRect">
            <a:avLst/>
          </a:prstGeom>
          <a:solidFill>
            <a:srgbClr val="0E7C86"/>
          </a:solidFill>
          <a:ln/>
        </p:spPr>
      </p:sp>
      <p:sp>
        <p:nvSpPr>
          <p:cNvPr id="16" name="Text 14"/>
          <p:cNvSpPr txBox="1"/>
          <p:nvPr/>
        </p:nvSpPr>
        <p:spPr>
          <a:xfrm>
            <a:off x="777240" y="4681728"/>
            <a:ext cx="10607040" cy="256032"/>
          </a:xfrm>
          <a:prstGeom prst="rect">
            <a:avLst/>
          </a:prstGeom>
          <a:noFill/>
          <a:ln/>
        </p:spPr>
        <p:txBody>
          <a:bodyPr wrap="square" lIns="0" tIns="0" rIns="0" bIns="0" rtlCol="0" anchor="ctr"/>
          <a:lstStyle/>
          <a:p>
            <a:pPr indent="0" marL="0">
              <a:buNone/>
            </a:pPr>
            <a:r>
              <a:rPr lang="en-US" sz="1050" b="1" spc="100" kern="0" dirty="0">
                <a:solidFill>
                  <a:srgbClr val="0B5E66"/>
                </a:solidFill>
                <a:latin typeface="Calibri" pitchFamily="34" charset="0"/>
                <a:ea typeface="Calibri" pitchFamily="34" charset="-122"/>
                <a:cs typeface="Calibri" pitchFamily="34" charset="-120"/>
              </a:rPr>
              <a:t>WORKED EXAMPLE</a:t>
            </a:r>
            <a:endParaRPr lang="en-US" sz="1050" dirty="0"/>
          </a:p>
        </p:txBody>
      </p:sp>
      <p:sp>
        <p:nvSpPr>
          <p:cNvPr id="17" name="Text 15"/>
          <p:cNvSpPr txBox="1"/>
          <p:nvPr/>
        </p:nvSpPr>
        <p:spPr>
          <a:xfrm>
            <a:off x="777240" y="4956048"/>
            <a:ext cx="10744200" cy="1188720"/>
          </a:xfrm>
          <a:prstGeom prst="rect">
            <a:avLst/>
          </a:prstGeom>
          <a:noFill/>
          <a:ln/>
        </p:spPr>
        <p:txBody>
          <a:bodyPr wrap="square" lIns="0" tIns="0" rIns="0" bIns="0" rtlCol="0" anchor="t"/>
          <a:lstStyle/>
          <a:p>
            <a:pPr indent="0" marL="0">
              <a:buNone/>
            </a:pPr>
            <a:r>
              <a:rPr lang="en-US" sz="1300" b="1" dirty="0">
                <a:solidFill>
                  <a:srgbClr val="1F2A33"/>
                </a:solidFill>
                <a:latin typeface="Calibri" pitchFamily="34" charset="0"/>
                <a:ea typeface="Calibri" pitchFamily="34" charset="-122"/>
                <a:cs typeface="Calibri" pitchFamily="34" charset="-120"/>
              </a:rPr>
              <a:t>A business spends £100,000 on advertising instead of staff training.
</a:t>
            </a:r>
            <a:pPr indent="0" marL="0">
              <a:buNone/>
            </a:pPr>
            <a:r>
              <a:rPr lang="en-US" sz="1300" dirty="0">
                <a:solidFill>
                  <a:srgbClr val="1F2A33"/>
                </a:solidFill>
                <a:latin typeface="Calibri" pitchFamily="34" charset="0"/>
                <a:ea typeface="Calibri" pitchFamily="34" charset="-122"/>
                <a:cs typeface="Calibri" pitchFamily="34" charset="-120"/>
              </a:rPr>
              <a:t>The opportunity cost is NOT the £100,000 — it is </a:t>
            </a:r>
            <a:pPr indent="0" marL="0">
              <a:buNone/>
            </a:pPr>
            <a:r>
              <a:rPr lang="en-US" sz="1300" b="1" dirty="0">
                <a:solidFill>
                  <a:srgbClr val="0B5E66"/>
                </a:solidFill>
                <a:latin typeface="Calibri" pitchFamily="34" charset="0"/>
                <a:ea typeface="Calibri" pitchFamily="34" charset="-122"/>
                <a:cs typeface="Calibri" pitchFamily="34" charset="-120"/>
              </a:rPr>
              <a:t>the improvement in staff skills and productivity that the training would have delivered </a:t>
            </a:r>
            <a:pPr indent="0" marL="0">
              <a:buNone/>
            </a:pPr>
            <a:r>
              <a:rPr lang="en-US" sz="1300" dirty="0">
                <a:solidFill>
                  <a:srgbClr val="1F2A33"/>
                </a:solidFill>
                <a:latin typeface="Calibri" pitchFamily="34" charset="0"/>
                <a:ea typeface="Calibri" pitchFamily="34" charset="-122"/>
                <a:cs typeface="Calibri" pitchFamily="34" charset="-120"/>
              </a:rPr>
              <a:t>(the next best use of that money). Always state the opportunity cost as the </a:t>
            </a:r>
            <a:pPr indent="0" marL="0">
              <a:buNone/>
            </a:pPr>
            <a:r>
              <a:rPr lang="en-US" sz="1300" i="1" dirty="0">
                <a:solidFill>
                  <a:srgbClr val="5B6B73"/>
                </a:solidFill>
                <a:latin typeface="Calibri" pitchFamily="34" charset="0"/>
                <a:ea typeface="Calibri" pitchFamily="34" charset="-122"/>
                <a:cs typeface="Calibri" pitchFamily="34" charset="-120"/>
              </a:rPr>
              <a:t>benefit of the alternative given up</a:t>
            </a:r>
            <a:pPr indent="0" marL="0">
              <a:buNone/>
            </a:pPr>
            <a:r>
              <a:rPr lang="en-US" sz="1300" dirty="0">
                <a:solidFill>
                  <a:srgbClr val="1F2A33"/>
                </a:solidFill>
                <a:latin typeface="Calibri" pitchFamily="34" charset="0"/>
                <a:ea typeface="Calibri" pitchFamily="34" charset="-122"/>
                <a:cs typeface="Calibri" pitchFamily="34" charset="-120"/>
              </a:rPr>
              <a:t>, not the amount spent.</a:t>
            </a:r>
            <a:endParaRPr lang="en-US" sz="13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B</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B</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Trade-offs</a:t>
            </a:r>
            <a:endParaRPr lang="en-US" sz="31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giving up some of one thing to gain more of another  ·  everyday business examples  ·  how a trade-off differs from opportunity cost</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B · TRADE-OFFS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Trade-offs: you can't have it all</a:t>
            </a:r>
            <a:endParaRPr lang="en-US" sz="2600" dirty="0"/>
          </a:p>
        </p:txBody>
      </p:sp>
      <p:sp>
        <p:nvSpPr>
          <p:cNvPr id="4" name="Shape 2"/>
          <p:cNvSpPr/>
          <p:nvPr/>
        </p:nvSpPr>
        <p:spPr>
          <a:xfrm>
            <a:off x="548640" y="1371600"/>
            <a:ext cx="11091672" cy="786384"/>
          </a:xfrm>
          <a:prstGeom prst="roundRect">
            <a:avLst>
              <a:gd name="adj" fmla="val 9302"/>
            </a:avLst>
          </a:prstGeom>
          <a:solidFill>
            <a:srgbClr val="EAF3F4"/>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10698480" cy="585216"/>
          </a:xfrm>
          <a:prstGeom prst="rect">
            <a:avLst/>
          </a:prstGeom>
          <a:noFill/>
          <a:ln/>
        </p:spPr>
        <p:txBody>
          <a:bodyPr wrap="square" lIns="0" tIns="0" rIns="0" bIns="0" rtlCol="0" anchor="ctr"/>
          <a:lstStyle/>
          <a:p>
            <a:pPr indent="0" marL="0">
              <a:buNone/>
            </a:pPr>
            <a:r>
              <a:rPr lang="en-US" sz="1350" b="1" dirty="0">
                <a:solidFill>
                  <a:srgbClr val="0B5E66"/>
                </a:solidFill>
                <a:latin typeface="Calibri" pitchFamily="34" charset="0"/>
                <a:ea typeface="Calibri" pitchFamily="34" charset="-122"/>
                <a:cs typeface="Calibri" pitchFamily="34" charset="-120"/>
              </a:rPr>
              <a:t>Trade-off:  </a:t>
            </a:r>
            <a:pPr indent="0" marL="0">
              <a:buNone/>
            </a:pPr>
            <a:r>
              <a:rPr lang="en-US" sz="1350" dirty="0">
                <a:solidFill>
                  <a:srgbClr val="1F2A33"/>
                </a:solidFill>
                <a:latin typeface="Calibri" pitchFamily="34" charset="0"/>
                <a:ea typeface="Calibri" pitchFamily="34" charset="-122"/>
                <a:cs typeface="Calibri" pitchFamily="34" charset="-120"/>
              </a:rPr>
              <a:t>when a business sacrifices some of one thing to gain more of another. Choosing one benefit means accepting less of a competing one — you balance the two.</a:t>
            </a:r>
            <a:endParaRPr lang="en-US" sz="135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2331720"/>
          <a:ext cx="11091672" cy="914400"/>
        </p:xfrm>
        <a:graphic>
          <a:graphicData uri="http://schemas.openxmlformats.org/drawingml/2006/table">
            <a:tbl>
              <a:tblPr/>
              <a:tblGrid>
                <a:gridCol w="2743200"/>
                <a:gridCol w="8348472"/>
              </a:tblGrid>
              <a:tr h="457200">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Situation</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c>
                  <a:txBody>
                    <a:bodyPr/>
                    <a:lstStyle/>
                    <a:p>
                      <a:pPr algn="l" indent="0" marL="0">
                        <a:buNone/>
                      </a:pPr>
                      <a:r>
                        <a:rPr lang="en-US" sz="1300" b="1" dirty="0">
                          <a:solidFill>
                            <a:srgbClr val="FFFFFF"/>
                          </a:solidFill>
                          <a:latin typeface="Calibri" pitchFamily="34" charset="0"/>
                          <a:ea typeface="Calibri" pitchFamily="34" charset="-122"/>
                          <a:cs typeface="Calibri" pitchFamily="34" charset="-120"/>
                        </a:rPr>
                        <a:t>The trade-off</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0E3A43"/>
                    </a:solidFill>
                  </a:tcPr>
                </a:tc>
              </a:tr>
              <a:tr h="713232">
                <a:tc>
                  <a:txBody>
                    <a:bodyPr/>
                    <a:lstStyle/>
                    <a:p>
                      <a:pPr algn="l" indent="0" marL="0">
                        <a:buNone/>
                      </a:pPr>
                      <a:r>
                        <a:rPr lang="en-US" sz="1300" b="1" dirty="0">
                          <a:solidFill>
                            <a:srgbClr val="0E7C86"/>
                          </a:solidFill>
                          <a:latin typeface="Calibri" pitchFamily="34" charset="0"/>
                          <a:ea typeface="Calibri" pitchFamily="34" charset="-122"/>
                          <a:cs typeface="Calibri" pitchFamily="34" charset="-120"/>
                        </a:rPr>
                        <a:t>Production</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Higher quality (raises costs)  ⇄  lower prices (cuts quality)</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713232">
                <a:tc>
                  <a:txBody>
                    <a:bodyPr/>
                    <a:lstStyle/>
                    <a:p>
                      <a:pPr algn="l" indent="0" marL="0">
                        <a:buNone/>
                      </a:pPr>
                      <a:r>
                        <a:rPr lang="en-US" sz="1300" b="1" dirty="0">
                          <a:solidFill>
                            <a:srgbClr val="E0940F"/>
                          </a:solidFill>
                          <a:latin typeface="Calibri" pitchFamily="34" charset="0"/>
                          <a:ea typeface="Calibri" pitchFamily="34" charset="-122"/>
                          <a:cs typeface="Calibri" pitchFamily="34" charset="-120"/>
                        </a:rPr>
                        <a:t>Marketing vs R&amp;D</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Spend more on advertising  ⇄  develop new products</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713232">
                <a:tc>
                  <a:txBody>
                    <a:bodyPr/>
                    <a:lstStyle/>
                    <a:p>
                      <a:pPr algn="l" indent="0" marL="0">
                        <a:buNone/>
                      </a:pPr>
                      <a:r>
                        <a:rPr lang="en-US" sz="1300" b="1" dirty="0">
                          <a:solidFill>
                            <a:srgbClr val="2F8A5B"/>
                          </a:solidFill>
                          <a:latin typeface="Calibri" pitchFamily="34" charset="0"/>
                          <a:ea typeface="Calibri" pitchFamily="34" charset="-122"/>
                          <a:cs typeface="Calibri" pitchFamily="34" charset="-120"/>
                        </a:rPr>
                        <a:t>Sustainability</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Eco-friendly packaging (good image, costly)  ⇄  short-term profit</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r h="713232">
                <a:tc>
                  <a:txBody>
                    <a:bodyPr/>
                    <a:lstStyle/>
                    <a:p>
                      <a:pPr algn="l" indent="0" marL="0">
                        <a:buNone/>
                      </a:pPr>
                      <a:r>
                        <a:rPr lang="en-US" sz="1300" b="1" dirty="0">
                          <a:solidFill>
                            <a:srgbClr val="6B4FA0"/>
                          </a:solidFill>
                          <a:latin typeface="Calibri" pitchFamily="34" charset="0"/>
                          <a:ea typeface="Calibri" pitchFamily="34" charset="-122"/>
                          <a:cs typeface="Calibri" pitchFamily="34" charset="-120"/>
                        </a:rPr>
                        <a:t>Work-life balance</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c>
                  <a:txBody>
                    <a:bodyPr/>
                    <a:lstStyle/>
                    <a:p>
                      <a:pPr algn="l" indent="0" marL="0">
                        <a:buNone/>
                      </a:pPr>
                      <a:r>
                        <a:rPr lang="en-US" sz="1300" dirty="0">
                          <a:solidFill>
                            <a:srgbClr val="1F2A33"/>
                          </a:solidFill>
                          <a:latin typeface="Calibri" pitchFamily="34" charset="0"/>
                          <a:ea typeface="Calibri" pitchFamily="34" charset="-122"/>
                          <a:cs typeface="Calibri" pitchFamily="34" charset="-120"/>
                        </a:rPr>
                        <a:t>Overtime earns more  ⇄  personal time &amp; wellbeing</a:t>
                      </a:r>
                      <a:endParaRPr lang="en-US" sz="1300" dirty="0">
                        <a:latin typeface="Calibri" charset="0"/>
                        <a:ea typeface="Calibri" charset="0"/>
                        <a:cs typeface="Calibri" charset="0"/>
                      </a:endParaRPr>
                    </a:p>
                  </a:txBody>
                  <a:tcPr marL="91440" marR="91440" marT="45720" marB="45720" anchor="ctr">
                    <a:lnL w="12700" cap="flat" cmpd="sng" algn="ctr">
                      <a:solidFill>
                        <a:srgbClr val="D7E1E4"/>
                      </a:solidFill>
                      <a:prstDash val="solid"/>
                      <a:round/>
                      <a:headEnd type="none" w="med" len="med"/>
                      <a:tailEnd type="none" w="med" len="med"/>
                    </a:lnL>
                    <a:lnR w="12700" cap="flat" cmpd="sng" algn="ctr">
                      <a:solidFill>
                        <a:srgbClr val="D7E1E4"/>
                      </a:solidFill>
                      <a:prstDash val="solid"/>
                      <a:round/>
                      <a:headEnd type="none" w="med" len="med"/>
                      <a:tailEnd type="none" w="med" len="med"/>
                    </a:lnR>
                    <a:lnT w="12700" cap="flat" cmpd="sng" algn="ctr">
                      <a:solidFill>
                        <a:srgbClr val="D7E1E4"/>
                      </a:solidFill>
                      <a:prstDash val="solid"/>
                      <a:round/>
                      <a:headEnd type="none" w="med" len="med"/>
                      <a:tailEnd type="none" w="med" len="med"/>
                    </a:lnT>
                    <a:lnB w="12700" cap="flat" cmpd="sng" algn="ctr">
                      <a:solidFill>
                        <a:srgbClr val="D7E1E4"/>
                      </a:solidFill>
                      <a:prstDash val="solid"/>
                      <a:round/>
                      <a:headEnd type="none" w="med" len="med"/>
                      <a:tailEnd type="none" w="med" len="med"/>
                    </a:lnB>
                    <a:solidFill>
                      <a:srgbClr val="FFFFFF"/>
                    </a:solidFill>
                  </a:tcPr>
                </a:tc>
              </a:tr>
            </a:tbl>
          </a:graphicData>
        </a:graphic>
      </p:graphicFrame>
      <p:sp>
        <p:nvSpPr>
          <p:cNvPr id="7" name="Shape 4"/>
          <p:cNvSpPr/>
          <p:nvPr/>
        </p:nvSpPr>
        <p:spPr>
          <a:xfrm>
            <a:off x="548640" y="5532120"/>
            <a:ext cx="11091672" cy="658368"/>
          </a:xfrm>
          <a:prstGeom prst="roundRect">
            <a:avLst>
              <a:gd name="adj" fmla="val 11111"/>
            </a:avLst>
          </a:prstGeom>
          <a:solidFill>
            <a:srgbClr val="FBF0D8"/>
          </a:solidFill>
          <a:ln/>
          <a:effectLst>
            <a:outerShdw sx="100000" sy="100000" kx="0" ky="0" algn="bl" rotWithShape="0" blurRad="76200" dist="25400" dir="5400000">
              <a:srgbClr val="9AAAB0">
                <a:alpha val="28000"/>
              </a:srgbClr>
            </a:outerShdw>
          </a:effectLst>
        </p:spPr>
      </p:sp>
      <p:sp>
        <p:nvSpPr>
          <p:cNvPr id="8" name="Text 5"/>
          <p:cNvSpPr txBox="1"/>
          <p:nvPr/>
        </p:nvSpPr>
        <p:spPr>
          <a:xfrm>
            <a:off x="777240" y="5623560"/>
            <a:ext cx="10698480" cy="475488"/>
          </a:xfrm>
          <a:prstGeom prst="rect">
            <a:avLst/>
          </a:prstGeom>
          <a:noFill/>
          <a:ln/>
        </p:spPr>
        <p:txBody>
          <a:bodyPr wrap="square" lIns="0" tIns="0" rIns="0" bIns="0" rtlCol="0" anchor="ctr"/>
          <a:lstStyle/>
          <a:p>
            <a:pPr indent="0" marL="0">
              <a:buNone/>
            </a:pPr>
            <a:r>
              <a:rPr lang="en-US" sz="1250" b="1" dirty="0">
                <a:solidFill>
                  <a:srgbClr val="8A5A06"/>
                </a:solidFill>
                <a:latin typeface="Calibri" pitchFamily="34" charset="0"/>
                <a:ea typeface="Calibri" pitchFamily="34" charset="-122"/>
                <a:cs typeface="Calibri" pitchFamily="34" charset="-120"/>
              </a:rPr>
              <a:t>The point:  </a:t>
            </a:r>
            <a:pPr indent="0" marL="0">
              <a:buNone/>
            </a:pPr>
            <a:r>
              <a:rPr lang="en-US" sz="1250" dirty="0">
                <a:solidFill>
                  <a:srgbClr val="1F2A33"/>
                </a:solidFill>
                <a:latin typeface="Calibri" pitchFamily="34" charset="0"/>
                <a:ea typeface="Calibri" pitchFamily="34" charset="-122"/>
                <a:cs typeface="Calibri" pitchFamily="34" charset="-120"/>
              </a:rPr>
              <a:t>resources are limited, so gaining more of one thing usually means accepting less of another. A business must decide which benefit matters most for its objectives.</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A–B · THE DISTINCTION</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Opportunity cost vs trade-off — don't confuse them</a:t>
            </a:r>
            <a:endParaRPr lang="en-US" sz="2600" dirty="0"/>
          </a:p>
        </p:txBody>
      </p:sp>
      <p:sp>
        <p:nvSpPr>
          <p:cNvPr id="4" name="Shape 2"/>
          <p:cNvSpPr/>
          <p:nvPr/>
        </p:nvSpPr>
        <p:spPr>
          <a:xfrm>
            <a:off x="548640" y="1463040"/>
            <a:ext cx="5440680" cy="3200400"/>
          </a:xfrm>
          <a:prstGeom prst="roundRect">
            <a:avLst>
              <a:gd name="adj" fmla="val 2286"/>
            </a:avLst>
          </a:prstGeom>
          <a:solidFill>
            <a:srgbClr val="EAF3F4"/>
          </a:solidFill>
          <a:ln/>
          <a:effectLst>
            <a:outerShdw sx="100000" sy="100000" kx="0" ky="0" algn="bl" rotWithShape="0" blurRad="76200" dist="25400" dir="5400000">
              <a:srgbClr val="9AAAB0">
                <a:alpha val="28000"/>
              </a:srgbClr>
            </a:outerShdw>
          </a:effectLst>
        </p:spPr>
      </p:sp>
      <p:sp>
        <p:nvSpPr>
          <p:cNvPr id="5" name="Shape 3"/>
          <p:cNvSpPr/>
          <p:nvPr/>
        </p:nvSpPr>
        <p:spPr>
          <a:xfrm>
            <a:off x="777240" y="1627632"/>
            <a:ext cx="3108960" cy="310896"/>
          </a:xfrm>
          <a:prstGeom prst="roundRect">
            <a:avLst>
              <a:gd name="adj" fmla="val 50000"/>
            </a:avLst>
          </a:prstGeom>
          <a:solidFill>
            <a:srgbClr val="0E7C86"/>
          </a:solidFill>
          <a:ln/>
        </p:spPr>
      </p:sp>
      <p:sp>
        <p:nvSpPr>
          <p:cNvPr id="6" name="Text 4"/>
          <p:cNvSpPr txBox="1"/>
          <p:nvPr/>
        </p:nvSpPr>
        <p:spPr>
          <a:xfrm>
            <a:off x="777240" y="1627632"/>
            <a:ext cx="31089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OPPORTUNITY COST</a:t>
            </a:r>
            <a:endParaRPr lang="en-US" sz="1050" dirty="0"/>
          </a:p>
        </p:txBody>
      </p:sp>
      <p:sp>
        <p:nvSpPr>
          <p:cNvPr id="7" name="Text 5"/>
          <p:cNvSpPr txBox="1"/>
          <p:nvPr/>
        </p:nvSpPr>
        <p:spPr>
          <a:xfrm>
            <a:off x="777240" y="2066544"/>
            <a:ext cx="4983480" cy="73152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The LOSS from a choice — the benefit of the next best alternative given up.</a:t>
            </a:r>
            <a:endParaRPr lang="en-US" sz="1300" dirty="0"/>
          </a:p>
        </p:txBody>
      </p:sp>
      <p:sp>
        <p:nvSpPr>
          <p:cNvPr id="8" name="Text 6"/>
          <p:cNvSpPr txBox="1"/>
          <p:nvPr/>
        </p:nvSpPr>
        <p:spPr>
          <a:xfrm>
            <a:off x="777240" y="2834640"/>
            <a:ext cx="4983480" cy="17373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Focuses on what was SACRIFICED</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It's the result of the decision</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e.g. spend £1m on advertising → the machinery you didn't buy (its efficiency gain)</a:t>
            </a:r>
            <a:endParaRPr lang="en-US" sz="1250" dirty="0"/>
          </a:p>
        </p:txBody>
      </p:sp>
      <p:sp>
        <p:nvSpPr>
          <p:cNvPr id="9" name="Shape 7"/>
          <p:cNvSpPr/>
          <p:nvPr/>
        </p:nvSpPr>
        <p:spPr>
          <a:xfrm>
            <a:off x="6199632" y="1463040"/>
            <a:ext cx="5440680" cy="3200400"/>
          </a:xfrm>
          <a:prstGeom prst="roundRect">
            <a:avLst>
              <a:gd name="adj" fmla="val 2286"/>
            </a:avLst>
          </a:prstGeom>
          <a:solidFill>
            <a:srgbClr val="FBF0D8"/>
          </a:solidFill>
          <a:ln/>
          <a:effectLst>
            <a:outerShdw sx="100000" sy="100000" kx="0" ky="0" algn="bl" rotWithShape="0" blurRad="76200" dist="25400" dir="5400000">
              <a:srgbClr val="9AAAB0">
                <a:alpha val="28000"/>
              </a:srgbClr>
            </a:outerShdw>
          </a:effectLst>
        </p:spPr>
      </p:sp>
      <p:sp>
        <p:nvSpPr>
          <p:cNvPr id="10" name="Shape 8"/>
          <p:cNvSpPr/>
          <p:nvPr/>
        </p:nvSpPr>
        <p:spPr>
          <a:xfrm>
            <a:off x="6428232" y="1627632"/>
            <a:ext cx="2194560" cy="310896"/>
          </a:xfrm>
          <a:prstGeom prst="roundRect">
            <a:avLst>
              <a:gd name="adj" fmla="val 50000"/>
            </a:avLst>
          </a:prstGeom>
          <a:solidFill>
            <a:srgbClr val="E0940F"/>
          </a:solidFill>
          <a:ln/>
        </p:spPr>
      </p:sp>
      <p:sp>
        <p:nvSpPr>
          <p:cNvPr id="11" name="Text 9"/>
          <p:cNvSpPr txBox="1"/>
          <p:nvPr/>
        </p:nvSpPr>
        <p:spPr>
          <a:xfrm>
            <a:off x="6428232" y="1627632"/>
            <a:ext cx="21945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TRADE-OFF</a:t>
            </a:r>
            <a:endParaRPr lang="en-US" sz="1050" dirty="0"/>
          </a:p>
        </p:txBody>
      </p:sp>
      <p:sp>
        <p:nvSpPr>
          <p:cNvPr id="12" name="Text 10"/>
          <p:cNvSpPr txBox="1"/>
          <p:nvPr/>
        </p:nvSpPr>
        <p:spPr>
          <a:xfrm>
            <a:off x="6428232" y="2066544"/>
            <a:ext cx="4983480" cy="731520"/>
          </a:xfrm>
          <a:prstGeom prst="rect">
            <a:avLst/>
          </a:prstGeom>
          <a:noFill/>
          <a:ln/>
        </p:spPr>
        <p:txBody>
          <a:bodyPr wrap="square" lIns="0" tIns="0" rIns="0" bIns="0" rtlCol="0" anchor="t"/>
          <a:lstStyle/>
          <a:p>
            <a:pPr indent="0" marL="0">
              <a:buNone/>
            </a:pPr>
            <a:r>
              <a:rPr lang="en-US" sz="1300" dirty="0">
                <a:solidFill>
                  <a:srgbClr val="1F2A33"/>
                </a:solidFill>
                <a:latin typeface="Calibri" pitchFamily="34" charset="0"/>
                <a:ea typeface="Calibri" pitchFamily="34" charset="-122"/>
                <a:cs typeface="Calibri" pitchFamily="34" charset="-120"/>
              </a:rPr>
              <a:t>The DECISION itself — balancing two desirable but competing options.</a:t>
            </a:r>
            <a:endParaRPr lang="en-US" sz="1300" dirty="0"/>
          </a:p>
        </p:txBody>
      </p:sp>
      <p:sp>
        <p:nvSpPr>
          <p:cNvPr id="13" name="Text 11"/>
          <p:cNvSpPr txBox="1"/>
          <p:nvPr/>
        </p:nvSpPr>
        <p:spPr>
          <a:xfrm>
            <a:off x="6428232" y="2834640"/>
            <a:ext cx="4983480" cy="173736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Focuses on the DECISION-MAKING</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It's the act of balancing / choosing</a:t>
            </a:r>
            <a:endParaRPr lang="en-US" sz="1250" dirty="0"/>
          </a:p>
          <a:p>
            <a:pPr marL="177800" indent="-177800">
              <a:spcAft>
                <a:spcPts val="700"/>
              </a:spcAft>
              <a:buSzPct val="100000"/>
              <a:buChar char="•"/>
            </a:pPr>
            <a:r>
              <a:rPr lang="en-US" sz="1250" dirty="0">
                <a:solidFill>
                  <a:srgbClr val="1F2A33"/>
                </a:solidFill>
                <a:latin typeface="Calibri" pitchFamily="34" charset="0"/>
                <a:ea typeface="Calibri" pitchFamily="34" charset="-122"/>
                <a:cs typeface="Calibri" pitchFamily="34" charset="-120"/>
              </a:rPr>
              <a:t>e.g. a firm trades off low prices against high quality — it can't fully have both</a:t>
            </a:r>
            <a:endParaRPr lang="en-US" sz="1250" dirty="0"/>
          </a:p>
        </p:txBody>
      </p:sp>
      <p:sp>
        <p:nvSpPr>
          <p:cNvPr id="14" name="Shape 12"/>
          <p:cNvSpPr/>
          <p:nvPr/>
        </p:nvSpPr>
        <p:spPr>
          <a:xfrm>
            <a:off x="548640" y="4846320"/>
            <a:ext cx="11091672" cy="1325880"/>
          </a:xfrm>
          <a:prstGeom prst="roundRect">
            <a:avLst>
              <a:gd name="adj" fmla="val 5517"/>
            </a:avLst>
          </a:prstGeom>
          <a:solidFill>
            <a:srgbClr val="0E3A43"/>
          </a:solidFill>
          <a:ln/>
          <a:effectLst>
            <a:outerShdw sx="100000" sy="100000" kx="0" ky="0" algn="bl" rotWithShape="0" blurRad="76200" dist="25400" dir="5400000">
              <a:srgbClr val="9AAAB0">
                <a:alpha val="28000"/>
              </a:srgbClr>
            </a:outerShdw>
          </a:effectLst>
        </p:spPr>
      </p:sp>
      <p:sp>
        <p:nvSpPr>
          <p:cNvPr id="15" name="Text 13"/>
          <p:cNvSpPr txBox="1"/>
          <p:nvPr/>
        </p:nvSpPr>
        <p:spPr>
          <a:xfrm>
            <a:off x="777240" y="4956048"/>
            <a:ext cx="10698480" cy="1097280"/>
          </a:xfrm>
          <a:prstGeom prst="rect">
            <a:avLst/>
          </a:prstGeom>
          <a:noFill/>
          <a:ln/>
        </p:spPr>
        <p:txBody>
          <a:bodyPr wrap="square" lIns="0" tIns="0" rIns="0" bIns="0" rtlCol="0" anchor="ctr"/>
          <a:lstStyle/>
          <a:p>
            <a:pPr indent="0" marL="0">
              <a:buNone/>
            </a:pPr>
            <a:r>
              <a:rPr lang="en-US" sz="1250" b="1" dirty="0">
                <a:solidFill>
                  <a:srgbClr val="7FC4CB"/>
                </a:solidFill>
                <a:latin typeface="Calibri" pitchFamily="34" charset="0"/>
                <a:ea typeface="Calibri" pitchFamily="34" charset="-122"/>
                <a:cs typeface="Calibri" pitchFamily="34" charset="-120"/>
              </a:rPr>
              <a:t>The one-line distinction:  </a:t>
            </a:r>
            <a:pPr indent="0" marL="0">
              <a:buNone/>
            </a:pPr>
            <a:r>
              <a:rPr lang="en-US" sz="1250" dirty="0">
                <a:solidFill>
                  <a:srgbClr val="FFFFFF"/>
                </a:solidFill>
                <a:latin typeface="Calibri" pitchFamily="34" charset="0"/>
                <a:ea typeface="Calibri" pitchFamily="34" charset="-122"/>
                <a:cs typeface="Calibri" pitchFamily="34" charset="-120"/>
              </a:rPr>
              <a:t>the TRADE-OFF is the choice you make; the OPPORTUNITY COST is what you lose by making it. A firm choosing to upgrade its factory rather than merge is making a trade-off between efficiency and expansion — and the opportunity cost is the economies of scale the merger would have brought.</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731520" y="2011680"/>
            <a:ext cx="1737360" cy="1737360"/>
          </a:xfrm>
          <a:prstGeom prst="roundRect">
            <a:avLst>
              <a:gd name="adj" fmla="val 7368"/>
            </a:avLst>
          </a:prstGeom>
          <a:solidFill>
            <a:srgbClr val="0E7C86"/>
          </a:solidFill>
          <a:ln/>
        </p:spPr>
      </p:sp>
      <p:sp>
        <p:nvSpPr>
          <p:cNvPr id="3" name="Text 1"/>
          <p:cNvSpPr txBox="1"/>
          <p:nvPr/>
        </p:nvSpPr>
        <p:spPr>
          <a:xfrm>
            <a:off x="731520" y="2011680"/>
            <a:ext cx="1737360" cy="1737360"/>
          </a:xfrm>
          <a:prstGeom prst="rect">
            <a:avLst/>
          </a:prstGeom>
          <a:noFill/>
          <a:ln/>
        </p:spPr>
        <p:txBody>
          <a:bodyPr wrap="square" lIns="0" tIns="0" rIns="0" bIns="0" rtlCol="0" anchor="ctr"/>
          <a:lstStyle/>
          <a:p>
            <a:pPr algn="ctr" indent="0" marL="0">
              <a:buNone/>
            </a:pPr>
            <a:r>
              <a:rPr lang="en-US" sz="7000" b="1" dirty="0">
                <a:solidFill>
                  <a:srgbClr val="FFFFFF"/>
                </a:solidFill>
                <a:latin typeface="Cambria" pitchFamily="34" charset="0"/>
                <a:ea typeface="Cambria" pitchFamily="34" charset="-122"/>
                <a:cs typeface="Cambria" pitchFamily="34" charset="-120"/>
              </a:rPr>
              <a:t>C</a:t>
            </a:r>
            <a:endParaRPr lang="en-US" sz="7000" dirty="0"/>
          </a:p>
        </p:txBody>
      </p:sp>
      <p:sp>
        <p:nvSpPr>
          <p:cNvPr id="4" name="Text 2"/>
          <p:cNvSpPr txBox="1"/>
          <p:nvPr/>
        </p:nvSpPr>
        <p:spPr>
          <a:xfrm>
            <a:off x="2880360" y="2148840"/>
            <a:ext cx="8229600" cy="365760"/>
          </a:xfrm>
          <a:prstGeom prst="rect">
            <a:avLst/>
          </a:prstGeom>
          <a:noFill/>
          <a:ln/>
        </p:spPr>
        <p:txBody>
          <a:bodyPr wrap="square" lIns="0" tIns="0" rIns="0" bIns="0" rtlCol="0" anchor="ctr"/>
          <a:lstStyle/>
          <a:p>
            <a:pPr indent="0" marL="0">
              <a:buNone/>
            </a:pPr>
            <a:r>
              <a:rPr lang="en-US" sz="1300" b="1" spc="250" kern="0" dirty="0">
                <a:solidFill>
                  <a:srgbClr val="E0940F"/>
                </a:solidFill>
                <a:latin typeface="Calibri" pitchFamily="34" charset="0"/>
                <a:ea typeface="Calibri" pitchFamily="34" charset="-122"/>
                <a:cs typeface="Calibri" pitchFamily="34" charset="-120"/>
              </a:rPr>
              <a:t>PART C</a:t>
            </a:r>
            <a:endParaRPr lang="en-US" sz="1300" dirty="0"/>
          </a:p>
        </p:txBody>
      </p:sp>
      <p:sp>
        <p:nvSpPr>
          <p:cNvPr id="5" name="Text 3"/>
          <p:cNvSpPr txBox="1"/>
          <p:nvPr/>
        </p:nvSpPr>
        <p:spPr>
          <a:xfrm>
            <a:off x="2834640" y="2487168"/>
            <a:ext cx="8686800" cy="1143000"/>
          </a:xfrm>
          <a:prstGeom prst="rect">
            <a:avLst/>
          </a:prstGeom>
          <a:noFill/>
          <a:ln/>
        </p:spPr>
        <p:txBody>
          <a:bodyPr wrap="square" lIns="0" tIns="0" rIns="0" bIns="0" rtlCol="0" anchor="t"/>
          <a:lstStyle/>
          <a:p>
            <a:pPr indent="0" marL="0">
              <a:buNone/>
            </a:pPr>
            <a:r>
              <a:rPr lang="en-US" sz="3100" b="1" dirty="0">
                <a:solidFill>
                  <a:srgbClr val="FFFFFF"/>
                </a:solidFill>
                <a:latin typeface="Cambria" pitchFamily="34" charset="0"/>
                <a:ea typeface="Cambria" pitchFamily="34" charset="-122"/>
                <a:cs typeface="Cambria" pitchFamily="34" charset="-120"/>
              </a:rPr>
              <a:t>A-grade exam skills</a:t>
            </a:r>
            <a:endParaRPr lang="en-US" sz="3100" dirty="0"/>
          </a:p>
        </p:txBody>
      </p:sp>
      <p:sp>
        <p:nvSpPr>
          <p:cNvPr id="6" name="Text 4"/>
          <p:cNvSpPr txBox="1"/>
          <p:nvPr/>
        </p:nvSpPr>
        <p:spPr>
          <a:xfrm>
            <a:off x="2880360" y="3703320"/>
            <a:ext cx="8503920" cy="731520"/>
          </a:xfrm>
          <a:prstGeom prst="rect">
            <a:avLst/>
          </a:prstGeom>
          <a:noFill/>
          <a:ln/>
        </p:spPr>
        <p:txBody>
          <a:bodyPr wrap="square" lIns="0" tIns="0" rIns="0" bIns="0" rtlCol="0" anchor="t"/>
          <a:lstStyle/>
          <a:p>
            <a:pPr indent="0" marL="0">
              <a:buNone/>
            </a:pPr>
            <a:r>
              <a:rPr lang="en-US" sz="1350" b="1" dirty="0">
                <a:solidFill>
                  <a:srgbClr val="7FC4CB"/>
                </a:solidFill>
                <a:latin typeface="Calibri" pitchFamily="34" charset="0"/>
                <a:ea typeface="Calibri" pitchFamily="34" charset="-122"/>
                <a:cs typeface="Calibri" pitchFamily="34" charset="-120"/>
              </a:rPr>
              <a:t>In this part:  </a:t>
            </a:r>
            <a:pPr indent="0" marL="0">
              <a:buNone/>
            </a:pPr>
            <a:r>
              <a:rPr lang="en-US" sz="1350" dirty="0">
                <a:solidFill>
                  <a:srgbClr val="D7E6E8"/>
                </a:solidFill>
                <a:latin typeface="Calibri" pitchFamily="34" charset="0"/>
                <a:ea typeface="Calibri" pitchFamily="34" charset="-122"/>
                <a:cs typeface="Calibri" pitchFamily="34" charset="-120"/>
              </a:rPr>
              <a:t>Jemerson EthoFuel  ·  the machinery-vs-training [4]  ·  the upgrade-vs-merge [10]  ·  the Farmhopping trade-off [10] (real mark scheme)</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CASE &amp; [4]</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The case: Jemerson EthoFuel — and a quick [4]</a:t>
            </a:r>
            <a:endParaRPr lang="en-US" sz="2600" dirty="0"/>
          </a:p>
        </p:txBody>
      </p:sp>
      <p:sp>
        <p:nvSpPr>
          <p:cNvPr id="4" name="Shape 2"/>
          <p:cNvSpPr/>
          <p:nvPr/>
        </p:nvSpPr>
        <p:spPr>
          <a:xfrm>
            <a:off x="548640" y="1371600"/>
            <a:ext cx="5577840" cy="4800600"/>
          </a:xfrm>
          <a:prstGeom prst="roundRect">
            <a:avLst>
              <a:gd name="adj" fmla="val 1524"/>
            </a:avLst>
          </a:prstGeom>
          <a:solidFill>
            <a:srgbClr val="EAF3F4"/>
          </a:solidFill>
          <a:ln/>
          <a:effectLst>
            <a:outerShdw sx="100000" sy="100000" kx="0" ky="0" algn="bl" rotWithShape="0" blurRad="76200" dist="25400" dir="5400000">
              <a:srgbClr val="9AAAB0">
                <a:alpha val="28000"/>
              </a:srgbClr>
            </a:outerShdw>
          </a:effectLst>
        </p:spPr>
      </p:sp>
      <p:sp>
        <p:nvSpPr>
          <p:cNvPr id="5" name="Shape 3"/>
          <p:cNvSpPr/>
          <p:nvPr/>
        </p:nvSpPr>
        <p:spPr>
          <a:xfrm>
            <a:off x="777240" y="1517904"/>
            <a:ext cx="3291840" cy="310896"/>
          </a:xfrm>
          <a:prstGeom prst="roundRect">
            <a:avLst>
              <a:gd name="adj" fmla="val 50000"/>
            </a:avLst>
          </a:prstGeom>
          <a:solidFill>
            <a:srgbClr val="0E7C86"/>
          </a:solidFill>
          <a:ln/>
        </p:spPr>
      </p:sp>
      <p:sp>
        <p:nvSpPr>
          <p:cNvPr id="6" name="Text 4"/>
          <p:cNvSpPr txBox="1"/>
          <p:nvPr/>
        </p:nvSpPr>
        <p:spPr>
          <a:xfrm>
            <a:off x="777240" y="1517904"/>
            <a:ext cx="32918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JEMERSON ETHOFUEL</a:t>
            </a:r>
            <a:endParaRPr lang="en-US" sz="1050" dirty="0"/>
          </a:p>
        </p:txBody>
      </p:sp>
      <p:sp>
        <p:nvSpPr>
          <p:cNvPr id="7" name="Text 5"/>
          <p:cNvSpPr txBox="1"/>
          <p:nvPr/>
        </p:nvSpPr>
        <p:spPr>
          <a:xfrm>
            <a:off x="777240" y="1938528"/>
            <a:ext cx="5120640" cy="4114800"/>
          </a:xfrm>
          <a:prstGeom prst="rect">
            <a:avLst/>
          </a:prstGeom>
          <a:noFill/>
          <a:ln/>
        </p:spPr>
        <p:txBody>
          <a:bodyPr wrap="square" lIns="0" tIns="0" rIns="0" bIns="0" rtlCol="0" anchor="t"/>
          <a:lstStyle/>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A renewable-energy (biofuel) company with BRL 40 million to invest</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Option 1: upgrade production facilities → +25% efficiency</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Option 2: merge with another biofuel firm → cut costs via economies of scale</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The firm chose to invest in upgrading production facilities</a:t>
            </a:r>
            <a:endParaRPr lang="en-US" sz="1200" dirty="0"/>
          </a:p>
          <a:p>
            <a:pPr marL="177800" indent="-177800">
              <a:spcAft>
                <a:spcPts val="700"/>
              </a:spcAft>
              <a:buSzPct val="100000"/>
              <a:buChar char="•"/>
            </a:pPr>
            <a:r>
              <a:rPr lang="en-US" sz="1200" dirty="0">
                <a:solidFill>
                  <a:srgbClr val="1F2A33"/>
                </a:solidFill>
                <a:latin typeface="Calibri" pitchFamily="34" charset="0"/>
                <a:ea typeface="Calibri" pitchFamily="34" charset="-122"/>
                <a:cs typeface="Calibri" pitchFamily="34" charset="-120"/>
              </a:rPr>
              <a:t>So the rejected alternative (the merger &amp; its economies of scale) is the opportunity cost</a:t>
            </a:r>
            <a:endParaRPr lang="en-US" sz="1200" dirty="0"/>
          </a:p>
        </p:txBody>
      </p:sp>
      <p:sp>
        <p:nvSpPr>
          <p:cNvPr id="8" name="Shape 6"/>
          <p:cNvSpPr/>
          <p:nvPr/>
        </p:nvSpPr>
        <p:spPr>
          <a:xfrm>
            <a:off x="6291072" y="1371600"/>
            <a:ext cx="5349240" cy="4800600"/>
          </a:xfrm>
          <a:prstGeom prst="roundRect">
            <a:avLst>
              <a:gd name="adj" fmla="val 1524"/>
            </a:avLst>
          </a:prstGeom>
          <a:solidFill>
            <a:srgbClr val="FBF0D8"/>
          </a:solidFill>
          <a:ln/>
          <a:effectLst>
            <a:outerShdw sx="100000" sy="100000" kx="0" ky="0" algn="bl" rotWithShape="0" blurRad="76200" dist="25400" dir="5400000">
              <a:srgbClr val="9AAAB0">
                <a:alpha val="28000"/>
              </a:srgbClr>
            </a:outerShdw>
          </a:effectLst>
        </p:spPr>
      </p:sp>
      <p:sp>
        <p:nvSpPr>
          <p:cNvPr id="9" name="Text 7"/>
          <p:cNvSpPr txBox="1"/>
          <p:nvPr/>
        </p:nvSpPr>
        <p:spPr>
          <a:xfrm>
            <a:off x="6492240" y="1499616"/>
            <a:ext cx="4937760" cy="822960"/>
          </a:xfrm>
          <a:prstGeom prst="rect">
            <a:avLst/>
          </a:prstGeom>
          <a:noFill/>
          <a:ln/>
        </p:spPr>
        <p:txBody>
          <a:bodyPr wrap="square" lIns="0" tIns="0" rIns="0" bIns="0" rtlCol="0" anchor="t"/>
          <a:lstStyle/>
          <a:p>
            <a:pPr indent="0" marL="0">
              <a:buNone/>
            </a:pPr>
            <a:r>
              <a:rPr lang="en-US" sz="1300" b="1" dirty="0">
                <a:solidFill>
                  <a:srgbClr val="8A5A06"/>
                </a:solidFill>
                <a:latin typeface="Calibri" pitchFamily="34" charset="0"/>
                <a:ea typeface="Calibri" pitchFamily="34" charset="-122"/>
                <a:cs typeface="Calibri" pitchFamily="34" charset="-120"/>
              </a:rPr>
              <a:t>[4]  </a:t>
            </a:r>
            <a:pPr indent="0" marL="0">
              <a:buNone/>
            </a:pPr>
            <a:r>
              <a:rPr lang="en-US" sz="1250" dirty="0">
                <a:solidFill>
                  <a:srgbClr val="1F2A33"/>
                </a:solidFill>
                <a:latin typeface="Calibri" pitchFamily="34" charset="0"/>
                <a:ea typeface="Calibri" pitchFamily="34" charset="-122"/>
                <a:cs typeface="Calibri" pitchFamily="34" charset="-120"/>
              </a:rPr>
              <a:t>A business spends its budget on new machinery instead of staff training. Explain the opportunity cost and one trade-off involved.</a:t>
            </a:r>
            <a:endParaRPr lang="en-US" sz="1300" dirty="0"/>
          </a:p>
        </p:txBody>
      </p:sp>
      <p:sp>
        <p:nvSpPr>
          <p:cNvPr id="10" name="Text 8"/>
          <p:cNvSpPr txBox="1"/>
          <p:nvPr/>
        </p:nvSpPr>
        <p:spPr>
          <a:xfrm>
            <a:off x="6492240" y="2432304"/>
            <a:ext cx="4937760" cy="274320"/>
          </a:xfrm>
          <a:prstGeom prst="rect">
            <a:avLst/>
          </a:prstGeom>
          <a:noFill/>
          <a:ln/>
        </p:spPr>
        <p:txBody>
          <a:bodyPr wrap="square" lIns="0" tIns="0" rIns="0" bIns="0" rtlCol="0" anchor="ctr"/>
          <a:lstStyle/>
          <a:p>
            <a:pPr indent="0" marL="0">
              <a:buNone/>
            </a:pPr>
            <a:r>
              <a:rPr lang="en-US" sz="1200" b="1" dirty="0">
                <a:solidFill>
                  <a:srgbClr val="8A5A06"/>
                </a:solidFill>
                <a:latin typeface="Calibri" pitchFamily="34" charset="0"/>
                <a:ea typeface="Calibri" pitchFamily="34" charset="-122"/>
                <a:cs typeface="Calibri" pitchFamily="34" charset="-120"/>
              </a:rPr>
              <a:t>Model:</a:t>
            </a:r>
            <a:endParaRPr lang="en-US" sz="1200" dirty="0"/>
          </a:p>
        </p:txBody>
      </p:sp>
      <p:sp>
        <p:nvSpPr>
          <p:cNvPr id="11" name="Text 9"/>
          <p:cNvSpPr txBox="1"/>
          <p:nvPr/>
        </p:nvSpPr>
        <p:spPr>
          <a:xfrm>
            <a:off x="6492240" y="2743200"/>
            <a:ext cx="4937760" cy="3200400"/>
          </a:xfrm>
          <a:prstGeom prst="rect">
            <a:avLst/>
          </a:prstGeom>
          <a:noFill/>
          <a:ln/>
        </p:spPr>
        <p:txBody>
          <a:bodyPr wrap="square" lIns="0" tIns="0" rIns="0" bIns="0" rtlCol="0" anchor="t"/>
          <a:lstStyle/>
          <a:p>
            <a:pPr indent="0" marL="0">
              <a:buNone/>
            </a:pPr>
            <a:r>
              <a:rPr lang="en-US" sz="1250" b="1" dirty="0">
                <a:solidFill>
                  <a:srgbClr val="2F8A5B"/>
                </a:solidFill>
                <a:latin typeface="Calibri" pitchFamily="34" charset="0"/>
                <a:ea typeface="Calibri" pitchFamily="34" charset="-122"/>
                <a:cs typeface="Calibri" pitchFamily="34" charset="-120"/>
              </a:rPr>
              <a:t>Opportunity cost </a:t>
            </a:r>
            <a:pPr indent="0" marL="0">
              <a:buNone/>
            </a:pPr>
            <a:r>
              <a:rPr lang="en-US" sz="1250" dirty="0">
                <a:solidFill>
                  <a:srgbClr val="1F2A33"/>
                </a:solidFill>
                <a:latin typeface="Calibri" pitchFamily="34" charset="0"/>
                <a:ea typeface="Calibri" pitchFamily="34" charset="-122"/>
                <a:cs typeface="Calibri" pitchFamily="34" charset="-120"/>
              </a:rPr>
              <a:t>— by buying machinery, the business gives up the </a:t>
            </a:r>
            <a:pPr indent="0" marL="0">
              <a:buNone/>
            </a:pPr>
            <a:r>
              <a:rPr lang="en-US" sz="1250" b="1" dirty="0">
                <a:solidFill>
                  <a:srgbClr val="1F2A33"/>
                </a:solidFill>
                <a:latin typeface="Calibri" pitchFamily="34" charset="0"/>
                <a:ea typeface="Calibri" pitchFamily="34" charset="-122"/>
                <a:cs typeface="Calibri" pitchFamily="34" charset="-120"/>
              </a:rPr>
              <a:t>improvement in staff skills &amp; productivity </a:t>
            </a:r>
            <a:pPr indent="0" marL="0">
              <a:buNone/>
            </a:pPr>
            <a:r>
              <a:rPr lang="en-US" sz="1250" dirty="0">
                <a:solidFill>
                  <a:srgbClr val="1F2A33"/>
                </a:solidFill>
                <a:latin typeface="Calibri" pitchFamily="34" charset="0"/>
                <a:ea typeface="Calibri" pitchFamily="34" charset="-122"/>
                <a:cs typeface="Calibri" pitchFamily="34" charset="-120"/>
              </a:rPr>
              <a:t>that the training (the next best option) would have delivered.
</a:t>
            </a:r>
            <a:pPr indent="0" marL="0">
              <a:buNone/>
            </a:pPr>
            <a:r>
              <a:rPr lang="en-US" sz="1250" b="1" dirty="0">
                <a:solidFill>
                  <a:srgbClr val="E0940F"/>
                </a:solidFill>
                <a:latin typeface="Calibri" pitchFamily="34" charset="0"/>
                <a:ea typeface="Calibri" pitchFamily="34" charset="-122"/>
                <a:cs typeface="Calibri" pitchFamily="34" charset="-120"/>
              </a:rPr>
              <a:t>Trade-off </a:t>
            </a:r>
            <a:pPr indent="0" marL="0">
              <a:buNone/>
            </a:pPr>
            <a:r>
              <a:rPr lang="en-US" sz="1250" dirty="0">
                <a:solidFill>
                  <a:srgbClr val="1F2A33"/>
                </a:solidFill>
                <a:latin typeface="Calibri" pitchFamily="34" charset="0"/>
                <a:ea typeface="Calibri" pitchFamily="34" charset="-122"/>
                <a:cs typeface="Calibri" pitchFamily="34" charset="-120"/>
              </a:rPr>
              <a:t>— it is balancing higher </a:t>
            </a:r>
            <a:pPr indent="0" marL="0">
              <a:buNone/>
            </a:pPr>
            <a:r>
              <a:rPr lang="en-US" sz="1250" b="1" dirty="0">
                <a:solidFill>
                  <a:srgbClr val="1F2A33"/>
                </a:solidFill>
                <a:latin typeface="Calibri" pitchFamily="34" charset="0"/>
                <a:ea typeface="Calibri" pitchFamily="34" charset="-122"/>
                <a:cs typeface="Calibri" pitchFamily="34" charset="-120"/>
              </a:rPr>
              <a:t>output &amp; efficiency now (machinery) </a:t>
            </a:r>
            <a:pPr indent="0" marL="0">
              <a:buNone/>
            </a:pPr>
            <a:r>
              <a:rPr lang="en-US" sz="1250" dirty="0">
                <a:solidFill>
                  <a:srgbClr val="1F2A33"/>
                </a:solidFill>
                <a:latin typeface="Calibri" pitchFamily="34" charset="0"/>
                <a:ea typeface="Calibri" pitchFamily="34" charset="-122"/>
                <a:cs typeface="Calibri" pitchFamily="34" charset="-120"/>
              </a:rPr>
              <a:t>against a </a:t>
            </a:r>
            <a:pPr indent="0" marL="0">
              <a:buNone/>
            </a:pPr>
            <a:r>
              <a:rPr lang="en-US" sz="1250" b="1" dirty="0">
                <a:solidFill>
                  <a:srgbClr val="1F2A33"/>
                </a:solidFill>
                <a:latin typeface="Calibri" pitchFamily="34" charset="0"/>
                <a:ea typeface="Calibri" pitchFamily="34" charset="-122"/>
                <a:cs typeface="Calibri" pitchFamily="34" charset="-120"/>
              </a:rPr>
              <a:t>more skilled, motivated workforce later (training)</a:t>
            </a:r>
            <a:pPr indent="0" marL="0">
              <a:buNone/>
            </a:pPr>
            <a:r>
              <a:rPr lang="en-US" sz="1250" dirty="0">
                <a:solidFill>
                  <a:srgbClr val="1F2A33"/>
                </a:solidFill>
                <a:latin typeface="Calibri" pitchFamily="34" charset="0"/>
                <a:ea typeface="Calibri" pitchFamily="34" charset="-122"/>
                <a:cs typeface="Calibri" pitchFamily="34" charset="-120"/>
              </a:rPr>
              <a:t> — it cannot fully fund both.</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THE [10]</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The 10-mark build: decode &amp; plan with 5×5</a:t>
            </a:r>
            <a:endParaRPr lang="en-US" sz="2600" dirty="0"/>
          </a:p>
        </p:txBody>
      </p:sp>
      <p:sp>
        <p:nvSpPr>
          <p:cNvPr id="4" name="Shape 2"/>
          <p:cNvSpPr/>
          <p:nvPr/>
        </p:nvSpPr>
        <p:spPr>
          <a:xfrm>
            <a:off x="548640" y="1371600"/>
            <a:ext cx="11091672" cy="841248"/>
          </a:xfrm>
          <a:prstGeom prst="roundRect">
            <a:avLst>
              <a:gd name="adj" fmla="val 8696"/>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10698480" cy="621792"/>
          </a:xfrm>
          <a:prstGeom prst="rect">
            <a:avLst/>
          </a:prstGeom>
          <a:noFill/>
          <a:ln/>
        </p:spPr>
        <p:txBody>
          <a:bodyPr wrap="square" lIns="0" tIns="0" rIns="0" bIns="0" rtlCol="0" anchor="ctr"/>
          <a:lstStyle/>
          <a:p>
            <a:pPr indent="0" marL="0">
              <a:buNone/>
            </a:pPr>
            <a:r>
              <a:rPr lang="en-US" sz="1300" b="1" dirty="0">
                <a:solidFill>
                  <a:srgbClr val="E0940F"/>
                </a:solidFill>
                <a:latin typeface="Calibri" pitchFamily="34" charset="0"/>
                <a:ea typeface="Calibri" pitchFamily="34" charset="-122"/>
                <a:cs typeface="Calibri" pitchFamily="34" charset="-120"/>
              </a:rPr>
              <a:t>Q:  </a:t>
            </a:r>
            <a:pPr indent="0" marL="0">
              <a:buNone/>
            </a:pPr>
            <a:r>
              <a:rPr lang="en-US" sz="1250" dirty="0">
                <a:solidFill>
                  <a:srgbClr val="FFFFFF"/>
                </a:solidFill>
                <a:latin typeface="Calibri" pitchFamily="34" charset="0"/>
                <a:ea typeface="Calibri" pitchFamily="34" charset="-122"/>
                <a:cs typeface="Calibri" pitchFamily="34" charset="-120"/>
              </a:rPr>
              <a:t>Discuss whether Jemerson EthoFuel made the right decision to invest in upgrading production facilities rather than merging with another biofuel firm.  </a:t>
            </a:r>
            <a:pPr indent="0" marL="0">
              <a:buNone/>
            </a:pPr>
            <a:r>
              <a:rPr lang="en-US" sz="1250" b="1" dirty="0">
                <a:solidFill>
                  <a:srgbClr val="E0940F"/>
                </a:solidFill>
                <a:latin typeface="Calibri" pitchFamily="34" charset="0"/>
                <a:ea typeface="Calibri" pitchFamily="34" charset="-122"/>
                <a:cs typeface="Calibri" pitchFamily="34" charset="-120"/>
              </a:rPr>
              <a:t>[10]</a:t>
            </a:r>
            <a:endParaRPr lang="en-US" sz="1250" dirty="0"/>
          </a:p>
        </p:txBody>
      </p:sp>
      <p:sp>
        <p:nvSpPr>
          <p:cNvPr id="6" name="Shape 4"/>
          <p:cNvSpPr/>
          <p:nvPr/>
        </p:nvSpPr>
        <p:spPr>
          <a:xfrm>
            <a:off x="548640" y="2377440"/>
            <a:ext cx="5029200" cy="3794760"/>
          </a:xfrm>
          <a:prstGeom prst="roundRect">
            <a:avLst>
              <a:gd name="adj" fmla="val 1928"/>
            </a:avLst>
          </a:prstGeom>
          <a:solidFill>
            <a:srgbClr val="EAF3F4"/>
          </a:solidFill>
          <a:ln/>
          <a:effectLst>
            <a:outerShdw sx="100000" sy="100000" kx="0" ky="0" algn="bl" rotWithShape="0" blurRad="76200" dist="25400" dir="5400000">
              <a:srgbClr val="9AAAB0">
                <a:alpha val="28000"/>
              </a:srgbClr>
            </a:outerShdw>
          </a:effectLst>
        </p:spPr>
      </p:sp>
      <p:sp>
        <p:nvSpPr>
          <p:cNvPr id="7" name="Text 5"/>
          <p:cNvSpPr txBox="1"/>
          <p:nvPr/>
        </p:nvSpPr>
        <p:spPr>
          <a:xfrm>
            <a:off x="749808" y="2487168"/>
            <a:ext cx="4663440" cy="310896"/>
          </a:xfrm>
          <a:prstGeom prst="rect">
            <a:avLst/>
          </a:prstGeom>
          <a:noFill/>
          <a:ln/>
        </p:spPr>
        <p:txBody>
          <a:bodyPr wrap="square" lIns="0" tIns="0" rIns="0" bIns="0" rtlCol="0" anchor="ctr"/>
          <a:lstStyle/>
          <a:p>
            <a:pPr indent="0" marL="0">
              <a:buNone/>
            </a:pPr>
            <a:r>
              <a:rPr lang="en-US" sz="1300" b="1" dirty="0">
                <a:solidFill>
                  <a:srgbClr val="0B5E66"/>
                </a:solidFill>
                <a:latin typeface="Calibri" pitchFamily="34" charset="0"/>
                <a:ea typeface="Calibri" pitchFamily="34" charset="-122"/>
                <a:cs typeface="Calibri" pitchFamily="34" charset="-120"/>
              </a:rPr>
              <a:t>Decode the command</a:t>
            </a:r>
            <a:endParaRPr lang="en-US" sz="1300" dirty="0"/>
          </a:p>
        </p:txBody>
      </p:sp>
      <p:sp>
        <p:nvSpPr>
          <p:cNvPr id="8" name="Text 6"/>
          <p:cNvSpPr txBox="1"/>
          <p:nvPr/>
        </p:nvSpPr>
        <p:spPr>
          <a:xfrm>
            <a:off x="749808" y="2852928"/>
            <a:ext cx="4617720" cy="3200400"/>
          </a:xfrm>
          <a:prstGeom prst="rect">
            <a:avLst/>
          </a:prstGeom>
          <a:noFill/>
          <a:ln/>
        </p:spPr>
        <p:txBody>
          <a:bodyPr wrap="square" lIns="0" tIns="0" rIns="0" bIns="0" rtlCol="0" anchor="t"/>
          <a:lstStyle/>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Discuss [10] = both sides + a supported judgement</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Weigh the choice (upgrade) against the rejected option (merge) — the opportunity cost</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Apply the case: +25% efficiency vs economies of scale; BRL 40m</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Level 4: applied both ways + a judgement that says what it depends on</a:t>
            </a:r>
            <a:endParaRPr lang="en-US" sz="1180" dirty="0"/>
          </a:p>
        </p:txBody>
      </p:sp>
      <p:sp>
        <p:nvSpPr>
          <p:cNvPr id="9" name="Shape 7"/>
          <p:cNvSpPr/>
          <p:nvPr/>
        </p:nvSpPr>
        <p:spPr>
          <a:xfrm>
            <a:off x="5788152" y="2377440"/>
            <a:ext cx="5852160" cy="3794760"/>
          </a:xfrm>
          <a:prstGeom prst="roundRect">
            <a:avLst>
              <a:gd name="adj" fmla="val 1928"/>
            </a:avLst>
          </a:prstGeom>
          <a:solidFill>
            <a:srgbClr val="FBF0D8"/>
          </a:solidFill>
          <a:ln/>
          <a:effectLst>
            <a:outerShdw sx="100000" sy="100000" kx="0" ky="0" algn="bl" rotWithShape="0" blurRad="76200" dist="25400" dir="5400000">
              <a:srgbClr val="9AAAB0">
                <a:alpha val="28000"/>
              </a:srgbClr>
            </a:outerShdw>
          </a:effectLst>
        </p:spPr>
      </p:sp>
      <p:sp>
        <p:nvSpPr>
          <p:cNvPr id="10" name="Text 8"/>
          <p:cNvSpPr txBox="1"/>
          <p:nvPr/>
        </p:nvSpPr>
        <p:spPr>
          <a:xfrm>
            <a:off x="5989320" y="2487168"/>
            <a:ext cx="5486400" cy="310896"/>
          </a:xfrm>
          <a:prstGeom prst="rect">
            <a:avLst/>
          </a:prstGeom>
          <a:noFill/>
          <a:ln/>
        </p:spPr>
        <p:txBody>
          <a:bodyPr wrap="square" lIns="0" tIns="0" rIns="0" bIns="0" rtlCol="0" anchor="ctr"/>
          <a:lstStyle/>
          <a:p>
            <a:pPr indent="0" marL="0">
              <a:buNone/>
            </a:pPr>
            <a:r>
              <a:rPr lang="en-US" sz="1300" b="1" dirty="0">
                <a:solidFill>
                  <a:srgbClr val="8A5A06"/>
                </a:solidFill>
                <a:latin typeface="Calibri" pitchFamily="34" charset="0"/>
                <a:ea typeface="Calibri" pitchFamily="34" charset="-122"/>
                <a:cs typeface="Calibri" pitchFamily="34" charset="-120"/>
              </a:rPr>
              <a:t>Plan — 5×5, 4 paragraphs</a:t>
            </a:r>
            <a:endParaRPr lang="en-US" sz="1300" dirty="0"/>
          </a:p>
        </p:txBody>
      </p:sp>
      <p:sp>
        <p:nvSpPr>
          <p:cNvPr id="11" name="Text 9"/>
          <p:cNvSpPr txBox="1"/>
          <p:nvPr/>
        </p:nvSpPr>
        <p:spPr>
          <a:xfrm>
            <a:off x="5989320" y="2852928"/>
            <a:ext cx="5440680" cy="3200400"/>
          </a:xfrm>
          <a:prstGeom prst="rect">
            <a:avLst/>
          </a:prstGeom>
          <a:noFill/>
          <a:ln/>
        </p:spPr>
        <p:txBody>
          <a:bodyPr wrap="square" lIns="0" tIns="0" rIns="0" bIns="0" rtlCol="0" anchor="t"/>
          <a:lstStyle/>
          <a:p>
            <a:pPr marL="177800" indent="-177800">
              <a:spcAft>
                <a:spcPts val="700"/>
              </a:spcAft>
              <a:buSzPct val="100000"/>
              <a:buChar char="•"/>
            </a:pPr>
            <a:r>
              <a:rPr lang="en-US" sz="1100" dirty="0">
                <a:solidFill>
                  <a:srgbClr val="1F2A33"/>
                </a:solidFill>
                <a:latin typeface="Calibri" pitchFamily="34" charset="0"/>
                <a:ea typeface="Calibri" pitchFamily="34" charset="-122"/>
                <a:cs typeface="Calibri" pitchFamily="34" charset="-120"/>
              </a:rPr>
              <a:t>¶1 FOR: upgrading raises efficiency 25% → lower unit costs &amp; higher output → more competitive, while keeping full control &amp; independence</a:t>
            </a:r>
            <a:endParaRPr lang="en-US" sz="1100" dirty="0"/>
          </a:p>
          <a:p>
            <a:pPr marL="177800" indent="-177800">
              <a:spcAft>
                <a:spcPts val="700"/>
              </a:spcAft>
              <a:buSzPct val="100000"/>
              <a:buChar char="•"/>
            </a:pPr>
            <a:r>
              <a:rPr lang="en-US" sz="1100" dirty="0">
                <a:solidFill>
                  <a:srgbClr val="1F2A33"/>
                </a:solidFill>
                <a:latin typeface="Calibri" pitchFamily="34" charset="0"/>
                <a:ea typeface="Calibri" pitchFamily="34" charset="-122"/>
                <a:cs typeface="Calibri" pitchFamily="34" charset="-120"/>
              </a:rPr>
              <a:t>¶2 FOR: avoids the risks of merging — culture clash, integration costs and loss of control</a:t>
            </a:r>
            <a:endParaRPr lang="en-US" sz="1100" dirty="0"/>
          </a:p>
          <a:p>
            <a:pPr marL="177800" indent="-177800">
              <a:spcAft>
                <a:spcPts val="700"/>
              </a:spcAft>
              <a:buSzPct val="100000"/>
              <a:buChar char="•"/>
            </a:pPr>
            <a:r>
              <a:rPr lang="en-US" sz="1100" dirty="0">
                <a:solidFill>
                  <a:srgbClr val="1F2A33"/>
                </a:solidFill>
                <a:latin typeface="Calibri" pitchFamily="34" charset="0"/>
                <a:ea typeface="Calibri" pitchFamily="34" charset="-122"/>
                <a:cs typeface="Calibri" pitchFamily="34" charset="-120"/>
              </a:rPr>
              <a:t>¶3 AGAINST (the opportunity cost): merging offered economies of scale &amp; faster expansion → the forgone benefit may be larger; upgrading only improves existing capacity</a:t>
            </a:r>
            <a:endParaRPr lang="en-US" sz="1100" dirty="0"/>
          </a:p>
          <a:p>
            <a:pPr marL="177800" indent="-177800">
              <a:spcAft>
                <a:spcPts val="700"/>
              </a:spcAft>
              <a:buSzPct val="100000"/>
              <a:buChar char="•"/>
            </a:pPr>
            <a:r>
              <a:rPr lang="en-US" sz="1100" dirty="0">
                <a:solidFill>
                  <a:srgbClr val="1F2A33"/>
                </a:solidFill>
                <a:latin typeface="Calibri" pitchFamily="34" charset="0"/>
                <a:ea typeface="Calibri" pitchFamily="34" charset="-122"/>
                <a:cs typeface="Calibri" pitchFamily="34" charset="-120"/>
              </a:rPr>
              <a:t>¶4 Conclusion (4Ws): depends on Jemerson's objective (control &amp; efficiency vs scale &amp; growth) and whether demand will absorb the extra 25% output</a:t>
            </a:r>
            <a:endParaRPr lang="en-US" sz="110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MODEL ANSWER</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The [10]: a model argument &amp; conclusion</a:t>
            </a:r>
            <a:endParaRPr lang="en-US" sz="2600" dirty="0"/>
          </a:p>
        </p:txBody>
      </p:sp>
      <p:sp>
        <p:nvSpPr>
          <p:cNvPr id="4" name="Shape 2"/>
          <p:cNvSpPr/>
          <p:nvPr/>
        </p:nvSpPr>
        <p:spPr>
          <a:xfrm>
            <a:off x="548640" y="1371600"/>
            <a:ext cx="11091672" cy="1463040"/>
          </a:xfrm>
          <a:prstGeom prst="roundRect">
            <a:avLst>
              <a:gd name="adj" fmla="val 5000"/>
            </a:avLst>
          </a:prstGeom>
          <a:solidFill>
            <a:srgbClr val="E8F3EC"/>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81328"/>
            <a:ext cx="10607040" cy="1280160"/>
          </a:xfrm>
          <a:prstGeom prst="rect">
            <a:avLst/>
          </a:prstGeom>
          <a:noFill/>
          <a:ln/>
        </p:spPr>
        <p:txBody>
          <a:bodyPr wrap="square" lIns="0" tIns="0" rIns="0" bIns="0" rtlCol="0" anchor="t"/>
          <a:lstStyle/>
          <a:p>
            <a:pPr indent="0" marL="0">
              <a:buNone/>
            </a:pPr>
            <a:r>
              <a:rPr lang="en-US" sz="1180" b="1" dirty="0">
                <a:solidFill>
                  <a:srgbClr val="2F8A5B"/>
                </a:solidFill>
                <a:latin typeface="Calibri" pitchFamily="34" charset="0"/>
                <a:ea typeface="Calibri" pitchFamily="34" charset="-122"/>
                <a:cs typeface="Calibri" pitchFamily="34" charset="-120"/>
              </a:rPr>
              <a:t>¶ For the decision.  </a:t>
            </a:r>
            <a:pPr indent="0" marL="0">
              <a:buNone/>
            </a:pPr>
            <a:r>
              <a:rPr lang="en-US" sz="1180" dirty="0">
                <a:solidFill>
                  <a:srgbClr val="1F2A33"/>
                </a:solidFill>
                <a:latin typeface="Calibri" pitchFamily="34" charset="0"/>
                <a:ea typeface="Calibri" pitchFamily="34" charset="-122"/>
                <a:cs typeface="Calibri" pitchFamily="34" charset="-120"/>
              </a:rPr>
              <a:t>Upgrading the facilities raises efficiency by 25%, which lowers unit costs and increases output, making Jemerson more price-competitive in the biofuel market. Crucially, it keeps the firm independent and in full control — avoiding the culture clashes, integration costs and loss of autonomy that a merger can bring. For a focused renewable-energy firm, steady, controllable efficiency gains are a lower-risk route to growth.</a:t>
            </a:r>
            <a:endParaRPr lang="en-US" sz="1180" dirty="0"/>
          </a:p>
        </p:txBody>
      </p:sp>
      <p:sp>
        <p:nvSpPr>
          <p:cNvPr id="6" name="Shape 4"/>
          <p:cNvSpPr/>
          <p:nvPr/>
        </p:nvSpPr>
        <p:spPr>
          <a:xfrm>
            <a:off x="548640" y="2926080"/>
            <a:ext cx="11091672" cy="1463040"/>
          </a:xfrm>
          <a:prstGeom prst="roundRect">
            <a:avLst>
              <a:gd name="adj" fmla="val 5000"/>
            </a:avLst>
          </a:prstGeom>
          <a:solidFill>
            <a:srgbClr val="F9EAE6"/>
          </a:solidFill>
          <a:ln/>
          <a:effectLst>
            <a:outerShdw sx="100000" sy="100000" kx="0" ky="0" algn="bl" rotWithShape="0" blurRad="76200" dist="25400" dir="5400000">
              <a:srgbClr val="9AAAB0">
                <a:alpha val="28000"/>
              </a:srgbClr>
            </a:outerShdw>
          </a:effectLst>
        </p:spPr>
      </p:sp>
      <p:sp>
        <p:nvSpPr>
          <p:cNvPr id="7" name="Text 5"/>
          <p:cNvSpPr txBox="1"/>
          <p:nvPr/>
        </p:nvSpPr>
        <p:spPr>
          <a:xfrm>
            <a:off x="777240" y="3035808"/>
            <a:ext cx="10607040" cy="1280160"/>
          </a:xfrm>
          <a:prstGeom prst="rect">
            <a:avLst/>
          </a:prstGeom>
          <a:noFill/>
          <a:ln/>
        </p:spPr>
        <p:txBody>
          <a:bodyPr wrap="square" lIns="0" tIns="0" rIns="0" bIns="0" rtlCol="0" anchor="t"/>
          <a:lstStyle/>
          <a:p>
            <a:pPr indent="0" marL="0">
              <a:buNone/>
            </a:pPr>
            <a:r>
              <a:rPr lang="en-US" sz="1180" b="1" dirty="0">
                <a:solidFill>
                  <a:srgbClr val="C14B37"/>
                </a:solidFill>
                <a:latin typeface="Calibri" pitchFamily="34" charset="0"/>
                <a:ea typeface="Calibri" pitchFamily="34" charset="-122"/>
                <a:cs typeface="Calibri" pitchFamily="34" charset="-120"/>
              </a:rPr>
              <a:t>¶ However (the opportunity cost).  </a:t>
            </a:r>
            <a:pPr indent="0" marL="0">
              <a:buNone/>
            </a:pPr>
            <a:r>
              <a:rPr lang="en-US" sz="1180" dirty="0">
                <a:solidFill>
                  <a:srgbClr val="1F2A33"/>
                </a:solidFill>
                <a:latin typeface="Calibri" pitchFamily="34" charset="0"/>
                <a:ea typeface="Calibri" pitchFamily="34" charset="-122"/>
                <a:cs typeface="Calibri" pitchFamily="34" charset="-120"/>
              </a:rPr>
              <a:t>The rejected merger is the opportunity cost — and it may have offered more. Economies of scale would have cut costs across the whole combined business, not just improved existing capacity, and the merger could have expanded market share and access to new customers far faster. If the biofuel market is growing quickly, turning that down may prove the more expensive choice in the long run.</a:t>
            </a:r>
            <a:endParaRPr lang="en-US" sz="1180" dirty="0"/>
          </a:p>
        </p:txBody>
      </p:sp>
      <p:sp>
        <p:nvSpPr>
          <p:cNvPr id="8" name="Shape 6"/>
          <p:cNvSpPr/>
          <p:nvPr/>
        </p:nvSpPr>
        <p:spPr>
          <a:xfrm>
            <a:off x="548640" y="4480560"/>
            <a:ext cx="11091672" cy="1700784"/>
          </a:xfrm>
          <a:prstGeom prst="roundRect">
            <a:avLst>
              <a:gd name="adj" fmla="val 4301"/>
            </a:avLst>
          </a:prstGeom>
          <a:solidFill>
            <a:srgbClr val="0E3A43"/>
          </a:solidFill>
          <a:ln/>
          <a:effectLst>
            <a:outerShdw sx="100000" sy="100000" kx="0" ky="0" algn="bl" rotWithShape="0" blurRad="76200" dist="25400" dir="5400000">
              <a:srgbClr val="9AAAB0">
                <a:alpha val="28000"/>
              </a:srgbClr>
            </a:outerShdw>
          </a:effectLst>
        </p:spPr>
      </p:sp>
      <p:sp>
        <p:nvSpPr>
          <p:cNvPr id="9" name="Text 7"/>
          <p:cNvSpPr txBox="1"/>
          <p:nvPr/>
        </p:nvSpPr>
        <p:spPr>
          <a:xfrm>
            <a:off x="777240" y="4581144"/>
            <a:ext cx="5486400" cy="256032"/>
          </a:xfrm>
          <a:prstGeom prst="rect">
            <a:avLst/>
          </a:prstGeom>
          <a:noFill/>
          <a:ln/>
        </p:spPr>
        <p:txBody>
          <a:bodyPr wrap="square" lIns="0" tIns="0" rIns="0" bIns="0" rtlCol="0" anchor="ctr"/>
          <a:lstStyle/>
          <a:p>
            <a:pPr indent="0" marL="0">
              <a:buNone/>
            </a:pPr>
            <a:r>
              <a:rPr lang="en-US" sz="1050" b="1" spc="150" kern="0" dirty="0">
                <a:solidFill>
                  <a:srgbClr val="7FC4CB"/>
                </a:solidFill>
                <a:latin typeface="Calibri" pitchFamily="34" charset="0"/>
                <a:ea typeface="Calibri" pitchFamily="34" charset="-122"/>
                <a:cs typeface="Calibri" pitchFamily="34" charset="-120"/>
              </a:rPr>
              <a:t>CONCLUSION (4Ws)</a:t>
            </a:r>
            <a:endParaRPr lang="en-US" sz="1050" dirty="0"/>
          </a:p>
        </p:txBody>
      </p:sp>
      <p:sp>
        <p:nvSpPr>
          <p:cNvPr id="10" name="Text 8"/>
          <p:cNvSpPr txBox="1"/>
          <p:nvPr/>
        </p:nvSpPr>
        <p:spPr>
          <a:xfrm>
            <a:off x="777240" y="4846320"/>
            <a:ext cx="10607040" cy="1280160"/>
          </a:xfrm>
          <a:prstGeom prst="rect">
            <a:avLst/>
          </a:prstGeom>
          <a:noFill/>
          <a:ln/>
        </p:spPr>
        <p:txBody>
          <a:bodyPr wrap="square" lIns="0" tIns="0" rIns="0" bIns="0" rtlCol="0" anchor="t"/>
          <a:lstStyle/>
          <a:p>
            <a:pPr indent="0" marL="0">
              <a:buNone/>
            </a:pPr>
            <a:r>
              <a:rPr lang="en-US" sz="1180" dirty="0">
                <a:solidFill>
                  <a:srgbClr val="FFFFFF"/>
                </a:solidFill>
                <a:latin typeface="Calibri" pitchFamily="34" charset="0"/>
                <a:ea typeface="Calibri" pitchFamily="34" charset="-122"/>
                <a:cs typeface="Calibri" pitchFamily="34" charset="-120"/>
              </a:rPr>
              <a:t>Whether Jemerson made the right decision depends on its objective and the state of the market. If it prioritises control, independence and reliable efficiency gains, upgrading is justified — it is lower-risk and avoids merger problems. But if rapid growth and scale are the priority in a fast-expanding biofuel market, the forgone economies of scale (the opportunity cost) may make the merger the better choice. On balance, upgrading is the safer decision for a firm that values control, provided demand is strong enough to absorb the extra 25% of output it can now produce.</a:t>
            </a:r>
            <a:endParaRPr lang="en-US" sz="118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548640" y="329184"/>
            <a:ext cx="11064240" cy="274320"/>
          </a:xfrm>
          <a:prstGeom prst="rect">
            <a:avLst/>
          </a:prstGeom>
          <a:noFill/>
          <a:ln/>
        </p:spPr>
        <p:txBody>
          <a:bodyPr wrap="square" lIns="0" tIns="0" rIns="0" bIns="0" rtlCol="0" anchor="ctr"/>
          <a:lstStyle/>
          <a:p>
            <a:pPr algn="l" indent="0" marL="0">
              <a:buNone/>
            </a:pPr>
            <a:r>
              <a:rPr lang="en-US" sz="1150" b="1" spc="200" kern="0" dirty="0">
                <a:solidFill>
                  <a:srgbClr val="0E7C86"/>
                </a:solidFill>
                <a:latin typeface="Calibri" pitchFamily="34" charset="0"/>
                <a:ea typeface="Calibri" pitchFamily="34" charset="-122"/>
                <a:cs typeface="Calibri" pitchFamily="34" charset="-120"/>
              </a:rPr>
              <a:t>C · THE [10] (REAL MS)</a:t>
            </a:r>
            <a:endParaRPr lang="en-US" sz="1150" dirty="0"/>
          </a:p>
        </p:txBody>
      </p:sp>
      <p:sp>
        <p:nvSpPr>
          <p:cNvPr id="3" name="Text 1"/>
          <p:cNvSpPr txBox="1"/>
          <p:nvPr/>
        </p:nvSpPr>
        <p:spPr>
          <a:xfrm>
            <a:off x="548640" y="603504"/>
            <a:ext cx="11064240" cy="658368"/>
          </a:xfrm>
          <a:prstGeom prst="rect">
            <a:avLst/>
          </a:prstGeom>
          <a:noFill/>
          <a:ln/>
        </p:spPr>
        <p:txBody>
          <a:bodyPr wrap="square" lIns="0" tIns="0" rIns="0" bIns="0" rtlCol="0" anchor="ctr"/>
          <a:lstStyle/>
          <a:p>
            <a:pPr algn="l" indent="0" marL="0">
              <a:buNone/>
            </a:pPr>
            <a:r>
              <a:rPr lang="en-US" sz="2600" b="1" dirty="0">
                <a:solidFill>
                  <a:srgbClr val="0E3A43"/>
                </a:solidFill>
                <a:latin typeface="Cambria" pitchFamily="34" charset="0"/>
                <a:ea typeface="Cambria" pitchFamily="34" charset="-122"/>
                <a:cs typeface="Cambria" pitchFamily="34" charset="-120"/>
              </a:rPr>
              <a:t>The trade-off [10]: Farmhopping (past paper)</a:t>
            </a:r>
            <a:endParaRPr lang="en-US" sz="2600" dirty="0"/>
          </a:p>
        </p:txBody>
      </p:sp>
      <p:sp>
        <p:nvSpPr>
          <p:cNvPr id="4" name="Shape 2"/>
          <p:cNvSpPr/>
          <p:nvPr/>
        </p:nvSpPr>
        <p:spPr>
          <a:xfrm>
            <a:off x="548640" y="1371600"/>
            <a:ext cx="11091672" cy="932688"/>
          </a:xfrm>
          <a:prstGeom prst="roundRect">
            <a:avLst>
              <a:gd name="adj" fmla="val 7843"/>
            </a:avLst>
          </a:prstGeom>
          <a:solidFill>
            <a:srgbClr val="0E3A43"/>
          </a:solidFill>
          <a:ln/>
          <a:effectLst>
            <a:outerShdw sx="100000" sy="100000" kx="0" ky="0" algn="bl" rotWithShape="0" blurRad="76200" dist="25400" dir="5400000">
              <a:srgbClr val="9AAAB0">
                <a:alpha val="28000"/>
              </a:srgbClr>
            </a:outerShdw>
          </a:effectLst>
        </p:spPr>
      </p:sp>
      <p:sp>
        <p:nvSpPr>
          <p:cNvPr id="5" name="Text 3"/>
          <p:cNvSpPr txBox="1"/>
          <p:nvPr/>
        </p:nvSpPr>
        <p:spPr>
          <a:xfrm>
            <a:off x="777240" y="1463040"/>
            <a:ext cx="10698480" cy="749808"/>
          </a:xfrm>
          <a:prstGeom prst="rect">
            <a:avLst/>
          </a:prstGeom>
          <a:noFill/>
          <a:ln/>
        </p:spPr>
        <p:txBody>
          <a:bodyPr wrap="square" lIns="0" tIns="0" rIns="0" bIns="0" rtlCol="0" anchor="ctr"/>
          <a:lstStyle/>
          <a:p>
            <a:pPr indent="0" marL="0">
              <a:buNone/>
            </a:pPr>
            <a:r>
              <a:rPr lang="en-US" sz="1250" b="1" dirty="0">
                <a:solidFill>
                  <a:srgbClr val="E0940F"/>
                </a:solidFill>
                <a:latin typeface="Calibri" pitchFamily="34" charset="0"/>
                <a:ea typeface="Calibri" pitchFamily="34" charset="-122"/>
                <a:cs typeface="Calibri" pitchFamily="34" charset="-120"/>
              </a:rPr>
              <a:t>Q (e):  </a:t>
            </a:r>
            <a:pPr indent="0" marL="0">
              <a:buNone/>
            </a:pPr>
            <a:r>
              <a:rPr lang="en-US" sz="1250" dirty="0">
                <a:solidFill>
                  <a:srgbClr val="FFFFFF"/>
                </a:solidFill>
                <a:latin typeface="Calibri" pitchFamily="34" charset="0"/>
                <a:ea typeface="Calibri" pitchFamily="34" charset="-122"/>
                <a:cs typeface="Calibri" pitchFamily="34" charset="-120"/>
              </a:rPr>
              <a:t>The farmers using the Farmhopping online service must share the same social objectives as Farmhopping. Assess if there is a trade-off between social objectives and profit for these farmers.  </a:t>
            </a:r>
            <a:pPr indent="0" marL="0">
              <a:buNone/>
            </a:pPr>
            <a:r>
              <a:rPr lang="en-US" sz="1250" b="1" dirty="0">
                <a:solidFill>
                  <a:srgbClr val="E0940F"/>
                </a:solidFill>
                <a:latin typeface="Calibri" pitchFamily="34" charset="0"/>
                <a:ea typeface="Calibri" pitchFamily="34" charset="-122"/>
                <a:cs typeface="Calibri" pitchFamily="34" charset="-120"/>
              </a:rPr>
              <a:t>[10]</a:t>
            </a:r>
            <a:endParaRPr lang="en-US" sz="1250" dirty="0"/>
          </a:p>
        </p:txBody>
      </p:sp>
      <p:sp>
        <p:nvSpPr>
          <p:cNvPr id="6" name="Shape 4"/>
          <p:cNvSpPr/>
          <p:nvPr/>
        </p:nvSpPr>
        <p:spPr>
          <a:xfrm>
            <a:off x="548640" y="2450592"/>
            <a:ext cx="5440680" cy="2697480"/>
          </a:xfrm>
          <a:prstGeom prst="roundRect">
            <a:avLst>
              <a:gd name="adj" fmla="val 2712"/>
            </a:avLst>
          </a:prstGeom>
          <a:solidFill>
            <a:srgbClr val="F9EAE6"/>
          </a:solidFill>
          <a:ln/>
          <a:effectLst>
            <a:outerShdw sx="100000" sy="100000" kx="0" ky="0" algn="bl" rotWithShape="0" blurRad="76200" dist="25400" dir="5400000">
              <a:srgbClr val="9AAAB0">
                <a:alpha val="28000"/>
              </a:srgbClr>
            </a:outerShdw>
          </a:effectLst>
        </p:spPr>
      </p:sp>
      <p:sp>
        <p:nvSpPr>
          <p:cNvPr id="7" name="Shape 5"/>
          <p:cNvSpPr/>
          <p:nvPr/>
        </p:nvSpPr>
        <p:spPr>
          <a:xfrm>
            <a:off x="777240" y="2596896"/>
            <a:ext cx="4023360" cy="310896"/>
          </a:xfrm>
          <a:prstGeom prst="roundRect">
            <a:avLst>
              <a:gd name="adj" fmla="val 50000"/>
            </a:avLst>
          </a:prstGeom>
          <a:solidFill>
            <a:srgbClr val="C14B37"/>
          </a:solidFill>
          <a:ln/>
        </p:spPr>
      </p:sp>
      <p:sp>
        <p:nvSpPr>
          <p:cNvPr id="8" name="Text 6"/>
          <p:cNvSpPr txBox="1"/>
          <p:nvPr/>
        </p:nvSpPr>
        <p:spPr>
          <a:xfrm>
            <a:off x="777240" y="2596896"/>
            <a:ext cx="402336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YES — THERE IS A TRADE-OFF</a:t>
            </a:r>
            <a:endParaRPr lang="en-US" sz="1050" dirty="0"/>
          </a:p>
        </p:txBody>
      </p:sp>
      <p:sp>
        <p:nvSpPr>
          <p:cNvPr id="9" name="Text 7"/>
          <p:cNvSpPr txBox="1"/>
          <p:nvPr/>
        </p:nvSpPr>
        <p:spPr>
          <a:xfrm>
            <a:off x="777240" y="3017520"/>
            <a:ext cx="4983480" cy="2011680"/>
          </a:xfrm>
          <a:prstGeom prst="rect">
            <a:avLst/>
          </a:prstGeom>
          <a:noFill/>
          <a:ln/>
        </p:spPr>
        <p:txBody>
          <a:bodyPr wrap="square" lIns="0" tIns="0" rIns="0" bIns="0" rtlCol="0" anchor="t"/>
          <a:lstStyle/>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Farming environmentally costs more — recyclable packaging, no pesticides, better animal welfare → higher costs → lower profit margins</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Higher costs → farmers charge more → demand may fall if shoppers buy cheaper elsewhere → lower profit</a:t>
            </a:r>
            <a:endParaRPr lang="en-US" sz="1180" dirty="0"/>
          </a:p>
        </p:txBody>
      </p:sp>
      <p:sp>
        <p:nvSpPr>
          <p:cNvPr id="10" name="Shape 8"/>
          <p:cNvSpPr/>
          <p:nvPr/>
        </p:nvSpPr>
        <p:spPr>
          <a:xfrm>
            <a:off x="6199632" y="2450592"/>
            <a:ext cx="5440680" cy="2697480"/>
          </a:xfrm>
          <a:prstGeom prst="roundRect">
            <a:avLst>
              <a:gd name="adj" fmla="val 2712"/>
            </a:avLst>
          </a:prstGeom>
          <a:solidFill>
            <a:srgbClr val="E8F3EC"/>
          </a:solidFill>
          <a:ln/>
          <a:effectLst>
            <a:outerShdw sx="100000" sy="100000" kx="0" ky="0" algn="bl" rotWithShape="0" blurRad="76200" dist="25400" dir="5400000">
              <a:srgbClr val="9AAAB0">
                <a:alpha val="28000"/>
              </a:srgbClr>
            </a:outerShdw>
          </a:effectLst>
        </p:spPr>
      </p:sp>
      <p:sp>
        <p:nvSpPr>
          <p:cNvPr id="11" name="Shape 9"/>
          <p:cNvSpPr/>
          <p:nvPr/>
        </p:nvSpPr>
        <p:spPr>
          <a:xfrm>
            <a:off x="6428232" y="2596896"/>
            <a:ext cx="4206240" cy="310896"/>
          </a:xfrm>
          <a:prstGeom prst="roundRect">
            <a:avLst>
              <a:gd name="adj" fmla="val 50000"/>
            </a:avLst>
          </a:prstGeom>
          <a:solidFill>
            <a:srgbClr val="2F8A5B"/>
          </a:solidFill>
          <a:ln/>
        </p:spPr>
      </p:sp>
      <p:sp>
        <p:nvSpPr>
          <p:cNvPr id="12" name="Text 10"/>
          <p:cNvSpPr txBox="1"/>
          <p:nvPr/>
        </p:nvSpPr>
        <p:spPr>
          <a:xfrm>
            <a:off x="6428232" y="2596896"/>
            <a:ext cx="4206240" cy="310896"/>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NO — THEY CAN ALIGN</a:t>
            </a:r>
            <a:endParaRPr lang="en-US" sz="1050" dirty="0"/>
          </a:p>
        </p:txBody>
      </p:sp>
      <p:sp>
        <p:nvSpPr>
          <p:cNvPr id="13" name="Text 11"/>
          <p:cNvSpPr txBox="1"/>
          <p:nvPr/>
        </p:nvSpPr>
        <p:spPr>
          <a:xfrm>
            <a:off x="6428232" y="3017520"/>
            <a:ext cx="4983480" cy="2011680"/>
          </a:xfrm>
          <a:prstGeom prst="rect">
            <a:avLst/>
          </a:prstGeom>
          <a:noFill/>
          <a:ln/>
        </p:spPr>
        <p:txBody>
          <a:bodyPr wrap="square" lIns="0" tIns="0" rIns="0" bIns="0" rtlCol="0" anchor="t"/>
          <a:lstStyle/>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Ethical behaviour attracts like-minded customers → higher demand &amp; profit</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Social objectives create a USP / differentiation → new customers &amp; sales</a:t>
            </a:r>
            <a:endParaRPr lang="en-US" sz="1180" dirty="0"/>
          </a:p>
          <a:p>
            <a:pPr marL="177800" indent="-177800">
              <a:spcAft>
                <a:spcPts val="700"/>
              </a:spcAft>
              <a:buSzPct val="100000"/>
              <a:buChar char="•"/>
            </a:pPr>
            <a:r>
              <a:rPr lang="en-US" sz="1180" dirty="0">
                <a:solidFill>
                  <a:srgbClr val="1F2A33"/>
                </a:solidFill>
                <a:latin typeface="Calibri" pitchFamily="34" charset="0"/>
                <a:ea typeface="Calibri" pitchFamily="34" charset="-122"/>
                <a:cs typeface="Calibri" pitchFamily="34" charset="-120"/>
              </a:rPr>
              <a:t>Caring for the land gives longer-term benefits to farmland &amp; income</a:t>
            </a:r>
            <a:endParaRPr lang="en-US" sz="1180" dirty="0"/>
          </a:p>
        </p:txBody>
      </p:sp>
      <p:sp>
        <p:nvSpPr>
          <p:cNvPr id="14" name="Shape 12"/>
          <p:cNvSpPr/>
          <p:nvPr/>
        </p:nvSpPr>
        <p:spPr>
          <a:xfrm>
            <a:off x="548640" y="5266944"/>
            <a:ext cx="11091672" cy="914400"/>
          </a:xfrm>
          <a:prstGeom prst="roundRect">
            <a:avLst>
              <a:gd name="adj" fmla="val 8000"/>
            </a:avLst>
          </a:prstGeom>
          <a:solidFill>
            <a:srgbClr val="FBF0D8"/>
          </a:solidFill>
          <a:ln/>
          <a:effectLst>
            <a:outerShdw sx="100000" sy="100000" kx="0" ky="0" algn="bl" rotWithShape="0" blurRad="76200" dist="25400" dir="5400000">
              <a:srgbClr val="9AAAB0">
                <a:alpha val="28000"/>
              </a:srgbClr>
            </a:outerShdw>
          </a:effectLst>
        </p:spPr>
      </p:sp>
      <p:sp>
        <p:nvSpPr>
          <p:cNvPr id="15" name="Text 13"/>
          <p:cNvSpPr txBox="1"/>
          <p:nvPr/>
        </p:nvSpPr>
        <p:spPr>
          <a:xfrm>
            <a:off x="777240" y="5376672"/>
            <a:ext cx="10698480" cy="731520"/>
          </a:xfrm>
          <a:prstGeom prst="rect">
            <a:avLst/>
          </a:prstGeom>
          <a:noFill/>
          <a:ln/>
        </p:spPr>
        <p:txBody>
          <a:bodyPr wrap="square" lIns="0" tIns="0" rIns="0" bIns="0" rtlCol="0" anchor="ctr"/>
          <a:lstStyle/>
          <a:p>
            <a:pPr indent="0" marL="0">
              <a:buNone/>
            </a:pPr>
            <a:r>
              <a:rPr lang="en-US" sz="1250" b="1" dirty="0">
                <a:solidFill>
                  <a:srgbClr val="8A5A06"/>
                </a:solidFill>
                <a:latin typeface="Calibri" pitchFamily="34" charset="0"/>
                <a:ea typeface="Calibri" pitchFamily="34" charset="-122"/>
                <a:cs typeface="Calibri" pitchFamily="34" charset="-120"/>
              </a:rPr>
              <a:t>Judgement (from the mark scheme):  </a:t>
            </a:r>
            <a:pPr indent="0" marL="0">
              <a:buNone/>
            </a:pPr>
            <a:r>
              <a:rPr lang="en-US" sz="1250" dirty="0">
                <a:solidFill>
                  <a:srgbClr val="1F2A33"/>
                </a:solidFill>
                <a:latin typeface="Calibri" pitchFamily="34" charset="0"/>
                <a:ea typeface="Calibri" pitchFamily="34" charset="-122"/>
                <a:cs typeface="Calibri" pitchFamily="34" charset="-120"/>
              </a:rPr>
              <a:t>whether a trade-off exists DEPENDS on how socially aware consumers are, and whether price is the dominant factor in the industry. If buyers value the environment, social objectives and profit can reinforce each other; if price dominates, the extra costs create a real trade-off.</a:t>
            </a:r>
            <a:endParaRPr lang="en-US" sz="1250" dirty="0"/>
          </a:p>
        </p:txBody>
      </p:sp>
      <p:sp>
        <p:nvSpPr>
          <p:cNvPr id="25" name="Slide Number Placeholder 0"/>
          <p:cNvSpPr>
            <a:spLocks noGrp="1"/>
          </p:cNvSpPr>
          <p:nvPr>
            <p:ph type="sldNum" sz="quarter" idx="4294967295"/>
          </p:nvPr>
        </p:nvSpPr>
        <p:spPr>
          <a:xfrm>
            <a:off x="11338560" y="6437376"/>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B6B73"/>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822960" y="640080"/>
            <a:ext cx="10515600" cy="365760"/>
          </a:xfrm>
          <a:prstGeom prst="rect">
            <a:avLst/>
          </a:prstGeom>
          <a:noFill/>
          <a:ln/>
        </p:spPr>
        <p:txBody>
          <a:bodyPr wrap="square" lIns="0" tIns="0" rIns="0" bIns="0" rtlCol="0" anchor="ctr"/>
          <a:lstStyle/>
          <a:p>
            <a:pPr indent="0" marL="0">
              <a:buNone/>
            </a:pPr>
            <a:r>
              <a:rPr lang="en-US" sz="1300" b="1" spc="200" kern="0" dirty="0">
                <a:solidFill>
                  <a:srgbClr val="E0940F"/>
                </a:solidFill>
                <a:latin typeface="Calibri" pitchFamily="34" charset="0"/>
                <a:ea typeface="Calibri" pitchFamily="34" charset="-122"/>
                <a:cs typeface="Calibri" pitchFamily="34" charset="-120"/>
              </a:rPr>
              <a:t>PUTTING IT TOGETHER</a:t>
            </a:r>
            <a:endParaRPr lang="en-US" sz="1300" dirty="0"/>
          </a:p>
        </p:txBody>
      </p:sp>
      <p:sp>
        <p:nvSpPr>
          <p:cNvPr id="3" name="Text 1"/>
          <p:cNvSpPr txBox="1"/>
          <p:nvPr/>
        </p:nvSpPr>
        <p:spPr>
          <a:xfrm>
            <a:off x="822960" y="1005840"/>
            <a:ext cx="10789920" cy="640080"/>
          </a:xfrm>
          <a:prstGeom prst="rect">
            <a:avLst/>
          </a:prstGeom>
          <a:noFill/>
          <a:ln/>
        </p:spPr>
        <p:txBody>
          <a:bodyPr wrap="square" lIns="0" tIns="0" rIns="0" bIns="0"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Answering business-choices questions</a:t>
            </a:r>
            <a:endParaRPr lang="en-US" sz="28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822960" y="1828800"/>
          <a:ext cx="10543032" cy="914400"/>
        </p:xfrm>
        <a:graphic>
          <a:graphicData uri="http://schemas.openxmlformats.org/drawingml/2006/table">
            <a:tbl>
              <a:tblPr/>
              <a:tblGrid>
                <a:gridCol w="1188720"/>
                <a:gridCol w="2743200"/>
                <a:gridCol w="6611112"/>
              </a:tblGrid>
              <a:tr h="457200">
                <a:tc>
                  <a:txBody>
                    <a:bodyPr/>
                    <a:lstStyle/>
                    <a:p>
                      <a:pPr algn="l" indent="0" marL="0">
                        <a:buNone/>
                      </a:pPr>
                      <a:r>
                        <a:rPr lang="en-US" sz="1300" b="1" dirty="0">
                          <a:solidFill>
                            <a:srgbClr val="0E3A43"/>
                          </a:solidFill>
                          <a:latin typeface="Calibri" pitchFamily="34" charset="0"/>
                          <a:ea typeface="Calibri" pitchFamily="34" charset="-122"/>
                          <a:cs typeface="Calibri" pitchFamily="34" charset="-120"/>
                        </a:rPr>
                        <a:t>Marks</a:t>
                      </a:r>
                      <a:endParaRPr lang="en-US" sz="130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c>
                  <a:txBody>
                    <a:bodyPr/>
                    <a:lstStyle/>
                    <a:p>
                      <a:pPr algn="l" indent="0" marL="0">
                        <a:buNone/>
                      </a:pPr>
                      <a:r>
                        <a:rPr lang="en-US" sz="1300" b="1" dirty="0">
                          <a:solidFill>
                            <a:srgbClr val="0E3A43"/>
                          </a:solidFill>
                          <a:latin typeface="Calibri" pitchFamily="34" charset="0"/>
                          <a:ea typeface="Calibri" pitchFamily="34" charset="-122"/>
                          <a:cs typeface="Calibri" pitchFamily="34" charset="-120"/>
                        </a:rPr>
                        <a:t>Command</a:t>
                      </a:r>
                      <a:endParaRPr lang="en-US" sz="130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c>
                  <a:txBody>
                    <a:bodyPr/>
                    <a:lstStyle/>
                    <a:p>
                      <a:pPr algn="l" indent="0" marL="0">
                        <a:buNone/>
                      </a:pPr>
                      <a:r>
                        <a:rPr lang="en-US" sz="1300" b="1" dirty="0">
                          <a:solidFill>
                            <a:srgbClr val="0E3A43"/>
                          </a:solidFill>
                          <a:latin typeface="Calibri" pitchFamily="34" charset="0"/>
                          <a:ea typeface="Calibri" pitchFamily="34" charset="-122"/>
                          <a:cs typeface="Calibri" pitchFamily="34" charset="-120"/>
                        </a:rPr>
                        <a:t>What to do</a:t>
                      </a:r>
                      <a:endParaRPr lang="en-US" sz="130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E0940F"/>
                    </a:solidFill>
                  </a:tcPr>
                </a:tc>
              </a:tr>
              <a:tr h="621792">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2</a:t>
                      </a:r>
                      <a:endParaRPr lang="en-US" sz="130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Define</a:t>
                      </a:r>
                      <a:endParaRPr lang="en-US" sz="130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Meaning + an example (opportunity cost, trade-off).</a:t>
                      </a:r>
                      <a:endParaRPr lang="en-US" sz="130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658368">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4</a:t>
                      </a:r>
                      <a:endParaRPr lang="en-US" sz="130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Explain</a:t>
                      </a:r>
                      <a:endParaRPr lang="en-US" sz="130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State the BENEFIT foregone (not the £ spent) + a trade-off, applied.</a:t>
                      </a:r>
                      <a:endParaRPr lang="en-US" sz="130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658368">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6</a:t>
                      </a:r>
                      <a:endParaRPr lang="en-US" sz="130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Analyse (2 pts)</a:t>
                      </a:r>
                      <a:endParaRPr lang="en-US" sz="130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Two applied points, each with a developed chain. No judgement.</a:t>
                      </a:r>
                      <a:endParaRPr lang="en-US" sz="130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658368">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8 / 10</a:t>
                      </a:r>
                      <a:endParaRPr lang="en-US" sz="130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Discuss / Evaluate</a:t>
                      </a:r>
                      <a:endParaRPr lang="en-US" sz="130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Both sides (the choice vs its opportunity cost) + a supported judgement.</a:t>
                      </a:r>
                      <a:endParaRPr lang="en-US" sz="130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r h="749808">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Evaluate</a:t>
                      </a:r>
                      <a:endParaRPr lang="en-US" sz="130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c>
                  <a:txBody>
                    <a:bodyPr/>
                    <a:lstStyle/>
                    <a:p>
                      <a:pPr algn="l" indent="0" marL="0">
                        <a:buNone/>
                      </a:pPr>
                      <a:r>
                        <a:rPr lang="en-US" sz="1300" dirty="0">
                          <a:solidFill>
                            <a:srgbClr val="FFFFFF"/>
                          </a:solidFill>
                          <a:latin typeface="Calibri" pitchFamily="34" charset="0"/>
                          <a:ea typeface="Calibri" pitchFamily="34" charset="-122"/>
                          <a:cs typeface="Calibri" pitchFamily="34" charset="-120"/>
                        </a:rPr>
                        <a:t>Full 5×5: both sides, applied, + a supported ‘it depends’ judgement.</a:t>
                      </a:r>
                      <a:endParaRPr lang="en-US" sz="1300" dirty="0">
                        <a:latin typeface="Calibri" charset="0"/>
                        <a:ea typeface="Calibri" charset="0"/>
                        <a:cs typeface="Calibri" charset="0"/>
                      </a:endParaRPr>
                    </a:p>
                  </a:txBody>
                  <a:tcPr marL="91440" marR="91440" marT="45720" marB="45720" anchor="ctr">
                    <a:lnL w="12700" cap="flat" cmpd="sng" algn="ctr">
                      <a:solidFill>
                        <a:srgbClr val="2A5560"/>
                      </a:solidFill>
                      <a:prstDash val="solid"/>
                      <a:round/>
                      <a:headEnd type="none" w="med" len="med"/>
                      <a:tailEnd type="none" w="med" len="med"/>
                    </a:lnL>
                    <a:lnR w="12700" cap="flat" cmpd="sng" algn="ctr">
                      <a:solidFill>
                        <a:srgbClr val="2A5560"/>
                      </a:solidFill>
                      <a:prstDash val="solid"/>
                      <a:round/>
                      <a:headEnd type="none" w="med" len="med"/>
                      <a:tailEnd type="none" w="med" len="med"/>
                    </a:lnR>
                    <a:lnT w="12700" cap="flat" cmpd="sng" algn="ctr">
                      <a:solidFill>
                        <a:srgbClr val="2A5560"/>
                      </a:solidFill>
                      <a:prstDash val="solid"/>
                      <a:round/>
                      <a:headEnd type="none" w="med" len="med"/>
                      <a:tailEnd type="none" w="med" len="med"/>
                    </a:lnT>
                    <a:lnB w="12700" cap="flat" cmpd="sng" algn="ctr">
                      <a:solidFill>
                        <a:srgbClr val="2A5560"/>
                      </a:solidFill>
                      <a:prstDash val="solid"/>
                      <a:round/>
                      <a:headEnd type="none" w="med" len="med"/>
                      <a:tailEnd type="none" w="med" len="med"/>
                    </a:lnB>
                    <a:solidFill>
                      <a:srgbClr val="0B2E35"/>
                    </a:solidFill>
                  </a:tcPr>
                </a:tc>
              </a:tr>
            </a:tbl>
          </a:graphicData>
        </a:graphic>
      </p:graphicFrame>
      <p:sp>
        <p:nvSpPr>
          <p:cNvPr id="5" name="Text 2"/>
          <p:cNvSpPr txBox="1"/>
          <p:nvPr/>
        </p:nvSpPr>
        <p:spPr>
          <a:xfrm>
            <a:off x="822960" y="5715000"/>
            <a:ext cx="10515600" cy="457200"/>
          </a:xfrm>
          <a:prstGeom prst="rect">
            <a:avLst/>
          </a:prstGeom>
          <a:noFill/>
          <a:ln/>
        </p:spPr>
        <p:txBody>
          <a:bodyPr wrap="square" lIns="0" tIns="0" rIns="0" bIns="0" rtlCol="0" anchor="ctr"/>
          <a:lstStyle/>
          <a:p>
            <a:pPr indent="0" marL="0">
              <a:buNone/>
            </a:pPr>
            <a:r>
              <a:rPr lang="en-US" sz="1250" i="1" dirty="0">
                <a:solidFill>
                  <a:srgbClr val="9FBCC0"/>
                </a:solidFill>
                <a:latin typeface="Calibri" pitchFamily="34" charset="0"/>
                <a:ea typeface="Calibri" pitchFamily="34" charset="-122"/>
                <a:cs typeface="Calibri" pitchFamily="34" charset="-120"/>
              </a:rPr>
              <a:t>Golden idea: resources are scarce, so every choice has an opportunity cost and involves a trade-off — the trade-off is the choice; the opportunity cost is what you lose.</a:t>
            </a:r>
            <a:endParaRPr lang="en-US" sz="1250" dirty="0"/>
          </a:p>
        </p:txBody>
      </p:sp>
      <p:sp>
        <p:nvSpPr>
          <p:cNvPr id="6" name="Text 3"/>
          <p:cNvSpPr txBox="1"/>
          <p:nvPr/>
        </p:nvSpPr>
        <p:spPr>
          <a:xfrm>
            <a:off x="822960" y="6172200"/>
            <a:ext cx="10607040" cy="320040"/>
          </a:xfrm>
          <a:prstGeom prst="rect">
            <a:avLst/>
          </a:prstGeom>
          <a:noFill/>
          <a:ln/>
        </p:spPr>
        <p:txBody>
          <a:bodyPr wrap="square" lIns="0" tIns="0" rIns="0" bIns="0" rtlCol="0" anchor="ctr"/>
          <a:lstStyle/>
          <a:p>
            <a:pPr indent="0" marL="0">
              <a:buNone/>
            </a:pPr>
            <a:r>
              <a:rPr lang="en-US" sz="1250" b="1" dirty="0">
                <a:solidFill>
                  <a:srgbClr val="7FC4CB"/>
                </a:solidFill>
                <a:latin typeface="Calibri" pitchFamily="34" charset="0"/>
                <a:ea typeface="Calibri" pitchFamily="34" charset="-122"/>
                <a:cs typeface="Calibri" pitchFamily="34" charset="-120"/>
              </a:rPr>
              <a:t>This completes 1.3.5 Entrepreneurs &amp; leaders — and the whole of Unit 1 (Marketing &amp; people).</a:t>
            </a:r>
            <a:endParaRPr lang="en-US" sz="1250" dirty="0"/>
          </a:p>
        </p:txBody>
      </p:sp>
    </p:spTree>
  </p:cSld>
  <p:clrMapOvr>
    <a:masterClrMapping/>
  </p:clrMapOvr>
</p:sld>
</file>

<file path=ppt/theme/theme1.xml><?xml version="1.0" encoding="utf-8"?>
<a:theme xmlns:a="http://schemas.openxmlformats.org/drawingml/2006/main" name="IAL Entrepreneurs">
  <a:themeElements>
    <a:clrScheme name="IAL Entrepreneurs">
      <a:dk1>
        <a:srgbClr val="1F2A33"/>
      </a:dk1>
      <a:lt1>
        <a:srgbClr val="FFFFFF"/>
      </a:lt1>
      <a:dk2>
        <a:srgbClr val="0E3A43"/>
      </a:dk2>
      <a:lt2>
        <a:srgbClr val="EAF3F4"/>
      </a:lt2>
      <a:accent1>
        <a:srgbClr val="0E7C86"/>
      </a:accent1>
      <a:accent2>
        <a:srgbClr val="E0940F"/>
      </a:accent2>
      <a:accent3>
        <a:srgbClr val="2F8A5B"/>
      </a:accent3>
      <a:accent4>
        <a:srgbClr val="C14B37"/>
      </a:accent4>
      <a:accent5>
        <a:srgbClr val="5B6B73"/>
      </a:accent5>
      <a:accent6>
        <a:srgbClr val="6B4FA0"/>
      </a:accent6>
      <a:hlink>
        <a:srgbClr val="0E7C86"/>
      </a:hlink>
      <a:folHlink>
        <a:srgbClr val="0B5E66"/>
      </a:folHlink>
    </a:clrScheme>
    <a:fontScheme name="IAL Entrepreneurs">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GEMS Metropole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Mr. Akram</dc:creator>
  <cp:lastModifiedBy>Mr. Akram</cp:lastModifiedBy>
  <cp:revision>1</cp:revision>
  <dcterms:created xsi:type="dcterms:W3CDTF">2026-10-21T03:07:36Z</dcterms:created>
  <dcterms:modified xsi:type="dcterms:W3CDTF">2026-10-21T03:07:36Z</dcterms:modified>
</cp:coreProperties>
</file>