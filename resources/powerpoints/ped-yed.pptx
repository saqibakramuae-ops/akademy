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 · PED" id="{4508308c-c4ad-0d86-b6c8-ecf4f0b3b0a6}">
          <p14:sldIdLst>
            <p14:sldId id="259"/>
            <p14:sldId id="260"/>
            <p14:sldId id="261"/>
            <p14:sldId id="262"/>
            <p14:sldId id="263"/>
            <p14:sldId id="264"/>
            <p14:sldId id="265"/>
            <p14:sldId id="266"/>
            <p14:sldId id="267"/>
          </p14:sldIdLst>
        </p14:section>
        <p14:section name="B · YED" id="{09cb1636-c118-4a05-ee36-27a3de783734}">
          <p14:sldIdLst>
            <p14:sldId id="268"/>
            <p14:sldId id="269"/>
            <p14:sldId id="270"/>
            <p14:sldId id="271"/>
            <p14:sldId id="272"/>
            <p14:sldId id="273"/>
          </p14:sldIdLst>
        </p14:section>
        <p14:section name="C · A-grade exam skills" id="{28292a5d-49c4-f466-e7bd-f5b04e0d5ae4}">
          <p14:sldIdLst>
            <p14:sldId id="274"/>
            <p14:sldId id="275"/>
            <p14:sldId id="276"/>
            <p14:sldId id="277"/>
          </p14:sldIdLst>
        </p14:section>
        <p14:section name="Default-1" id="{a2f15435-38c0-aaa3-9bb1-0edb275f3146}">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Tutoring deck on PED and YED (spec 1.3.2 'The Market', points 4-5), pitched for A-grade students. Completes the 1.3.2 topic after the demand/supply/equilibrium deck. Calculation-heavy: students must be able to calculate, interpret, classify and apply both elasticities. Cases: Oasis Water (PED), City Bikes &amp; Primark (YED).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elasticities, same idea: responsiveness. PED answers 'how much does demand change when PRICE changes?'; YED answers 'how much when INCOME changes?'. Students need the formula, the calculation, the interpretation, and the business application for each. The marks split roughly: calculations (4) and applied analysis/evaluation (6/8/10).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completes topic 1.3.2. Elasticity is where the market model becomes a business tool: it is the bridge from 'demand slopes down' to 'so should we raise the price?'. Keep linking back to pricing strategy (1.3.3 point 4) and branding (PED)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formula and the 'original value' rule are where marks are won and lost. PED is almost always negative because of the law of demand; students classify using the absolute (ignore the minus) but should still WRITE the minus sign in the answer. Next slide: a full worked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the method: find %change in price (original as denominator), find %change in quantity, divide Q by P, then classify on the absolute value. Common errors: using the new value as denominator; forgetting the sign; dividing P by Q instead of Q by P. The cinema 'your turn' answers -2.5 (elastic).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Elastic (|PED|&gt;1) = responsive = flat curve = luxuries, many substitutes. Inelastic (|PED|&lt;1) = unresponsive = steep curve = necessities, few substitutes, addictive goods. Unit elastic (=1): % changes are equal. The extremes (0 and infinity) are rare in reality but good to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SPLAT: Substitutes, Proportion of income, Luxury/necessity, Addictive/habitual, Time. These are the spec 'factors influencing PED'. The business takeaway: branding and differentiation (1.3.3) exist partly to make demand more inelastic, which is what lets a firm charge premium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point 4(e): the relationship between PED and total revenue. This is the single most useful idea for pricing questions. The rule: inelastic -&gt; raise price to lift revenue; elastic -&gt; cut price to lift revenue. Tie it to Oasis: raising price AED 2-&gt;2.50 (+25%) only lifts revenue if demand is inelastic enough (quantity falls &lt;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Rearranging the formula gives %change in quantity = PED x %change in price - a common 4-mark 'predict the new quantity' question. Watch the signs: a price CUT (-6%) with a negative PED (-1.5) gives a POSITIVE quantity change (+9%). Students then apply the % to the original quantity.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more questions in your worksheet make good homework (incl. Pukka tea -2.0). Streaming: -0.5 x +12% = -6%, so 40,000 x 6% = 2,400 lost -&gt; 37,600 subscribers. Drill the sign discipline - a price rise with inelastic PED still loses SOME sales, just proportionally fewer.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structure as PED but the denominator is INCOME, not price. The crucial habit: read the SIGN first (normal vs inferior), then the SIZE (necessity vs luxury). Next slide unpacks the four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 first: positive = normal (demand moves WITH income); negative = inferior (demand moves AGAINST income). Then size for normal goods: 0-1 = necessity (income-inelastic); &gt;1 = luxury (income-elastic). Inferior goods do well in a downturn - the business planning insight for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Restaurant meals: +2.5 = income-elastic luxury. Primark: -0.8 = inferior (as incomes rise, shoppers trade up to pricier brands). The sign is doing the heavy lifting - a negative answer immediately means inferior, whatever the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YED's business value is portfolio planning across the cycle. City Bikes is the exam anchor: performance bikes YED +1.5 (vulnerable in a downturn), commuter bikes +0.4 (steadier). The A-grade judgement is about balancing the two, not just chasing the high-YED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Budget meal is a sharp one: incomes FALL 5% yet sales RISE 7.5%, so YED = +7.5/-5 = -1.5 (inferior). Premium gym: +1.75 x +8% = +14%, so 15,000 x 14% = 2,100 more -&gt; 17,100. City bus (homework): -0.5 x -6% = +3% -&gt; 206,000 (inferior: income falls, demand 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25%/20% logic is the killer detail: a +25% price rise only lifts revenue if quantity falls by less than 20% (because 1.25 x 0.80 = 1.0). That turns a vague 'PED matters' into a precise, quantified argument - exactly what Level 4 rewards.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applied paragraphs, each with the quantified chain (25% rise, 20% threshold) and case detail (commuter vs supermarket shopper). The 'one PED won't fit every store' point is a sophisticated evaluation move straight from the case - it shows the limits of the tool, not just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in some stores' recommendation is a strong, realistic judgement. The revenue-vs-profit point (packaging costs rose, so higher revenue doesn't guarantee higher profit) is a classic Level 4 discriminator. For the City Bikes YED 10-marker, the same shape applies: argue +1.5 luxury upside vs downturn risk, then judge 'increase space gradually, keep a commuter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 this completes the whole of 1.3.2. Students should leave able to calculate and classify both elasticities, explain the factors, link PED to total revenue, distinguish normal from inferior goods, and apply elasticity to a pricing or product-mix decision with a supported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3A4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37376"/>
            <a:ext cx="10058400" cy="274320"/>
          </a:xfrm>
          <a:prstGeom prst="rect">
            <a:avLst/>
          </a:prstGeom>
          <a:noFill/>
          <a:ln/>
        </p:spPr>
        <p:txBody>
          <a:bodyPr wrap="square" lIns="0" tIns="0" rIns="0" bIns="0" rtlCol="0" anchor="ctr"/>
          <a:lstStyle/>
          <a:p>
            <a:pPr algn="l" indent="0" marL="0">
              <a:buNone/>
            </a:pPr>
            <a:r>
              <a:rPr lang="en-US" sz="900" dirty="0">
                <a:solidFill>
                  <a:srgbClr val="5B6B73"/>
                </a:solidFill>
                <a:latin typeface="Calibri" pitchFamily="34" charset="0"/>
                <a:ea typeface="Calibri" pitchFamily="34" charset="-122"/>
                <a:cs typeface="Calibri" pitchFamily="34" charset="-120"/>
              </a:rPr>
              <a:t>IAL Business  ·  Unit 1  ·  Spec 1.3.2 The Market  (PED &amp; YED)</a:t>
            </a:r>
            <a:endParaRPr lang="en-US" sz="9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280160"/>
            <a:ext cx="10515600" cy="365760"/>
          </a:xfrm>
          <a:prstGeom prst="rect">
            <a:avLst/>
          </a:prstGeom>
          <a:noFill/>
          <a:ln/>
        </p:spPr>
        <p:txBody>
          <a:bodyPr wrap="square" lIns="0" tIns="0" rIns="0" bIns="0" rtlCol="0" anchor="ctr"/>
          <a:lstStyle/>
          <a:p>
            <a:pPr indent="0" marL="0">
              <a:buNone/>
            </a:pPr>
            <a:r>
              <a:rPr lang="en-US" sz="1250" b="1" spc="150" kern="0" dirty="0">
                <a:solidFill>
                  <a:srgbClr val="7FC4CB"/>
                </a:solidFill>
                <a:latin typeface="Calibri" pitchFamily="34" charset="0"/>
                <a:ea typeface="Calibri" pitchFamily="34" charset="-122"/>
                <a:cs typeface="Calibri" pitchFamily="34" charset="-120"/>
              </a:rPr>
              <a:t>PEARSON EDEXCEL  ·  INTERNATIONAL A LEVEL BUSINESS  ·  UNIT 1 (WBS11)</a:t>
            </a:r>
            <a:endParaRPr lang="en-US" sz="1250" dirty="0"/>
          </a:p>
        </p:txBody>
      </p:sp>
      <p:sp>
        <p:nvSpPr>
          <p:cNvPr id="3" name="Text 1"/>
          <p:cNvSpPr txBox="1"/>
          <p:nvPr/>
        </p:nvSpPr>
        <p:spPr>
          <a:xfrm>
            <a:off x="822960" y="1737360"/>
            <a:ext cx="1060704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Price &amp; Income Elasticity</a:t>
            </a:r>
            <a:endParaRPr lang="en-US" sz="4400" dirty="0"/>
          </a:p>
        </p:txBody>
      </p:sp>
      <p:sp>
        <p:nvSpPr>
          <p:cNvPr id="4" name="Text 2"/>
          <p:cNvSpPr txBox="1"/>
          <p:nvPr/>
        </p:nvSpPr>
        <p:spPr>
          <a:xfrm>
            <a:off x="822960" y="2697480"/>
            <a:ext cx="10515600" cy="457200"/>
          </a:xfrm>
          <a:prstGeom prst="rect">
            <a:avLst/>
          </a:prstGeom>
          <a:noFill/>
          <a:ln/>
        </p:spPr>
        <p:txBody>
          <a:bodyPr wrap="square" lIns="0" tIns="0" rIns="0" bIns="0" rtlCol="0" anchor="ctr"/>
          <a:lstStyle/>
          <a:p>
            <a:pPr indent="0" marL="0">
              <a:buNone/>
            </a:pPr>
            <a:r>
              <a:rPr lang="en-US" sz="1550" i="1" dirty="0">
                <a:solidFill>
                  <a:srgbClr val="D7E6E8"/>
                </a:solidFill>
                <a:latin typeface="Calibri" pitchFamily="34" charset="0"/>
                <a:ea typeface="Calibri" pitchFamily="34" charset="-122"/>
                <a:cs typeface="Calibri" pitchFamily="34" charset="-120"/>
              </a:rPr>
              <a:t>Spec 1.3.2 The Market (points 4–5)  —  PED &amp; YED: the maths, the meaning, and A-grade exam practice</a:t>
            </a:r>
            <a:endParaRPr lang="en-US" sz="1550" dirty="0"/>
          </a:p>
        </p:txBody>
      </p:sp>
      <p:sp>
        <p:nvSpPr>
          <p:cNvPr id="5" name="Shape 3"/>
          <p:cNvSpPr/>
          <p:nvPr/>
        </p:nvSpPr>
        <p:spPr>
          <a:xfrm>
            <a:off x="822960" y="3794760"/>
            <a:ext cx="1792224" cy="420624"/>
          </a:xfrm>
          <a:prstGeom prst="roundRect">
            <a:avLst>
              <a:gd name="adj" fmla="val 50000"/>
            </a:avLst>
          </a:prstGeom>
          <a:solidFill>
            <a:srgbClr val="0B2E35"/>
          </a:solidFill>
          <a:ln w="12700">
            <a:solidFill>
              <a:srgbClr val="0E7C86"/>
            </a:solidFill>
            <a:prstDash val="solid"/>
          </a:ln>
        </p:spPr>
      </p:sp>
      <p:sp>
        <p:nvSpPr>
          <p:cNvPr id="6" name="Text 4"/>
          <p:cNvSpPr txBox="1"/>
          <p:nvPr/>
        </p:nvSpPr>
        <p:spPr>
          <a:xfrm>
            <a:off x="822960" y="3794760"/>
            <a:ext cx="1792224"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Calculating PED</a:t>
            </a:r>
            <a:endParaRPr lang="en-US" sz="1250" dirty="0"/>
          </a:p>
        </p:txBody>
      </p:sp>
      <p:sp>
        <p:nvSpPr>
          <p:cNvPr id="7" name="Shape 5"/>
          <p:cNvSpPr/>
          <p:nvPr/>
        </p:nvSpPr>
        <p:spPr>
          <a:xfrm>
            <a:off x="2798064" y="3794760"/>
            <a:ext cx="2304288" cy="420624"/>
          </a:xfrm>
          <a:prstGeom prst="roundRect">
            <a:avLst>
              <a:gd name="adj" fmla="val 50000"/>
            </a:avLst>
          </a:prstGeom>
          <a:solidFill>
            <a:srgbClr val="0B2E35"/>
          </a:solidFill>
          <a:ln w="12700">
            <a:solidFill>
              <a:srgbClr val="0E7C86"/>
            </a:solidFill>
            <a:prstDash val="solid"/>
          </a:ln>
        </p:spPr>
      </p:sp>
      <p:sp>
        <p:nvSpPr>
          <p:cNvPr id="8" name="Text 6"/>
          <p:cNvSpPr txBox="1"/>
          <p:nvPr/>
        </p:nvSpPr>
        <p:spPr>
          <a:xfrm>
            <a:off x="2798064" y="3794760"/>
            <a:ext cx="2304288"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Elastic vs inelastic</a:t>
            </a:r>
            <a:endParaRPr lang="en-US" sz="1250" dirty="0"/>
          </a:p>
        </p:txBody>
      </p:sp>
      <p:sp>
        <p:nvSpPr>
          <p:cNvPr id="9" name="Shape 7"/>
          <p:cNvSpPr/>
          <p:nvPr/>
        </p:nvSpPr>
        <p:spPr>
          <a:xfrm>
            <a:off x="5285232" y="3794760"/>
            <a:ext cx="1587398" cy="420624"/>
          </a:xfrm>
          <a:prstGeom prst="roundRect">
            <a:avLst>
              <a:gd name="adj" fmla="val 50000"/>
            </a:avLst>
          </a:prstGeom>
          <a:solidFill>
            <a:srgbClr val="0B2E35"/>
          </a:solidFill>
          <a:ln w="12700">
            <a:solidFill>
              <a:srgbClr val="0E7C86"/>
            </a:solidFill>
            <a:prstDash val="solid"/>
          </a:ln>
        </p:spPr>
      </p:sp>
      <p:sp>
        <p:nvSpPr>
          <p:cNvPr id="10" name="Text 8"/>
          <p:cNvSpPr txBox="1"/>
          <p:nvPr/>
        </p:nvSpPr>
        <p:spPr>
          <a:xfrm>
            <a:off x="5285232" y="3794760"/>
            <a:ext cx="1587398"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PED &amp; revenue</a:t>
            </a:r>
            <a:endParaRPr lang="en-US" sz="1250" dirty="0"/>
          </a:p>
        </p:txBody>
      </p:sp>
      <p:sp>
        <p:nvSpPr>
          <p:cNvPr id="11" name="Shape 9"/>
          <p:cNvSpPr/>
          <p:nvPr/>
        </p:nvSpPr>
        <p:spPr>
          <a:xfrm>
            <a:off x="7055510" y="3794760"/>
            <a:ext cx="1792224" cy="420624"/>
          </a:xfrm>
          <a:prstGeom prst="roundRect">
            <a:avLst>
              <a:gd name="adj" fmla="val 50000"/>
            </a:avLst>
          </a:prstGeom>
          <a:solidFill>
            <a:srgbClr val="0B2E35"/>
          </a:solidFill>
          <a:ln w="12700">
            <a:solidFill>
              <a:srgbClr val="0E7C86"/>
            </a:solidFill>
            <a:prstDash val="solid"/>
          </a:ln>
        </p:spPr>
      </p:sp>
      <p:sp>
        <p:nvSpPr>
          <p:cNvPr id="12" name="Text 10"/>
          <p:cNvSpPr txBox="1"/>
          <p:nvPr/>
        </p:nvSpPr>
        <p:spPr>
          <a:xfrm>
            <a:off x="7055510" y="3794760"/>
            <a:ext cx="1792224"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Calculating YED</a:t>
            </a:r>
            <a:endParaRPr lang="en-US" sz="1250" dirty="0"/>
          </a:p>
        </p:txBody>
      </p:sp>
      <p:sp>
        <p:nvSpPr>
          <p:cNvPr id="13" name="Shape 11"/>
          <p:cNvSpPr/>
          <p:nvPr/>
        </p:nvSpPr>
        <p:spPr>
          <a:xfrm>
            <a:off x="9030614" y="3794760"/>
            <a:ext cx="2099462" cy="420624"/>
          </a:xfrm>
          <a:prstGeom prst="roundRect">
            <a:avLst>
              <a:gd name="adj" fmla="val 50000"/>
            </a:avLst>
          </a:prstGeom>
          <a:solidFill>
            <a:srgbClr val="0B2E35"/>
          </a:solidFill>
          <a:ln w="12700">
            <a:solidFill>
              <a:srgbClr val="0E7C86"/>
            </a:solidFill>
            <a:prstDash val="solid"/>
          </a:ln>
        </p:spPr>
      </p:sp>
      <p:sp>
        <p:nvSpPr>
          <p:cNvPr id="14" name="Text 12"/>
          <p:cNvSpPr txBox="1"/>
          <p:nvPr/>
        </p:nvSpPr>
        <p:spPr>
          <a:xfrm>
            <a:off x="9030614" y="3794760"/>
            <a:ext cx="2099462"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Normal vs inferior</a:t>
            </a:r>
            <a:endParaRPr lang="en-US" sz="1250" dirty="0"/>
          </a:p>
        </p:txBody>
      </p:sp>
      <p:sp>
        <p:nvSpPr>
          <p:cNvPr id="15" name="Text 13"/>
          <p:cNvSpPr txBox="1"/>
          <p:nvPr/>
        </p:nvSpPr>
        <p:spPr>
          <a:xfrm>
            <a:off x="822960" y="5989320"/>
            <a:ext cx="10607040" cy="365760"/>
          </a:xfrm>
          <a:prstGeom prst="rect">
            <a:avLst/>
          </a:prstGeom>
          <a:noFill/>
          <a:ln/>
        </p:spPr>
        <p:txBody>
          <a:bodyPr wrap="square" lIns="0" tIns="0" rIns="0" bIns="0" rtlCol="0" anchor="ctr"/>
          <a:lstStyle/>
          <a:p>
            <a:pPr indent="0" marL="0">
              <a:buNone/>
            </a:pPr>
            <a:r>
              <a:rPr lang="en-US" sz="1300" dirty="0">
                <a:solidFill>
                  <a:srgbClr val="9FBCC0"/>
                </a:solidFill>
                <a:latin typeface="Calibri" pitchFamily="34" charset="0"/>
                <a:ea typeface="Calibri" pitchFamily="34" charset="-122"/>
                <a:cs typeface="Calibri" pitchFamily="34" charset="-120"/>
              </a:rPr>
              <a:t>Mr. Akram  ·  GEMS Metropole School  ·  Cases: Oasis Water · City Bikes · Primark</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OVERVIEW</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What this lesson covers</a:t>
            </a:r>
            <a:endParaRPr lang="en-US" sz="2700" dirty="0"/>
          </a:p>
        </p:txBody>
      </p:sp>
      <p:sp>
        <p:nvSpPr>
          <p:cNvPr id="4" name="Shape 2"/>
          <p:cNvSpPr/>
          <p:nvPr/>
        </p:nvSpPr>
        <p:spPr>
          <a:xfrm>
            <a:off x="548640" y="1737360"/>
            <a:ext cx="11091672" cy="1005840"/>
          </a:xfrm>
          <a:prstGeom prst="roundRect">
            <a:avLst>
              <a:gd name="adj" fmla="val 7273"/>
            </a:avLst>
          </a:prstGeom>
          <a:solidFill>
            <a:srgbClr val="EAF3F4"/>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749808" y="1993392"/>
            <a:ext cx="512064" cy="512064"/>
          </a:xfrm>
          <a:prstGeom prst="roundRect">
            <a:avLst>
              <a:gd name="adj" fmla="val 17857"/>
            </a:avLst>
          </a:prstGeom>
          <a:solidFill>
            <a:srgbClr val="0E7C86"/>
          </a:solidFill>
          <a:ln/>
        </p:spPr>
      </p:sp>
      <p:sp>
        <p:nvSpPr>
          <p:cNvPr id="6" name="Text 4"/>
          <p:cNvSpPr txBox="1"/>
          <p:nvPr/>
        </p:nvSpPr>
        <p:spPr>
          <a:xfrm>
            <a:off x="749808" y="1993392"/>
            <a:ext cx="512064" cy="512064"/>
          </a:xfrm>
          <a:prstGeom prst="rect">
            <a:avLst/>
          </a:prstGeom>
          <a:noFill/>
          <a:ln/>
        </p:spPr>
        <p:txBody>
          <a:bodyPr wrap="square" lIns="0" tIns="0" rIns="0" bIns="0" rtlCol="0" anchor="ctr"/>
          <a:lstStyle/>
          <a:p>
            <a:pPr algn="ctr" indent="0" marL="0">
              <a:buNone/>
            </a:pPr>
            <a:r>
              <a:rPr lang="en-US" sz="2300" b="1" dirty="0">
                <a:solidFill>
                  <a:srgbClr val="FFFFFF"/>
                </a:solidFill>
                <a:latin typeface="Cambria" pitchFamily="34" charset="0"/>
                <a:ea typeface="Cambria" pitchFamily="34" charset="-122"/>
                <a:cs typeface="Cambria" pitchFamily="34" charset="-120"/>
              </a:rPr>
              <a:t>A</a:t>
            </a:r>
            <a:endParaRPr lang="en-US" sz="2300" dirty="0"/>
          </a:p>
        </p:txBody>
      </p:sp>
      <p:sp>
        <p:nvSpPr>
          <p:cNvPr id="7" name="Text 5"/>
          <p:cNvSpPr txBox="1"/>
          <p:nvPr/>
        </p:nvSpPr>
        <p:spPr>
          <a:xfrm>
            <a:off x="1463040" y="1920240"/>
            <a:ext cx="4846320" cy="640080"/>
          </a:xfrm>
          <a:prstGeom prst="rect">
            <a:avLst/>
          </a:prstGeom>
          <a:noFill/>
          <a:ln/>
        </p:spPr>
        <p:txBody>
          <a:bodyPr wrap="square" lIns="0" tIns="0" rIns="0" bIns="0" rtlCol="0" anchor="ctr"/>
          <a:lstStyle/>
          <a:p>
            <a:pPr indent="0" marL="0">
              <a:buNone/>
            </a:pPr>
            <a:r>
              <a:rPr lang="en-US" sz="1550" b="1" dirty="0">
                <a:solidFill>
                  <a:srgbClr val="0E3A43"/>
                </a:solidFill>
                <a:latin typeface="Calibri" pitchFamily="34" charset="0"/>
                <a:ea typeface="Calibri" pitchFamily="34" charset="-122"/>
                <a:cs typeface="Calibri" pitchFamily="34" charset="-120"/>
              </a:rPr>
              <a:t>Price elasticity of demand (PED)</a:t>
            </a:r>
            <a:endParaRPr lang="en-US" sz="1550" dirty="0"/>
          </a:p>
        </p:txBody>
      </p:sp>
      <p:sp>
        <p:nvSpPr>
          <p:cNvPr id="8" name="Text 6"/>
          <p:cNvSpPr txBox="1"/>
          <p:nvPr/>
        </p:nvSpPr>
        <p:spPr>
          <a:xfrm>
            <a:off x="6400800" y="1920240"/>
            <a:ext cx="5120640" cy="64008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Formula &amp; calculation, interpreting values, factors, pricing, and total revenue</a:t>
            </a:r>
            <a:endParaRPr lang="en-US" sz="1250" dirty="0"/>
          </a:p>
        </p:txBody>
      </p:sp>
      <p:sp>
        <p:nvSpPr>
          <p:cNvPr id="9" name="Shape 7"/>
          <p:cNvSpPr/>
          <p:nvPr/>
        </p:nvSpPr>
        <p:spPr>
          <a:xfrm>
            <a:off x="548640" y="2871216"/>
            <a:ext cx="11091672" cy="1005840"/>
          </a:xfrm>
          <a:prstGeom prst="roundRect">
            <a:avLst>
              <a:gd name="adj" fmla="val 727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0" name="Shape 8"/>
          <p:cNvSpPr/>
          <p:nvPr/>
        </p:nvSpPr>
        <p:spPr>
          <a:xfrm>
            <a:off x="749808" y="3127248"/>
            <a:ext cx="512064" cy="512064"/>
          </a:xfrm>
          <a:prstGeom prst="roundRect">
            <a:avLst>
              <a:gd name="adj" fmla="val 17857"/>
            </a:avLst>
          </a:prstGeom>
          <a:solidFill>
            <a:srgbClr val="0E7C86"/>
          </a:solidFill>
          <a:ln/>
        </p:spPr>
      </p:sp>
      <p:sp>
        <p:nvSpPr>
          <p:cNvPr id="11" name="Text 9"/>
          <p:cNvSpPr txBox="1"/>
          <p:nvPr/>
        </p:nvSpPr>
        <p:spPr>
          <a:xfrm>
            <a:off x="749808" y="3127248"/>
            <a:ext cx="512064" cy="512064"/>
          </a:xfrm>
          <a:prstGeom prst="rect">
            <a:avLst/>
          </a:prstGeom>
          <a:noFill/>
          <a:ln/>
        </p:spPr>
        <p:txBody>
          <a:bodyPr wrap="square" lIns="0" tIns="0" rIns="0" bIns="0" rtlCol="0" anchor="ctr"/>
          <a:lstStyle/>
          <a:p>
            <a:pPr algn="ctr" indent="0" marL="0">
              <a:buNone/>
            </a:pPr>
            <a:r>
              <a:rPr lang="en-US" sz="2300" b="1" dirty="0">
                <a:solidFill>
                  <a:srgbClr val="FFFFFF"/>
                </a:solidFill>
                <a:latin typeface="Cambria" pitchFamily="34" charset="0"/>
                <a:ea typeface="Cambria" pitchFamily="34" charset="-122"/>
                <a:cs typeface="Cambria" pitchFamily="34" charset="-120"/>
              </a:rPr>
              <a:t>B</a:t>
            </a:r>
            <a:endParaRPr lang="en-US" sz="2300" dirty="0"/>
          </a:p>
        </p:txBody>
      </p:sp>
      <p:sp>
        <p:nvSpPr>
          <p:cNvPr id="12" name="Text 10"/>
          <p:cNvSpPr txBox="1"/>
          <p:nvPr/>
        </p:nvSpPr>
        <p:spPr>
          <a:xfrm>
            <a:off x="1463040" y="3054096"/>
            <a:ext cx="4846320" cy="640080"/>
          </a:xfrm>
          <a:prstGeom prst="rect">
            <a:avLst/>
          </a:prstGeom>
          <a:noFill/>
          <a:ln/>
        </p:spPr>
        <p:txBody>
          <a:bodyPr wrap="square" lIns="0" tIns="0" rIns="0" bIns="0" rtlCol="0" anchor="ctr"/>
          <a:lstStyle/>
          <a:p>
            <a:pPr indent="0" marL="0">
              <a:buNone/>
            </a:pPr>
            <a:r>
              <a:rPr lang="en-US" sz="1550" b="1" dirty="0">
                <a:solidFill>
                  <a:srgbClr val="0E3A43"/>
                </a:solidFill>
                <a:latin typeface="Calibri" pitchFamily="34" charset="0"/>
                <a:ea typeface="Calibri" pitchFamily="34" charset="-122"/>
                <a:cs typeface="Calibri" pitchFamily="34" charset="-120"/>
              </a:rPr>
              <a:t>Income elasticity of demand (YED)</a:t>
            </a:r>
            <a:endParaRPr lang="en-US" sz="1550" dirty="0"/>
          </a:p>
        </p:txBody>
      </p:sp>
      <p:sp>
        <p:nvSpPr>
          <p:cNvPr id="13" name="Text 11"/>
          <p:cNvSpPr txBox="1"/>
          <p:nvPr/>
        </p:nvSpPr>
        <p:spPr>
          <a:xfrm>
            <a:off x="6400800" y="3054096"/>
            <a:ext cx="5120640" cy="64008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Formula &amp; calculation, normal vs inferior goods, factors and significance</a:t>
            </a:r>
            <a:endParaRPr lang="en-US" sz="1250" dirty="0"/>
          </a:p>
        </p:txBody>
      </p:sp>
      <p:sp>
        <p:nvSpPr>
          <p:cNvPr id="14" name="Shape 12"/>
          <p:cNvSpPr/>
          <p:nvPr/>
        </p:nvSpPr>
        <p:spPr>
          <a:xfrm>
            <a:off x="548640" y="4005072"/>
            <a:ext cx="11091672" cy="1005840"/>
          </a:xfrm>
          <a:prstGeom prst="roundRect">
            <a:avLst>
              <a:gd name="adj" fmla="val 727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5" name="Shape 13"/>
          <p:cNvSpPr/>
          <p:nvPr/>
        </p:nvSpPr>
        <p:spPr>
          <a:xfrm>
            <a:off x="749808" y="4261104"/>
            <a:ext cx="512064" cy="512064"/>
          </a:xfrm>
          <a:prstGeom prst="roundRect">
            <a:avLst>
              <a:gd name="adj" fmla="val 17857"/>
            </a:avLst>
          </a:prstGeom>
          <a:solidFill>
            <a:srgbClr val="0E7C86"/>
          </a:solidFill>
          <a:ln/>
        </p:spPr>
      </p:sp>
      <p:sp>
        <p:nvSpPr>
          <p:cNvPr id="16" name="Text 14"/>
          <p:cNvSpPr txBox="1"/>
          <p:nvPr/>
        </p:nvSpPr>
        <p:spPr>
          <a:xfrm>
            <a:off x="749808" y="4261104"/>
            <a:ext cx="512064" cy="512064"/>
          </a:xfrm>
          <a:prstGeom prst="rect">
            <a:avLst/>
          </a:prstGeom>
          <a:noFill/>
          <a:ln/>
        </p:spPr>
        <p:txBody>
          <a:bodyPr wrap="square" lIns="0" tIns="0" rIns="0" bIns="0" rtlCol="0" anchor="ctr"/>
          <a:lstStyle/>
          <a:p>
            <a:pPr algn="ctr" indent="0" marL="0">
              <a:buNone/>
            </a:pPr>
            <a:r>
              <a:rPr lang="en-US" sz="2300" b="1" dirty="0">
                <a:solidFill>
                  <a:srgbClr val="FFFFFF"/>
                </a:solidFill>
                <a:latin typeface="Cambria" pitchFamily="34" charset="0"/>
                <a:ea typeface="Cambria" pitchFamily="34" charset="-122"/>
                <a:cs typeface="Cambria" pitchFamily="34" charset="-120"/>
              </a:rPr>
              <a:t>C</a:t>
            </a:r>
            <a:endParaRPr lang="en-US" sz="2300" dirty="0"/>
          </a:p>
        </p:txBody>
      </p:sp>
      <p:sp>
        <p:nvSpPr>
          <p:cNvPr id="17" name="Text 15"/>
          <p:cNvSpPr txBox="1"/>
          <p:nvPr/>
        </p:nvSpPr>
        <p:spPr>
          <a:xfrm>
            <a:off x="1463040" y="4187952"/>
            <a:ext cx="4846320" cy="640080"/>
          </a:xfrm>
          <a:prstGeom prst="rect">
            <a:avLst/>
          </a:prstGeom>
          <a:noFill/>
          <a:ln/>
        </p:spPr>
        <p:txBody>
          <a:bodyPr wrap="square" lIns="0" tIns="0" rIns="0" bIns="0" rtlCol="0" anchor="ctr"/>
          <a:lstStyle/>
          <a:p>
            <a:pPr indent="0" marL="0">
              <a:buNone/>
            </a:pPr>
            <a:r>
              <a:rPr lang="en-US" sz="1550" b="1" dirty="0">
                <a:solidFill>
                  <a:srgbClr val="0E3A43"/>
                </a:solidFill>
                <a:latin typeface="Calibri" pitchFamily="34" charset="0"/>
                <a:ea typeface="Calibri" pitchFamily="34" charset="-122"/>
                <a:cs typeface="Calibri" pitchFamily="34" charset="-120"/>
              </a:rPr>
              <a:t>A-grade exam skills</a:t>
            </a:r>
            <a:endParaRPr lang="en-US" sz="1550" dirty="0"/>
          </a:p>
        </p:txBody>
      </p:sp>
      <p:sp>
        <p:nvSpPr>
          <p:cNvPr id="18" name="Text 16"/>
          <p:cNvSpPr txBox="1"/>
          <p:nvPr/>
        </p:nvSpPr>
        <p:spPr>
          <a:xfrm>
            <a:off x="6400800" y="4187952"/>
            <a:ext cx="5120640" cy="64008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Applying elasticity to a decision — the Oasis Water &amp; City Bikes 10-markers</a:t>
            </a:r>
            <a:endParaRPr lang="en-US" sz="1250" dirty="0"/>
          </a:p>
        </p:txBody>
      </p:sp>
      <p:sp>
        <p:nvSpPr>
          <p:cNvPr id="19" name="Text 17"/>
          <p:cNvSpPr txBox="1"/>
          <p:nvPr/>
        </p:nvSpPr>
        <p:spPr>
          <a:xfrm>
            <a:off x="548640" y="5120640"/>
            <a:ext cx="11091672" cy="457200"/>
          </a:xfrm>
          <a:prstGeom prst="rect">
            <a:avLst/>
          </a:prstGeom>
          <a:noFill/>
          <a:ln/>
        </p:spPr>
        <p:txBody>
          <a:bodyPr wrap="square" lIns="0" tIns="0" rIns="0" bIns="0" rtlCol="0" anchor="ctr"/>
          <a:lstStyle/>
          <a:p>
            <a:pPr indent="0" marL="0">
              <a:buNone/>
            </a:pPr>
            <a:r>
              <a:rPr lang="en-US" sz="1300" i="1" dirty="0">
                <a:solidFill>
                  <a:srgbClr val="5B6B73"/>
                </a:solidFill>
                <a:latin typeface="Calibri" pitchFamily="34" charset="0"/>
                <a:ea typeface="Calibri" pitchFamily="34" charset="-122"/>
                <a:cs typeface="Calibri" pitchFamily="34" charset="-120"/>
              </a:rPr>
              <a:t>Elasticity measures how responsive demand is — to a change in PRICE (PED) or in INCOME (YED). Both are examined as calculations AND as applied judgements.</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WHERE IT FITS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Where PED &amp; YED sit in the specification</a:t>
            </a:r>
            <a:endParaRPr lang="en-US" sz="2700" dirty="0"/>
          </a:p>
        </p:txBody>
      </p:sp>
      <p:sp>
        <p:nvSpPr>
          <p:cNvPr id="4" name="Shape 2"/>
          <p:cNvSpPr/>
          <p:nvPr/>
        </p:nvSpPr>
        <p:spPr>
          <a:xfrm>
            <a:off x="548640" y="1371600"/>
            <a:ext cx="6675120" cy="4800600"/>
          </a:xfrm>
          <a:prstGeom prst="roundRect">
            <a:avLst>
              <a:gd name="adj" fmla="val 1524"/>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6217920" cy="329184"/>
          </a:xfrm>
          <a:prstGeom prst="rect">
            <a:avLst/>
          </a:prstGeom>
          <a:noFill/>
          <a:ln/>
        </p:spPr>
        <p:txBody>
          <a:bodyPr wrap="square" lIns="0" tIns="0" rIns="0" bIns="0" rtlCol="0" anchor="ctr"/>
          <a:lstStyle/>
          <a:p>
            <a:pPr indent="0" marL="0">
              <a:buNone/>
            </a:pPr>
            <a:r>
              <a:rPr lang="en-US" sz="1350" b="1" dirty="0">
                <a:solidFill>
                  <a:srgbClr val="0E3A43"/>
                </a:solidFill>
                <a:latin typeface="Calibri" pitchFamily="34" charset="0"/>
                <a:ea typeface="Calibri" pitchFamily="34" charset="-122"/>
                <a:cs typeface="Calibri" pitchFamily="34" charset="-120"/>
              </a:rPr>
              <a:t>Topic 1.3.2  The market</a:t>
            </a:r>
            <a:endParaRPr lang="en-US" sz="1350" dirty="0"/>
          </a:p>
        </p:txBody>
      </p:sp>
      <p:sp>
        <p:nvSpPr>
          <p:cNvPr id="6" name="Shape 4"/>
          <p:cNvSpPr/>
          <p:nvPr/>
        </p:nvSpPr>
        <p:spPr>
          <a:xfrm>
            <a:off x="749808" y="1901952"/>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7" name="Shape 5"/>
          <p:cNvSpPr/>
          <p:nvPr/>
        </p:nvSpPr>
        <p:spPr>
          <a:xfrm>
            <a:off x="914400" y="2084832"/>
            <a:ext cx="457200" cy="457200"/>
          </a:xfrm>
          <a:prstGeom prst="roundRect">
            <a:avLst>
              <a:gd name="adj" fmla="val 20000"/>
            </a:avLst>
          </a:prstGeom>
          <a:solidFill>
            <a:srgbClr val="0E7C86"/>
          </a:solidFill>
          <a:ln/>
        </p:spPr>
      </p:sp>
      <p:sp>
        <p:nvSpPr>
          <p:cNvPr id="8" name="Text 6"/>
          <p:cNvSpPr txBox="1"/>
          <p:nvPr/>
        </p:nvSpPr>
        <p:spPr>
          <a:xfrm>
            <a:off x="914400" y="2084832"/>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9" name="Text 7"/>
          <p:cNvSpPr txBox="1"/>
          <p:nvPr/>
        </p:nvSpPr>
        <p:spPr>
          <a:xfrm>
            <a:off x="1508760" y="2011680"/>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Demand</a:t>
            </a:r>
            <a:endParaRPr lang="en-US" sz="1250" dirty="0"/>
          </a:p>
        </p:txBody>
      </p:sp>
      <p:sp>
        <p:nvSpPr>
          <p:cNvPr id="10" name="Text 8"/>
          <p:cNvSpPr txBox="1"/>
          <p:nvPr/>
        </p:nvSpPr>
        <p:spPr>
          <a:xfrm>
            <a:off x="1508760" y="2313432"/>
            <a:ext cx="5440680" cy="384048"/>
          </a:xfrm>
          <a:prstGeom prst="rect">
            <a:avLst/>
          </a:prstGeom>
          <a:noFill/>
          <a:ln/>
        </p:spPr>
        <p:txBody>
          <a:bodyPr wrap="square" lIns="0" tIns="0" rIns="0" bIns="0" rtlCol="0" anchor="t"/>
          <a:lstStyle/>
          <a:p>
            <a:pPr indent="0" marL="0">
              <a:buNone/>
            </a:pPr>
            <a:r>
              <a:rPr lang="en-US" sz="1050" dirty="0">
                <a:solidFill>
                  <a:srgbClr val="5B6B73"/>
                </a:solidFill>
                <a:latin typeface="Calibri" pitchFamily="34" charset="0"/>
                <a:ea typeface="Calibri" pitchFamily="34" charset="-122"/>
                <a:cs typeface="Calibri" pitchFamily="34" charset="-120"/>
              </a:rPr>
              <a:t>factors that change demand (PASIFIC) — done</a:t>
            </a:r>
            <a:endParaRPr lang="en-US" sz="1050" dirty="0"/>
          </a:p>
        </p:txBody>
      </p:sp>
      <p:sp>
        <p:nvSpPr>
          <p:cNvPr id="11" name="Shape 9"/>
          <p:cNvSpPr/>
          <p:nvPr/>
        </p:nvSpPr>
        <p:spPr>
          <a:xfrm>
            <a:off x="749808" y="2761488"/>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12" name="Shape 10"/>
          <p:cNvSpPr/>
          <p:nvPr/>
        </p:nvSpPr>
        <p:spPr>
          <a:xfrm>
            <a:off x="914400" y="2944368"/>
            <a:ext cx="457200" cy="457200"/>
          </a:xfrm>
          <a:prstGeom prst="roundRect">
            <a:avLst>
              <a:gd name="adj" fmla="val 20000"/>
            </a:avLst>
          </a:prstGeom>
          <a:solidFill>
            <a:srgbClr val="0E7C86"/>
          </a:solidFill>
          <a:ln/>
        </p:spPr>
      </p:sp>
      <p:sp>
        <p:nvSpPr>
          <p:cNvPr id="13" name="Text 11"/>
          <p:cNvSpPr txBox="1"/>
          <p:nvPr/>
        </p:nvSpPr>
        <p:spPr>
          <a:xfrm>
            <a:off x="914400" y="294436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4" name="Text 12"/>
          <p:cNvSpPr txBox="1"/>
          <p:nvPr/>
        </p:nvSpPr>
        <p:spPr>
          <a:xfrm>
            <a:off x="1508760" y="2871216"/>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Supply</a:t>
            </a:r>
            <a:endParaRPr lang="en-US" sz="1250" dirty="0"/>
          </a:p>
        </p:txBody>
      </p:sp>
      <p:sp>
        <p:nvSpPr>
          <p:cNvPr id="15" name="Text 13"/>
          <p:cNvSpPr txBox="1"/>
          <p:nvPr/>
        </p:nvSpPr>
        <p:spPr>
          <a:xfrm>
            <a:off x="1508760" y="3172968"/>
            <a:ext cx="5440680" cy="384048"/>
          </a:xfrm>
          <a:prstGeom prst="rect">
            <a:avLst/>
          </a:prstGeom>
          <a:noFill/>
          <a:ln/>
        </p:spPr>
        <p:txBody>
          <a:bodyPr wrap="square" lIns="0" tIns="0" rIns="0" bIns="0" rtlCol="0" anchor="t"/>
          <a:lstStyle/>
          <a:p>
            <a:pPr indent="0" marL="0">
              <a:buNone/>
            </a:pPr>
            <a:r>
              <a:rPr lang="en-US" sz="1050" dirty="0">
                <a:solidFill>
                  <a:srgbClr val="5B6B73"/>
                </a:solidFill>
                <a:latin typeface="Calibri" pitchFamily="34" charset="0"/>
                <a:ea typeface="Calibri" pitchFamily="34" charset="-122"/>
                <a:cs typeface="Calibri" pitchFamily="34" charset="-120"/>
              </a:rPr>
              <a:t>factors that change supply (PINTS) — done</a:t>
            </a:r>
            <a:endParaRPr lang="en-US" sz="1050" dirty="0"/>
          </a:p>
        </p:txBody>
      </p:sp>
      <p:sp>
        <p:nvSpPr>
          <p:cNvPr id="16" name="Shape 14"/>
          <p:cNvSpPr/>
          <p:nvPr/>
        </p:nvSpPr>
        <p:spPr>
          <a:xfrm>
            <a:off x="749808" y="3621024"/>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17" name="Shape 15"/>
          <p:cNvSpPr/>
          <p:nvPr/>
        </p:nvSpPr>
        <p:spPr>
          <a:xfrm>
            <a:off x="914400" y="3803904"/>
            <a:ext cx="457200" cy="457200"/>
          </a:xfrm>
          <a:prstGeom prst="roundRect">
            <a:avLst>
              <a:gd name="adj" fmla="val 20000"/>
            </a:avLst>
          </a:prstGeom>
          <a:solidFill>
            <a:srgbClr val="0E7C86"/>
          </a:solidFill>
          <a:ln/>
        </p:spPr>
      </p:sp>
      <p:sp>
        <p:nvSpPr>
          <p:cNvPr id="18" name="Text 16"/>
          <p:cNvSpPr txBox="1"/>
          <p:nvPr/>
        </p:nvSpPr>
        <p:spPr>
          <a:xfrm>
            <a:off x="914400" y="3803904"/>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19" name="Text 17"/>
          <p:cNvSpPr txBox="1"/>
          <p:nvPr/>
        </p:nvSpPr>
        <p:spPr>
          <a:xfrm>
            <a:off x="1508760" y="3730752"/>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Markets</a:t>
            </a:r>
            <a:endParaRPr lang="en-US" sz="1250" dirty="0"/>
          </a:p>
        </p:txBody>
      </p:sp>
      <p:sp>
        <p:nvSpPr>
          <p:cNvPr id="20" name="Text 18"/>
          <p:cNvSpPr txBox="1"/>
          <p:nvPr/>
        </p:nvSpPr>
        <p:spPr>
          <a:xfrm>
            <a:off x="1508760" y="4032504"/>
            <a:ext cx="5440680" cy="384048"/>
          </a:xfrm>
          <a:prstGeom prst="rect">
            <a:avLst/>
          </a:prstGeom>
          <a:noFill/>
          <a:ln/>
        </p:spPr>
        <p:txBody>
          <a:bodyPr wrap="square" lIns="0" tIns="0" rIns="0" bIns="0" rtlCol="0" anchor="t"/>
          <a:lstStyle/>
          <a:p>
            <a:pPr indent="0" marL="0">
              <a:buNone/>
            </a:pPr>
            <a:r>
              <a:rPr lang="en-US" sz="1050" dirty="0">
                <a:solidFill>
                  <a:srgbClr val="5B6B73"/>
                </a:solidFill>
                <a:latin typeface="Calibri" pitchFamily="34" charset="0"/>
                <a:ea typeface="Calibri" pitchFamily="34" charset="-122"/>
                <a:cs typeface="Calibri" pitchFamily="34" charset="-120"/>
              </a:rPr>
              <a:t>equilibrium &amp; diagrams — done</a:t>
            </a:r>
            <a:endParaRPr lang="en-US" sz="1050" dirty="0"/>
          </a:p>
        </p:txBody>
      </p:sp>
      <p:sp>
        <p:nvSpPr>
          <p:cNvPr id="21" name="Shape 19"/>
          <p:cNvSpPr/>
          <p:nvPr/>
        </p:nvSpPr>
        <p:spPr>
          <a:xfrm>
            <a:off x="749808" y="4480560"/>
            <a:ext cx="6272784" cy="841248"/>
          </a:xfrm>
          <a:prstGeom prst="roundRect">
            <a:avLst>
              <a:gd name="adj" fmla="val 8696"/>
            </a:avLst>
          </a:prstGeom>
          <a:solidFill>
            <a:srgbClr val="FBF0D8"/>
          </a:solidFill>
          <a:ln/>
          <a:effectLst>
            <a:outerShdw sx="100000" sy="100000" kx="0" ky="0" algn="bl" rotWithShape="0" blurRad="76200" dist="25400" dir="5400000">
              <a:srgbClr val="9AAAB0">
                <a:alpha val="28000"/>
              </a:srgbClr>
            </a:outerShdw>
          </a:effectLst>
        </p:spPr>
      </p:sp>
      <p:sp>
        <p:nvSpPr>
          <p:cNvPr id="22" name="Shape 20"/>
          <p:cNvSpPr/>
          <p:nvPr/>
        </p:nvSpPr>
        <p:spPr>
          <a:xfrm>
            <a:off x="749808" y="4480560"/>
            <a:ext cx="91440" cy="841248"/>
          </a:xfrm>
          <a:prstGeom prst="roundRect">
            <a:avLst/>
          </a:prstGeom>
          <a:solidFill>
            <a:srgbClr val="E0940F"/>
          </a:solidFill>
          <a:ln/>
        </p:spPr>
      </p:sp>
      <p:sp>
        <p:nvSpPr>
          <p:cNvPr id="23" name="Shape 21"/>
          <p:cNvSpPr/>
          <p:nvPr/>
        </p:nvSpPr>
        <p:spPr>
          <a:xfrm>
            <a:off x="914400" y="4663440"/>
            <a:ext cx="457200" cy="457200"/>
          </a:xfrm>
          <a:prstGeom prst="roundRect">
            <a:avLst>
              <a:gd name="adj" fmla="val 20000"/>
            </a:avLst>
          </a:prstGeom>
          <a:solidFill>
            <a:srgbClr val="E0940F"/>
          </a:solidFill>
          <a:ln/>
        </p:spPr>
      </p:sp>
      <p:sp>
        <p:nvSpPr>
          <p:cNvPr id="24" name="Text 22"/>
          <p:cNvSpPr txBox="1"/>
          <p:nvPr/>
        </p:nvSpPr>
        <p:spPr>
          <a:xfrm>
            <a:off x="914400" y="466344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4</a:t>
            </a:r>
            <a:endParaRPr lang="en-US" sz="1900" dirty="0"/>
          </a:p>
        </p:txBody>
      </p:sp>
      <p:sp>
        <p:nvSpPr>
          <p:cNvPr id="25" name="Text 23"/>
          <p:cNvSpPr txBox="1"/>
          <p:nvPr/>
        </p:nvSpPr>
        <p:spPr>
          <a:xfrm>
            <a:off x="1508760" y="4590288"/>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Price elasticity of demand (PED)   ← this lesson</a:t>
            </a:r>
            <a:endParaRPr lang="en-US" sz="1250" dirty="0"/>
          </a:p>
        </p:txBody>
      </p:sp>
      <p:sp>
        <p:nvSpPr>
          <p:cNvPr id="26" name="Text 24"/>
          <p:cNvSpPr txBox="1"/>
          <p:nvPr/>
        </p:nvSpPr>
        <p:spPr>
          <a:xfrm>
            <a:off x="1508760" y="4892040"/>
            <a:ext cx="5440680" cy="384048"/>
          </a:xfrm>
          <a:prstGeom prst="rect">
            <a:avLst/>
          </a:prstGeom>
          <a:noFill/>
          <a:ln/>
        </p:spPr>
        <p:txBody>
          <a:bodyPr wrap="square" lIns="0" tIns="0" rIns="0" bIns="0" rtlCol="0" anchor="t"/>
          <a:lstStyle/>
          <a:p>
            <a:pPr indent="0" marL="0">
              <a:buNone/>
            </a:pPr>
            <a:r>
              <a:rPr lang="en-US" sz="1050" dirty="0">
                <a:solidFill>
                  <a:srgbClr val="5B6B73"/>
                </a:solidFill>
                <a:latin typeface="Calibri" pitchFamily="34" charset="0"/>
                <a:ea typeface="Calibri" pitchFamily="34" charset="-122"/>
                <a:cs typeface="Calibri" pitchFamily="34" charset="-120"/>
              </a:rPr>
              <a:t>calculation, interpretation, factors, pricing, total revenue</a:t>
            </a:r>
            <a:endParaRPr lang="en-US" sz="1050" dirty="0"/>
          </a:p>
        </p:txBody>
      </p:sp>
      <p:sp>
        <p:nvSpPr>
          <p:cNvPr id="27" name="Shape 25"/>
          <p:cNvSpPr/>
          <p:nvPr/>
        </p:nvSpPr>
        <p:spPr>
          <a:xfrm>
            <a:off x="749808" y="5340096"/>
            <a:ext cx="6272784" cy="841248"/>
          </a:xfrm>
          <a:prstGeom prst="roundRect">
            <a:avLst>
              <a:gd name="adj" fmla="val 8696"/>
            </a:avLst>
          </a:prstGeom>
          <a:solidFill>
            <a:srgbClr val="FBF0D8"/>
          </a:solidFill>
          <a:ln/>
          <a:effectLst>
            <a:outerShdw sx="100000" sy="100000" kx="0" ky="0" algn="bl" rotWithShape="0" blurRad="76200" dist="25400" dir="5400000">
              <a:srgbClr val="9AAAB0">
                <a:alpha val="28000"/>
              </a:srgbClr>
            </a:outerShdw>
          </a:effectLst>
        </p:spPr>
      </p:sp>
      <p:sp>
        <p:nvSpPr>
          <p:cNvPr id="28" name="Shape 26"/>
          <p:cNvSpPr/>
          <p:nvPr/>
        </p:nvSpPr>
        <p:spPr>
          <a:xfrm>
            <a:off x="749808" y="5340096"/>
            <a:ext cx="91440" cy="841248"/>
          </a:xfrm>
          <a:prstGeom prst="roundRect">
            <a:avLst/>
          </a:prstGeom>
          <a:solidFill>
            <a:srgbClr val="E0940F"/>
          </a:solidFill>
          <a:ln/>
        </p:spPr>
      </p:sp>
      <p:sp>
        <p:nvSpPr>
          <p:cNvPr id="29" name="Shape 27"/>
          <p:cNvSpPr/>
          <p:nvPr/>
        </p:nvSpPr>
        <p:spPr>
          <a:xfrm>
            <a:off x="914400" y="5522976"/>
            <a:ext cx="457200" cy="457200"/>
          </a:xfrm>
          <a:prstGeom prst="roundRect">
            <a:avLst>
              <a:gd name="adj" fmla="val 20000"/>
            </a:avLst>
          </a:prstGeom>
          <a:solidFill>
            <a:srgbClr val="E0940F"/>
          </a:solidFill>
          <a:ln/>
        </p:spPr>
      </p:sp>
      <p:sp>
        <p:nvSpPr>
          <p:cNvPr id="30" name="Text 28"/>
          <p:cNvSpPr txBox="1"/>
          <p:nvPr/>
        </p:nvSpPr>
        <p:spPr>
          <a:xfrm>
            <a:off x="914400" y="552297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5</a:t>
            </a:r>
            <a:endParaRPr lang="en-US" sz="1900" dirty="0"/>
          </a:p>
        </p:txBody>
      </p:sp>
      <p:sp>
        <p:nvSpPr>
          <p:cNvPr id="31" name="Text 29"/>
          <p:cNvSpPr txBox="1"/>
          <p:nvPr/>
        </p:nvSpPr>
        <p:spPr>
          <a:xfrm>
            <a:off x="1508760" y="5449824"/>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Income elasticity of demand (YED)   ← this lesson</a:t>
            </a:r>
            <a:endParaRPr lang="en-US" sz="1250" dirty="0"/>
          </a:p>
        </p:txBody>
      </p:sp>
      <p:sp>
        <p:nvSpPr>
          <p:cNvPr id="32" name="Text 30"/>
          <p:cNvSpPr txBox="1"/>
          <p:nvPr/>
        </p:nvSpPr>
        <p:spPr>
          <a:xfrm>
            <a:off x="1508760" y="5751576"/>
            <a:ext cx="5440680" cy="384048"/>
          </a:xfrm>
          <a:prstGeom prst="rect">
            <a:avLst/>
          </a:prstGeom>
          <a:noFill/>
          <a:ln/>
        </p:spPr>
        <p:txBody>
          <a:bodyPr wrap="square" lIns="0" tIns="0" rIns="0" bIns="0" rtlCol="0" anchor="t"/>
          <a:lstStyle/>
          <a:p>
            <a:pPr indent="0" marL="0">
              <a:buNone/>
            </a:pPr>
            <a:r>
              <a:rPr lang="en-US" sz="1050" dirty="0">
                <a:solidFill>
                  <a:srgbClr val="5B6B73"/>
                </a:solidFill>
                <a:latin typeface="Calibri" pitchFamily="34" charset="0"/>
                <a:ea typeface="Calibri" pitchFamily="34" charset="-122"/>
                <a:cs typeface="Calibri" pitchFamily="34" charset="-120"/>
              </a:rPr>
              <a:t>calculation, normal &amp; inferior goods, factors, significance</a:t>
            </a:r>
            <a:endParaRPr lang="en-US" sz="1050" dirty="0"/>
          </a:p>
        </p:txBody>
      </p:sp>
      <p:sp>
        <p:nvSpPr>
          <p:cNvPr id="33" name="Shape 31"/>
          <p:cNvSpPr/>
          <p:nvPr/>
        </p:nvSpPr>
        <p:spPr>
          <a:xfrm>
            <a:off x="7360920" y="1371600"/>
            <a:ext cx="4279392" cy="4800600"/>
          </a:xfrm>
          <a:prstGeom prst="roundRect">
            <a:avLst>
              <a:gd name="adj" fmla="val 1709"/>
            </a:avLst>
          </a:prstGeom>
          <a:solidFill>
            <a:srgbClr val="EAF3F4"/>
          </a:solidFill>
          <a:ln/>
          <a:effectLst>
            <a:outerShdw sx="100000" sy="100000" kx="0" ky="0" algn="bl" rotWithShape="0" blurRad="76200" dist="25400" dir="5400000">
              <a:srgbClr val="9AAAB0">
                <a:alpha val="28000"/>
              </a:srgbClr>
            </a:outerShdw>
          </a:effectLst>
        </p:spPr>
      </p:sp>
      <p:sp>
        <p:nvSpPr>
          <p:cNvPr id="34" name="Text 32"/>
          <p:cNvSpPr txBox="1"/>
          <p:nvPr/>
        </p:nvSpPr>
        <p:spPr>
          <a:xfrm>
            <a:off x="7571232" y="1508760"/>
            <a:ext cx="3840480" cy="365760"/>
          </a:xfrm>
          <a:prstGeom prst="rect">
            <a:avLst/>
          </a:prstGeom>
          <a:noFill/>
          <a:ln/>
        </p:spPr>
        <p:txBody>
          <a:bodyPr wrap="square" lIns="0" tIns="0" rIns="0" bIns="0" rtlCol="0" anchor="ctr"/>
          <a:lstStyle/>
          <a:p>
            <a:pPr indent="0" marL="0">
              <a:buNone/>
            </a:pPr>
            <a:r>
              <a:rPr lang="en-US" sz="1400" b="1" dirty="0">
                <a:solidFill>
                  <a:srgbClr val="0B5E66"/>
                </a:solidFill>
                <a:latin typeface="Calibri" pitchFamily="34" charset="0"/>
                <a:ea typeface="Calibri" pitchFamily="34" charset="-122"/>
                <a:cs typeface="Calibri" pitchFamily="34" charset="-120"/>
              </a:rPr>
              <a:t>Why elasticity matters</a:t>
            </a:r>
            <a:endParaRPr lang="en-US" sz="1400" dirty="0"/>
          </a:p>
        </p:txBody>
      </p:sp>
      <p:sp>
        <p:nvSpPr>
          <p:cNvPr id="35" name="Text 33"/>
          <p:cNvSpPr txBox="1"/>
          <p:nvPr/>
        </p:nvSpPr>
        <p:spPr>
          <a:xfrm>
            <a:off x="7571232" y="1965960"/>
            <a:ext cx="3886200" cy="40233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PED tells a firm whether to raise or cut price to grow revenue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 strong brand / few substitutes makes demand inelastic — links to pricing (1.3.3)</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YED guides the product mix across the economic cycle (boom vs recession)</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Both turn the demand curve into a decision-making tool</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A</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A</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Price elasticity of demand (PED)</a:t>
            </a:r>
            <a:endParaRPr lang="en-US" sz="32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the formula &amp; how to calculate it  ·  elastic vs inelastic  ·  the factors (SPLAT)  ·  PED &amp; total revenue  ·  significance for pricing</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PED</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What is PED? The formula</a:t>
            </a:r>
            <a:endParaRPr lang="en-US" sz="2700" dirty="0"/>
          </a:p>
        </p:txBody>
      </p:sp>
      <p:sp>
        <p:nvSpPr>
          <p:cNvPr id="4" name="Shape 2"/>
          <p:cNvSpPr/>
          <p:nvPr/>
        </p:nvSpPr>
        <p:spPr>
          <a:xfrm>
            <a:off x="548640" y="1371600"/>
            <a:ext cx="11091672" cy="868680"/>
          </a:xfrm>
          <a:prstGeom prst="roundRect">
            <a:avLst>
              <a:gd name="adj" fmla="val 8421"/>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2743200" cy="274320"/>
          </a:xfrm>
          <a:prstGeom prst="rect">
            <a:avLst/>
          </a:prstGeom>
          <a:noFill/>
          <a:ln/>
        </p:spPr>
        <p:txBody>
          <a:bodyPr wrap="square" lIns="0" tIns="0" rIns="0" bIns="0" rtlCol="0" anchor="ctr"/>
          <a:lstStyle/>
          <a:p>
            <a:pPr indent="0" marL="0">
              <a:buNone/>
            </a:pPr>
            <a:r>
              <a:rPr lang="en-US" sz="1100" b="1" spc="100" kern="0" dirty="0">
                <a:solidFill>
                  <a:srgbClr val="0B5E66"/>
                </a:solidFill>
                <a:latin typeface="Calibri" pitchFamily="34" charset="0"/>
                <a:ea typeface="Calibri" pitchFamily="34" charset="-122"/>
                <a:cs typeface="Calibri" pitchFamily="34" charset="-120"/>
              </a:rPr>
              <a:t>DEFINITION</a:t>
            </a:r>
            <a:endParaRPr lang="en-US" sz="1100" dirty="0"/>
          </a:p>
        </p:txBody>
      </p:sp>
      <p:sp>
        <p:nvSpPr>
          <p:cNvPr id="6" name="Text 4"/>
          <p:cNvSpPr txBox="1"/>
          <p:nvPr/>
        </p:nvSpPr>
        <p:spPr>
          <a:xfrm>
            <a:off x="777240" y="1737360"/>
            <a:ext cx="10607040" cy="457200"/>
          </a:xfrm>
          <a:prstGeom prst="rect">
            <a:avLst/>
          </a:prstGeom>
          <a:noFill/>
          <a:ln/>
        </p:spPr>
        <p:txBody>
          <a:bodyPr wrap="square" lIns="0" tIns="0" rIns="0" bIns="0" rtlCol="0" anchor="t"/>
          <a:lstStyle/>
          <a:p>
            <a:pPr indent="0" marL="0">
              <a:buNone/>
            </a:pPr>
            <a:r>
              <a:rPr lang="en-US" sz="1450" dirty="0">
                <a:solidFill>
                  <a:srgbClr val="1F2A33"/>
                </a:solidFill>
                <a:latin typeface="Calibri" pitchFamily="34" charset="0"/>
                <a:ea typeface="Calibri" pitchFamily="34" charset="-122"/>
                <a:cs typeface="Calibri" pitchFamily="34" charset="-120"/>
              </a:rPr>
              <a:t>Price elasticity of demand (PED) measures the responsiveness of quantity demanded to a change in price.</a:t>
            </a:r>
            <a:endParaRPr lang="en-US" sz="1450" dirty="0"/>
          </a:p>
        </p:txBody>
      </p:sp>
      <p:sp>
        <p:nvSpPr>
          <p:cNvPr id="7" name="Shape 5"/>
          <p:cNvSpPr/>
          <p:nvPr/>
        </p:nvSpPr>
        <p:spPr>
          <a:xfrm>
            <a:off x="548640" y="2468880"/>
            <a:ext cx="11091672" cy="1828800"/>
          </a:xfrm>
          <a:prstGeom prst="roundRect">
            <a:avLst>
              <a:gd name="adj" fmla="val 4000"/>
            </a:avLst>
          </a:prstGeom>
          <a:solidFill>
            <a:srgbClr val="0E3A43"/>
          </a:solidFill>
          <a:ln/>
          <a:effectLst>
            <a:outerShdw sx="100000" sy="100000" kx="0" ky="0" algn="bl" rotWithShape="0" blurRad="76200" dist="25400" dir="5400000">
              <a:srgbClr val="9AAAB0">
                <a:alpha val="28000"/>
              </a:srgbClr>
            </a:outerShdw>
          </a:effectLst>
        </p:spPr>
      </p:sp>
      <p:sp>
        <p:nvSpPr>
          <p:cNvPr id="8" name="Text 6"/>
          <p:cNvSpPr txBox="1"/>
          <p:nvPr/>
        </p:nvSpPr>
        <p:spPr>
          <a:xfrm>
            <a:off x="1005840" y="3017520"/>
            <a:ext cx="1645920" cy="7315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PED  =</a:t>
            </a:r>
            <a:endParaRPr lang="en-US" sz="2600" dirty="0"/>
          </a:p>
        </p:txBody>
      </p:sp>
      <p:sp>
        <p:nvSpPr>
          <p:cNvPr id="9" name="Text 7"/>
          <p:cNvSpPr txBox="1"/>
          <p:nvPr/>
        </p:nvSpPr>
        <p:spPr>
          <a:xfrm>
            <a:off x="2743200" y="2880360"/>
            <a:ext cx="4754880" cy="457200"/>
          </a:xfrm>
          <a:prstGeom prst="rect">
            <a:avLst/>
          </a:prstGeom>
          <a:noFill/>
          <a:ln/>
        </p:spPr>
        <p:txBody>
          <a:bodyPr wrap="square" lIns="0" tIns="0" rIns="0" bIns="0" rtlCol="0" anchor="ctr"/>
          <a:lstStyle/>
          <a:p>
            <a:pPr algn="ctr" indent="0" marL="0">
              <a:buNone/>
            </a:pPr>
            <a:r>
              <a:rPr lang="en-US" sz="1700" b="1" dirty="0">
                <a:solidFill>
                  <a:srgbClr val="E0940F"/>
                </a:solidFill>
                <a:latin typeface="Calibri" pitchFamily="34" charset="0"/>
                <a:ea typeface="Calibri" pitchFamily="34" charset="-122"/>
                <a:cs typeface="Calibri" pitchFamily="34" charset="-120"/>
              </a:rPr>
              <a:t>% change in quantity demanded</a:t>
            </a:r>
            <a:endParaRPr lang="en-US" sz="1700" dirty="0"/>
          </a:p>
        </p:txBody>
      </p:sp>
      <p:sp>
        <p:nvSpPr>
          <p:cNvPr id="10" name="Shape 8"/>
          <p:cNvSpPr/>
          <p:nvPr/>
        </p:nvSpPr>
        <p:spPr>
          <a:xfrm>
            <a:off x="2743200" y="3429000"/>
            <a:ext cx="4754880" cy="0"/>
          </a:xfrm>
          <a:prstGeom prst="line">
            <a:avLst/>
          </a:prstGeom>
          <a:noFill/>
          <a:ln w="19050">
            <a:solidFill>
              <a:srgbClr val="FFFFFF"/>
            </a:solidFill>
            <a:prstDash val="solid"/>
          </a:ln>
        </p:spPr>
      </p:sp>
      <p:sp>
        <p:nvSpPr>
          <p:cNvPr id="11" name="Text 9"/>
          <p:cNvSpPr txBox="1"/>
          <p:nvPr/>
        </p:nvSpPr>
        <p:spPr>
          <a:xfrm>
            <a:off x="2743200" y="3493008"/>
            <a:ext cx="4754880" cy="457200"/>
          </a:xfrm>
          <a:prstGeom prst="rect">
            <a:avLst/>
          </a:prstGeom>
          <a:noFill/>
          <a:ln/>
        </p:spPr>
        <p:txBody>
          <a:bodyPr wrap="square" lIns="0" tIns="0" rIns="0" bIns="0" rtlCol="0" anchor="ctr"/>
          <a:lstStyle/>
          <a:p>
            <a:pPr algn="ctr" indent="0" marL="0">
              <a:buNone/>
            </a:pPr>
            <a:r>
              <a:rPr lang="en-US" sz="1700" b="1" dirty="0">
                <a:solidFill>
                  <a:srgbClr val="7FC4CB"/>
                </a:solidFill>
                <a:latin typeface="Calibri" pitchFamily="34" charset="0"/>
                <a:ea typeface="Calibri" pitchFamily="34" charset="-122"/>
                <a:cs typeface="Calibri" pitchFamily="34" charset="-120"/>
              </a:rPr>
              <a:t>% change in price</a:t>
            </a:r>
            <a:endParaRPr lang="en-US" sz="1700" dirty="0"/>
          </a:p>
        </p:txBody>
      </p:sp>
      <p:sp>
        <p:nvSpPr>
          <p:cNvPr id="12" name="Text 10"/>
          <p:cNvSpPr txBox="1"/>
          <p:nvPr/>
        </p:nvSpPr>
        <p:spPr>
          <a:xfrm>
            <a:off x="7955280" y="3200400"/>
            <a:ext cx="3108960" cy="548640"/>
          </a:xfrm>
          <a:prstGeom prst="rect">
            <a:avLst/>
          </a:prstGeom>
          <a:noFill/>
          <a:ln/>
        </p:spPr>
        <p:txBody>
          <a:bodyPr wrap="square" lIns="0" tIns="0" rIns="0" bIns="0" rtlCol="0" anchor="ctr"/>
          <a:lstStyle/>
          <a:p>
            <a:pPr algn="l" indent="0" marL="0">
              <a:buNone/>
            </a:pPr>
            <a:r>
              <a:rPr lang="en-US" sz="1300" dirty="0">
                <a:solidFill>
                  <a:srgbClr val="D7E6E8"/>
                </a:solidFill>
                <a:latin typeface="Calibri" pitchFamily="34" charset="0"/>
                <a:ea typeface="Calibri" pitchFamily="34" charset="-122"/>
                <a:cs typeface="Calibri" pitchFamily="34" charset="-120"/>
              </a:rPr>
              <a:t>% change  =  </a:t>
            </a:r>
            <a:pPr algn="l" indent="0" marL="0">
              <a:buNone/>
            </a:pPr>
            <a:r>
              <a:rPr lang="en-US" sz="1300" b="1" dirty="0">
                <a:solidFill>
                  <a:srgbClr val="FFFFFF"/>
                </a:solidFill>
                <a:latin typeface="Calibri" pitchFamily="34" charset="0"/>
                <a:ea typeface="Calibri" pitchFamily="34" charset="-122"/>
                <a:cs typeface="Calibri" pitchFamily="34" charset="-120"/>
              </a:rPr>
              <a:t>(new − old) ÷ old × 100</a:t>
            </a:r>
            <a:endParaRPr lang="en-US" sz="1300" dirty="0"/>
          </a:p>
        </p:txBody>
      </p:sp>
      <p:sp>
        <p:nvSpPr>
          <p:cNvPr id="13" name="Shape 11"/>
          <p:cNvSpPr/>
          <p:nvPr/>
        </p:nvSpPr>
        <p:spPr>
          <a:xfrm>
            <a:off x="548640" y="4526280"/>
            <a:ext cx="11091672" cy="1645920"/>
          </a:xfrm>
          <a:prstGeom prst="roundRect">
            <a:avLst>
              <a:gd name="adj" fmla="val 4444"/>
            </a:avLst>
          </a:prstGeom>
          <a:solidFill>
            <a:srgbClr val="FBF0D8"/>
          </a:solidFill>
          <a:ln/>
          <a:effectLst>
            <a:outerShdw sx="100000" sy="100000" kx="0" ky="0" algn="bl" rotWithShape="0" blurRad="76200" dist="25400" dir="5400000">
              <a:srgbClr val="9AAAB0">
                <a:alpha val="28000"/>
              </a:srgbClr>
            </a:outerShdw>
          </a:effectLst>
        </p:spPr>
      </p:sp>
      <p:sp>
        <p:nvSpPr>
          <p:cNvPr id="14" name="Text 12"/>
          <p:cNvSpPr txBox="1"/>
          <p:nvPr/>
        </p:nvSpPr>
        <p:spPr>
          <a:xfrm>
            <a:off x="822960" y="4663440"/>
            <a:ext cx="10515600" cy="141732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rgbClr val="1F2A33"/>
                </a:solidFill>
                <a:latin typeface="Calibri" pitchFamily="34" charset="0"/>
                <a:ea typeface="Calibri" pitchFamily="34" charset="-122"/>
                <a:cs typeface="Calibri" pitchFamily="34" charset="-120"/>
              </a:rPr>
              <a:t>Always calculate each % change using the ORIGINAL value as the denominator</a:t>
            </a:r>
            <a:endParaRPr lang="en-US" sz="1350" dirty="0"/>
          </a:p>
          <a:p>
            <a:pPr marL="177800" indent="-177800">
              <a:spcAft>
                <a:spcPts val="700"/>
              </a:spcAft>
              <a:buSzPct val="100000"/>
              <a:buChar char="•"/>
            </a:pPr>
            <a:r>
              <a:rPr lang="en-US" sz="1350" dirty="0">
                <a:solidFill>
                  <a:srgbClr val="1F2A33"/>
                </a:solidFill>
                <a:latin typeface="Calibri" pitchFamily="34" charset="0"/>
                <a:ea typeface="Calibri" pitchFamily="34" charset="-122"/>
                <a:cs typeface="Calibri" pitchFamily="34" charset="-120"/>
              </a:rPr>
              <a:t>PED is normally NEGATIVE (price and quantity move in opposite directions) — use the ABSOLUTE value to classify</a:t>
            </a:r>
            <a:endParaRPr lang="en-US" sz="1350" dirty="0"/>
          </a:p>
          <a:p>
            <a:pPr marL="177800" indent="-177800">
              <a:spcAft>
                <a:spcPts val="700"/>
              </a:spcAft>
              <a:buSzPct val="100000"/>
              <a:buChar char="•"/>
            </a:pPr>
            <a:r>
              <a:rPr lang="en-US" sz="1350" dirty="0">
                <a:solidFill>
                  <a:srgbClr val="1F2A33"/>
                </a:solidFill>
                <a:latin typeface="Calibri" pitchFamily="34" charset="0"/>
                <a:ea typeface="Calibri" pitchFamily="34" charset="-122"/>
                <a:cs typeface="Calibri" pitchFamily="34" charset="-120"/>
              </a:rPr>
              <a:t>A big number = very responsive (elastic); a small number = unresponsive (inelastic)</a:t>
            </a:r>
            <a:endParaRPr lang="en-US" sz="13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PED</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Calculating PED — worked example</a:t>
            </a:r>
            <a:endParaRPr lang="en-US" sz="2700" dirty="0"/>
          </a:p>
        </p:txBody>
      </p:sp>
      <p:sp>
        <p:nvSpPr>
          <p:cNvPr id="4" name="Shape 2"/>
          <p:cNvSpPr/>
          <p:nvPr/>
        </p:nvSpPr>
        <p:spPr>
          <a:xfrm>
            <a:off x="548640" y="1371600"/>
            <a:ext cx="11091672" cy="658368"/>
          </a:xfrm>
          <a:prstGeom prst="roundRect">
            <a:avLst>
              <a:gd name="adj" fmla="val 11111"/>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44752"/>
            <a:ext cx="10698480" cy="512064"/>
          </a:xfrm>
          <a:prstGeom prst="rect">
            <a:avLst/>
          </a:prstGeom>
          <a:noFill/>
          <a:ln/>
        </p:spPr>
        <p:txBody>
          <a:bodyPr wrap="square" lIns="0" tIns="0" rIns="0" bIns="0" rtlCol="0" anchor="ctr"/>
          <a:lstStyle/>
          <a:p>
            <a:pPr indent="0" marL="0">
              <a:buNone/>
            </a:pPr>
            <a:r>
              <a:rPr lang="en-US" sz="1350" b="1" dirty="0">
                <a:solidFill>
                  <a:srgbClr val="0B5E66"/>
                </a:solidFill>
                <a:latin typeface="Calibri" pitchFamily="34" charset="0"/>
                <a:ea typeface="Calibri" pitchFamily="34" charset="-122"/>
                <a:cs typeface="Calibri" pitchFamily="34" charset="-120"/>
              </a:rPr>
              <a:t>Sunglasses:  </a:t>
            </a:r>
            <a:pPr indent="0" marL="0">
              <a:buNone/>
            </a:pPr>
            <a:r>
              <a:rPr lang="en-US" sz="1350" dirty="0">
                <a:solidFill>
                  <a:srgbClr val="1F2A33"/>
                </a:solidFill>
                <a:latin typeface="Calibri" pitchFamily="34" charset="0"/>
                <a:ea typeface="Calibri" pitchFamily="34" charset="-122"/>
                <a:cs typeface="Calibri" pitchFamily="34" charset="-120"/>
              </a:rPr>
              <a:t>price rises from £35 to £40, and quantity demanded falls by 45%. Calculate PED and classify.</a:t>
            </a:r>
            <a:endParaRPr lang="en-US" sz="13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6766560" cy="914400"/>
        </p:xfrm>
        <a:graphic>
          <a:graphicData uri="http://schemas.openxmlformats.org/drawingml/2006/table">
            <a:tbl>
              <a:tblPr/>
              <a:tblGrid>
                <a:gridCol w="2834640"/>
                <a:gridCol w="2651760"/>
                <a:gridCol w="1280160"/>
              </a:tblGrid>
              <a:tr h="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Step</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Calculation</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Answer</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r>
              <a:tr h="0">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 change in price</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(40 − 35) ÷ 35 × 100</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+14.29%</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 change in quantity demanded</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given</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−45%</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0">
                <a:tc>
                  <a:txBody>
                    <a:bodyPr/>
                    <a:lstStyle/>
                    <a:p>
                      <a:pPr algn="l" indent="0" marL="0">
                        <a:buNone/>
                      </a:pPr>
                      <a:r>
                        <a:rPr lang="en-US" sz="1250" b="1" dirty="0">
                          <a:solidFill>
                            <a:srgbClr val="1F2A33"/>
                          </a:solidFill>
                          <a:latin typeface="Calibri" pitchFamily="34" charset="0"/>
                          <a:ea typeface="Calibri" pitchFamily="34" charset="-122"/>
                          <a:cs typeface="Calibri" pitchFamily="34" charset="-120"/>
                        </a:rPr>
                        <a:t>PED</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1F2A33"/>
                          </a:solidFill>
                          <a:latin typeface="Calibri" pitchFamily="34" charset="0"/>
                          <a:ea typeface="Calibri" pitchFamily="34" charset="-122"/>
                          <a:cs typeface="Calibri" pitchFamily="34" charset="-120"/>
                        </a:rPr>
                        <a:t>−45% ÷ +14.29%</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C14B37"/>
                          </a:solidFill>
                          <a:latin typeface="Calibri" pitchFamily="34" charset="0"/>
                          <a:ea typeface="Calibri" pitchFamily="34" charset="-122"/>
                          <a:cs typeface="Calibri" pitchFamily="34" charset="-120"/>
                        </a:rPr>
                        <a:t>−3.15</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0">
                <a:tc>
                  <a:txBody>
                    <a:bodyPr/>
                    <a:lstStyle/>
                    <a:p>
                      <a:pPr algn="l" indent="0" marL="0">
                        <a:buNone/>
                      </a:pPr>
                      <a:r>
                        <a:rPr lang="en-US" sz="1250" b="1" dirty="0">
                          <a:solidFill>
                            <a:srgbClr val="1F2A33"/>
                          </a:solidFill>
                          <a:latin typeface="Calibri" pitchFamily="34" charset="0"/>
                          <a:ea typeface="Calibri" pitchFamily="34" charset="-122"/>
                          <a:cs typeface="Calibri" pitchFamily="34" charset="-120"/>
                        </a:rPr>
                        <a:t>Classify</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|3.15| &gt; 1</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C14B37"/>
                          </a:solidFill>
                          <a:latin typeface="Calibri" pitchFamily="34" charset="0"/>
                          <a:ea typeface="Calibri" pitchFamily="34" charset="-122"/>
                          <a:cs typeface="Calibri" pitchFamily="34" charset="-120"/>
                        </a:rPr>
                        <a:t>Price ELASTIC</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bl>
          </a:graphicData>
        </a:graphic>
      </p:graphicFrame>
      <p:sp>
        <p:nvSpPr>
          <p:cNvPr id="7" name="Shape 4"/>
          <p:cNvSpPr/>
          <p:nvPr/>
        </p:nvSpPr>
        <p:spPr>
          <a:xfrm>
            <a:off x="7589520" y="2194560"/>
            <a:ext cx="4050792" cy="3566160"/>
          </a:xfrm>
          <a:prstGeom prst="roundRect">
            <a:avLst>
              <a:gd name="adj" fmla="val 2051"/>
            </a:avLst>
          </a:prstGeom>
          <a:solidFill>
            <a:srgbClr val="FBF0D8"/>
          </a:solidFill>
          <a:ln/>
          <a:effectLst>
            <a:outerShdw sx="100000" sy="100000" kx="0" ky="0" algn="bl" rotWithShape="0" blurRad="76200" dist="25400" dir="5400000">
              <a:srgbClr val="9AAAB0">
                <a:alpha val="28000"/>
              </a:srgbClr>
            </a:outerShdw>
          </a:effectLst>
        </p:spPr>
      </p:sp>
      <p:sp>
        <p:nvSpPr>
          <p:cNvPr id="8" name="Text 5"/>
          <p:cNvSpPr txBox="1"/>
          <p:nvPr/>
        </p:nvSpPr>
        <p:spPr>
          <a:xfrm>
            <a:off x="7818120" y="2331720"/>
            <a:ext cx="3657600" cy="320040"/>
          </a:xfrm>
          <a:prstGeom prst="rect">
            <a:avLst/>
          </a:prstGeom>
          <a:noFill/>
          <a:ln/>
        </p:spPr>
        <p:txBody>
          <a:bodyPr wrap="square" lIns="0" tIns="0" rIns="0" bIns="0" rtlCol="0" anchor="ctr"/>
          <a:lstStyle/>
          <a:p>
            <a:pPr indent="0" marL="0">
              <a:buNone/>
            </a:pPr>
            <a:r>
              <a:rPr lang="en-US" sz="1400" b="1" dirty="0">
                <a:solidFill>
                  <a:srgbClr val="8A5A06"/>
                </a:solidFill>
                <a:latin typeface="Calibri" pitchFamily="34" charset="0"/>
                <a:ea typeface="Calibri" pitchFamily="34" charset="-122"/>
                <a:cs typeface="Calibri" pitchFamily="34" charset="-120"/>
              </a:rPr>
              <a:t>Your turn</a:t>
            </a:r>
            <a:endParaRPr lang="en-US" sz="1400" dirty="0"/>
          </a:p>
        </p:txBody>
      </p:sp>
      <p:sp>
        <p:nvSpPr>
          <p:cNvPr id="9" name="Text 6"/>
          <p:cNvSpPr txBox="1"/>
          <p:nvPr/>
        </p:nvSpPr>
        <p:spPr>
          <a:xfrm>
            <a:off x="7818120" y="2670048"/>
            <a:ext cx="3611880" cy="73152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Cinema tickets fall from AED 50 to AED 45; quantity rises from 200 to 250.</a:t>
            </a:r>
            <a:endParaRPr lang="en-US" sz="1250" dirty="0"/>
          </a:p>
        </p:txBody>
      </p:sp>
      <p:sp>
        <p:nvSpPr>
          <p:cNvPr id="10" name="Text 7"/>
          <p:cNvSpPr txBox="1"/>
          <p:nvPr/>
        </p:nvSpPr>
        <p:spPr>
          <a:xfrm>
            <a:off x="7818120" y="3383280"/>
            <a:ext cx="3611880" cy="21945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 ΔP = (45−50)÷50×100 = −10%</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 ΔQd = (250−200)÷200×100 = +25%</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PED = +25% ÷ −10% = −2.5</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|2.5| &gt; 1 → price elastic</a:t>
            </a:r>
            <a:endParaRPr lang="en-US" sz="1250" dirty="0"/>
          </a:p>
        </p:txBody>
      </p:sp>
      <p:sp>
        <p:nvSpPr>
          <p:cNvPr id="11" name="Shape 8"/>
          <p:cNvSpPr/>
          <p:nvPr/>
        </p:nvSpPr>
        <p:spPr>
          <a:xfrm>
            <a:off x="548640" y="5897880"/>
            <a:ext cx="11091672" cy="301752"/>
          </a:xfrm>
          <a:prstGeom prst="roundRect">
            <a:avLst>
              <a:gd name="adj" fmla="val 24242"/>
            </a:avLst>
          </a:prstGeom>
          <a:solidFill>
            <a:srgbClr val="FFFFFF"/>
          </a:solidFill>
          <a:ln/>
          <a:effectLst>
            <a:outerShdw sx="100000" sy="100000" kx="0" ky="0" algn="bl" rotWithShape="0" blurRad="76200" dist="25400" dir="5400000">
              <a:srgbClr val="9AAAB0">
                <a:alpha val="28000"/>
              </a:srgbClr>
            </a:outerShdw>
          </a:effectLst>
        </p:spPr>
      </p:sp>
      <p:sp>
        <p:nvSpPr>
          <p:cNvPr id="12" name="Text 9"/>
          <p:cNvSpPr txBox="1"/>
          <p:nvPr/>
        </p:nvSpPr>
        <p:spPr>
          <a:xfrm>
            <a:off x="548640" y="5870448"/>
            <a:ext cx="11091672" cy="320040"/>
          </a:xfrm>
          <a:prstGeom prst="rect">
            <a:avLst/>
          </a:prstGeom>
          <a:noFill/>
          <a:ln/>
        </p:spPr>
        <p:txBody>
          <a:bodyPr wrap="square" lIns="0" tIns="0" rIns="0" bIns="0" rtlCol="0" anchor="ctr"/>
          <a:lstStyle/>
          <a:p>
            <a:pPr algn="ctr" indent="0" marL="0">
              <a:buNone/>
            </a:pPr>
            <a:r>
              <a:rPr lang="en-US" sz="1200" i="1" dirty="0">
                <a:solidFill>
                  <a:srgbClr val="5B6B73"/>
                </a:solidFill>
                <a:latin typeface="Calibri" pitchFamily="34" charset="0"/>
                <a:ea typeface="Calibri" pitchFamily="34" charset="-122"/>
                <a:cs typeface="Calibri" pitchFamily="34" charset="-120"/>
              </a:rPr>
              <a:t>Show every step, keep the signs, and classify the result — that is how the 4 marks are awarded.</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PED</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Interpreting the value: elastic vs inelastic</a:t>
            </a:r>
            <a:endParaRPr lang="en-US" sz="2700" dirty="0"/>
          </a:p>
        </p:txBody>
      </p:sp>
      <p:sp>
        <p:nvSpPr>
          <p:cNvPr id="4" name="Shape 2"/>
          <p:cNvSpPr/>
          <p:nvPr/>
        </p:nvSpPr>
        <p:spPr>
          <a:xfrm>
            <a:off x="914400" y="2468880"/>
            <a:ext cx="0" cy="2743200"/>
          </a:xfrm>
          <a:prstGeom prst="line">
            <a:avLst/>
          </a:prstGeom>
          <a:noFill/>
          <a:ln w="19050">
            <a:solidFill>
              <a:srgbClr val="1F2A33"/>
            </a:solidFill>
            <a:prstDash val="solid"/>
          </a:ln>
        </p:spPr>
      </p:sp>
      <p:sp>
        <p:nvSpPr>
          <p:cNvPr id="5" name="Shape 3"/>
          <p:cNvSpPr/>
          <p:nvPr/>
        </p:nvSpPr>
        <p:spPr>
          <a:xfrm>
            <a:off x="914400" y="5212080"/>
            <a:ext cx="3200400" cy="0"/>
          </a:xfrm>
          <a:prstGeom prst="line">
            <a:avLst/>
          </a:prstGeom>
          <a:noFill/>
          <a:ln w="19050">
            <a:solidFill>
              <a:srgbClr val="1F2A33"/>
            </a:solidFill>
            <a:prstDash val="solid"/>
          </a:ln>
        </p:spPr>
      </p:sp>
      <p:sp>
        <p:nvSpPr>
          <p:cNvPr id="6" name="Text 4"/>
          <p:cNvSpPr txBox="1"/>
          <p:nvPr/>
        </p:nvSpPr>
        <p:spPr>
          <a:xfrm>
            <a:off x="457200" y="2176272"/>
            <a:ext cx="1463040" cy="274320"/>
          </a:xfrm>
          <a:prstGeom prst="rect">
            <a:avLst/>
          </a:prstGeom>
          <a:noFill/>
          <a:ln/>
        </p:spPr>
        <p:txBody>
          <a:bodyPr wrap="square" lIns="0" tIns="0" rIns="0" bIns="0" rtlCol="0" anchor="ctr"/>
          <a:lstStyle/>
          <a:p>
            <a:pPr indent="0" marL="0">
              <a:buNone/>
            </a:pPr>
            <a:r>
              <a:rPr lang="en-US" sz="1050" i="1" dirty="0">
                <a:solidFill>
                  <a:srgbClr val="5B6B73"/>
                </a:solidFill>
                <a:latin typeface="Calibri" pitchFamily="34" charset="0"/>
                <a:ea typeface="Calibri" pitchFamily="34" charset="-122"/>
                <a:cs typeface="Calibri" pitchFamily="34" charset="-120"/>
              </a:rPr>
              <a:t>Price</a:t>
            </a:r>
            <a:endParaRPr lang="en-US" sz="1050" dirty="0"/>
          </a:p>
        </p:txBody>
      </p:sp>
      <p:sp>
        <p:nvSpPr>
          <p:cNvPr id="7" name="Text 5"/>
          <p:cNvSpPr txBox="1"/>
          <p:nvPr/>
        </p:nvSpPr>
        <p:spPr>
          <a:xfrm>
            <a:off x="2880360" y="5266944"/>
            <a:ext cx="1280160" cy="274320"/>
          </a:xfrm>
          <a:prstGeom prst="rect">
            <a:avLst/>
          </a:prstGeom>
          <a:noFill/>
          <a:ln/>
        </p:spPr>
        <p:txBody>
          <a:bodyPr wrap="square" lIns="0" tIns="0" rIns="0" bIns="0" rtlCol="0" anchor="ctr"/>
          <a:lstStyle/>
          <a:p>
            <a:pPr algn="r" indent="0" marL="0">
              <a:buNone/>
            </a:pPr>
            <a:r>
              <a:rPr lang="en-US" sz="1050" i="1" dirty="0">
                <a:solidFill>
                  <a:srgbClr val="5B6B73"/>
                </a:solidFill>
                <a:latin typeface="Calibri" pitchFamily="34" charset="0"/>
                <a:ea typeface="Calibri" pitchFamily="34" charset="-122"/>
                <a:cs typeface="Calibri" pitchFamily="34" charset="-120"/>
              </a:rPr>
              <a:t>Quantity</a:t>
            </a:r>
            <a:endParaRPr lang="en-US" sz="1050" dirty="0"/>
          </a:p>
        </p:txBody>
      </p:sp>
      <p:sp>
        <p:nvSpPr>
          <p:cNvPr id="8" name="Shape 6"/>
          <p:cNvSpPr/>
          <p:nvPr/>
        </p:nvSpPr>
        <p:spPr>
          <a:xfrm>
            <a:off x="2148840" y="2651760"/>
            <a:ext cx="594360" cy="2286000"/>
          </a:xfrm>
          <a:prstGeom prst="line">
            <a:avLst/>
          </a:prstGeom>
          <a:noFill/>
          <a:ln w="38100">
            <a:solidFill>
              <a:srgbClr val="0E7C86"/>
            </a:solidFill>
            <a:prstDash val="solid"/>
          </a:ln>
        </p:spPr>
      </p:sp>
      <p:sp>
        <p:nvSpPr>
          <p:cNvPr id="9" name="Text 7"/>
          <p:cNvSpPr txBox="1"/>
          <p:nvPr/>
        </p:nvSpPr>
        <p:spPr>
          <a:xfrm>
            <a:off x="2788920" y="4754880"/>
            <a:ext cx="457200" cy="274320"/>
          </a:xfrm>
          <a:prstGeom prst="rect">
            <a:avLst/>
          </a:prstGeom>
          <a:noFill/>
          <a:ln/>
        </p:spPr>
        <p:txBody>
          <a:bodyPr wrap="square" lIns="0" tIns="0" rIns="0" bIns="0" rtlCol="0" anchor="ctr"/>
          <a:lstStyle/>
          <a:p>
            <a:pPr indent="0" marL="0">
              <a:buNone/>
            </a:pPr>
            <a:r>
              <a:rPr lang="en-US" sz="1200" b="1" dirty="0">
                <a:solidFill>
                  <a:srgbClr val="0E7C86"/>
                </a:solidFill>
                <a:latin typeface="Calibri" pitchFamily="34" charset="0"/>
                <a:ea typeface="Calibri" pitchFamily="34" charset="-122"/>
                <a:cs typeface="Calibri" pitchFamily="34" charset="-120"/>
              </a:rPr>
              <a:t>D</a:t>
            </a:r>
            <a:endParaRPr lang="en-US" sz="1200" dirty="0"/>
          </a:p>
        </p:txBody>
      </p:sp>
      <p:sp>
        <p:nvSpPr>
          <p:cNvPr id="10" name="Text 8"/>
          <p:cNvSpPr txBox="1"/>
          <p:nvPr/>
        </p:nvSpPr>
        <p:spPr>
          <a:xfrm>
            <a:off x="731520" y="1417320"/>
            <a:ext cx="3566160" cy="320040"/>
          </a:xfrm>
          <a:prstGeom prst="rect">
            <a:avLst/>
          </a:prstGeom>
          <a:noFill/>
          <a:ln/>
        </p:spPr>
        <p:txBody>
          <a:bodyPr wrap="square" lIns="0" tIns="0" rIns="0" bIns="0" rtlCol="0" anchor="ctr"/>
          <a:lstStyle/>
          <a:p>
            <a:pPr algn="ctr" indent="0" marL="0">
              <a:buNone/>
            </a:pPr>
            <a:r>
              <a:rPr lang="en-US" sz="1350" b="1" dirty="0">
                <a:solidFill>
                  <a:srgbClr val="0E7C86"/>
                </a:solidFill>
                <a:latin typeface="Calibri" pitchFamily="34" charset="0"/>
                <a:ea typeface="Calibri" pitchFamily="34" charset="-122"/>
                <a:cs typeface="Calibri" pitchFamily="34" charset="-120"/>
              </a:rPr>
              <a:t>Steep → INELASTIC</a:t>
            </a:r>
            <a:endParaRPr lang="en-US" sz="1350" dirty="0"/>
          </a:p>
        </p:txBody>
      </p:sp>
      <p:sp>
        <p:nvSpPr>
          <p:cNvPr id="11" name="Text 9"/>
          <p:cNvSpPr txBox="1"/>
          <p:nvPr/>
        </p:nvSpPr>
        <p:spPr>
          <a:xfrm>
            <a:off x="731520" y="5468112"/>
            <a:ext cx="3566160" cy="365760"/>
          </a:xfrm>
          <a:prstGeom prst="rect">
            <a:avLst/>
          </a:prstGeom>
          <a:noFill/>
          <a:ln/>
        </p:spPr>
        <p:txBody>
          <a:bodyPr wrap="square" lIns="0" tIns="0" rIns="0" bIns="0" rtlCol="0" anchor="ctr"/>
          <a:lstStyle/>
          <a:p>
            <a:pPr algn="ctr" indent="0" marL="0">
              <a:buNone/>
            </a:pPr>
            <a:r>
              <a:rPr lang="en-US" sz="1080" i="1" dirty="0">
                <a:solidFill>
                  <a:srgbClr val="5B6B73"/>
                </a:solidFill>
                <a:latin typeface="Calibri" pitchFamily="34" charset="0"/>
                <a:ea typeface="Calibri" pitchFamily="34" charset="-122"/>
                <a:cs typeface="Calibri" pitchFamily="34" charset="-120"/>
              </a:rPr>
              <a:t>a big price change → small quantity change</a:t>
            </a:r>
            <a:endParaRPr lang="en-US" sz="1080" dirty="0"/>
          </a:p>
        </p:txBody>
      </p:sp>
      <p:sp>
        <p:nvSpPr>
          <p:cNvPr id="12" name="Shape 10"/>
          <p:cNvSpPr/>
          <p:nvPr/>
        </p:nvSpPr>
        <p:spPr>
          <a:xfrm>
            <a:off x="4937760" y="2468880"/>
            <a:ext cx="0" cy="2743200"/>
          </a:xfrm>
          <a:prstGeom prst="line">
            <a:avLst/>
          </a:prstGeom>
          <a:noFill/>
          <a:ln w="19050">
            <a:solidFill>
              <a:srgbClr val="1F2A33"/>
            </a:solidFill>
            <a:prstDash val="solid"/>
          </a:ln>
        </p:spPr>
      </p:sp>
      <p:sp>
        <p:nvSpPr>
          <p:cNvPr id="13" name="Shape 11"/>
          <p:cNvSpPr/>
          <p:nvPr/>
        </p:nvSpPr>
        <p:spPr>
          <a:xfrm>
            <a:off x="4937760" y="5212080"/>
            <a:ext cx="3200400" cy="0"/>
          </a:xfrm>
          <a:prstGeom prst="line">
            <a:avLst/>
          </a:prstGeom>
          <a:noFill/>
          <a:ln w="19050">
            <a:solidFill>
              <a:srgbClr val="1F2A33"/>
            </a:solidFill>
            <a:prstDash val="solid"/>
          </a:ln>
        </p:spPr>
      </p:sp>
      <p:sp>
        <p:nvSpPr>
          <p:cNvPr id="14" name="Text 12"/>
          <p:cNvSpPr txBox="1"/>
          <p:nvPr/>
        </p:nvSpPr>
        <p:spPr>
          <a:xfrm>
            <a:off x="4480560" y="2176272"/>
            <a:ext cx="1463040" cy="274320"/>
          </a:xfrm>
          <a:prstGeom prst="rect">
            <a:avLst/>
          </a:prstGeom>
          <a:noFill/>
          <a:ln/>
        </p:spPr>
        <p:txBody>
          <a:bodyPr wrap="square" lIns="0" tIns="0" rIns="0" bIns="0" rtlCol="0" anchor="ctr"/>
          <a:lstStyle/>
          <a:p>
            <a:pPr indent="0" marL="0">
              <a:buNone/>
            </a:pPr>
            <a:r>
              <a:rPr lang="en-US" sz="1050" i="1" dirty="0">
                <a:solidFill>
                  <a:srgbClr val="5B6B73"/>
                </a:solidFill>
                <a:latin typeface="Calibri" pitchFamily="34" charset="0"/>
                <a:ea typeface="Calibri" pitchFamily="34" charset="-122"/>
                <a:cs typeface="Calibri" pitchFamily="34" charset="-120"/>
              </a:rPr>
              <a:t>Price</a:t>
            </a:r>
            <a:endParaRPr lang="en-US" sz="1050" dirty="0"/>
          </a:p>
        </p:txBody>
      </p:sp>
      <p:sp>
        <p:nvSpPr>
          <p:cNvPr id="15" name="Text 13"/>
          <p:cNvSpPr txBox="1"/>
          <p:nvPr/>
        </p:nvSpPr>
        <p:spPr>
          <a:xfrm>
            <a:off x="6903720" y="5266944"/>
            <a:ext cx="1280160" cy="274320"/>
          </a:xfrm>
          <a:prstGeom prst="rect">
            <a:avLst/>
          </a:prstGeom>
          <a:noFill/>
          <a:ln/>
        </p:spPr>
        <p:txBody>
          <a:bodyPr wrap="square" lIns="0" tIns="0" rIns="0" bIns="0" rtlCol="0" anchor="ctr"/>
          <a:lstStyle/>
          <a:p>
            <a:pPr algn="r" indent="0" marL="0">
              <a:buNone/>
            </a:pPr>
            <a:r>
              <a:rPr lang="en-US" sz="1050" i="1" dirty="0">
                <a:solidFill>
                  <a:srgbClr val="5B6B73"/>
                </a:solidFill>
                <a:latin typeface="Calibri" pitchFamily="34" charset="0"/>
                <a:ea typeface="Calibri" pitchFamily="34" charset="-122"/>
                <a:cs typeface="Calibri" pitchFamily="34" charset="-120"/>
              </a:rPr>
              <a:t>Quantity</a:t>
            </a:r>
            <a:endParaRPr lang="en-US" sz="1050" dirty="0"/>
          </a:p>
        </p:txBody>
      </p:sp>
      <p:sp>
        <p:nvSpPr>
          <p:cNvPr id="16" name="Shape 14"/>
          <p:cNvSpPr/>
          <p:nvPr/>
        </p:nvSpPr>
        <p:spPr>
          <a:xfrm>
            <a:off x="5212080" y="3566160"/>
            <a:ext cx="2651760" cy="548640"/>
          </a:xfrm>
          <a:prstGeom prst="line">
            <a:avLst/>
          </a:prstGeom>
          <a:noFill/>
          <a:ln w="38100">
            <a:solidFill>
              <a:srgbClr val="C14B37"/>
            </a:solidFill>
            <a:prstDash val="solid"/>
          </a:ln>
        </p:spPr>
      </p:sp>
      <p:sp>
        <p:nvSpPr>
          <p:cNvPr id="17" name="Text 15"/>
          <p:cNvSpPr txBox="1"/>
          <p:nvPr/>
        </p:nvSpPr>
        <p:spPr>
          <a:xfrm>
            <a:off x="7863840" y="3886200"/>
            <a:ext cx="457200" cy="274320"/>
          </a:xfrm>
          <a:prstGeom prst="rect">
            <a:avLst/>
          </a:prstGeom>
          <a:noFill/>
          <a:ln/>
        </p:spPr>
        <p:txBody>
          <a:bodyPr wrap="square" lIns="0" tIns="0" rIns="0" bIns="0" rtlCol="0" anchor="ctr"/>
          <a:lstStyle/>
          <a:p>
            <a:pPr indent="0" marL="0">
              <a:buNone/>
            </a:pPr>
            <a:r>
              <a:rPr lang="en-US" sz="1200" b="1" dirty="0">
                <a:solidFill>
                  <a:srgbClr val="C14B37"/>
                </a:solidFill>
                <a:latin typeface="Calibri" pitchFamily="34" charset="0"/>
                <a:ea typeface="Calibri" pitchFamily="34" charset="-122"/>
                <a:cs typeface="Calibri" pitchFamily="34" charset="-120"/>
              </a:rPr>
              <a:t>D</a:t>
            </a:r>
            <a:endParaRPr lang="en-US" sz="1200" dirty="0"/>
          </a:p>
        </p:txBody>
      </p:sp>
      <p:sp>
        <p:nvSpPr>
          <p:cNvPr id="18" name="Text 16"/>
          <p:cNvSpPr txBox="1"/>
          <p:nvPr/>
        </p:nvSpPr>
        <p:spPr>
          <a:xfrm>
            <a:off x="4754880" y="1417320"/>
            <a:ext cx="3566160" cy="320040"/>
          </a:xfrm>
          <a:prstGeom prst="rect">
            <a:avLst/>
          </a:prstGeom>
          <a:noFill/>
          <a:ln/>
        </p:spPr>
        <p:txBody>
          <a:bodyPr wrap="square" lIns="0" tIns="0" rIns="0" bIns="0" rtlCol="0" anchor="ctr"/>
          <a:lstStyle/>
          <a:p>
            <a:pPr algn="ctr" indent="0" marL="0">
              <a:buNone/>
            </a:pPr>
            <a:r>
              <a:rPr lang="en-US" sz="1350" b="1" dirty="0">
                <a:solidFill>
                  <a:srgbClr val="C14B37"/>
                </a:solidFill>
                <a:latin typeface="Calibri" pitchFamily="34" charset="0"/>
                <a:ea typeface="Calibri" pitchFamily="34" charset="-122"/>
                <a:cs typeface="Calibri" pitchFamily="34" charset="-120"/>
              </a:rPr>
              <a:t>Flat → ELASTIC</a:t>
            </a:r>
            <a:endParaRPr lang="en-US" sz="1350" dirty="0"/>
          </a:p>
        </p:txBody>
      </p:sp>
      <p:sp>
        <p:nvSpPr>
          <p:cNvPr id="19" name="Text 17"/>
          <p:cNvSpPr txBox="1"/>
          <p:nvPr/>
        </p:nvSpPr>
        <p:spPr>
          <a:xfrm>
            <a:off x="4754880" y="5468112"/>
            <a:ext cx="3566160" cy="365760"/>
          </a:xfrm>
          <a:prstGeom prst="rect">
            <a:avLst/>
          </a:prstGeom>
          <a:noFill/>
          <a:ln/>
        </p:spPr>
        <p:txBody>
          <a:bodyPr wrap="square" lIns="0" tIns="0" rIns="0" bIns="0" rtlCol="0" anchor="ctr"/>
          <a:lstStyle/>
          <a:p>
            <a:pPr algn="ctr" indent="0" marL="0">
              <a:buNone/>
            </a:pPr>
            <a:r>
              <a:rPr lang="en-US" sz="1080" i="1" dirty="0">
                <a:solidFill>
                  <a:srgbClr val="5B6B73"/>
                </a:solidFill>
                <a:latin typeface="Calibri" pitchFamily="34" charset="0"/>
                <a:ea typeface="Calibri" pitchFamily="34" charset="-122"/>
                <a:cs typeface="Calibri" pitchFamily="34" charset="-120"/>
              </a:rPr>
              <a:t>a small price change → big quantity change</a:t>
            </a:r>
            <a:endParaRPr lang="en-US" sz="1080" dirty="0"/>
          </a:p>
        </p:txBody>
      </p:sp>
      <p:sp>
        <p:nvSpPr>
          <p:cNvPr id="20" name="Shape 18"/>
          <p:cNvSpPr/>
          <p:nvPr/>
        </p:nvSpPr>
        <p:spPr>
          <a:xfrm>
            <a:off x="8503920" y="1417320"/>
            <a:ext cx="3136392" cy="4754880"/>
          </a:xfrm>
          <a:prstGeom prst="roundRect">
            <a:avLst>
              <a:gd name="adj" fmla="val 2332"/>
            </a:avLst>
          </a:prstGeom>
          <a:solidFill>
            <a:srgbClr val="EAF3F4"/>
          </a:solidFill>
          <a:ln/>
          <a:effectLst>
            <a:outerShdw sx="100000" sy="100000" kx="0" ky="0" algn="bl" rotWithShape="0" blurRad="76200" dist="25400" dir="5400000">
              <a:srgbClr val="9AAAB0">
                <a:alpha val="28000"/>
              </a:srgbClr>
            </a:outerShdw>
          </a:effectLst>
        </p:spPr>
      </p:sp>
      <p:sp>
        <p:nvSpPr>
          <p:cNvPr id="21" name="Text 19"/>
          <p:cNvSpPr txBox="1"/>
          <p:nvPr/>
        </p:nvSpPr>
        <p:spPr>
          <a:xfrm>
            <a:off x="8732520" y="1536192"/>
            <a:ext cx="2743200" cy="320040"/>
          </a:xfrm>
          <a:prstGeom prst="rect">
            <a:avLst/>
          </a:prstGeom>
          <a:noFill/>
          <a:ln/>
        </p:spPr>
        <p:txBody>
          <a:bodyPr wrap="square" lIns="0" tIns="0" rIns="0" bIns="0" rtlCol="0" anchor="ctr"/>
          <a:lstStyle/>
          <a:p>
            <a:pPr indent="0" marL="0">
              <a:buNone/>
            </a:pPr>
            <a:r>
              <a:rPr lang="en-US" sz="1400" b="1" dirty="0">
                <a:solidFill>
                  <a:srgbClr val="0B5E66"/>
                </a:solidFill>
                <a:latin typeface="Calibri" pitchFamily="34" charset="0"/>
                <a:ea typeface="Calibri" pitchFamily="34" charset="-122"/>
                <a:cs typeface="Calibri" pitchFamily="34" charset="-120"/>
              </a:rPr>
              <a:t>The scale (|PED|)</a:t>
            </a:r>
            <a:endParaRPr lang="en-US" sz="1400" dirty="0"/>
          </a:p>
        </p:txBody>
      </p:sp>
      <p:sp>
        <p:nvSpPr>
          <p:cNvPr id="22" name="Shape 20"/>
          <p:cNvSpPr/>
          <p:nvPr/>
        </p:nvSpPr>
        <p:spPr>
          <a:xfrm>
            <a:off x="8732520" y="2011680"/>
            <a:ext cx="777240" cy="457200"/>
          </a:xfrm>
          <a:prstGeom prst="roundRect">
            <a:avLst>
              <a:gd name="adj" fmla="val 16000"/>
            </a:avLst>
          </a:prstGeom>
          <a:solidFill>
            <a:srgbClr val="5B6B73"/>
          </a:solidFill>
          <a:ln/>
        </p:spPr>
      </p:sp>
      <p:sp>
        <p:nvSpPr>
          <p:cNvPr id="23" name="Text 21"/>
          <p:cNvSpPr txBox="1"/>
          <p:nvPr/>
        </p:nvSpPr>
        <p:spPr>
          <a:xfrm>
            <a:off x="8732520" y="2011680"/>
            <a:ext cx="77724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0</a:t>
            </a:r>
            <a:endParaRPr lang="en-US" sz="1400" dirty="0"/>
          </a:p>
        </p:txBody>
      </p:sp>
      <p:sp>
        <p:nvSpPr>
          <p:cNvPr id="24" name="Text 22"/>
          <p:cNvSpPr txBox="1"/>
          <p:nvPr/>
        </p:nvSpPr>
        <p:spPr>
          <a:xfrm>
            <a:off x="9646920" y="2011680"/>
            <a:ext cx="1920240" cy="457200"/>
          </a:xfrm>
          <a:prstGeom prst="rect">
            <a:avLst/>
          </a:prstGeom>
          <a:noFill/>
          <a:ln/>
        </p:spPr>
        <p:txBody>
          <a:bodyPr wrap="square" lIns="0" tIns="0" rIns="0" bIns="0" rtlCol="0" anchor="ctr"/>
          <a:lstStyle/>
          <a:p>
            <a:pPr indent="0" marL="0">
              <a:buNone/>
            </a:pPr>
            <a:r>
              <a:rPr lang="en-US" sz="1250" dirty="0">
                <a:solidFill>
                  <a:srgbClr val="1F2A33"/>
                </a:solidFill>
                <a:latin typeface="Calibri" pitchFamily="34" charset="0"/>
                <a:ea typeface="Calibri" pitchFamily="34" charset="-122"/>
                <a:cs typeface="Calibri" pitchFamily="34" charset="-120"/>
              </a:rPr>
              <a:t>Perfectly inelastic</a:t>
            </a:r>
            <a:endParaRPr lang="en-US" sz="1250" dirty="0"/>
          </a:p>
        </p:txBody>
      </p:sp>
      <p:sp>
        <p:nvSpPr>
          <p:cNvPr id="25" name="Shape 23"/>
          <p:cNvSpPr/>
          <p:nvPr/>
        </p:nvSpPr>
        <p:spPr>
          <a:xfrm>
            <a:off x="8732520" y="2633472"/>
            <a:ext cx="777240" cy="457200"/>
          </a:xfrm>
          <a:prstGeom prst="roundRect">
            <a:avLst>
              <a:gd name="adj" fmla="val 16000"/>
            </a:avLst>
          </a:prstGeom>
          <a:solidFill>
            <a:srgbClr val="0E7C86"/>
          </a:solidFill>
          <a:ln/>
        </p:spPr>
      </p:sp>
      <p:sp>
        <p:nvSpPr>
          <p:cNvPr id="26" name="Text 24"/>
          <p:cNvSpPr txBox="1"/>
          <p:nvPr/>
        </p:nvSpPr>
        <p:spPr>
          <a:xfrm>
            <a:off x="8732520" y="2633472"/>
            <a:ext cx="77724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&lt; 1</a:t>
            </a:r>
            <a:endParaRPr lang="en-US" sz="1400" dirty="0"/>
          </a:p>
        </p:txBody>
      </p:sp>
      <p:sp>
        <p:nvSpPr>
          <p:cNvPr id="27" name="Text 25"/>
          <p:cNvSpPr txBox="1"/>
          <p:nvPr/>
        </p:nvSpPr>
        <p:spPr>
          <a:xfrm>
            <a:off x="9646920" y="2633472"/>
            <a:ext cx="1920240" cy="457200"/>
          </a:xfrm>
          <a:prstGeom prst="rect">
            <a:avLst/>
          </a:prstGeom>
          <a:noFill/>
          <a:ln/>
        </p:spPr>
        <p:txBody>
          <a:bodyPr wrap="square" lIns="0" tIns="0" rIns="0" bIns="0" rtlCol="0" anchor="ctr"/>
          <a:lstStyle/>
          <a:p>
            <a:pPr indent="0" marL="0">
              <a:buNone/>
            </a:pPr>
            <a:r>
              <a:rPr lang="en-US" sz="1250" dirty="0">
                <a:solidFill>
                  <a:srgbClr val="1F2A33"/>
                </a:solidFill>
                <a:latin typeface="Calibri" pitchFamily="34" charset="0"/>
                <a:ea typeface="Calibri" pitchFamily="34" charset="-122"/>
                <a:cs typeface="Calibri" pitchFamily="34" charset="-120"/>
              </a:rPr>
              <a:t>Inelastic</a:t>
            </a:r>
            <a:endParaRPr lang="en-US" sz="1250" dirty="0"/>
          </a:p>
        </p:txBody>
      </p:sp>
      <p:sp>
        <p:nvSpPr>
          <p:cNvPr id="28" name="Shape 26"/>
          <p:cNvSpPr/>
          <p:nvPr/>
        </p:nvSpPr>
        <p:spPr>
          <a:xfrm>
            <a:off x="8732520" y="3255264"/>
            <a:ext cx="777240" cy="457200"/>
          </a:xfrm>
          <a:prstGeom prst="roundRect">
            <a:avLst>
              <a:gd name="adj" fmla="val 16000"/>
            </a:avLst>
          </a:prstGeom>
          <a:solidFill>
            <a:srgbClr val="E0940F"/>
          </a:solidFill>
          <a:ln/>
        </p:spPr>
      </p:sp>
      <p:sp>
        <p:nvSpPr>
          <p:cNvPr id="29" name="Text 27"/>
          <p:cNvSpPr txBox="1"/>
          <p:nvPr/>
        </p:nvSpPr>
        <p:spPr>
          <a:xfrm>
            <a:off x="8732520" y="3255264"/>
            <a:ext cx="77724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1</a:t>
            </a:r>
            <a:endParaRPr lang="en-US" sz="1400" dirty="0"/>
          </a:p>
        </p:txBody>
      </p:sp>
      <p:sp>
        <p:nvSpPr>
          <p:cNvPr id="30" name="Text 28"/>
          <p:cNvSpPr txBox="1"/>
          <p:nvPr/>
        </p:nvSpPr>
        <p:spPr>
          <a:xfrm>
            <a:off x="9646920" y="3255264"/>
            <a:ext cx="1920240" cy="457200"/>
          </a:xfrm>
          <a:prstGeom prst="rect">
            <a:avLst/>
          </a:prstGeom>
          <a:noFill/>
          <a:ln/>
        </p:spPr>
        <p:txBody>
          <a:bodyPr wrap="square" lIns="0" tIns="0" rIns="0" bIns="0" rtlCol="0" anchor="ctr"/>
          <a:lstStyle/>
          <a:p>
            <a:pPr indent="0" marL="0">
              <a:buNone/>
            </a:pPr>
            <a:r>
              <a:rPr lang="en-US" sz="1250" dirty="0">
                <a:solidFill>
                  <a:srgbClr val="1F2A33"/>
                </a:solidFill>
                <a:latin typeface="Calibri" pitchFamily="34" charset="0"/>
                <a:ea typeface="Calibri" pitchFamily="34" charset="-122"/>
                <a:cs typeface="Calibri" pitchFamily="34" charset="-120"/>
              </a:rPr>
              <a:t>Unit elastic</a:t>
            </a:r>
            <a:endParaRPr lang="en-US" sz="1250" dirty="0"/>
          </a:p>
        </p:txBody>
      </p:sp>
      <p:sp>
        <p:nvSpPr>
          <p:cNvPr id="31" name="Shape 29"/>
          <p:cNvSpPr/>
          <p:nvPr/>
        </p:nvSpPr>
        <p:spPr>
          <a:xfrm>
            <a:off x="8732520" y="3877056"/>
            <a:ext cx="777240" cy="457200"/>
          </a:xfrm>
          <a:prstGeom prst="roundRect">
            <a:avLst>
              <a:gd name="adj" fmla="val 16000"/>
            </a:avLst>
          </a:prstGeom>
          <a:solidFill>
            <a:srgbClr val="C14B37"/>
          </a:solidFill>
          <a:ln/>
        </p:spPr>
      </p:sp>
      <p:sp>
        <p:nvSpPr>
          <p:cNvPr id="32" name="Text 30"/>
          <p:cNvSpPr txBox="1"/>
          <p:nvPr/>
        </p:nvSpPr>
        <p:spPr>
          <a:xfrm>
            <a:off x="8732520" y="3877056"/>
            <a:ext cx="77724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&gt; 1</a:t>
            </a:r>
            <a:endParaRPr lang="en-US" sz="1400" dirty="0"/>
          </a:p>
        </p:txBody>
      </p:sp>
      <p:sp>
        <p:nvSpPr>
          <p:cNvPr id="33" name="Text 31"/>
          <p:cNvSpPr txBox="1"/>
          <p:nvPr/>
        </p:nvSpPr>
        <p:spPr>
          <a:xfrm>
            <a:off x="9646920" y="3877056"/>
            <a:ext cx="1920240" cy="457200"/>
          </a:xfrm>
          <a:prstGeom prst="rect">
            <a:avLst/>
          </a:prstGeom>
          <a:noFill/>
          <a:ln/>
        </p:spPr>
        <p:txBody>
          <a:bodyPr wrap="square" lIns="0" tIns="0" rIns="0" bIns="0" rtlCol="0" anchor="ctr"/>
          <a:lstStyle/>
          <a:p>
            <a:pPr indent="0" marL="0">
              <a:buNone/>
            </a:pPr>
            <a:r>
              <a:rPr lang="en-US" sz="1250" dirty="0">
                <a:solidFill>
                  <a:srgbClr val="1F2A33"/>
                </a:solidFill>
                <a:latin typeface="Calibri" pitchFamily="34" charset="0"/>
                <a:ea typeface="Calibri" pitchFamily="34" charset="-122"/>
                <a:cs typeface="Calibri" pitchFamily="34" charset="-120"/>
              </a:rPr>
              <a:t>Elastic</a:t>
            </a:r>
            <a:endParaRPr lang="en-US" sz="1250" dirty="0"/>
          </a:p>
        </p:txBody>
      </p:sp>
      <p:sp>
        <p:nvSpPr>
          <p:cNvPr id="34" name="Shape 32"/>
          <p:cNvSpPr/>
          <p:nvPr/>
        </p:nvSpPr>
        <p:spPr>
          <a:xfrm>
            <a:off x="8732520" y="4498848"/>
            <a:ext cx="777240" cy="457200"/>
          </a:xfrm>
          <a:prstGeom prst="roundRect">
            <a:avLst>
              <a:gd name="adj" fmla="val 16000"/>
            </a:avLst>
          </a:prstGeom>
          <a:solidFill>
            <a:srgbClr val="5B6B73"/>
          </a:solidFill>
          <a:ln/>
        </p:spPr>
      </p:sp>
      <p:sp>
        <p:nvSpPr>
          <p:cNvPr id="35" name="Text 33"/>
          <p:cNvSpPr txBox="1"/>
          <p:nvPr/>
        </p:nvSpPr>
        <p:spPr>
          <a:xfrm>
            <a:off x="8732520" y="4498848"/>
            <a:ext cx="77724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6" name="Text 34"/>
          <p:cNvSpPr txBox="1"/>
          <p:nvPr/>
        </p:nvSpPr>
        <p:spPr>
          <a:xfrm>
            <a:off x="9646920" y="4498848"/>
            <a:ext cx="1920240" cy="457200"/>
          </a:xfrm>
          <a:prstGeom prst="rect">
            <a:avLst/>
          </a:prstGeom>
          <a:noFill/>
          <a:ln/>
        </p:spPr>
        <p:txBody>
          <a:bodyPr wrap="square" lIns="0" tIns="0" rIns="0" bIns="0" rtlCol="0" anchor="ctr"/>
          <a:lstStyle/>
          <a:p>
            <a:pPr indent="0" marL="0">
              <a:buNone/>
            </a:pPr>
            <a:r>
              <a:rPr lang="en-US" sz="1250" dirty="0">
                <a:solidFill>
                  <a:srgbClr val="1F2A33"/>
                </a:solidFill>
                <a:latin typeface="Calibri" pitchFamily="34" charset="0"/>
                <a:ea typeface="Calibri" pitchFamily="34" charset="-122"/>
                <a:cs typeface="Calibri" pitchFamily="34" charset="-120"/>
              </a:rPr>
              <a:t>Perfectly elastic</a:t>
            </a:r>
            <a:endParaRPr lang="en-US" sz="1250" dirty="0"/>
          </a:p>
        </p:txBody>
      </p:sp>
      <p:sp>
        <p:nvSpPr>
          <p:cNvPr id="37" name="Text 35"/>
          <p:cNvSpPr txBox="1"/>
          <p:nvPr/>
        </p:nvSpPr>
        <p:spPr>
          <a:xfrm>
            <a:off x="8732520" y="5166360"/>
            <a:ext cx="2743200" cy="548640"/>
          </a:xfrm>
          <a:prstGeom prst="rect">
            <a:avLst/>
          </a:prstGeom>
          <a:noFill/>
          <a:ln/>
        </p:spPr>
        <p:txBody>
          <a:bodyPr wrap="square" lIns="0" tIns="0" rIns="0" bIns="0" rtlCol="0" anchor="t"/>
          <a:lstStyle/>
          <a:p>
            <a:pPr indent="0" marL="0">
              <a:buNone/>
            </a:pPr>
            <a:r>
              <a:rPr lang="en-US" sz="1100" i="1" dirty="0">
                <a:solidFill>
                  <a:srgbClr val="5B6B73"/>
                </a:solidFill>
                <a:latin typeface="Calibri" pitchFamily="34" charset="0"/>
                <a:ea typeface="Calibri" pitchFamily="34" charset="-122"/>
                <a:cs typeface="Calibri" pitchFamily="34" charset="-120"/>
              </a:rPr>
              <a:t>Classify on the absolute value (ignore the minus).</a:t>
            </a:r>
            <a:endParaRPr lang="en-US" sz="11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PED FACTORS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What makes demand elastic or inelastic? SPLAT</a:t>
            </a:r>
            <a:endParaRPr lang="en-US" sz="2700" dirty="0"/>
          </a:p>
        </p:txBody>
      </p:sp>
      <p:sp>
        <p:nvSpPr>
          <p:cNvPr id="4" name="Shape 2"/>
          <p:cNvSpPr/>
          <p:nvPr/>
        </p:nvSpPr>
        <p:spPr>
          <a:xfrm>
            <a:off x="548640" y="1508760"/>
            <a:ext cx="5440680" cy="1188720"/>
          </a:xfrm>
          <a:prstGeom prst="roundRect">
            <a:avLst>
              <a:gd name="adj" fmla="val 6154"/>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731520" y="1746504"/>
            <a:ext cx="548640" cy="548640"/>
          </a:xfrm>
          <a:prstGeom prst="roundRect">
            <a:avLst>
              <a:gd name="adj" fmla="val 16667"/>
            </a:avLst>
          </a:prstGeom>
          <a:solidFill>
            <a:srgbClr val="0E7C86"/>
          </a:solidFill>
          <a:ln/>
        </p:spPr>
      </p:sp>
      <p:sp>
        <p:nvSpPr>
          <p:cNvPr id="6" name="Text 4"/>
          <p:cNvSpPr txBox="1"/>
          <p:nvPr/>
        </p:nvSpPr>
        <p:spPr>
          <a:xfrm>
            <a:off x="731520" y="1746504"/>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S</a:t>
            </a:r>
            <a:endParaRPr lang="en-US" sz="2400" dirty="0"/>
          </a:p>
        </p:txBody>
      </p:sp>
      <p:sp>
        <p:nvSpPr>
          <p:cNvPr id="7" name="Text 5"/>
          <p:cNvSpPr txBox="1"/>
          <p:nvPr/>
        </p:nvSpPr>
        <p:spPr>
          <a:xfrm>
            <a:off x="1417320" y="1709928"/>
            <a:ext cx="4434840" cy="365760"/>
          </a:xfrm>
          <a:prstGeom prst="rect">
            <a:avLst/>
          </a:prstGeom>
          <a:noFill/>
          <a:ln/>
        </p:spPr>
        <p:txBody>
          <a:bodyPr wrap="square" lIns="0" tIns="0" rIns="0" bIns="0" rtlCol="0" anchor="ctr"/>
          <a:lstStyle/>
          <a:p>
            <a:pPr indent="0" marL="0">
              <a:buNone/>
            </a:pPr>
            <a:r>
              <a:rPr lang="en-US" sz="1400" b="1" dirty="0">
                <a:solidFill>
                  <a:srgbClr val="0E3A43"/>
                </a:solidFill>
                <a:latin typeface="Calibri" pitchFamily="34" charset="0"/>
                <a:ea typeface="Calibri" pitchFamily="34" charset="-122"/>
                <a:cs typeface="Calibri" pitchFamily="34" charset="-120"/>
              </a:rPr>
              <a:t>Substitutes available</a:t>
            </a:r>
            <a:endParaRPr lang="en-US" sz="1400" dirty="0"/>
          </a:p>
        </p:txBody>
      </p:sp>
      <p:sp>
        <p:nvSpPr>
          <p:cNvPr id="8" name="Text 6"/>
          <p:cNvSpPr txBox="1"/>
          <p:nvPr/>
        </p:nvSpPr>
        <p:spPr>
          <a:xfrm>
            <a:off x="1417320" y="2093976"/>
            <a:ext cx="4434840" cy="457200"/>
          </a:xfrm>
          <a:prstGeom prst="rect">
            <a:avLst/>
          </a:prstGeom>
          <a:noFill/>
          <a:ln/>
        </p:spPr>
        <p:txBody>
          <a:bodyPr wrap="square" lIns="0" tIns="0" rIns="0" bIns="0" rtlCol="0" anchor="t"/>
          <a:lstStyle/>
          <a:p>
            <a:pPr indent="0" marL="0">
              <a:buNone/>
            </a:pPr>
            <a:r>
              <a:rPr lang="en-US" sz="1200" dirty="0">
                <a:solidFill>
                  <a:srgbClr val="1F2A33"/>
                </a:solidFill>
                <a:latin typeface="Calibri" pitchFamily="34" charset="0"/>
                <a:ea typeface="Calibri" pitchFamily="34" charset="-122"/>
                <a:cs typeface="Calibri" pitchFamily="34" charset="-120"/>
              </a:rPr>
              <a:t>Many close substitutes → more ELASTIC (easy to switch)</a:t>
            </a:r>
            <a:endParaRPr lang="en-US" sz="1200" dirty="0"/>
          </a:p>
        </p:txBody>
      </p:sp>
      <p:sp>
        <p:nvSpPr>
          <p:cNvPr id="9" name="Shape 7"/>
          <p:cNvSpPr/>
          <p:nvPr/>
        </p:nvSpPr>
        <p:spPr>
          <a:xfrm>
            <a:off x="6199632" y="1508760"/>
            <a:ext cx="5440680" cy="1188720"/>
          </a:xfrm>
          <a:prstGeom prst="roundRect">
            <a:avLst>
              <a:gd name="adj" fmla="val 6154"/>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0" name="Shape 8"/>
          <p:cNvSpPr/>
          <p:nvPr/>
        </p:nvSpPr>
        <p:spPr>
          <a:xfrm>
            <a:off x="6382512" y="1746504"/>
            <a:ext cx="548640" cy="548640"/>
          </a:xfrm>
          <a:prstGeom prst="roundRect">
            <a:avLst>
              <a:gd name="adj" fmla="val 16667"/>
            </a:avLst>
          </a:prstGeom>
          <a:solidFill>
            <a:srgbClr val="E0940F"/>
          </a:solidFill>
          <a:ln/>
        </p:spPr>
      </p:sp>
      <p:sp>
        <p:nvSpPr>
          <p:cNvPr id="11" name="Text 9"/>
          <p:cNvSpPr txBox="1"/>
          <p:nvPr/>
        </p:nvSpPr>
        <p:spPr>
          <a:xfrm>
            <a:off x="6382512" y="1746504"/>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P</a:t>
            </a:r>
            <a:endParaRPr lang="en-US" sz="2400" dirty="0"/>
          </a:p>
        </p:txBody>
      </p:sp>
      <p:sp>
        <p:nvSpPr>
          <p:cNvPr id="12" name="Text 10"/>
          <p:cNvSpPr txBox="1"/>
          <p:nvPr/>
        </p:nvSpPr>
        <p:spPr>
          <a:xfrm>
            <a:off x="7068312" y="1709928"/>
            <a:ext cx="4434840" cy="365760"/>
          </a:xfrm>
          <a:prstGeom prst="rect">
            <a:avLst/>
          </a:prstGeom>
          <a:noFill/>
          <a:ln/>
        </p:spPr>
        <p:txBody>
          <a:bodyPr wrap="square" lIns="0" tIns="0" rIns="0" bIns="0" rtlCol="0" anchor="ctr"/>
          <a:lstStyle/>
          <a:p>
            <a:pPr indent="0" marL="0">
              <a:buNone/>
            </a:pPr>
            <a:r>
              <a:rPr lang="en-US" sz="1400" b="1" dirty="0">
                <a:solidFill>
                  <a:srgbClr val="0E3A43"/>
                </a:solidFill>
                <a:latin typeface="Calibri" pitchFamily="34" charset="0"/>
                <a:ea typeface="Calibri" pitchFamily="34" charset="-122"/>
                <a:cs typeface="Calibri" pitchFamily="34" charset="-120"/>
              </a:rPr>
              <a:t>Proportion of income</a:t>
            </a:r>
            <a:endParaRPr lang="en-US" sz="1400" dirty="0"/>
          </a:p>
        </p:txBody>
      </p:sp>
      <p:sp>
        <p:nvSpPr>
          <p:cNvPr id="13" name="Text 11"/>
          <p:cNvSpPr txBox="1"/>
          <p:nvPr/>
        </p:nvSpPr>
        <p:spPr>
          <a:xfrm>
            <a:off x="7068312" y="2093976"/>
            <a:ext cx="4434840" cy="457200"/>
          </a:xfrm>
          <a:prstGeom prst="rect">
            <a:avLst/>
          </a:prstGeom>
          <a:noFill/>
          <a:ln/>
        </p:spPr>
        <p:txBody>
          <a:bodyPr wrap="square" lIns="0" tIns="0" rIns="0" bIns="0" rtlCol="0" anchor="t"/>
          <a:lstStyle/>
          <a:p>
            <a:pPr indent="0" marL="0">
              <a:buNone/>
            </a:pPr>
            <a:r>
              <a:rPr lang="en-US" sz="1200" dirty="0">
                <a:solidFill>
                  <a:srgbClr val="1F2A33"/>
                </a:solidFill>
                <a:latin typeface="Calibri" pitchFamily="34" charset="0"/>
                <a:ea typeface="Calibri" pitchFamily="34" charset="-122"/>
                <a:cs typeface="Calibri" pitchFamily="34" charset="-120"/>
              </a:rPr>
              <a:t>Takes a big share of income → more ELASTIC (buyers notice)</a:t>
            </a:r>
            <a:endParaRPr lang="en-US" sz="1200" dirty="0"/>
          </a:p>
        </p:txBody>
      </p:sp>
      <p:sp>
        <p:nvSpPr>
          <p:cNvPr id="14" name="Shape 12"/>
          <p:cNvSpPr/>
          <p:nvPr/>
        </p:nvSpPr>
        <p:spPr>
          <a:xfrm>
            <a:off x="548640" y="2825496"/>
            <a:ext cx="5440680" cy="1188720"/>
          </a:xfrm>
          <a:prstGeom prst="roundRect">
            <a:avLst>
              <a:gd name="adj" fmla="val 6154"/>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5" name="Shape 13"/>
          <p:cNvSpPr/>
          <p:nvPr/>
        </p:nvSpPr>
        <p:spPr>
          <a:xfrm>
            <a:off x="731520" y="3063240"/>
            <a:ext cx="548640" cy="548640"/>
          </a:xfrm>
          <a:prstGeom prst="roundRect">
            <a:avLst>
              <a:gd name="adj" fmla="val 16667"/>
            </a:avLst>
          </a:prstGeom>
          <a:solidFill>
            <a:srgbClr val="2F8A5B"/>
          </a:solidFill>
          <a:ln/>
        </p:spPr>
      </p:sp>
      <p:sp>
        <p:nvSpPr>
          <p:cNvPr id="16" name="Text 14"/>
          <p:cNvSpPr txBox="1"/>
          <p:nvPr/>
        </p:nvSpPr>
        <p:spPr>
          <a:xfrm>
            <a:off x="731520" y="306324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L</a:t>
            </a:r>
            <a:endParaRPr lang="en-US" sz="2400" dirty="0"/>
          </a:p>
        </p:txBody>
      </p:sp>
      <p:sp>
        <p:nvSpPr>
          <p:cNvPr id="17" name="Text 15"/>
          <p:cNvSpPr txBox="1"/>
          <p:nvPr/>
        </p:nvSpPr>
        <p:spPr>
          <a:xfrm>
            <a:off x="1417320" y="3026664"/>
            <a:ext cx="4434840" cy="365760"/>
          </a:xfrm>
          <a:prstGeom prst="rect">
            <a:avLst/>
          </a:prstGeom>
          <a:noFill/>
          <a:ln/>
        </p:spPr>
        <p:txBody>
          <a:bodyPr wrap="square" lIns="0" tIns="0" rIns="0" bIns="0" rtlCol="0" anchor="ctr"/>
          <a:lstStyle/>
          <a:p>
            <a:pPr indent="0" marL="0">
              <a:buNone/>
            </a:pPr>
            <a:r>
              <a:rPr lang="en-US" sz="1400" b="1" dirty="0">
                <a:solidFill>
                  <a:srgbClr val="0E3A43"/>
                </a:solidFill>
                <a:latin typeface="Calibri" pitchFamily="34" charset="0"/>
                <a:ea typeface="Calibri" pitchFamily="34" charset="-122"/>
                <a:cs typeface="Calibri" pitchFamily="34" charset="-120"/>
              </a:rPr>
              <a:t>Luxury or necessity</a:t>
            </a:r>
            <a:endParaRPr lang="en-US" sz="1400" dirty="0"/>
          </a:p>
        </p:txBody>
      </p:sp>
      <p:sp>
        <p:nvSpPr>
          <p:cNvPr id="18" name="Text 16"/>
          <p:cNvSpPr txBox="1"/>
          <p:nvPr/>
        </p:nvSpPr>
        <p:spPr>
          <a:xfrm>
            <a:off x="1417320" y="3410712"/>
            <a:ext cx="4434840" cy="457200"/>
          </a:xfrm>
          <a:prstGeom prst="rect">
            <a:avLst/>
          </a:prstGeom>
          <a:noFill/>
          <a:ln/>
        </p:spPr>
        <p:txBody>
          <a:bodyPr wrap="square" lIns="0" tIns="0" rIns="0" bIns="0" rtlCol="0" anchor="t"/>
          <a:lstStyle/>
          <a:p>
            <a:pPr indent="0" marL="0">
              <a:buNone/>
            </a:pPr>
            <a:r>
              <a:rPr lang="en-US" sz="1200" dirty="0">
                <a:solidFill>
                  <a:srgbClr val="1F2A33"/>
                </a:solidFill>
                <a:latin typeface="Calibri" pitchFamily="34" charset="0"/>
                <a:ea typeface="Calibri" pitchFamily="34" charset="-122"/>
                <a:cs typeface="Calibri" pitchFamily="34" charset="-120"/>
              </a:rPr>
              <a:t>Necessity → inelastic;  luxury → elastic</a:t>
            </a:r>
            <a:endParaRPr lang="en-US" sz="1200" dirty="0"/>
          </a:p>
        </p:txBody>
      </p:sp>
      <p:sp>
        <p:nvSpPr>
          <p:cNvPr id="19" name="Shape 17"/>
          <p:cNvSpPr/>
          <p:nvPr/>
        </p:nvSpPr>
        <p:spPr>
          <a:xfrm>
            <a:off x="6199632" y="2825496"/>
            <a:ext cx="5440680" cy="1188720"/>
          </a:xfrm>
          <a:prstGeom prst="roundRect">
            <a:avLst>
              <a:gd name="adj" fmla="val 6154"/>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0" name="Shape 18"/>
          <p:cNvSpPr/>
          <p:nvPr/>
        </p:nvSpPr>
        <p:spPr>
          <a:xfrm>
            <a:off x="6382512" y="3063240"/>
            <a:ext cx="548640" cy="548640"/>
          </a:xfrm>
          <a:prstGeom prst="roundRect">
            <a:avLst>
              <a:gd name="adj" fmla="val 16667"/>
            </a:avLst>
          </a:prstGeom>
          <a:solidFill>
            <a:srgbClr val="C14B37"/>
          </a:solidFill>
          <a:ln/>
        </p:spPr>
      </p:sp>
      <p:sp>
        <p:nvSpPr>
          <p:cNvPr id="21" name="Text 19"/>
          <p:cNvSpPr txBox="1"/>
          <p:nvPr/>
        </p:nvSpPr>
        <p:spPr>
          <a:xfrm>
            <a:off x="6382512" y="306324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a:t>
            </a:r>
            <a:endParaRPr lang="en-US" sz="2400" dirty="0"/>
          </a:p>
        </p:txBody>
      </p:sp>
      <p:sp>
        <p:nvSpPr>
          <p:cNvPr id="22" name="Text 20"/>
          <p:cNvSpPr txBox="1"/>
          <p:nvPr/>
        </p:nvSpPr>
        <p:spPr>
          <a:xfrm>
            <a:off x="7068312" y="3026664"/>
            <a:ext cx="4434840" cy="365760"/>
          </a:xfrm>
          <a:prstGeom prst="rect">
            <a:avLst/>
          </a:prstGeom>
          <a:noFill/>
          <a:ln/>
        </p:spPr>
        <p:txBody>
          <a:bodyPr wrap="square" lIns="0" tIns="0" rIns="0" bIns="0" rtlCol="0" anchor="ctr"/>
          <a:lstStyle/>
          <a:p>
            <a:pPr indent="0" marL="0">
              <a:buNone/>
            </a:pPr>
            <a:r>
              <a:rPr lang="en-US" sz="1400" b="1" dirty="0">
                <a:solidFill>
                  <a:srgbClr val="0E3A43"/>
                </a:solidFill>
                <a:latin typeface="Calibri" pitchFamily="34" charset="0"/>
                <a:ea typeface="Calibri" pitchFamily="34" charset="-122"/>
                <a:cs typeface="Calibri" pitchFamily="34" charset="-120"/>
              </a:rPr>
              <a:t>Addictive / habitual</a:t>
            </a:r>
            <a:endParaRPr lang="en-US" sz="1400" dirty="0"/>
          </a:p>
        </p:txBody>
      </p:sp>
      <p:sp>
        <p:nvSpPr>
          <p:cNvPr id="23" name="Text 21"/>
          <p:cNvSpPr txBox="1"/>
          <p:nvPr/>
        </p:nvSpPr>
        <p:spPr>
          <a:xfrm>
            <a:off x="7068312" y="3410712"/>
            <a:ext cx="4434840" cy="457200"/>
          </a:xfrm>
          <a:prstGeom prst="rect">
            <a:avLst/>
          </a:prstGeom>
          <a:noFill/>
          <a:ln/>
        </p:spPr>
        <p:txBody>
          <a:bodyPr wrap="square" lIns="0" tIns="0" rIns="0" bIns="0" rtlCol="0" anchor="t"/>
          <a:lstStyle/>
          <a:p>
            <a:pPr indent="0" marL="0">
              <a:buNone/>
            </a:pPr>
            <a:r>
              <a:rPr lang="en-US" sz="1200" dirty="0">
                <a:solidFill>
                  <a:srgbClr val="1F2A33"/>
                </a:solidFill>
                <a:latin typeface="Calibri" pitchFamily="34" charset="0"/>
                <a:ea typeface="Calibri" pitchFamily="34" charset="-122"/>
                <a:cs typeface="Calibri" pitchFamily="34" charset="-120"/>
              </a:rPr>
              <a:t>Addictive or habit-forming / strong brand → INELASTIC</a:t>
            </a:r>
            <a:endParaRPr lang="en-US" sz="1200" dirty="0"/>
          </a:p>
        </p:txBody>
      </p:sp>
      <p:sp>
        <p:nvSpPr>
          <p:cNvPr id="24" name="Shape 22"/>
          <p:cNvSpPr/>
          <p:nvPr/>
        </p:nvSpPr>
        <p:spPr>
          <a:xfrm>
            <a:off x="548640" y="4142232"/>
            <a:ext cx="5440680" cy="1188720"/>
          </a:xfrm>
          <a:prstGeom prst="roundRect">
            <a:avLst>
              <a:gd name="adj" fmla="val 6154"/>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5" name="Shape 23"/>
          <p:cNvSpPr/>
          <p:nvPr/>
        </p:nvSpPr>
        <p:spPr>
          <a:xfrm>
            <a:off x="731520" y="4379976"/>
            <a:ext cx="548640" cy="548640"/>
          </a:xfrm>
          <a:prstGeom prst="roundRect">
            <a:avLst>
              <a:gd name="adj" fmla="val 16667"/>
            </a:avLst>
          </a:prstGeom>
          <a:solidFill>
            <a:srgbClr val="0B5E66"/>
          </a:solidFill>
          <a:ln/>
        </p:spPr>
      </p:sp>
      <p:sp>
        <p:nvSpPr>
          <p:cNvPr id="26" name="Text 24"/>
          <p:cNvSpPr txBox="1"/>
          <p:nvPr/>
        </p:nvSpPr>
        <p:spPr>
          <a:xfrm>
            <a:off x="731520" y="4379976"/>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T</a:t>
            </a:r>
            <a:endParaRPr lang="en-US" sz="2400" dirty="0"/>
          </a:p>
        </p:txBody>
      </p:sp>
      <p:sp>
        <p:nvSpPr>
          <p:cNvPr id="27" name="Text 25"/>
          <p:cNvSpPr txBox="1"/>
          <p:nvPr/>
        </p:nvSpPr>
        <p:spPr>
          <a:xfrm>
            <a:off x="1417320" y="4343400"/>
            <a:ext cx="4434840" cy="365760"/>
          </a:xfrm>
          <a:prstGeom prst="rect">
            <a:avLst/>
          </a:prstGeom>
          <a:noFill/>
          <a:ln/>
        </p:spPr>
        <p:txBody>
          <a:bodyPr wrap="square" lIns="0" tIns="0" rIns="0" bIns="0" rtlCol="0" anchor="ctr"/>
          <a:lstStyle/>
          <a:p>
            <a:pPr indent="0" marL="0">
              <a:buNone/>
            </a:pPr>
            <a:r>
              <a:rPr lang="en-US" sz="1400" b="1" dirty="0">
                <a:solidFill>
                  <a:srgbClr val="0E3A43"/>
                </a:solidFill>
                <a:latin typeface="Calibri" pitchFamily="34" charset="0"/>
                <a:ea typeface="Calibri" pitchFamily="34" charset="-122"/>
                <a:cs typeface="Calibri" pitchFamily="34" charset="-120"/>
              </a:rPr>
              <a:t>Time period</a:t>
            </a:r>
            <a:endParaRPr lang="en-US" sz="1400" dirty="0"/>
          </a:p>
        </p:txBody>
      </p:sp>
      <p:sp>
        <p:nvSpPr>
          <p:cNvPr id="28" name="Text 26"/>
          <p:cNvSpPr txBox="1"/>
          <p:nvPr/>
        </p:nvSpPr>
        <p:spPr>
          <a:xfrm>
            <a:off x="1417320" y="4727448"/>
            <a:ext cx="4434840" cy="457200"/>
          </a:xfrm>
          <a:prstGeom prst="rect">
            <a:avLst/>
          </a:prstGeom>
          <a:noFill/>
          <a:ln/>
        </p:spPr>
        <p:txBody>
          <a:bodyPr wrap="square" lIns="0" tIns="0" rIns="0" bIns="0" rtlCol="0" anchor="t"/>
          <a:lstStyle/>
          <a:p>
            <a:pPr indent="0" marL="0">
              <a:buNone/>
            </a:pPr>
            <a:r>
              <a:rPr lang="en-US" sz="1200" dirty="0">
                <a:solidFill>
                  <a:srgbClr val="1F2A33"/>
                </a:solidFill>
                <a:latin typeface="Calibri" pitchFamily="34" charset="0"/>
                <a:ea typeface="Calibri" pitchFamily="34" charset="-122"/>
                <a:cs typeface="Calibri" pitchFamily="34" charset="-120"/>
              </a:rPr>
              <a:t>Longer time → more ELASTIC (buyers find alternatives)</a:t>
            </a:r>
            <a:endParaRPr lang="en-US" sz="1200" dirty="0"/>
          </a:p>
        </p:txBody>
      </p:sp>
      <p:sp>
        <p:nvSpPr>
          <p:cNvPr id="29" name="Shape 27"/>
          <p:cNvSpPr/>
          <p:nvPr/>
        </p:nvSpPr>
        <p:spPr>
          <a:xfrm>
            <a:off x="6199632" y="3995928"/>
            <a:ext cx="5440680" cy="1188720"/>
          </a:xfrm>
          <a:prstGeom prst="roundRect">
            <a:avLst>
              <a:gd name="adj" fmla="val 6154"/>
            </a:avLst>
          </a:prstGeom>
          <a:solidFill>
            <a:srgbClr val="FBF0D8"/>
          </a:solidFill>
          <a:ln/>
          <a:effectLst>
            <a:outerShdw sx="100000" sy="100000" kx="0" ky="0" algn="bl" rotWithShape="0" blurRad="76200" dist="25400" dir="5400000">
              <a:srgbClr val="9AAAB0">
                <a:alpha val="28000"/>
              </a:srgbClr>
            </a:outerShdw>
          </a:effectLst>
        </p:spPr>
      </p:sp>
      <p:sp>
        <p:nvSpPr>
          <p:cNvPr id="30" name="Text 28"/>
          <p:cNvSpPr txBox="1"/>
          <p:nvPr/>
        </p:nvSpPr>
        <p:spPr>
          <a:xfrm>
            <a:off x="6400800" y="4114800"/>
            <a:ext cx="5029200" cy="320040"/>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The exam link</a:t>
            </a:r>
            <a:endParaRPr lang="en-US" sz="1300" dirty="0"/>
          </a:p>
        </p:txBody>
      </p:sp>
      <p:sp>
        <p:nvSpPr>
          <p:cNvPr id="31" name="Text 29"/>
          <p:cNvSpPr txBox="1"/>
          <p:nvPr/>
        </p:nvSpPr>
        <p:spPr>
          <a:xfrm>
            <a:off x="6400800" y="4434840"/>
            <a:ext cx="5074920" cy="731520"/>
          </a:xfrm>
          <a:prstGeom prst="rect">
            <a:avLst/>
          </a:prstGeom>
          <a:noFill/>
          <a:ln/>
        </p:spPr>
        <p:txBody>
          <a:bodyPr wrap="square" lIns="0" tIns="0" rIns="0" bIns="0" rtlCol="0" anchor="t"/>
          <a:lstStyle/>
          <a:p>
            <a:pPr indent="0" marL="0">
              <a:buNone/>
            </a:pPr>
            <a:r>
              <a:rPr lang="en-US" sz="1200" dirty="0">
                <a:solidFill>
                  <a:srgbClr val="1F2A33"/>
                </a:solidFill>
                <a:latin typeface="Calibri" pitchFamily="34" charset="0"/>
                <a:ea typeface="Calibri" pitchFamily="34" charset="-122"/>
                <a:cs typeface="Calibri" pitchFamily="34" charset="-120"/>
              </a:rPr>
              <a:t>A firm wants INELASTIC demand — strong brand, few substitutes, a ‘must-have’ product — so it can raise price without losing many sales.</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PED &amp; REVENUE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PED and total revenue — the key relationship</a:t>
            </a:r>
            <a:endParaRPr lang="en-US" sz="2700" dirty="0"/>
          </a:p>
        </p:txBody>
      </p:sp>
      <p:sp>
        <p:nvSpPr>
          <p:cNvPr id="4" name="Shape 2"/>
          <p:cNvSpPr/>
          <p:nvPr/>
        </p:nvSpPr>
        <p:spPr>
          <a:xfrm>
            <a:off x="548640" y="1371600"/>
            <a:ext cx="11091672" cy="658368"/>
          </a:xfrm>
          <a:prstGeom prst="roundRect">
            <a:avLst>
              <a:gd name="adj" fmla="val 11111"/>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44752"/>
            <a:ext cx="10698480" cy="512064"/>
          </a:xfrm>
          <a:prstGeom prst="rect">
            <a:avLst/>
          </a:prstGeom>
          <a:noFill/>
          <a:ln/>
        </p:spPr>
        <p:txBody>
          <a:bodyPr wrap="square" lIns="0" tIns="0" rIns="0" bIns="0" rtlCol="0" anchor="ctr"/>
          <a:lstStyle/>
          <a:p>
            <a:pPr indent="0" marL="0">
              <a:buNone/>
            </a:pPr>
            <a:r>
              <a:rPr lang="en-US" sz="1350" b="1" dirty="0">
                <a:solidFill>
                  <a:srgbClr val="0B5E66"/>
                </a:solidFill>
                <a:latin typeface="Calibri" pitchFamily="34" charset="0"/>
                <a:ea typeface="Calibri" pitchFamily="34" charset="-122"/>
                <a:cs typeface="Calibri" pitchFamily="34" charset="-120"/>
              </a:rPr>
              <a:t>Total revenue = price × quantity.  </a:t>
            </a:r>
            <a:pPr indent="0" marL="0">
              <a:buNone/>
            </a:pPr>
            <a:r>
              <a:rPr lang="en-US" sz="1350" dirty="0">
                <a:solidFill>
                  <a:srgbClr val="1F2A33"/>
                </a:solidFill>
                <a:latin typeface="Calibri" pitchFamily="34" charset="0"/>
                <a:ea typeface="Calibri" pitchFamily="34" charset="-122"/>
                <a:cs typeface="Calibri" pitchFamily="34" charset="-120"/>
              </a:rPr>
              <a:t>Whether a price change raises or lowers TR depends entirely on PED.</a:t>
            </a:r>
            <a:endParaRPr lang="en-US" sz="13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6858000" cy="914400"/>
        </p:xfrm>
        <a:graphic>
          <a:graphicData uri="http://schemas.openxmlformats.org/drawingml/2006/table">
            <a:tbl>
              <a:tblPr/>
              <a:tblGrid>
                <a:gridCol w="2834640"/>
                <a:gridCol w="2011680"/>
                <a:gridCol w="2011680"/>
              </a:tblGrid>
              <a:tr h="457200">
                <a:tc>
                  <a:txBody>
                    <a:bodyPr/>
                    <a:lstStyle/>
                    <a:p>
                      <a:pPr algn="ctr" indent="0" marL="0">
                        <a:buNone/>
                      </a:pPr>
                      <a:endParaRPr lang="en-US" sz="13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Price RISES</a:t>
                      </a:r>
                      <a:endParaRPr lang="en-US" sz="13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Price FALLS</a:t>
                      </a:r>
                      <a:endParaRPr lang="en-US" sz="13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r>
              <a:tr h="868680">
                <a:tc>
                  <a:txBody>
                    <a:bodyPr/>
                    <a:lstStyle/>
                    <a:p>
                      <a:pPr algn="ctr" indent="0" marL="0">
                        <a:buNone/>
                      </a:pPr>
                      <a:r>
                        <a:rPr lang="en-US" sz="1350" b="1" dirty="0">
                          <a:solidFill>
                            <a:srgbClr val="C14B37"/>
                          </a:solidFill>
                          <a:latin typeface="Calibri" pitchFamily="34" charset="0"/>
                          <a:ea typeface="Calibri" pitchFamily="34" charset="-122"/>
                          <a:cs typeface="Calibri" pitchFamily="34" charset="-120"/>
                        </a:rPr>
                        <a:t>ELASTIC  (|PED| &gt; 1)</a:t>
                      </a:r>
                      <a:endParaRPr lang="en-US" sz="13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F2A33"/>
                          </a:solidFill>
                          <a:latin typeface="Calibri" pitchFamily="34" charset="0"/>
                          <a:ea typeface="Calibri" pitchFamily="34" charset="-122"/>
                          <a:cs typeface="Calibri" pitchFamily="34" charset="-120"/>
                        </a:rPr>
                        <a:t>Revenue FALLS</a:t>
                      </a:r>
                      <a:endParaRPr lang="en-US" sz="13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F2A33"/>
                          </a:solidFill>
                          <a:latin typeface="Calibri" pitchFamily="34" charset="0"/>
                          <a:ea typeface="Calibri" pitchFamily="34" charset="-122"/>
                          <a:cs typeface="Calibri" pitchFamily="34" charset="-120"/>
                        </a:rPr>
                        <a:t>Revenue RISES</a:t>
                      </a:r>
                      <a:endParaRPr lang="en-US" sz="13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868680">
                <a:tc>
                  <a:txBody>
                    <a:bodyPr/>
                    <a:lstStyle/>
                    <a:p>
                      <a:pPr algn="ctr" indent="0" marL="0">
                        <a:buNone/>
                      </a:pPr>
                      <a:r>
                        <a:rPr lang="en-US" sz="1350" b="1" dirty="0">
                          <a:solidFill>
                            <a:srgbClr val="0E7C86"/>
                          </a:solidFill>
                          <a:latin typeface="Calibri" pitchFamily="34" charset="0"/>
                          <a:ea typeface="Calibri" pitchFamily="34" charset="-122"/>
                          <a:cs typeface="Calibri" pitchFamily="34" charset="-120"/>
                        </a:rPr>
                        <a:t>INELASTIC  (|PED| &lt; 1)</a:t>
                      </a:r>
                      <a:endParaRPr lang="en-US" sz="13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F2A33"/>
                          </a:solidFill>
                          <a:latin typeface="Calibri" pitchFamily="34" charset="0"/>
                          <a:ea typeface="Calibri" pitchFamily="34" charset="-122"/>
                          <a:cs typeface="Calibri" pitchFamily="34" charset="-120"/>
                        </a:rPr>
                        <a:t>Revenue RISES</a:t>
                      </a:r>
                      <a:endParaRPr lang="en-US" sz="13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F2A33"/>
                          </a:solidFill>
                          <a:latin typeface="Calibri" pitchFamily="34" charset="0"/>
                          <a:ea typeface="Calibri" pitchFamily="34" charset="-122"/>
                          <a:cs typeface="Calibri" pitchFamily="34" charset="-120"/>
                        </a:rPr>
                        <a:t>Revenue FALLS</a:t>
                      </a:r>
                      <a:endParaRPr lang="en-US" sz="13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bl>
          </a:graphicData>
        </a:graphic>
      </p:graphicFrame>
      <p:sp>
        <p:nvSpPr>
          <p:cNvPr id="7" name="Shape 4"/>
          <p:cNvSpPr/>
          <p:nvPr/>
        </p:nvSpPr>
        <p:spPr>
          <a:xfrm>
            <a:off x="7589520" y="2194560"/>
            <a:ext cx="4050792" cy="3611880"/>
          </a:xfrm>
          <a:prstGeom prst="roundRect">
            <a:avLst>
              <a:gd name="adj" fmla="val 2025"/>
            </a:avLst>
          </a:prstGeom>
          <a:solidFill>
            <a:srgbClr val="EAF3F4"/>
          </a:solidFill>
          <a:ln/>
          <a:effectLst>
            <a:outerShdw sx="100000" sy="100000" kx="0" ky="0" algn="bl" rotWithShape="0" blurRad="76200" dist="25400" dir="5400000">
              <a:srgbClr val="9AAAB0">
                <a:alpha val="28000"/>
              </a:srgbClr>
            </a:outerShdw>
          </a:effectLst>
        </p:spPr>
      </p:sp>
      <p:sp>
        <p:nvSpPr>
          <p:cNvPr id="8" name="Text 5"/>
          <p:cNvSpPr txBox="1"/>
          <p:nvPr/>
        </p:nvSpPr>
        <p:spPr>
          <a:xfrm>
            <a:off x="7818120" y="2331720"/>
            <a:ext cx="3657600" cy="320040"/>
          </a:xfrm>
          <a:prstGeom prst="rect">
            <a:avLst/>
          </a:prstGeom>
          <a:noFill/>
          <a:ln/>
        </p:spPr>
        <p:txBody>
          <a:bodyPr wrap="square" lIns="0" tIns="0" rIns="0" bIns="0" rtlCol="0" anchor="ctr"/>
          <a:lstStyle/>
          <a:p>
            <a:pPr indent="0" marL="0">
              <a:buNone/>
            </a:pPr>
            <a:r>
              <a:rPr lang="en-US" sz="1350" b="1" dirty="0">
                <a:solidFill>
                  <a:srgbClr val="0B5E66"/>
                </a:solidFill>
                <a:latin typeface="Calibri" pitchFamily="34" charset="0"/>
                <a:ea typeface="Calibri" pitchFamily="34" charset="-122"/>
                <a:cs typeface="Calibri" pitchFamily="34" charset="-120"/>
              </a:rPr>
              <a:t>How to remember it</a:t>
            </a:r>
            <a:endParaRPr lang="en-US" sz="1350" dirty="0"/>
          </a:p>
        </p:txBody>
      </p:sp>
      <p:sp>
        <p:nvSpPr>
          <p:cNvPr id="9" name="Text 6"/>
          <p:cNvSpPr txBox="1"/>
          <p:nvPr/>
        </p:nvSpPr>
        <p:spPr>
          <a:xfrm>
            <a:off x="7818120" y="2697480"/>
            <a:ext cx="3611880" cy="301752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ELASTIC: price &amp; revenue move in OPPOSITE directions — so cut price to grow revenue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INELASTIC: price &amp; revenue move in the SAME direction — so raise price to grow revenue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Unit elastic (=1): revenue is unchanged</a:t>
            </a:r>
            <a:endParaRPr lang="en-US" sz="1250" dirty="0"/>
          </a:p>
        </p:txBody>
      </p:sp>
      <p:sp>
        <p:nvSpPr>
          <p:cNvPr id="10" name="Shape 7"/>
          <p:cNvSpPr/>
          <p:nvPr/>
        </p:nvSpPr>
        <p:spPr>
          <a:xfrm>
            <a:off x="548640" y="5029200"/>
            <a:ext cx="6858000" cy="777240"/>
          </a:xfrm>
          <a:prstGeom prst="roundRect">
            <a:avLst>
              <a:gd name="adj" fmla="val 9412"/>
            </a:avLst>
          </a:prstGeom>
          <a:solidFill>
            <a:srgbClr val="FBF0D8"/>
          </a:solidFill>
          <a:ln/>
          <a:effectLst>
            <a:outerShdw sx="100000" sy="100000" kx="0" ky="0" algn="bl" rotWithShape="0" blurRad="76200" dist="25400" dir="5400000">
              <a:srgbClr val="9AAAB0">
                <a:alpha val="28000"/>
              </a:srgbClr>
            </a:outerShdw>
          </a:effectLst>
        </p:spPr>
      </p:sp>
      <p:sp>
        <p:nvSpPr>
          <p:cNvPr id="11" name="Text 8"/>
          <p:cNvSpPr txBox="1"/>
          <p:nvPr/>
        </p:nvSpPr>
        <p:spPr>
          <a:xfrm>
            <a:off x="777240" y="5102352"/>
            <a:ext cx="6492240" cy="658368"/>
          </a:xfrm>
          <a:prstGeom prst="rect">
            <a:avLst/>
          </a:prstGeom>
          <a:noFill/>
          <a:ln/>
        </p:spPr>
        <p:txBody>
          <a:bodyPr wrap="square" lIns="0" tIns="0" rIns="0" bIns="0" rtlCol="0" anchor="ctr"/>
          <a:lstStyle/>
          <a:p>
            <a:pPr indent="0" marL="0">
              <a:buNone/>
            </a:pPr>
            <a:r>
              <a:rPr lang="en-US" sz="1150" b="1" dirty="0">
                <a:solidFill>
                  <a:srgbClr val="8A5A06"/>
                </a:solidFill>
                <a:latin typeface="Calibri" pitchFamily="34" charset="0"/>
                <a:ea typeface="Calibri" pitchFamily="34" charset="-122"/>
                <a:cs typeface="Calibri" pitchFamily="34" charset="-120"/>
              </a:rPr>
              <a:t>Worked:  </a:t>
            </a:r>
            <a:pPr indent="0" marL="0">
              <a:buNone/>
            </a:pPr>
            <a:r>
              <a:rPr lang="en-US" sz="1150" dirty="0">
                <a:solidFill>
                  <a:srgbClr val="1F2A33"/>
                </a:solidFill>
                <a:latin typeface="Calibri" pitchFamily="34" charset="0"/>
                <a:ea typeface="Calibri" pitchFamily="34" charset="-122"/>
                <a:cs typeface="Calibri" pitchFamily="34" charset="-120"/>
              </a:rPr>
              <a:t>if PED = −0.4 (inelastic) and price rises 10%, quantity falls only ~4% → revenue RISES. If PED = −2.5 (elastic), the same 10% rise cuts quantity ~25% → revenue FALLS.</a:t>
            </a:r>
            <a:endParaRPr lang="en-US" sz="11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PED</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Why PED matters — and predicting new demand</a:t>
            </a:r>
            <a:endParaRPr lang="en-US" sz="2700" dirty="0"/>
          </a:p>
        </p:txBody>
      </p:sp>
      <p:sp>
        <p:nvSpPr>
          <p:cNvPr id="4" name="Shape 2"/>
          <p:cNvSpPr/>
          <p:nvPr/>
        </p:nvSpPr>
        <p:spPr>
          <a:xfrm>
            <a:off x="548640" y="1417320"/>
            <a:ext cx="5486400" cy="4754880"/>
          </a:xfrm>
          <a:prstGeom prst="roundRect">
            <a:avLst>
              <a:gd name="adj" fmla="val 1538"/>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536192"/>
            <a:ext cx="5029200" cy="320040"/>
          </a:xfrm>
          <a:prstGeom prst="rect">
            <a:avLst/>
          </a:prstGeom>
          <a:noFill/>
          <a:ln/>
        </p:spPr>
        <p:txBody>
          <a:bodyPr wrap="square" lIns="0" tIns="0" rIns="0" bIns="0" rtlCol="0" anchor="ctr"/>
          <a:lstStyle/>
          <a:p>
            <a:pPr indent="0" marL="0">
              <a:buNone/>
            </a:pPr>
            <a:r>
              <a:rPr lang="en-US" sz="1400" b="1" dirty="0">
                <a:solidFill>
                  <a:srgbClr val="0B5E66"/>
                </a:solidFill>
                <a:latin typeface="Calibri" pitchFamily="34" charset="0"/>
                <a:ea typeface="Calibri" pitchFamily="34" charset="-122"/>
                <a:cs typeface="Calibri" pitchFamily="34" charset="-120"/>
              </a:rPr>
              <a:t>Significance for pricing</a:t>
            </a:r>
            <a:endParaRPr lang="en-US" sz="1400" dirty="0"/>
          </a:p>
        </p:txBody>
      </p:sp>
      <p:sp>
        <p:nvSpPr>
          <p:cNvPr id="6" name="Text 4"/>
          <p:cNvSpPr txBox="1"/>
          <p:nvPr/>
        </p:nvSpPr>
        <p:spPr>
          <a:xfrm>
            <a:off x="777240" y="1920240"/>
            <a:ext cx="5074920" cy="41148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Tells a firm whether a price rise will raise or lower revenue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Inelastic demand → a firm can pass on cost rises as higher prices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Elastic demand → avoid price rises; compete on price or differentiate to become inelastic</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Helps forecast sales and plan revenue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PED varies by customer &amp; place — so firms may price differently in different segments</a:t>
            </a:r>
            <a:endParaRPr lang="en-US" sz="1250" dirty="0"/>
          </a:p>
        </p:txBody>
      </p:sp>
      <p:sp>
        <p:nvSpPr>
          <p:cNvPr id="7" name="Shape 5"/>
          <p:cNvSpPr/>
          <p:nvPr/>
        </p:nvSpPr>
        <p:spPr>
          <a:xfrm>
            <a:off x="6199632" y="1417320"/>
            <a:ext cx="5440680" cy="4754880"/>
          </a:xfrm>
          <a:prstGeom prst="roundRect">
            <a:avLst>
              <a:gd name="adj" fmla="val 1538"/>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8" name="Text 6"/>
          <p:cNvSpPr txBox="1"/>
          <p:nvPr/>
        </p:nvSpPr>
        <p:spPr>
          <a:xfrm>
            <a:off x="6428232" y="1536192"/>
            <a:ext cx="5029200" cy="320040"/>
          </a:xfrm>
          <a:prstGeom prst="rect">
            <a:avLst/>
          </a:prstGeom>
          <a:noFill/>
          <a:ln/>
        </p:spPr>
        <p:txBody>
          <a:bodyPr wrap="square" lIns="0" tIns="0" rIns="0" bIns="0" rtlCol="0" anchor="ctr"/>
          <a:lstStyle/>
          <a:p>
            <a:pPr indent="0" marL="0">
              <a:buNone/>
            </a:pPr>
            <a:r>
              <a:rPr lang="en-US" sz="1400" b="1" dirty="0">
                <a:solidFill>
                  <a:srgbClr val="0E3A43"/>
                </a:solidFill>
                <a:latin typeface="Calibri" pitchFamily="34" charset="0"/>
                <a:ea typeface="Calibri" pitchFamily="34" charset="-122"/>
                <a:cs typeface="Calibri" pitchFamily="34" charset="-120"/>
              </a:rPr>
              <a:t>Predicting the new quantity demanded</a:t>
            </a:r>
            <a:endParaRPr lang="en-US" sz="1400" dirty="0"/>
          </a:p>
        </p:txBody>
      </p:sp>
      <p:sp>
        <p:nvSpPr>
          <p:cNvPr id="9" name="Shape 7"/>
          <p:cNvSpPr/>
          <p:nvPr/>
        </p:nvSpPr>
        <p:spPr>
          <a:xfrm>
            <a:off x="6428232" y="1965960"/>
            <a:ext cx="4983480" cy="640080"/>
          </a:xfrm>
          <a:prstGeom prst="roundRect">
            <a:avLst>
              <a:gd name="adj" fmla="val 11429"/>
            </a:avLst>
          </a:prstGeom>
          <a:solidFill>
            <a:srgbClr val="0E3A43"/>
          </a:solidFill>
          <a:ln/>
          <a:effectLst>
            <a:outerShdw sx="100000" sy="100000" kx="0" ky="0" algn="bl" rotWithShape="0" blurRad="76200" dist="25400" dir="5400000">
              <a:srgbClr val="9AAAB0">
                <a:alpha val="28000"/>
              </a:srgbClr>
            </a:outerShdw>
          </a:effectLst>
        </p:spPr>
      </p:sp>
      <p:sp>
        <p:nvSpPr>
          <p:cNvPr id="10" name="Text 8"/>
          <p:cNvSpPr txBox="1"/>
          <p:nvPr/>
        </p:nvSpPr>
        <p:spPr>
          <a:xfrm>
            <a:off x="6428232" y="1965960"/>
            <a:ext cx="498348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 Δ quantity  =  PED  ×  % Δ price</a:t>
            </a:r>
            <a:endParaRPr lang="en-US" sz="1500" dirty="0"/>
          </a:p>
        </p:txBody>
      </p:sp>
      <p:sp>
        <p:nvSpPr>
          <p:cNvPr id="11" name="Text 9"/>
          <p:cNvSpPr txBox="1"/>
          <p:nvPr/>
        </p:nvSpPr>
        <p:spPr>
          <a:xfrm>
            <a:off x="6428232" y="2743200"/>
            <a:ext cx="4983480" cy="548640"/>
          </a:xfrm>
          <a:prstGeom prst="rect">
            <a:avLst/>
          </a:prstGeom>
          <a:noFill/>
          <a:ln/>
        </p:spPr>
        <p:txBody>
          <a:bodyPr wrap="square" lIns="0" tIns="0" rIns="0" bIns="0" rtlCol="0" anchor="t"/>
          <a:lstStyle/>
          <a:p>
            <a:pPr indent="0" marL="0">
              <a:buNone/>
            </a:pPr>
            <a:r>
              <a:rPr lang="en-US" sz="1250" b="1" dirty="0">
                <a:solidFill>
                  <a:srgbClr val="0B5E66"/>
                </a:solidFill>
                <a:latin typeface="Calibri" pitchFamily="34" charset="0"/>
                <a:ea typeface="Calibri" pitchFamily="34" charset="-122"/>
                <a:cs typeface="Calibri" pitchFamily="34" charset="-120"/>
              </a:rPr>
              <a:t>Worked — desert-safari bookings:  </a:t>
            </a:r>
            <a:pPr indent="0" marL="0">
              <a:buNone/>
            </a:pPr>
            <a:r>
              <a:rPr lang="en-US" sz="1250" dirty="0">
                <a:solidFill>
                  <a:srgbClr val="1F2A33"/>
                </a:solidFill>
                <a:latin typeface="Calibri" pitchFamily="34" charset="0"/>
                <a:ea typeface="Calibri" pitchFamily="34" charset="-122"/>
                <a:cs typeface="Calibri" pitchFamily="34" charset="-120"/>
              </a:rPr>
              <a:t>12,000 bookings, PED = −1.5, price cut of 6%.</a:t>
            </a:r>
            <a:endParaRPr lang="en-US" sz="1250" dirty="0"/>
          </a:p>
        </p:txBody>
      </p:sp>
      <p:sp>
        <p:nvSpPr>
          <p:cNvPr id="12" name="Text 10"/>
          <p:cNvSpPr txBox="1"/>
          <p:nvPr/>
        </p:nvSpPr>
        <p:spPr>
          <a:xfrm>
            <a:off x="6428232" y="3337560"/>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 ΔQd = −1.5 × −6% = +9%</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Increase = 12,000 × 9% = 1,080</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New quantity = 12,000 + 1,080 = 13,080 bookings</a:t>
            </a:r>
            <a:endParaRPr lang="en-US" sz="1300" dirty="0"/>
          </a:p>
        </p:txBody>
      </p:sp>
      <p:sp>
        <p:nvSpPr>
          <p:cNvPr id="13" name="Text 11"/>
          <p:cNvSpPr txBox="1"/>
          <p:nvPr/>
        </p:nvSpPr>
        <p:spPr>
          <a:xfrm>
            <a:off x="6428232" y="5029200"/>
            <a:ext cx="4983480" cy="822960"/>
          </a:xfrm>
          <a:prstGeom prst="rect">
            <a:avLst/>
          </a:prstGeom>
          <a:noFill/>
          <a:ln/>
        </p:spPr>
        <p:txBody>
          <a:bodyPr wrap="square" lIns="0" tIns="0" rIns="0" bIns="0" rtlCol="0" anchor="t"/>
          <a:lstStyle/>
          <a:p>
            <a:pPr indent="0" marL="0">
              <a:buNone/>
            </a:pPr>
            <a:r>
              <a:rPr lang="en-US" sz="1150" i="1" dirty="0">
                <a:solidFill>
                  <a:srgbClr val="5B6B73"/>
                </a:solidFill>
                <a:latin typeface="Calibri" pitchFamily="34" charset="0"/>
                <a:ea typeface="Calibri" pitchFamily="34" charset="-122"/>
                <a:cs typeface="Calibri" pitchFamily="34" charset="-120"/>
              </a:rPr>
              <a:t>A price cut on elastic demand (|PED|&gt;1) grows quantity more than proportionally → revenue rises.</a:t>
            </a:r>
            <a:endParaRPr lang="en-US" sz="11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CALCULATION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PED calculation practice</a:t>
            </a:r>
            <a:endParaRPr lang="en-US" sz="27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5120640"/>
                <a:gridCol w="2953512"/>
                <a:gridCol w="1371600"/>
                <a:gridCol w="1645920"/>
              </a:tblGrid>
              <a:tr h="41148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Scenario</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Working</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PED</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Verdict</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r>
              <a:tr h="731520">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Superdry T-shirt: price −10%, sales 120k→150k</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+25% ÷ −10%</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−2.5</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Elastic</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731520">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Samsung TV: $800→$780, sales 9,000→9,450</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+5% ÷ −2.5%</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Elastic</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731520">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Nurus table: $480→$504, sales −2%</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−2% ÷ +5%</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−0.4</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Inelastic</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731520">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Cinema: price +8%, sales 50k→46k</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−8% ÷ +8%</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Unit elastic</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731520">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Streaming: 40,000 subs, price +12%, PED −0.5</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−0.5 × +12% = −6%</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37,600</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New Qd</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806440"/>
            <a:ext cx="11091672" cy="457200"/>
          </a:xfrm>
          <a:prstGeom prst="roundRect">
            <a:avLst>
              <a:gd name="adj" fmla="val 16000"/>
            </a:avLst>
          </a:prstGeom>
          <a:solidFill>
            <a:srgbClr val="FBF0D8"/>
          </a:solidFill>
          <a:ln/>
          <a:effectLst>
            <a:outerShdw sx="100000" sy="100000" kx="0" ky="0" algn="bl" rotWithShape="0" blurRad="76200" dist="25400" dir="5400000">
              <a:srgbClr val="9AAAB0">
                <a:alpha val="28000"/>
              </a:srgbClr>
            </a:outerShdw>
          </a:effectLst>
        </p:spPr>
      </p:sp>
      <p:sp>
        <p:nvSpPr>
          <p:cNvPr id="6" name="Text 3"/>
          <p:cNvSpPr txBox="1"/>
          <p:nvPr/>
        </p:nvSpPr>
        <p:spPr>
          <a:xfrm>
            <a:off x="777240" y="5824728"/>
            <a:ext cx="10698480" cy="420624"/>
          </a:xfrm>
          <a:prstGeom prst="rect">
            <a:avLst/>
          </a:prstGeom>
          <a:noFill/>
          <a:ln/>
        </p:spPr>
        <p:txBody>
          <a:bodyPr wrap="square" lIns="0" tIns="0" rIns="0" bIns="0" rtlCol="0" anchor="ctr"/>
          <a:lstStyle/>
          <a:p>
            <a:pPr indent="0" marL="0">
              <a:buNone/>
            </a:pPr>
            <a:r>
              <a:rPr lang="en-US" sz="1200" b="1" dirty="0">
                <a:solidFill>
                  <a:srgbClr val="8A5A06"/>
                </a:solidFill>
                <a:latin typeface="Calibri" pitchFamily="34" charset="0"/>
                <a:ea typeface="Calibri" pitchFamily="34" charset="-122"/>
                <a:cs typeface="Calibri" pitchFamily="34" charset="-120"/>
              </a:rPr>
              <a:t>Remember:  </a:t>
            </a:r>
            <a:pPr indent="0" marL="0">
              <a:buNone/>
            </a:pPr>
            <a:r>
              <a:rPr lang="en-US" sz="1200" dirty="0">
                <a:solidFill>
                  <a:srgbClr val="1F2A33"/>
                </a:solidFill>
                <a:latin typeface="Calibri" pitchFamily="34" charset="0"/>
                <a:ea typeface="Calibri" pitchFamily="34" charset="-122"/>
                <a:cs typeface="Calibri" pitchFamily="34" charset="-120"/>
              </a:rPr>
              <a:t>% change from the ORIGINAL value; keep the sign; classify on the absolute value; for ‘new Qd’ use %ΔQ = PED × %ΔP.</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EXAM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Exam practice: PED (Oasis Water)</a:t>
            </a:r>
            <a:endParaRPr lang="en-US" sz="27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5486400" cy="274320"/>
          </a:xfrm>
          <a:prstGeom prst="rect">
            <a:avLst/>
          </a:prstGeom>
          <a:noFill/>
          <a:ln/>
        </p:spPr>
        <p:txBody>
          <a:bodyPr wrap="square" lIns="0" tIns="0" rIns="0" bIns="0" rtlCol="0" anchor="ctr"/>
          <a:lstStyle/>
          <a:p>
            <a:pPr indent="0" marL="0">
              <a:buNone/>
            </a:pPr>
            <a:r>
              <a:rPr lang="en-US" sz="1100" b="1" spc="150" kern="0" dirty="0">
                <a:solidFill>
                  <a:srgbClr val="7FC4CB"/>
                </a:solidFill>
                <a:latin typeface="Calibri" pitchFamily="34" charset="0"/>
                <a:ea typeface="Calibri" pitchFamily="34" charset="-122"/>
                <a:cs typeface="Calibri" pitchFamily="34" charset="-120"/>
              </a:rPr>
              <a:t>EXAM QUESTIONS</a:t>
            </a:r>
            <a:endParaRPr lang="en-US" sz="1100" dirty="0"/>
          </a:p>
        </p:txBody>
      </p:sp>
      <p:sp>
        <p:nvSpPr>
          <p:cNvPr id="6" name="Text 4"/>
          <p:cNvSpPr txBox="1"/>
          <p:nvPr/>
        </p:nvSpPr>
        <p:spPr>
          <a:xfrm>
            <a:off x="777240" y="1792224"/>
            <a:ext cx="10607040" cy="13258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Analyse two factors that are likely to affect the price elasticity of demand for Oasis Water.  </a:t>
            </a:r>
            <a:pPr indent="0" marL="0">
              <a:spcAft>
                <a:spcPts val="600"/>
              </a:spcAft>
              <a:buNone/>
            </a:pPr>
            <a:r>
              <a:rPr lang="en-US" sz="1300" b="1" dirty="0">
                <a:solidFill>
                  <a:srgbClr val="E0940F"/>
                </a:solidFill>
                <a:latin typeface="Calibri" pitchFamily="34" charset="0"/>
                <a:ea typeface="Calibri" pitchFamily="34" charset="-122"/>
                <a:cs typeface="Calibri" pitchFamily="34" charset="-120"/>
              </a:rPr>
              <a:t>[6]</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Discuss the benefits to Oasis Water of understanding the price elasticity of demand for its bottled water.  </a:t>
            </a:r>
            <a:pPr indent="0" marL="0">
              <a:spcAft>
                <a:spcPts val="600"/>
              </a:spcAft>
              <a:buNone/>
            </a:pPr>
            <a:r>
              <a:rPr lang="en-US" sz="1300" b="1" dirty="0">
                <a:solidFill>
                  <a:srgbClr val="E0940F"/>
                </a:solidFill>
                <a:latin typeface="Calibri" pitchFamily="34" charset="0"/>
                <a:ea typeface="Calibri" pitchFamily="34" charset="-122"/>
                <a:cs typeface="Calibri" pitchFamily="34" charset="-120"/>
              </a:rPr>
              <a:t>[8]</a:t>
            </a:r>
            <a:endParaRPr lang="en-US" sz="1300" dirty="0"/>
          </a:p>
        </p:txBody>
      </p:sp>
      <p:sp>
        <p:nvSpPr>
          <p:cNvPr id="7" name="Shape 5"/>
          <p:cNvSpPr/>
          <p:nvPr/>
        </p:nvSpPr>
        <p:spPr>
          <a:xfrm>
            <a:off x="548640" y="3364992"/>
            <a:ext cx="5029200" cy="2834640"/>
          </a:xfrm>
          <a:prstGeom prst="roundRect">
            <a:avLst>
              <a:gd name="adj" fmla="val 2581"/>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3474720"/>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What the question is testing</a:t>
            </a:r>
            <a:endParaRPr lang="en-US" sz="1300" dirty="0"/>
          </a:p>
        </p:txBody>
      </p:sp>
      <p:sp>
        <p:nvSpPr>
          <p:cNvPr id="9" name="Text 7"/>
          <p:cNvSpPr txBox="1"/>
          <p:nvPr/>
        </p:nvSpPr>
        <p:spPr>
          <a:xfrm>
            <a:off x="749808" y="3840480"/>
            <a:ext cx="461772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6-mark Analyse (K2 A2 An2): two PED factors, each applied to Oasis, each developed.</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8-mark Discuss: one benefit + one limitation (‘However’), applied to Oasis.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Use the case: competing brands on the shelf (substitutes); a commuter's immediate need (convenience).</a:t>
            </a:r>
            <a:endParaRPr lang="en-US" sz="1250" dirty="0"/>
          </a:p>
        </p:txBody>
      </p:sp>
      <p:sp>
        <p:nvSpPr>
          <p:cNvPr id="10" name="Shape 8"/>
          <p:cNvSpPr/>
          <p:nvPr/>
        </p:nvSpPr>
        <p:spPr>
          <a:xfrm>
            <a:off x="5788152" y="3364992"/>
            <a:ext cx="5852160" cy="2834640"/>
          </a:xfrm>
          <a:prstGeom prst="roundRect">
            <a:avLst>
              <a:gd name="adj" fmla="val 2581"/>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3474720"/>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How to build them</a:t>
            </a:r>
            <a:endParaRPr lang="en-US" sz="1300" dirty="0"/>
          </a:p>
        </p:txBody>
      </p:sp>
      <p:sp>
        <p:nvSpPr>
          <p:cNvPr id="12" name="Text 10"/>
          <p:cNvSpPr txBox="1"/>
          <p:nvPr/>
        </p:nvSpPr>
        <p:spPr>
          <a:xfrm>
            <a:off x="5989320" y="3840480"/>
            <a:ext cx="544068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6-mark factor 1: close substitutes (rival water brands in-store) → more ELASTIC → switch if price rises.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6-mark factor 2: an immediate need near a metro → more INELASTIC → pay more for convenience.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8-mark FOR: knowing PED helps set a price that raises revenue / covers higher bottle costs.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8-mark HOWEVER: one PED estimate may not fit every store (supermarket vs metro) → could lose more sales than expected.</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B</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B</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Income elasticity of demand (YED)</a:t>
            </a:r>
            <a:endParaRPr lang="en-US" sz="32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the formula &amp; how to calculate it  ·  normal vs inferior goods  ·  luxuries vs necessities  ·  the factors and why YED matters to a business</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YED</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What is YED? The formula</a:t>
            </a:r>
            <a:endParaRPr lang="en-US" sz="2700" dirty="0"/>
          </a:p>
        </p:txBody>
      </p:sp>
      <p:sp>
        <p:nvSpPr>
          <p:cNvPr id="4" name="Shape 2"/>
          <p:cNvSpPr/>
          <p:nvPr/>
        </p:nvSpPr>
        <p:spPr>
          <a:xfrm>
            <a:off x="548640" y="1371600"/>
            <a:ext cx="11091672" cy="868680"/>
          </a:xfrm>
          <a:prstGeom prst="roundRect">
            <a:avLst>
              <a:gd name="adj" fmla="val 8421"/>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2743200" cy="274320"/>
          </a:xfrm>
          <a:prstGeom prst="rect">
            <a:avLst/>
          </a:prstGeom>
          <a:noFill/>
          <a:ln/>
        </p:spPr>
        <p:txBody>
          <a:bodyPr wrap="square" lIns="0" tIns="0" rIns="0" bIns="0" rtlCol="0" anchor="ctr"/>
          <a:lstStyle/>
          <a:p>
            <a:pPr indent="0" marL="0">
              <a:buNone/>
            </a:pPr>
            <a:r>
              <a:rPr lang="en-US" sz="1100" b="1" spc="100" kern="0" dirty="0">
                <a:solidFill>
                  <a:srgbClr val="0B5E66"/>
                </a:solidFill>
                <a:latin typeface="Calibri" pitchFamily="34" charset="0"/>
                <a:ea typeface="Calibri" pitchFamily="34" charset="-122"/>
                <a:cs typeface="Calibri" pitchFamily="34" charset="-120"/>
              </a:rPr>
              <a:t>DEFINITION</a:t>
            </a:r>
            <a:endParaRPr lang="en-US" sz="1100" dirty="0"/>
          </a:p>
        </p:txBody>
      </p:sp>
      <p:sp>
        <p:nvSpPr>
          <p:cNvPr id="6" name="Text 4"/>
          <p:cNvSpPr txBox="1"/>
          <p:nvPr/>
        </p:nvSpPr>
        <p:spPr>
          <a:xfrm>
            <a:off x="777240" y="1737360"/>
            <a:ext cx="10607040" cy="457200"/>
          </a:xfrm>
          <a:prstGeom prst="rect">
            <a:avLst/>
          </a:prstGeom>
          <a:noFill/>
          <a:ln/>
        </p:spPr>
        <p:txBody>
          <a:bodyPr wrap="square" lIns="0" tIns="0" rIns="0" bIns="0" rtlCol="0" anchor="t"/>
          <a:lstStyle/>
          <a:p>
            <a:pPr indent="0" marL="0">
              <a:buNone/>
            </a:pPr>
            <a:r>
              <a:rPr lang="en-US" sz="1450" dirty="0">
                <a:solidFill>
                  <a:srgbClr val="1F2A33"/>
                </a:solidFill>
                <a:latin typeface="Calibri" pitchFamily="34" charset="0"/>
                <a:ea typeface="Calibri" pitchFamily="34" charset="-122"/>
                <a:cs typeface="Calibri" pitchFamily="34" charset="-120"/>
              </a:rPr>
              <a:t>Income elasticity of demand (YED) measures the responsiveness of quantity demanded to a change in consumer income.</a:t>
            </a:r>
            <a:endParaRPr lang="en-US" sz="1450" dirty="0"/>
          </a:p>
        </p:txBody>
      </p:sp>
      <p:sp>
        <p:nvSpPr>
          <p:cNvPr id="7" name="Shape 5"/>
          <p:cNvSpPr/>
          <p:nvPr/>
        </p:nvSpPr>
        <p:spPr>
          <a:xfrm>
            <a:off x="548640" y="2468880"/>
            <a:ext cx="11091672" cy="1828800"/>
          </a:xfrm>
          <a:prstGeom prst="roundRect">
            <a:avLst>
              <a:gd name="adj" fmla="val 4000"/>
            </a:avLst>
          </a:prstGeom>
          <a:solidFill>
            <a:srgbClr val="0E3A43"/>
          </a:solidFill>
          <a:ln/>
          <a:effectLst>
            <a:outerShdw sx="100000" sy="100000" kx="0" ky="0" algn="bl" rotWithShape="0" blurRad="76200" dist="25400" dir="5400000">
              <a:srgbClr val="9AAAB0">
                <a:alpha val="28000"/>
              </a:srgbClr>
            </a:outerShdw>
          </a:effectLst>
        </p:spPr>
      </p:sp>
      <p:sp>
        <p:nvSpPr>
          <p:cNvPr id="8" name="Text 6"/>
          <p:cNvSpPr txBox="1"/>
          <p:nvPr/>
        </p:nvSpPr>
        <p:spPr>
          <a:xfrm>
            <a:off x="1005840" y="3017520"/>
            <a:ext cx="1645920" cy="7315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YED  =</a:t>
            </a:r>
            <a:endParaRPr lang="en-US" sz="2600" dirty="0"/>
          </a:p>
        </p:txBody>
      </p:sp>
      <p:sp>
        <p:nvSpPr>
          <p:cNvPr id="9" name="Text 7"/>
          <p:cNvSpPr txBox="1"/>
          <p:nvPr/>
        </p:nvSpPr>
        <p:spPr>
          <a:xfrm>
            <a:off x="2743200" y="2880360"/>
            <a:ext cx="4937760" cy="457200"/>
          </a:xfrm>
          <a:prstGeom prst="rect">
            <a:avLst/>
          </a:prstGeom>
          <a:noFill/>
          <a:ln/>
        </p:spPr>
        <p:txBody>
          <a:bodyPr wrap="square" lIns="0" tIns="0" rIns="0" bIns="0" rtlCol="0" anchor="ctr"/>
          <a:lstStyle/>
          <a:p>
            <a:pPr algn="ctr" indent="0" marL="0">
              <a:buNone/>
            </a:pPr>
            <a:r>
              <a:rPr lang="en-US" sz="1700" b="1" dirty="0">
                <a:solidFill>
                  <a:srgbClr val="E0940F"/>
                </a:solidFill>
                <a:latin typeface="Calibri" pitchFamily="34" charset="0"/>
                <a:ea typeface="Calibri" pitchFamily="34" charset="-122"/>
                <a:cs typeface="Calibri" pitchFamily="34" charset="-120"/>
              </a:rPr>
              <a:t>% change in quantity demanded</a:t>
            </a:r>
            <a:endParaRPr lang="en-US" sz="1700" dirty="0"/>
          </a:p>
        </p:txBody>
      </p:sp>
      <p:sp>
        <p:nvSpPr>
          <p:cNvPr id="10" name="Shape 8"/>
          <p:cNvSpPr/>
          <p:nvPr/>
        </p:nvSpPr>
        <p:spPr>
          <a:xfrm>
            <a:off x="2743200" y="3429000"/>
            <a:ext cx="4937760" cy="0"/>
          </a:xfrm>
          <a:prstGeom prst="line">
            <a:avLst/>
          </a:prstGeom>
          <a:noFill/>
          <a:ln w="19050">
            <a:solidFill>
              <a:srgbClr val="FFFFFF"/>
            </a:solidFill>
            <a:prstDash val="solid"/>
          </a:ln>
        </p:spPr>
      </p:sp>
      <p:sp>
        <p:nvSpPr>
          <p:cNvPr id="11" name="Text 9"/>
          <p:cNvSpPr txBox="1"/>
          <p:nvPr/>
        </p:nvSpPr>
        <p:spPr>
          <a:xfrm>
            <a:off x="2743200" y="3493008"/>
            <a:ext cx="4937760" cy="457200"/>
          </a:xfrm>
          <a:prstGeom prst="rect">
            <a:avLst/>
          </a:prstGeom>
          <a:noFill/>
          <a:ln/>
        </p:spPr>
        <p:txBody>
          <a:bodyPr wrap="square" lIns="0" tIns="0" rIns="0" bIns="0" rtlCol="0" anchor="ctr"/>
          <a:lstStyle/>
          <a:p>
            <a:pPr algn="ctr" indent="0" marL="0">
              <a:buNone/>
            </a:pPr>
            <a:r>
              <a:rPr lang="en-US" sz="1700" b="1" dirty="0">
                <a:solidFill>
                  <a:srgbClr val="7FC4CB"/>
                </a:solidFill>
                <a:latin typeface="Calibri" pitchFamily="34" charset="0"/>
                <a:ea typeface="Calibri" pitchFamily="34" charset="-122"/>
                <a:cs typeface="Calibri" pitchFamily="34" charset="-120"/>
              </a:rPr>
              <a:t>% change in consumer income</a:t>
            </a:r>
            <a:endParaRPr lang="en-US" sz="1700" dirty="0"/>
          </a:p>
        </p:txBody>
      </p:sp>
      <p:sp>
        <p:nvSpPr>
          <p:cNvPr id="12" name="Text 10"/>
          <p:cNvSpPr txBox="1"/>
          <p:nvPr/>
        </p:nvSpPr>
        <p:spPr>
          <a:xfrm>
            <a:off x="8138160" y="3200400"/>
            <a:ext cx="2926080" cy="548640"/>
          </a:xfrm>
          <a:prstGeom prst="rect">
            <a:avLst/>
          </a:prstGeom>
          <a:noFill/>
          <a:ln/>
        </p:spPr>
        <p:txBody>
          <a:bodyPr wrap="square" lIns="0" tIns="0" rIns="0" bIns="0" rtlCol="0" anchor="ctr"/>
          <a:lstStyle/>
          <a:p>
            <a:pPr algn="l" indent="0" marL="0">
              <a:buNone/>
            </a:pPr>
            <a:r>
              <a:rPr lang="en-US" sz="1300" dirty="0">
                <a:solidFill>
                  <a:srgbClr val="D7E6E8"/>
                </a:solidFill>
                <a:latin typeface="Calibri" pitchFamily="34" charset="0"/>
                <a:ea typeface="Calibri" pitchFamily="34" charset="-122"/>
                <a:cs typeface="Calibri" pitchFamily="34" charset="-120"/>
              </a:rPr>
              <a:t>% change  =  </a:t>
            </a:r>
            <a:pPr algn="l" indent="0" marL="0">
              <a:buNone/>
            </a:pPr>
            <a:r>
              <a:rPr lang="en-US" sz="1300" b="1" dirty="0">
                <a:solidFill>
                  <a:srgbClr val="FFFFFF"/>
                </a:solidFill>
                <a:latin typeface="Calibri" pitchFamily="34" charset="0"/>
                <a:ea typeface="Calibri" pitchFamily="34" charset="-122"/>
                <a:cs typeface="Calibri" pitchFamily="34" charset="-120"/>
              </a:rPr>
              <a:t>(new − old) ÷ old × 100</a:t>
            </a:r>
            <a:endParaRPr lang="en-US" sz="1300" dirty="0"/>
          </a:p>
        </p:txBody>
      </p:sp>
      <p:sp>
        <p:nvSpPr>
          <p:cNvPr id="13" name="Shape 11"/>
          <p:cNvSpPr/>
          <p:nvPr/>
        </p:nvSpPr>
        <p:spPr>
          <a:xfrm>
            <a:off x="548640" y="4526280"/>
            <a:ext cx="11091672" cy="1645920"/>
          </a:xfrm>
          <a:prstGeom prst="roundRect">
            <a:avLst>
              <a:gd name="adj" fmla="val 4444"/>
            </a:avLst>
          </a:prstGeom>
          <a:solidFill>
            <a:srgbClr val="FBF0D8"/>
          </a:solidFill>
          <a:ln/>
          <a:effectLst>
            <a:outerShdw sx="100000" sy="100000" kx="0" ky="0" algn="bl" rotWithShape="0" blurRad="76200" dist="25400" dir="5400000">
              <a:srgbClr val="9AAAB0">
                <a:alpha val="28000"/>
              </a:srgbClr>
            </a:outerShdw>
          </a:effectLst>
        </p:spPr>
      </p:sp>
      <p:sp>
        <p:nvSpPr>
          <p:cNvPr id="14" name="Text 12"/>
          <p:cNvSpPr txBox="1"/>
          <p:nvPr/>
        </p:nvSpPr>
        <p:spPr>
          <a:xfrm>
            <a:off x="822960" y="4663440"/>
            <a:ext cx="10515600" cy="141732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rgbClr val="1F2A33"/>
                </a:solidFill>
                <a:latin typeface="Calibri" pitchFamily="34" charset="0"/>
                <a:ea typeface="Calibri" pitchFamily="34" charset="-122"/>
                <a:cs typeface="Calibri" pitchFamily="34" charset="-120"/>
              </a:rPr>
              <a:t>The SIGN tells you the type of good; the SIZE tells you how responsive — interpret the sign first</a:t>
            </a:r>
            <a:endParaRPr lang="en-US" sz="1350" dirty="0"/>
          </a:p>
          <a:p>
            <a:pPr marL="177800" indent="-177800">
              <a:spcAft>
                <a:spcPts val="700"/>
              </a:spcAft>
              <a:buSzPct val="100000"/>
              <a:buChar char="•"/>
            </a:pPr>
            <a:r>
              <a:rPr lang="en-US" sz="1350" dirty="0">
                <a:solidFill>
                  <a:srgbClr val="1F2A33"/>
                </a:solidFill>
                <a:latin typeface="Calibri" pitchFamily="34" charset="0"/>
                <a:ea typeface="Calibri" pitchFamily="34" charset="-122"/>
                <a:cs typeface="Calibri" pitchFamily="34" charset="-120"/>
              </a:rPr>
              <a:t>POSITIVE YED = a normal good (demand rises with income).  NEGATIVE YED = an inferior good (demand falls as income rises)</a:t>
            </a:r>
            <a:endParaRPr lang="en-US" sz="1350" dirty="0"/>
          </a:p>
          <a:p>
            <a:pPr marL="177800" indent="-177800">
              <a:spcAft>
                <a:spcPts val="700"/>
              </a:spcAft>
              <a:buSzPct val="100000"/>
              <a:buChar char="•"/>
            </a:pPr>
            <a:r>
              <a:rPr lang="en-US" sz="1350" dirty="0">
                <a:solidFill>
                  <a:srgbClr val="1F2A33"/>
                </a:solidFill>
                <a:latin typeface="Calibri" pitchFamily="34" charset="0"/>
                <a:ea typeface="Calibri" pitchFamily="34" charset="-122"/>
                <a:cs typeface="Calibri" pitchFamily="34" charset="-120"/>
              </a:rPr>
              <a:t>YED assumes other determinants of demand stay unchanged</a:t>
            </a:r>
            <a:endParaRPr lang="en-US" sz="13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YED</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Normal &amp; inferior goods, luxuries &amp; necessities</a:t>
            </a:r>
            <a:endParaRPr lang="en-US" sz="2700" dirty="0"/>
          </a:p>
        </p:txBody>
      </p:sp>
      <p:sp>
        <p:nvSpPr>
          <p:cNvPr id="4" name="Shape 2"/>
          <p:cNvSpPr/>
          <p:nvPr/>
        </p:nvSpPr>
        <p:spPr>
          <a:xfrm>
            <a:off x="1005840" y="2834640"/>
            <a:ext cx="10241280" cy="0"/>
          </a:xfrm>
          <a:prstGeom prst="line">
            <a:avLst/>
          </a:prstGeom>
          <a:noFill/>
          <a:ln w="25400">
            <a:solidFill>
              <a:srgbClr val="1F2A33"/>
            </a:solidFill>
            <a:prstDash val="solid"/>
          </a:ln>
        </p:spPr>
      </p:sp>
      <p:sp>
        <p:nvSpPr>
          <p:cNvPr id="5" name="Shape 3"/>
          <p:cNvSpPr/>
          <p:nvPr/>
        </p:nvSpPr>
        <p:spPr>
          <a:xfrm>
            <a:off x="5212080" y="2706624"/>
            <a:ext cx="0" cy="256032"/>
          </a:xfrm>
          <a:prstGeom prst="line">
            <a:avLst/>
          </a:prstGeom>
          <a:noFill/>
          <a:ln w="25400">
            <a:solidFill>
              <a:srgbClr val="1F2A33"/>
            </a:solidFill>
            <a:prstDash val="solid"/>
          </a:ln>
        </p:spPr>
      </p:sp>
      <p:sp>
        <p:nvSpPr>
          <p:cNvPr id="6" name="Shape 4"/>
          <p:cNvSpPr/>
          <p:nvPr/>
        </p:nvSpPr>
        <p:spPr>
          <a:xfrm>
            <a:off x="8046720" y="2706624"/>
            <a:ext cx="0" cy="256032"/>
          </a:xfrm>
          <a:prstGeom prst="line">
            <a:avLst/>
          </a:prstGeom>
          <a:noFill/>
          <a:ln w="25400">
            <a:solidFill>
              <a:srgbClr val="1F2A33"/>
            </a:solidFill>
            <a:prstDash val="solid"/>
          </a:ln>
        </p:spPr>
      </p:sp>
      <p:sp>
        <p:nvSpPr>
          <p:cNvPr id="7" name="Text 5"/>
          <p:cNvSpPr txBox="1"/>
          <p:nvPr/>
        </p:nvSpPr>
        <p:spPr>
          <a:xfrm>
            <a:off x="5120640" y="2999232"/>
            <a:ext cx="365760" cy="274320"/>
          </a:xfrm>
          <a:prstGeom prst="rect">
            <a:avLst/>
          </a:prstGeom>
          <a:noFill/>
          <a:ln/>
        </p:spPr>
        <p:txBody>
          <a:bodyPr wrap="square" lIns="0" tIns="0" rIns="0" bIns="0" rtlCol="0" anchor="ctr"/>
          <a:lstStyle/>
          <a:p>
            <a:pPr indent="0" marL="0">
              <a:buNone/>
            </a:pPr>
            <a:r>
              <a:rPr lang="en-US" sz="1300" b="1" dirty="0">
                <a:solidFill>
                  <a:srgbClr val="1F2A33"/>
                </a:solidFill>
                <a:latin typeface="Calibri" pitchFamily="34" charset="0"/>
                <a:ea typeface="Calibri" pitchFamily="34" charset="-122"/>
                <a:cs typeface="Calibri" pitchFamily="34" charset="-120"/>
              </a:rPr>
              <a:t>0</a:t>
            </a:r>
            <a:endParaRPr lang="en-US" sz="1300" dirty="0"/>
          </a:p>
        </p:txBody>
      </p:sp>
      <p:sp>
        <p:nvSpPr>
          <p:cNvPr id="8" name="Text 6"/>
          <p:cNvSpPr txBox="1"/>
          <p:nvPr/>
        </p:nvSpPr>
        <p:spPr>
          <a:xfrm>
            <a:off x="7909560" y="2999232"/>
            <a:ext cx="457200" cy="274320"/>
          </a:xfrm>
          <a:prstGeom prst="rect">
            <a:avLst/>
          </a:prstGeom>
          <a:noFill/>
          <a:ln/>
        </p:spPr>
        <p:txBody>
          <a:bodyPr wrap="square" lIns="0" tIns="0" rIns="0" bIns="0" rtlCol="0" anchor="ctr"/>
          <a:lstStyle/>
          <a:p>
            <a:pPr indent="0" marL="0">
              <a:buNone/>
            </a:pPr>
            <a:r>
              <a:rPr lang="en-US" sz="1300" b="1" dirty="0">
                <a:solidFill>
                  <a:srgbClr val="1F2A33"/>
                </a:solidFill>
                <a:latin typeface="Calibri" pitchFamily="34" charset="0"/>
                <a:ea typeface="Calibri" pitchFamily="34" charset="-122"/>
                <a:cs typeface="Calibri" pitchFamily="34" charset="-120"/>
              </a:rPr>
              <a:t>+1</a:t>
            </a:r>
            <a:endParaRPr lang="en-US" sz="1300" dirty="0"/>
          </a:p>
        </p:txBody>
      </p:sp>
      <p:sp>
        <p:nvSpPr>
          <p:cNvPr id="9" name="Shape 7"/>
          <p:cNvSpPr/>
          <p:nvPr/>
        </p:nvSpPr>
        <p:spPr>
          <a:xfrm>
            <a:off x="1097280" y="2267712"/>
            <a:ext cx="4023360" cy="365760"/>
          </a:xfrm>
          <a:prstGeom prst="roundRect">
            <a:avLst>
              <a:gd name="adj" fmla="val 20000"/>
            </a:avLst>
          </a:prstGeom>
          <a:solidFill>
            <a:srgbClr val="C14B37"/>
          </a:solidFill>
          <a:ln/>
        </p:spPr>
      </p:sp>
      <p:sp>
        <p:nvSpPr>
          <p:cNvPr id="10" name="Text 8"/>
          <p:cNvSpPr txBox="1"/>
          <p:nvPr/>
        </p:nvSpPr>
        <p:spPr>
          <a:xfrm>
            <a:off x="1097280" y="2267712"/>
            <a:ext cx="40233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INFERIOR  (YED &lt; 0)</a:t>
            </a:r>
            <a:endParaRPr lang="en-US" sz="1200" dirty="0"/>
          </a:p>
        </p:txBody>
      </p:sp>
      <p:sp>
        <p:nvSpPr>
          <p:cNvPr id="11" name="Shape 9"/>
          <p:cNvSpPr/>
          <p:nvPr/>
        </p:nvSpPr>
        <p:spPr>
          <a:xfrm>
            <a:off x="5303520" y="2267712"/>
            <a:ext cx="2651760" cy="365760"/>
          </a:xfrm>
          <a:prstGeom prst="roundRect">
            <a:avLst>
              <a:gd name="adj" fmla="val 20000"/>
            </a:avLst>
          </a:prstGeom>
          <a:solidFill>
            <a:srgbClr val="0E7C86"/>
          </a:solidFill>
          <a:ln/>
        </p:spPr>
      </p:sp>
      <p:sp>
        <p:nvSpPr>
          <p:cNvPr id="12" name="Text 10"/>
          <p:cNvSpPr txBox="1"/>
          <p:nvPr/>
        </p:nvSpPr>
        <p:spPr>
          <a:xfrm>
            <a:off x="5303520" y="2267712"/>
            <a:ext cx="2651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NORMAL necessity  (0–1)</a:t>
            </a:r>
            <a:endParaRPr lang="en-US" sz="1150" dirty="0"/>
          </a:p>
        </p:txBody>
      </p:sp>
      <p:sp>
        <p:nvSpPr>
          <p:cNvPr id="13" name="Shape 11"/>
          <p:cNvSpPr/>
          <p:nvPr/>
        </p:nvSpPr>
        <p:spPr>
          <a:xfrm>
            <a:off x="8138160" y="2267712"/>
            <a:ext cx="3017520" cy="365760"/>
          </a:xfrm>
          <a:prstGeom prst="roundRect">
            <a:avLst>
              <a:gd name="adj" fmla="val 20000"/>
            </a:avLst>
          </a:prstGeom>
          <a:solidFill>
            <a:srgbClr val="2F8A5B"/>
          </a:solidFill>
          <a:ln/>
        </p:spPr>
      </p:sp>
      <p:sp>
        <p:nvSpPr>
          <p:cNvPr id="14" name="Text 12"/>
          <p:cNvSpPr txBox="1"/>
          <p:nvPr/>
        </p:nvSpPr>
        <p:spPr>
          <a:xfrm>
            <a:off x="8138160" y="2267712"/>
            <a:ext cx="301752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NORMAL luxury  (&gt; 1)</a:t>
            </a:r>
            <a:endParaRPr lang="en-US" sz="1150" dirty="0"/>
          </a:p>
        </p:txBody>
      </p:sp>
      <p:sp>
        <p:nvSpPr>
          <p:cNvPr id="15" name="Shape 13"/>
          <p:cNvSpPr/>
          <p:nvPr/>
        </p:nvSpPr>
        <p:spPr>
          <a:xfrm>
            <a:off x="548640" y="3429000"/>
            <a:ext cx="3575304" cy="2697480"/>
          </a:xfrm>
          <a:prstGeom prst="roundRect">
            <a:avLst>
              <a:gd name="adj" fmla="val 2712"/>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6" name="Shape 14"/>
          <p:cNvSpPr/>
          <p:nvPr/>
        </p:nvSpPr>
        <p:spPr>
          <a:xfrm>
            <a:off x="548640" y="3429000"/>
            <a:ext cx="3575304" cy="91440"/>
          </a:xfrm>
          <a:prstGeom prst="roundRect">
            <a:avLst/>
          </a:prstGeom>
          <a:solidFill>
            <a:srgbClr val="C14B37"/>
          </a:solidFill>
          <a:ln/>
        </p:spPr>
      </p:sp>
      <p:sp>
        <p:nvSpPr>
          <p:cNvPr id="17" name="Text 15"/>
          <p:cNvSpPr txBox="1"/>
          <p:nvPr/>
        </p:nvSpPr>
        <p:spPr>
          <a:xfrm>
            <a:off x="749808" y="3611880"/>
            <a:ext cx="3172968" cy="548640"/>
          </a:xfrm>
          <a:prstGeom prst="rect">
            <a:avLst/>
          </a:prstGeom>
          <a:noFill/>
          <a:ln/>
        </p:spPr>
        <p:txBody>
          <a:bodyPr wrap="square" lIns="0" tIns="0" rIns="0" bIns="0" rtlCol="0" anchor="t"/>
          <a:lstStyle/>
          <a:p>
            <a:pPr indent="0" marL="0">
              <a:buNone/>
            </a:pPr>
            <a:r>
              <a:rPr lang="en-US" sz="1450" b="1" dirty="0">
                <a:solidFill>
                  <a:srgbClr val="C14B37"/>
                </a:solidFill>
                <a:latin typeface="Calibri" pitchFamily="34" charset="0"/>
                <a:ea typeface="Calibri" pitchFamily="34" charset="-122"/>
                <a:cs typeface="Calibri" pitchFamily="34" charset="-120"/>
              </a:rPr>
              <a:t>Inferior (YED &lt; 0)</a:t>
            </a:r>
            <a:endParaRPr lang="en-US" sz="1450" dirty="0"/>
          </a:p>
        </p:txBody>
      </p:sp>
      <p:sp>
        <p:nvSpPr>
          <p:cNvPr id="18" name="Text 16"/>
          <p:cNvSpPr txBox="1"/>
          <p:nvPr/>
        </p:nvSpPr>
        <p:spPr>
          <a:xfrm>
            <a:off x="749808" y="4160520"/>
            <a:ext cx="3172968" cy="118872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Income up → demand DOWN. Cheaper alternatives dropped as people trade up.</a:t>
            </a:r>
            <a:endParaRPr lang="en-US" sz="1250" dirty="0"/>
          </a:p>
        </p:txBody>
      </p:sp>
      <p:sp>
        <p:nvSpPr>
          <p:cNvPr id="19" name="Text 17"/>
          <p:cNvSpPr txBox="1"/>
          <p:nvPr/>
        </p:nvSpPr>
        <p:spPr>
          <a:xfrm>
            <a:off x="749808" y="5440680"/>
            <a:ext cx="3172968" cy="594360"/>
          </a:xfrm>
          <a:prstGeom prst="rect">
            <a:avLst/>
          </a:prstGeom>
          <a:noFill/>
          <a:ln/>
        </p:spPr>
        <p:txBody>
          <a:bodyPr wrap="square" lIns="0" tIns="0" rIns="0" bIns="0" rtlCol="0" anchor="t"/>
          <a:lstStyle/>
          <a:p>
            <a:pPr indent="0" marL="0">
              <a:buNone/>
            </a:pPr>
            <a:r>
              <a:rPr lang="en-US" sz="1150" b="1" dirty="0">
                <a:solidFill>
                  <a:srgbClr val="5B6B73"/>
                </a:solidFill>
                <a:latin typeface="Calibri" pitchFamily="34" charset="0"/>
                <a:ea typeface="Calibri" pitchFamily="34" charset="-122"/>
                <a:cs typeface="Calibri" pitchFamily="34" charset="-120"/>
              </a:rPr>
              <a:t>e.g. </a:t>
            </a:r>
            <a:pPr indent="0" marL="0">
              <a:buNone/>
            </a:pPr>
            <a:r>
              <a:rPr lang="en-US" sz="1150" i="1" dirty="0">
                <a:solidFill>
                  <a:srgbClr val="5B6B73"/>
                </a:solidFill>
                <a:latin typeface="Calibri" pitchFamily="34" charset="0"/>
                <a:ea typeface="Calibri" pitchFamily="34" charset="-122"/>
                <a:cs typeface="Calibri" pitchFamily="34" charset="-120"/>
              </a:rPr>
              <a:t>e.g. budget-supermarket meals, bus travel</a:t>
            </a:r>
            <a:endParaRPr lang="en-US" sz="1150" dirty="0"/>
          </a:p>
        </p:txBody>
      </p:sp>
      <p:sp>
        <p:nvSpPr>
          <p:cNvPr id="20" name="Shape 18"/>
          <p:cNvSpPr/>
          <p:nvPr/>
        </p:nvSpPr>
        <p:spPr>
          <a:xfrm>
            <a:off x="4306824" y="3429000"/>
            <a:ext cx="3575304" cy="2697480"/>
          </a:xfrm>
          <a:prstGeom prst="roundRect">
            <a:avLst>
              <a:gd name="adj" fmla="val 2712"/>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1" name="Shape 19"/>
          <p:cNvSpPr/>
          <p:nvPr/>
        </p:nvSpPr>
        <p:spPr>
          <a:xfrm>
            <a:off x="4306824" y="3429000"/>
            <a:ext cx="3575304" cy="91440"/>
          </a:xfrm>
          <a:prstGeom prst="roundRect">
            <a:avLst/>
          </a:prstGeom>
          <a:solidFill>
            <a:srgbClr val="0E7C86"/>
          </a:solidFill>
          <a:ln/>
        </p:spPr>
      </p:sp>
      <p:sp>
        <p:nvSpPr>
          <p:cNvPr id="22" name="Text 20"/>
          <p:cNvSpPr txBox="1"/>
          <p:nvPr/>
        </p:nvSpPr>
        <p:spPr>
          <a:xfrm>
            <a:off x="4507992" y="3611880"/>
            <a:ext cx="3172968" cy="548640"/>
          </a:xfrm>
          <a:prstGeom prst="rect">
            <a:avLst/>
          </a:prstGeom>
          <a:noFill/>
          <a:ln/>
        </p:spPr>
        <p:txBody>
          <a:bodyPr wrap="square" lIns="0" tIns="0" rIns="0" bIns="0" rtlCol="0" anchor="t"/>
          <a:lstStyle/>
          <a:p>
            <a:pPr indent="0" marL="0">
              <a:buNone/>
            </a:pPr>
            <a:r>
              <a:rPr lang="en-US" sz="1450" b="1" dirty="0">
                <a:solidFill>
                  <a:srgbClr val="0E7C86"/>
                </a:solidFill>
                <a:latin typeface="Calibri" pitchFamily="34" charset="0"/>
                <a:ea typeface="Calibri" pitchFamily="34" charset="-122"/>
                <a:cs typeface="Calibri" pitchFamily="34" charset="-120"/>
              </a:rPr>
              <a:t>Normal necessity (0–1)</a:t>
            </a:r>
            <a:endParaRPr lang="en-US" sz="1450" dirty="0"/>
          </a:p>
        </p:txBody>
      </p:sp>
      <p:sp>
        <p:nvSpPr>
          <p:cNvPr id="23" name="Text 21"/>
          <p:cNvSpPr txBox="1"/>
          <p:nvPr/>
        </p:nvSpPr>
        <p:spPr>
          <a:xfrm>
            <a:off x="4507992" y="4160520"/>
            <a:ext cx="3172968" cy="118872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Income up → demand up, but LESS than proportionally. Income-inelastic.</a:t>
            </a:r>
            <a:endParaRPr lang="en-US" sz="1250" dirty="0"/>
          </a:p>
        </p:txBody>
      </p:sp>
      <p:sp>
        <p:nvSpPr>
          <p:cNvPr id="24" name="Text 22"/>
          <p:cNvSpPr txBox="1"/>
          <p:nvPr/>
        </p:nvSpPr>
        <p:spPr>
          <a:xfrm>
            <a:off x="4507992" y="5440680"/>
            <a:ext cx="3172968" cy="594360"/>
          </a:xfrm>
          <a:prstGeom prst="rect">
            <a:avLst/>
          </a:prstGeom>
          <a:noFill/>
          <a:ln/>
        </p:spPr>
        <p:txBody>
          <a:bodyPr wrap="square" lIns="0" tIns="0" rIns="0" bIns="0" rtlCol="0" anchor="t"/>
          <a:lstStyle/>
          <a:p>
            <a:pPr indent="0" marL="0">
              <a:buNone/>
            </a:pPr>
            <a:r>
              <a:rPr lang="en-US" sz="1150" b="1" dirty="0">
                <a:solidFill>
                  <a:srgbClr val="5B6B73"/>
                </a:solidFill>
                <a:latin typeface="Calibri" pitchFamily="34" charset="0"/>
                <a:ea typeface="Calibri" pitchFamily="34" charset="-122"/>
                <a:cs typeface="Calibri" pitchFamily="34" charset="-120"/>
              </a:rPr>
              <a:t>e.g. </a:t>
            </a:r>
            <a:pPr indent="0" marL="0">
              <a:buNone/>
            </a:pPr>
            <a:r>
              <a:rPr lang="en-US" sz="1150" i="1" dirty="0">
                <a:solidFill>
                  <a:srgbClr val="5B6B73"/>
                </a:solidFill>
                <a:latin typeface="Calibri" pitchFamily="34" charset="0"/>
                <a:ea typeface="Calibri" pitchFamily="34" charset="-122"/>
                <a:cs typeface="Calibri" pitchFamily="34" charset="-120"/>
              </a:rPr>
              <a:t>e.g. bread, basic groceries, utilities</a:t>
            </a:r>
            <a:endParaRPr lang="en-US" sz="1150" dirty="0"/>
          </a:p>
        </p:txBody>
      </p:sp>
      <p:sp>
        <p:nvSpPr>
          <p:cNvPr id="25" name="Shape 23"/>
          <p:cNvSpPr/>
          <p:nvPr/>
        </p:nvSpPr>
        <p:spPr>
          <a:xfrm>
            <a:off x="8065008" y="3429000"/>
            <a:ext cx="3575304" cy="2697480"/>
          </a:xfrm>
          <a:prstGeom prst="roundRect">
            <a:avLst>
              <a:gd name="adj" fmla="val 2712"/>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6" name="Shape 24"/>
          <p:cNvSpPr/>
          <p:nvPr/>
        </p:nvSpPr>
        <p:spPr>
          <a:xfrm>
            <a:off x="8065008" y="3429000"/>
            <a:ext cx="3575304" cy="91440"/>
          </a:xfrm>
          <a:prstGeom prst="roundRect">
            <a:avLst/>
          </a:prstGeom>
          <a:solidFill>
            <a:srgbClr val="2F8A5B"/>
          </a:solidFill>
          <a:ln/>
        </p:spPr>
      </p:sp>
      <p:sp>
        <p:nvSpPr>
          <p:cNvPr id="27" name="Text 25"/>
          <p:cNvSpPr txBox="1"/>
          <p:nvPr/>
        </p:nvSpPr>
        <p:spPr>
          <a:xfrm>
            <a:off x="8266176" y="3611880"/>
            <a:ext cx="3172968" cy="548640"/>
          </a:xfrm>
          <a:prstGeom prst="rect">
            <a:avLst/>
          </a:prstGeom>
          <a:noFill/>
          <a:ln/>
        </p:spPr>
        <p:txBody>
          <a:bodyPr wrap="square" lIns="0" tIns="0" rIns="0" bIns="0" rtlCol="0" anchor="t"/>
          <a:lstStyle/>
          <a:p>
            <a:pPr indent="0" marL="0">
              <a:buNone/>
            </a:pPr>
            <a:r>
              <a:rPr lang="en-US" sz="1450" b="1" dirty="0">
                <a:solidFill>
                  <a:srgbClr val="2F8A5B"/>
                </a:solidFill>
                <a:latin typeface="Calibri" pitchFamily="34" charset="0"/>
                <a:ea typeface="Calibri" pitchFamily="34" charset="-122"/>
                <a:cs typeface="Calibri" pitchFamily="34" charset="-120"/>
              </a:rPr>
              <a:t>Normal luxury (&gt; 1)</a:t>
            </a:r>
            <a:endParaRPr lang="en-US" sz="1450" dirty="0"/>
          </a:p>
        </p:txBody>
      </p:sp>
      <p:sp>
        <p:nvSpPr>
          <p:cNvPr id="28" name="Text 26"/>
          <p:cNvSpPr txBox="1"/>
          <p:nvPr/>
        </p:nvSpPr>
        <p:spPr>
          <a:xfrm>
            <a:off x="8266176" y="4160520"/>
            <a:ext cx="3172968" cy="118872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Income up → demand up MORE than proportionally. Income-elastic.</a:t>
            </a:r>
            <a:endParaRPr lang="en-US" sz="1250" dirty="0"/>
          </a:p>
        </p:txBody>
      </p:sp>
      <p:sp>
        <p:nvSpPr>
          <p:cNvPr id="29" name="Text 27"/>
          <p:cNvSpPr txBox="1"/>
          <p:nvPr/>
        </p:nvSpPr>
        <p:spPr>
          <a:xfrm>
            <a:off x="8266176" y="5440680"/>
            <a:ext cx="3172968" cy="594360"/>
          </a:xfrm>
          <a:prstGeom prst="rect">
            <a:avLst/>
          </a:prstGeom>
          <a:noFill/>
          <a:ln/>
        </p:spPr>
        <p:txBody>
          <a:bodyPr wrap="square" lIns="0" tIns="0" rIns="0" bIns="0" rtlCol="0" anchor="t"/>
          <a:lstStyle/>
          <a:p>
            <a:pPr indent="0" marL="0">
              <a:buNone/>
            </a:pPr>
            <a:r>
              <a:rPr lang="en-US" sz="1150" b="1" dirty="0">
                <a:solidFill>
                  <a:srgbClr val="5B6B73"/>
                </a:solidFill>
                <a:latin typeface="Calibri" pitchFamily="34" charset="0"/>
                <a:ea typeface="Calibri" pitchFamily="34" charset="-122"/>
                <a:cs typeface="Calibri" pitchFamily="34" charset="-120"/>
              </a:rPr>
              <a:t>e.g. </a:t>
            </a:r>
            <a:pPr indent="0" marL="0">
              <a:buNone/>
            </a:pPr>
            <a:r>
              <a:rPr lang="en-US" sz="1150" i="1" dirty="0">
                <a:solidFill>
                  <a:srgbClr val="5B6B73"/>
                </a:solidFill>
                <a:latin typeface="Calibri" pitchFamily="34" charset="0"/>
                <a:ea typeface="Calibri" pitchFamily="34" charset="-122"/>
                <a:cs typeface="Calibri" pitchFamily="34" charset="-120"/>
              </a:rPr>
              <a:t>e.g. designer holidays, performance bikes, consoles</a:t>
            </a:r>
            <a:endParaRPr lang="en-US" sz="11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YED</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Calculating YED — worked examples</a:t>
            </a:r>
            <a:endParaRPr lang="en-US" sz="2700" dirty="0"/>
          </a:p>
        </p:txBody>
      </p:sp>
      <p:sp>
        <p:nvSpPr>
          <p:cNvPr id="4" name="Shape 2"/>
          <p:cNvSpPr/>
          <p:nvPr/>
        </p:nvSpPr>
        <p:spPr>
          <a:xfrm>
            <a:off x="548640" y="1371600"/>
            <a:ext cx="11091672" cy="658368"/>
          </a:xfrm>
          <a:prstGeom prst="roundRect">
            <a:avLst>
              <a:gd name="adj" fmla="val 11111"/>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44752"/>
            <a:ext cx="10698480" cy="512064"/>
          </a:xfrm>
          <a:prstGeom prst="rect">
            <a:avLst/>
          </a:prstGeom>
          <a:noFill/>
          <a:ln/>
        </p:spPr>
        <p:txBody>
          <a:bodyPr wrap="square" lIns="0" tIns="0" rIns="0" bIns="0" rtlCol="0" anchor="ctr"/>
          <a:lstStyle/>
          <a:p>
            <a:pPr indent="0" marL="0">
              <a:buNone/>
            </a:pPr>
            <a:r>
              <a:rPr lang="en-US" sz="1350" b="1" dirty="0">
                <a:solidFill>
                  <a:srgbClr val="0B5E66"/>
                </a:solidFill>
                <a:latin typeface="Calibri" pitchFamily="34" charset="0"/>
                <a:ea typeface="Calibri" pitchFamily="34" charset="-122"/>
                <a:cs typeface="Calibri" pitchFamily="34" charset="-120"/>
              </a:rPr>
              <a:t>Restaurant meals:  </a:t>
            </a:r>
            <a:pPr indent="0" marL="0">
              <a:buNone/>
            </a:pPr>
            <a:r>
              <a:rPr lang="en-US" sz="1350" dirty="0">
                <a:solidFill>
                  <a:srgbClr val="1F2A33"/>
                </a:solidFill>
                <a:latin typeface="Calibri" pitchFamily="34" charset="0"/>
                <a:ea typeface="Calibri" pitchFamily="34" charset="-122"/>
                <a:cs typeface="Calibri" pitchFamily="34" charset="-120"/>
              </a:rPr>
              <a:t>income rises from AED 5,000 to AED 5,500; monthly demand rises from 4 meals to 5.</a:t>
            </a:r>
            <a:endParaRPr lang="en-US" sz="13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6766560" cy="914400"/>
        </p:xfrm>
        <a:graphic>
          <a:graphicData uri="http://schemas.openxmlformats.org/drawingml/2006/table">
            <a:tbl>
              <a:tblPr/>
              <a:tblGrid>
                <a:gridCol w="2834640"/>
                <a:gridCol w="2651760"/>
                <a:gridCol w="1280160"/>
              </a:tblGrid>
              <a:tr h="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Step</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Calculation</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Answer</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r>
              <a:tr h="0">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 change in income</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(5,500 − 5,000) ÷ 5,000 × 100</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 change in demand</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(5 − 4) ÷ 4 × 100</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+25%</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0">
                <a:tc>
                  <a:txBody>
                    <a:bodyPr/>
                    <a:lstStyle/>
                    <a:p>
                      <a:pPr algn="l" indent="0" marL="0">
                        <a:buNone/>
                      </a:pPr>
                      <a:r>
                        <a:rPr lang="en-US" sz="1250" b="1" dirty="0">
                          <a:solidFill>
                            <a:srgbClr val="1F2A33"/>
                          </a:solidFill>
                          <a:latin typeface="Calibri" pitchFamily="34" charset="0"/>
                          <a:ea typeface="Calibri" pitchFamily="34" charset="-122"/>
                          <a:cs typeface="Calibri" pitchFamily="34" charset="-120"/>
                        </a:rPr>
                        <a:t>YED</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1F2A33"/>
                          </a:solidFill>
                          <a:latin typeface="Calibri" pitchFamily="34" charset="0"/>
                          <a:ea typeface="Calibri" pitchFamily="34" charset="-122"/>
                          <a:cs typeface="Calibri" pitchFamily="34" charset="-120"/>
                        </a:rPr>
                        <a:t>+25% ÷ +10%</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2F8A5B"/>
                          </a:solidFill>
                          <a:latin typeface="Calibri" pitchFamily="34" charset="0"/>
                          <a:ea typeface="Calibri" pitchFamily="34" charset="-122"/>
                          <a:cs typeface="Calibri" pitchFamily="34" charset="-120"/>
                        </a:rPr>
                        <a:t>+2.5</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0">
                <a:tc>
                  <a:txBody>
                    <a:bodyPr/>
                    <a:lstStyle/>
                    <a:p>
                      <a:pPr algn="l" indent="0" marL="0">
                        <a:buNone/>
                      </a:pPr>
                      <a:r>
                        <a:rPr lang="en-US" sz="1250" b="1" dirty="0">
                          <a:solidFill>
                            <a:srgbClr val="1F2A33"/>
                          </a:solidFill>
                          <a:latin typeface="Calibri" pitchFamily="34" charset="0"/>
                          <a:ea typeface="Calibri" pitchFamily="34" charset="-122"/>
                          <a:cs typeface="Calibri" pitchFamily="34" charset="-120"/>
                        </a:rPr>
                        <a:t>Classify</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positive &amp; &gt; 1</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2F8A5B"/>
                          </a:solidFill>
                          <a:latin typeface="Calibri" pitchFamily="34" charset="0"/>
                          <a:ea typeface="Calibri" pitchFamily="34" charset="-122"/>
                          <a:cs typeface="Calibri" pitchFamily="34" charset="-120"/>
                        </a:rPr>
                        <a:t>Normal LUXURY</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bl>
          </a:graphicData>
        </a:graphic>
      </p:graphicFrame>
      <p:sp>
        <p:nvSpPr>
          <p:cNvPr id="7" name="Shape 4"/>
          <p:cNvSpPr/>
          <p:nvPr/>
        </p:nvSpPr>
        <p:spPr>
          <a:xfrm>
            <a:off x="7589520" y="2194560"/>
            <a:ext cx="4050792" cy="3611880"/>
          </a:xfrm>
          <a:prstGeom prst="roundRect">
            <a:avLst>
              <a:gd name="adj" fmla="val 2025"/>
            </a:avLst>
          </a:prstGeom>
          <a:solidFill>
            <a:srgbClr val="F9EAE6"/>
          </a:solidFill>
          <a:ln/>
          <a:effectLst>
            <a:outerShdw sx="100000" sy="100000" kx="0" ky="0" algn="bl" rotWithShape="0" blurRad="76200" dist="25400" dir="5400000">
              <a:srgbClr val="9AAAB0">
                <a:alpha val="28000"/>
              </a:srgbClr>
            </a:outerShdw>
          </a:effectLst>
        </p:spPr>
      </p:sp>
      <p:sp>
        <p:nvSpPr>
          <p:cNvPr id="8" name="Text 5"/>
          <p:cNvSpPr txBox="1"/>
          <p:nvPr/>
        </p:nvSpPr>
        <p:spPr>
          <a:xfrm>
            <a:off x="7818120" y="2331720"/>
            <a:ext cx="3657600" cy="320040"/>
          </a:xfrm>
          <a:prstGeom prst="rect">
            <a:avLst/>
          </a:prstGeom>
          <a:noFill/>
          <a:ln/>
        </p:spPr>
        <p:txBody>
          <a:bodyPr wrap="square" lIns="0" tIns="0" rIns="0" bIns="0" rtlCol="0" anchor="ctr"/>
          <a:lstStyle/>
          <a:p>
            <a:pPr indent="0" marL="0">
              <a:buNone/>
            </a:pPr>
            <a:r>
              <a:rPr lang="en-US" sz="1400" b="1" dirty="0">
                <a:solidFill>
                  <a:srgbClr val="C14B37"/>
                </a:solidFill>
                <a:latin typeface="Calibri" pitchFamily="34" charset="0"/>
                <a:ea typeface="Calibri" pitchFamily="34" charset="-122"/>
                <a:cs typeface="Calibri" pitchFamily="34" charset="-120"/>
              </a:rPr>
              <a:t>Primark (an inferior good)</a:t>
            </a:r>
            <a:endParaRPr lang="en-US" sz="1400" dirty="0"/>
          </a:p>
        </p:txBody>
      </p:sp>
      <p:sp>
        <p:nvSpPr>
          <p:cNvPr id="9" name="Text 6"/>
          <p:cNvSpPr txBox="1"/>
          <p:nvPr/>
        </p:nvSpPr>
        <p:spPr>
          <a:xfrm>
            <a:off x="7818120" y="2670048"/>
            <a:ext cx="3611880" cy="54864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Wages rise £520 → £533; Primark sales fall 2%.</a:t>
            </a:r>
            <a:endParaRPr lang="en-US" sz="1250" dirty="0"/>
          </a:p>
        </p:txBody>
      </p:sp>
      <p:sp>
        <p:nvSpPr>
          <p:cNvPr id="10" name="Text 7"/>
          <p:cNvSpPr txBox="1"/>
          <p:nvPr/>
        </p:nvSpPr>
        <p:spPr>
          <a:xfrm>
            <a:off x="7818120" y="3246120"/>
            <a:ext cx="3611880" cy="237744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 Δ income = (533−520)÷520×100 = +2.5%</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 Δ demand = −2%</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YED = −2% ÷ +2.5% = −0.8</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Negative → Primark is an INFERIOR good here</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YED</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Factors &amp; why YED matters to a business</a:t>
            </a:r>
            <a:endParaRPr lang="en-US" sz="2700" dirty="0"/>
          </a:p>
        </p:txBody>
      </p:sp>
      <p:sp>
        <p:nvSpPr>
          <p:cNvPr id="4" name="Shape 2"/>
          <p:cNvSpPr/>
          <p:nvPr/>
        </p:nvSpPr>
        <p:spPr>
          <a:xfrm>
            <a:off x="548640" y="1463040"/>
            <a:ext cx="5440680" cy="2377440"/>
          </a:xfrm>
          <a:prstGeom prst="roundRect">
            <a:avLst>
              <a:gd name="adj" fmla="val 3077"/>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581912"/>
            <a:ext cx="5029200" cy="320040"/>
          </a:xfrm>
          <a:prstGeom prst="rect">
            <a:avLst/>
          </a:prstGeom>
          <a:noFill/>
          <a:ln/>
        </p:spPr>
        <p:txBody>
          <a:bodyPr wrap="square" lIns="0" tIns="0" rIns="0" bIns="0" rtlCol="0" anchor="ctr"/>
          <a:lstStyle/>
          <a:p>
            <a:pPr indent="0" marL="0">
              <a:buNone/>
            </a:pPr>
            <a:r>
              <a:rPr lang="en-US" sz="1400" b="1" dirty="0">
                <a:solidFill>
                  <a:srgbClr val="0B5E66"/>
                </a:solidFill>
                <a:latin typeface="Calibri" pitchFamily="34" charset="0"/>
                <a:ea typeface="Calibri" pitchFamily="34" charset="-122"/>
                <a:cs typeface="Calibri" pitchFamily="34" charset="-120"/>
              </a:rPr>
              <a:t>What influences YED?</a:t>
            </a:r>
            <a:endParaRPr lang="en-US" sz="1400" dirty="0"/>
          </a:p>
        </p:txBody>
      </p:sp>
      <p:sp>
        <p:nvSpPr>
          <p:cNvPr id="6" name="Text 4"/>
          <p:cNvSpPr txBox="1"/>
          <p:nvPr/>
        </p:nvSpPr>
        <p:spPr>
          <a:xfrm>
            <a:off x="777240" y="1938528"/>
            <a:ext cx="4983480" cy="18288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Whether the good is a necessity or a luxury (the biggest factor)</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Whether the purchase can be postponed (big-ticket items are more income-elastic)</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Consumers' income levels — a good can be a luxury for some, a necessity for others</a:t>
            </a:r>
            <a:endParaRPr lang="en-US" sz="1250" dirty="0"/>
          </a:p>
        </p:txBody>
      </p:sp>
      <p:sp>
        <p:nvSpPr>
          <p:cNvPr id="7" name="Shape 5"/>
          <p:cNvSpPr/>
          <p:nvPr/>
        </p:nvSpPr>
        <p:spPr>
          <a:xfrm>
            <a:off x="6199632" y="1463040"/>
            <a:ext cx="5440680" cy="2377440"/>
          </a:xfrm>
          <a:prstGeom prst="roundRect">
            <a:avLst>
              <a:gd name="adj" fmla="val 3077"/>
            </a:avLst>
          </a:prstGeom>
          <a:solidFill>
            <a:srgbClr val="E8F3EC"/>
          </a:solidFill>
          <a:ln/>
          <a:effectLst>
            <a:outerShdw sx="100000" sy="100000" kx="0" ky="0" algn="bl" rotWithShape="0" blurRad="76200" dist="25400" dir="5400000">
              <a:srgbClr val="9AAAB0">
                <a:alpha val="28000"/>
              </a:srgbClr>
            </a:outerShdw>
          </a:effectLst>
        </p:spPr>
      </p:sp>
      <p:sp>
        <p:nvSpPr>
          <p:cNvPr id="8" name="Text 6"/>
          <p:cNvSpPr txBox="1"/>
          <p:nvPr/>
        </p:nvSpPr>
        <p:spPr>
          <a:xfrm>
            <a:off x="6428232" y="1581912"/>
            <a:ext cx="5029200" cy="320040"/>
          </a:xfrm>
          <a:prstGeom prst="rect">
            <a:avLst/>
          </a:prstGeom>
          <a:noFill/>
          <a:ln/>
        </p:spPr>
        <p:txBody>
          <a:bodyPr wrap="square" lIns="0" tIns="0" rIns="0" bIns="0" rtlCol="0" anchor="ctr"/>
          <a:lstStyle/>
          <a:p>
            <a:pPr indent="0" marL="0">
              <a:buNone/>
            </a:pPr>
            <a:r>
              <a:rPr lang="en-US" sz="1400" b="1" dirty="0">
                <a:solidFill>
                  <a:srgbClr val="2F8A5B"/>
                </a:solidFill>
                <a:latin typeface="Calibri" pitchFamily="34" charset="0"/>
                <a:ea typeface="Calibri" pitchFamily="34" charset="-122"/>
                <a:cs typeface="Calibri" pitchFamily="34" charset="-120"/>
              </a:rPr>
              <a:t>Why it matters to a business</a:t>
            </a:r>
            <a:endParaRPr lang="en-US" sz="1400" dirty="0"/>
          </a:p>
        </p:txBody>
      </p:sp>
      <p:sp>
        <p:nvSpPr>
          <p:cNvPr id="9" name="Text 7"/>
          <p:cNvSpPr txBox="1"/>
          <p:nvPr/>
        </p:nvSpPr>
        <p:spPr>
          <a:xfrm>
            <a:off x="6428232" y="1938528"/>
            <a:ext cx="4983480" cy="18288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Plan the product mix for the economic cycle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Boom (incomes ↑): push income-elastic luxuries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Recession (incomes ↓): inferior / necessity goods hold up</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Forecast demand when incomes change; spread risk across both types</a:t>
            </a:r>
            <a:endParaRPr lang="en-US" sz="1250" dirty="0"/>
          </a:p>
        </p:txBody>
      </p:sp>
      <p:sp>
        <p:nvSpPr>
          <p:cNvPr id="10" name="Shape 8"/>
          <p:cNvSpPr/>
          <p:nvPr/>
        </p:nvSpPr>
        <p:spPr>
          <a:xfrm>
            <a:off x="548640" y="4023360"/>
            <a:ext cx="11091672" cy="2148840"/>
          </a:xfrm>
          <a:prstGeom prst="roundRect">
            <a:avLst>
              <a:gd name="adj" fmla="val 3404"/>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1" name="Text 9"/>
          <p:cNvSpPr txBox="1"/>
          <p:nvPr/>
        </p:nvSpPr>
        <p:spPr>
          <a:xfrm>
            <a:off x="777240" y="4142232"/>
            <a:ext cx="10607040" cy="320040"/>
          </a:xfrm>
          <a:prstGeom prst="rect">
            <a:avLst/>
          </a:prstGeom>
          <a:noFill/>
          <a:ln/>
        </p:spPr>
        <p:txBody>
          <a:bodyPr wrap="square" lIns="0" tIns="0" rIns="0" bIns="0" rtlCol="0" anchor="ctr"/>
          <a:lstStyle/>
          <a:p>
            <a:pPr indent="0" marL="0">
              <a:buNone/>
            </a:pPr>
            <a:r>
              <a:rPr lang="en-US" sz="1400" b="1" dirty="0">
                <a:solidFill>
                  <a:srgbClr val="0E3A43"/>
                </a:solidFill>
                <a:latin typeface="Calibri" pitchFamily="34" charset="0"/>
                <a:ea typeface="Calibri" pitchFamily="34" charset="-122"/>
                <a:cs typeface="Calibri" pitchFamily="34" charset="-120"/>
              </a:rPr>
              <a:t>Case — City Bikes</a:t>
            </a:r>
            <a:endParaRPr lang="en-US" sz="1400" dirty="0"/>
          </a:p>
        </p:txBody>
      </p:sp>
      <p:sp>
        <p:nvSpPr>
          <p:cNvPr id="12" name="Text 10"/>
          <p:cNvSpPr txBox="1"/>
          <p:nvPr/>
        </p:nvSpPr>
        <p:spPr>
          <a:xfrm>
            <a:off x="777240" y="4480560"/>
            <a:ext cx="10698480" cy="1600200"/>
          </a:xfrm>
          <a:prstGeom prst="rect">
            <a:avLst/>
          </a:prstGeom>
          <a:noFill/>
          <a:ln/>
        </p:spPr>
        <p:txBody>
          <a:bodyPr wrap="square" lIns="0" tIns="0" rIns="0" bIns="0" rtlCol="0" anchor="t"/>
          <a:lstStyle/>
          <a:p>
            <a:pPr indent="0" marL="0">
              <a:buNone/>
            </a:pPr>
            <a:r>
              <a:rPr lang="en-US" sz="1300" dirty="0">
                <a:solidFill>
                  <a:srgbClr val="1F2A33"/>
                </a:solidFill>
              </a:rPr>
              <a:t>When incomes rose 10%: performance bikes +15% → YED = +1.5 (income-elastic luxury);  commuter bikes +4% → YED = +0.4 (income-inelastic necessity).
</a:t>
            </a:r>
            <a:pPr indent="0" marL="0">
              <a:buNone/>
            </a:pPr>
            <a:r>
              <a:rPr lang="en-US" sz="1300" b="1" dirty="0">
                <a:solidFill>
                  <a:srgbClr val="0B5E66"/>
                </a:solidFill>
              </a:rPr>
              <a:t>So: </a:t>
            </a:r>
            <a:pPr indent="0" marL="0">
              <a:buNone/>
            </a:pPr>
            <a:r>
              <a:rPr lang="en-US" sz="1300" dirty="0">
                <a:solidFill>
                  <a:srgbClr val="1F2A33"/>
                </a:solidFill>
              </a:rPr>
              <a:t>giving more space to performance bikes raises sales when incomes grow — but leaves City Bikes exposed if incomes fall, because luxury demand drops faster. Keeping a strong commuter range (steadier demand) spreads the risk.</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CALCULATION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YED calculation practice</a:t>
            </a:r>
            <a:endParaRPr lang="en-US" sz="27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5212080"/>
                <a:gridCol w="2862072"/>
                <a:gridCol w="1280160"/>
                <a:gridCol w="1737360"/>
              </a:tblGrid>
              <a:tr h="41148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Scenario</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Working</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YED</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Verdict</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r>
              <a:tr h="731520">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BiSU deliveries: income +6%, sales 100k→112k</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+12% ÷ +6%</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Normal luxury</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731520">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Sony console: income +3.5%, sales 3.0m→3.21m</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+7% ÷ +3.5%</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Normal luxury</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731520">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Primark: income +2.5%, sales −2%</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−2% ÷ +2.5%</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−0.8</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Inferior good</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731520">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Budget meal: income −5%, sales 80k→86k</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+7.5% ÷ −5%</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−1.5</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Inferior good</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731520">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Premium gym: 15,000 members, income +8%, YED +1.75</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+1.75 × +8% = +14%</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17,100</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New Qd</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806440"/>
            <a:ext cx="11091672" cy="457200"/>
          </a:xfrm>
          <a:prstGeom prst="roundRect">
            <a:avLst>
              <a:gd name="adj" fmla="val 16000"/>
            </a:avLst>
          </a:prstGeom>
          <a:solidFill>
            <a:srgbClr val="FBF0D8"/>
          </a:solidFill>
          <a:ln/>
          <a:effectLst>
            <a:outerShdw sx="100000" sy="100000" kx="0" ky="0" algn="bl" rotWithShape="0" blurRad="76200" dist="25400" dir="5400000">
              <a:srgbClr val="9AAAB0">
                <a:alpha val="28000"/>
              </a:srgbClr>
            </a:outerShdw>
          </a:effectLst>
        </p:spPr>
      </p:sp>
      <p:sp>
        <p:nvSpPr>
          <p:cNvPr id="6" name="Text 3"/>
          <p:cNvSpPr txBox="1"/>
          <p:nvPr/>
        </p:nvSpPr>
        <p:spPr>
          <a:xfrm>
            <a:off x="777240" y="5824728"/>
            <a:ext cx="10698480" cy="420624"/>
          </a:xfrm>
          <a:prstGeom prst="rect">
            <a:avLst/>
          </a:prstGeom>
          <a:noFill/>
          <a:ln/>
        </p:spPr>
        <p:txBody>
          <a:bodyPr wrap="square" lIns="0" tIns="0" rIns="0" bIns="0" rtlCol="0" anchor="ctr"/>
          <a:lstStyle/>
          <a:p>
            <a:pPr indent="0" marL="0">
              <a:buNone/>
            </a:pPr>
            <a:r>
              <a:rPr lang="en-US" sz="1200" b="1" dirty="0">
                <a:solidFill>
                  <a:srgbClr val="8A5A06"/>
                </a:solidFill>
                <a:latin typeface="Calibri" pitchFamily="34" charset="0"/>
                <a:ea typeface="Calibri" pitchFamily="34" charset="-122"/>
                <a:cs typeface="Calibri" pitchFamily="34" charset="-120"/>
              </a:rPr>
              <a:t>Remember:  </a:t>
            </a:r>
            <a:pPr indent="0" marL="0">
              <a:buNone/>
            </a:pPr>
            <a:r>
              <a:rPr lang="en-US" sz="1200" dirty="0">
                <a:solidFill>
                  <a:srgbClr val="1F2A33"/>
                </a:solidFill>
                <a:latin typeface="Calibri" pitchFamily="34" charset="0"/>
                <a:ea typeface="Calibri" pitchFamily="34" charset="-122"/>
                <a:cs typeface="Calibri" pitchFamily="34" charset="-120"/>
              </a:rPr>
              <a:t>read the SIGN first (normal vs inferior), then the SIZE; for ‘new Qd’ use %ΔQ = YED × %Δincome.</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C</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C</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A-grade exam skills</a:t>
            </a:r>
            <a:endParaRPr lang="en-US" sz="32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applying elasticity to a real decision  ·  the Oasis Water PED 10-marker  ·  a model answer and how to reach the top band</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EXAM MASTERY</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The 10-mark: decode it, then plan</a:t>
            </a:r>
            <a:endParaRPr lang="en-US" sz="2700" dirty="0"/>
          </a:p>
        </p:txBody>
      </p:sp>
      <p:sp>
        <p:nvSpPr>
          <p:cNvPr id="4" name="Shape 2"/>
          <p:cNvSpPr/>
          <p:nvPr/>
        </p:nvSpPr>
        <p:spPr>
          <a:xfrm>
            <a:off x="548640" y="1371600"/>
            <a:ext cx="11091672" cy="1188720"/>
          </a:xfrm>
          <a:prstGeom prst="roundRect">
            <a:avLst>
              <a:gd name="adj" fmla="val 6154"/>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5486400" cy="274320"/>
          </a:xfrm>
          <a:prstGeom prst="rect">
            <a:avLst/>
          </a:prstGeom>
          <a:noFill/>
          <a:ln/>
        </p:spPr>
        <p:txBody>
          <a:bodyPr wrap="square" lIns="0" tIns="0" rIns="0" bIns="0" rtlCol="0" anchor="ctr"/>
          <a:lstStyle/>
          <a:p>
            <a:pPr indent="0" marL="0">
              <a:buNone/>
            </a:pPr>
            <a:r>
              <a:rPr lang="en-US" sz="1050" b="1" spc="150" kern="0" dirty="0">
                <a:solidFill>
                  <a:srgbClr val="7FC4CB"/>
                </a:solidFill>
                <a:latin typeface="Calibri" pitchFamily="34" charset="0"/>
                <a:ea typeface="Calibri" pitchFamily="34" charset="-122"/>
                <a:cs typeface="Calibri" pitchFamily="34" charset="-120"/>
              </a:rPr>
              <a:t>THE QUESTION</a:t>
            </a:r>
            <a:endParaRPr lang="en-US" sz="1050" dirty="0"/>
          </a:p>
        </p:txBody>
      </p:sp>
      <p:sp>
        <p:nvSpPr>
          <p:cNvPr id="6" name="Text 4"/>
          <p:cNvSpPr txBox="1"/>
          <p:nvPr/>
        </p:nvSpPr>
        <p:spPr>
          <a:xfrm>
            <a:off x="777240" y="1773936"/>
            <a:ext cx="10607040" cy="68580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Assess the importance to Oasis Water of price elasticity of demand when deciding whether to increase its selling price from AED 2 to AED 2.50.  </a:t>
            </a:r>
            <a:pPr indent="0" marL="0">
              <a:buNone/>
            </a:pPr>
            <a:r>
              <a:rPr lang="en-US" sz="1350" b="1" dirty="0">
                <a:solidFill>
                  <a:srgbClr val="E0940F"/>
                </a:solidFill>
                <a:latin typeface="Calibri" pitchFamily="34" charset="0"/>
                <a:ea typeface="Calibri" pitchFamily="34" charset="-122"/>
                <a:cs typeface="Calibri" pitchFamily="34" charset="-120"/>
              </a:rPr>
              <a:t>[10]</a:t>
            </a:r>
            <a:endParaRPr lang="en-US" sz="1350" dirty="0"/>
          </a:p>
        </p:txBody>
      </p:sp>
      <p:sp>
        <p:nvSpPr>
          <p:cNvPr id="7" name="Shape 5"/>
          <p:cNvSpPr/>
          <p:nvPr/>
        </p:nvSpPr>
        <p:spPr>
          <a:xfrm>
            <a:off x="548640" y="2697480"/>
            <a:ext cx="5029200" cy="3502152"/>
          </a:xfrm>
          <a:prstGeom prst="roundRect">
            <a:avLst>
              <a:gd name="adj" fmla="val 2089"/>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2807208"/>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Decode the command</a:t>
            </a:r>
            <a:endParaRPr lang="en-US" sz="1300" dirty="0"/>
          </a:p>
        </p:txBody>
      </p:sp>
      <p:sp>
        <p:nvSpPr>
          <p:cNvPr id="9" name="Text 7"/>
          <p:cNvSpPr txBox="1"/>
          <p:nvPr/>
        </p:nvSpPr>
        <p:spPr>
          <a:xfrm>
            <a:off x="749808" y="3172968"/>
            <a:ext cx="4617720" cy="2926080"/>
          </a:xfrm>
          <a:prstGeom prst="rect">
            <a:avLst/>
          </a:prstGeom>
          <a:noFill/>
          <a:ln/>
        </p:spPr>
        <p:txBody>
          <a:bodyPr wrap="square" lIns="0" tIns="0" rIns="0" bIns="0" rtlCol="0" anchor="t"/>
          <a:lstStyle/>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Assess = weigh how important PED is, both ways, then a supported judgement</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The rise is AED 2 → 2.50 = +25% — use this number</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Revenue rises only if quantity falls by LESS than 20% (i.e. demand inelastic)</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Level 4 (8–10): balanced, applied, competing arguments, a clear judgement</a:t>
            </a:r>
            <a:endParaRPr lang="en-US" sz="1180" dirty="0"/>
          </a:p>
        </p:txBody>
      </p:sp>
      <p:sp>
        <p:nvSpPr>
          <p:cNvPr id="10" name="Shape 8"/>
          <p:cNvSpPr/>
          <p:nvPr/>
        </p:nvSpPr>
        <p:spPr>
          <a:xfrm>
            <a:off x="5788152" y="2697480"/>
            <a:ext cx="5852160" cy="3502152"/>
          </a:xfrm>
          <a:prstGeom prst="roundRect">
            <a:avLst>
              <a:gd name="adj" fmla="val 2089"/>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2807208"/>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Plan</a:t>
            </a:r>
            <a:endParaRPr lang="en-US" sz="1300" dirty="0"/>
          </a:p>
        </p:txBody>
      </p:sp>
      <p:sp>
        <p:nvSpPr>
          <p:cNvPr id="12" name="Text 10"/>
          <p:cNvSpPr txBox="1"/>
          <p:nvPr/>
        </p:nvSpPr>
        <p:spPr>
          <a:xfrm>
            <a:off x="5989320" y="3172968"/>
            <a:ext cx="5440680" cy="2926080"/>
          </a:xfrm>
          <a:prstGeom prst="rect">
            <a:avLst/>
          </a:prstGeom>
          <a:noFill/>
          <a:ln/>
        </p:spPr>
        <p:txBody>
          <a:bodyPr wrap="square" lIns="0" tIns="0" rIns="0" bIns="0" rtlCol="0" anchor="t"/>
          <a:lstStyle/>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¶1 (important): PED predicts the revenue effect — if inelastic, few sales lost, revenue &amp; margin rise and help cover higher bottle costs</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¶2 (limited): substitutes on the shelf may make demand elastic → a 25% rise could lose &gt;20% of sales → revenue falls; one PED won't fit every store</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Conclusion (4Ws): PED is highly important but not decisive — test AED 2.50 in some stores; depends on competitor prices &amp; unit costs</a:t>
            </a:r>
            <a:endParaRPr lang="en-US" sz="118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MODEL ANSWER</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A model 10-mark answer (Oasis Water) — body</a:t>
            </a:r>
            <a:endParaRPr lang="en-US" sz="2700" dirty="0"/>
          </a:p>
        </p:txBody>
      </p:sp>
      <p:sp>
        <p:nvSpPr>
          <p:cNvPr id="4" name="Shape 2"/>
          <p:cNvSpPr/>
          <p:nvPr/>
        </p:nvSpPr>
        <p:spPr>
          <a:xfrm>
            <a:off x="548640" y="1371600"/>
            <a:ext cx="11091672" cy="2148840"/>
          </a:xfrm>
          <a:prstGeom prst="roundRect">
            <a:avLst>
              <a:gd name="adj" fmla="val 3404"/>
            </a:avLst>
          </a:prstGeom>
          <a:solidFill>
            <a:srgbClr val="E8F3EC"/>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0607040" cy="1920240"/>
          </a:xfrm>
          <a:prstGeom prst="rect">
            <a:avLst/>
          </a:prstGeom>
          <a:noFill/>
          <a:ln/>
        </p:spPr>
        <p:txBody>
          <a:bodyPr wrap="square" lIns="0" tIns="0" rIns="0" bIns="0" rtlCol="0" anchor="t"/>
          <a:lstStyle/>
          <a:p>
            <a:pPr indent="0" marL="0">
              <a:buNone/>
            </a:pPr>
            <a:r>
              <a:rPr lang="en-US" sz="1180" b="1" dirty="0">
                <a:solidFill>
                  <a:srgbClr val="2F8A5B"/>
                </a:solidFill>
                <a:latin typeface="Calibri" pitchFamily="34" charset="0"/>
                <a:ea typeface="Calibri" pitchFamily="34" charset="-122"/>
                <a:cs typeface="Calibri" pitchFamily="34" charset="-120"/>
              </a:rPr>
              <a:t>¶ PED is important (for).  </a:t>
            </a:r>
            <a:pPr indent="0" marL="0">
              <a:buNone/>
            </a:pPr>
            <a:r>
              <a:rPr lang="en-US" sz="1180" dirty="0">
                <a:solidFill>
                  <a:srgbClr val="1F2A33"/>
                </a:solidFill>
                <a:latin typeface="Calibri" pitchFamily="34" charset="0"/>
                <a:ea typeface="Calibri" pitchFamily="34" charset="-122"/>
                <a:cs typeface="Calibri" pitchFamily="34" charset="-120"/>
              </a:rPr>
              <a:t>PED is important because the proposed change is a 25% price increase, and PED predicts the effect on sales and revenue. If demand is relatively inelastic — as it may be for a commuter who needs water immediately near a metro station in Dubai's summer heat — Oasis would lose relatively few sales. This means the higher revenue earned on each bottle could more than offset the lost sales, helping Oasis cover the rising cost of its plastic bottles without selling more.</a:t>
            </a:r>
            <a:endParaRPr lang="en-US" sz="1180" dirty="0"/>
          </a:p>
        </p:txBody>
      </p:sp>
      <p:sp>
        <p:nvSpPr>
          <p:cNvPr id="6" name="Shape 4"/>
          <p:cNvSpPr/>
          <p:nvPr/>
        </p:nvSpPr>
        <p:spPr>
          <a:xfrm>
            <a:off x="548640" y="3611880"/>
            <a:ext cx="11091672" cy="1828800"/>
          </a:xfrm>
          <a:prstGeom prst="roundRect">
            <a:avLst>
              <a:gd name="adj" fmla="val 4000"/>
            </a:avLst>
          </a:prstGeom>
          <a:solidFill>
            <a:srgbClr val="F9EAE6"/>
          </a:solidFill>
          <a:ln/>
          <a:effectLst>
            <a:outerShdw sx="100000" sy="100000" kx="0" ky="0" algn="bl" rotWithShape="0" blurRad="76200" dist="25400" dir="5400000">
              <a:srgbClr val="9AAAB0">
                <a:alpha val="28000"/>
              </a:srgbClr>
            </a:outerShdw>
          </a:effectLst>
        </p:spPr>
      </p:sp>
      <p:sp>
        <p:nvSpPr>
          <p:cNvPr id="7" name="Text 5"/>
          <p:cNvSpPr txBox="1"/>
          <p:nvPr/>
        </p:nvSpPr>
        <p:spPr>
          <a:xfrm>
            <a:off x="777240" y="3721608"/>
            <a:ext cx="10607040" cy="1645920"/>
          </a:xfrm>
          <a:prstGeom prst="rect">
            <a:avLst/>
          </a:prstGeom>
          <a:noFill/>
          <a:ln/>
        </p:spPr>
        <p:txBody>
          <a:bodyPr wrap="square" lIns="0" tIns="0" rIns="0" bIns="0" rtlCol="0" anchor="t"/>
          <a:lstStyle/>
          <a:p>
            <a:pPr indent="0" marL="0">
              <a:buNone/>
            </a:pPr>
            <a:r>
              <a:rPr lang="en-US" sz="1180" b="1" dirty="0">
                <a:solidFill>
                  <a:srgbClr val="C14B37"/>
                </a:solidFill>
                <a:latin typeface="Calibri" pitchFamily="34" charset="0"/>
                <a:ea typeface="Calibri" pitchFamily="34" charset="-122"/>
                <a:cs typeface="Calibri" pitchFamily="34" charset="-120"/>
              </a:rPr>
              <a:t>¶ But PED has limits (however).  </a:t>
            </a:r>
            <a:pPr indent="0" marL="0">
              <a:buNone/>
            </a:pPr>
            <a:r>
              <a:rPr lang="en-US" sz="1180" dirty="0">
                <a:solidFill>
                  <a:srgbClr val="1F2A33"/>
                </a:solidFill>
                <a:latin typeface="Calibri" pitchFamily="34" charset="0"/>
                <a:ea typeface="Calibri" pitchFamily="34" charset="-122"/>
                <a:cs typeface="Calibri" pitchFamily="34" charset="-120"/>
              </a:rPr>
              <a:t>However, customers can buy competing water brands on the same supermarket shelf, which may make demand elastic. A 25% price rise could persuade enough shoppers to switch for sales to fall by more than 20% — the point at which total revenue would decline. In addition, a single PED estimate may not fit every location: demand near a metro is likely more inelastic than in a supermarket, so applying one figure everywhere could lose more sales than expected.</a:t>
            </a:r>
            <a:endParaRPr lang="en-US" sz="118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MODEL ANSWER</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700" b="1" dirty="0">
                <a:solidFill>
                  <a:srgbClr val="0E3A43"/>
                </a:solidFill>
                <a:latin typeface="Cambria" pitchFamily="34" charset="0"/>
                <a:ea typeface="Cambria" pitchFamily="34" charset="-122"/>
                <a:cs typeface="Cambria" pitchFamily="34" charset="-120"/>
              </a:rPr>
              <a:t>The conclusion — and how to reach the top band</a:t>
            </a:r>
            <a:endParaRPr lang="en-US" sz="27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5486400" cy="274320"/>
          </a:xfrm>
          <a:prstGeom prst="rect">
            <a:avLst/>
          </a:prstGeom>
          <a:noFill/>
          <a:ln/>
        </p:spPr>
        <p:txBody>
          <a:bodyPr wrap="square" lIns="0" tIns="0" rIns="0" bIns="0" rtlCol="0" anchor="ctr"/>
          <a:lstStyle/>
          <a:p>
            <a:pPr indent="0" marL="0">
              <a:buNone/>
            </a:pPr>
            <a:r>
              <a:rPr lang="en-US" sz="1050" b="1" spc="150" kern="0" dirty="0">
                <a:solidFill>
                  <a:srgbClr val="7FC4CB"/>
                </a:solidFill>
                <a:latin typeface="Calibri" pitchFamily="34" charset="0"/>
                <a:ea typeface="Calibri" pitchFamily="34" charset="-122"/>
                <a:cs typeface="Calibri" pitchFamily="34" charset="-120"/>
              </a:rPr>
              <a:t>CONCLUSION (4Ws)</a:t>
            </a:r>
            <a:endParaRPr lang="en-US" sz="1050" dirty="0"/>
          </a:p>
        </p:txBody>
      </p:sp>
      <p:sp>
        <p:nvSpPr>
          <p:cNvPr id="6" name="Text 4"/>
          <p:cNvSpPr txBox="1"/>
          <p:nvPr/>
        </p:nvSpPr>
        <p:spPr>
          <a:xfrm>
            <a:off x="777240" y="1773936"/>
            <a:ext cx="10607040" cy="141732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Overall, PED is highly important because it indicates the likely effect of the price increase on sales and revenue. The strongest reason for caution is the availability of competing brands, which may make demand elastic. Oasis should therefore test AED 2.50 in a small number of stores and compare sales and profit with stores that keep AED 2. If the higher price covers the extra packaging cost without a substantial loss of customers, a wider increase would be justified — so the decision depends on the actual change in sales and on unit costs, not on PED alone.</a:t>
            </a:r>
            <a:endParaRPr lang="en-US" sz="1250" dirty="0"/>
          </a:p>
        </p:txBody>
      </p:sp>
      <p:sp>
        <p:nvSpPr>
          <p:cNvPr id="7" name="Shape 5"/>
          <p:cNvSpPr/>
          <p:nvPr/>
        </p:nvSpPr>
        <p:spPr>
          <a:xfrm>
            <a:off x="548640" y="3474720"/>
            <a:ext cx="5440680" cy="2697480"/>
          </a:xfrm>
          <a:prstGeom prst="roundRect">
            <a:avLst>
              <a:gd name="adj" fmla="val 2712"/>
            </a:avLst>
          </a:prstGeom>
          <a:solidFill>
            <a:srgbClr val="E8F3EC"/>
          </a:solidFill>
          <a:ln/>
          <a:effectLst>
            <a:outerShdw sx="100000" sy="100000" kx="0" ky="0" algn="bl" rotWithShape="0" blurRad="76200" dist="25400" dir="5400000">
              <a:srgbClr val="9AAAB0">
                <a:alpha val="28000"/>
              </a:srgbClr>
            </a:outerShdw>
          </a:effectLst>
        </p:spPr>
      </p:sp>
      <p:sp>
        <p:nvSpPr>
          <p:cNvPr id="8" name="Shape 6"/>
          <p:cNvSpPr/>
          <p:nvPr/>
        </p:nvSpPr>
        <p:spPr>
          <a:xfrm>
            <a:off x="777240" y="3630168"/>
            <a:ext cx="3291840" cy="310896"/>
          </a:xfrm>
          <a:prstGeom prst="roundRect">
            <a:avLst>
              <a:gd name="adj" fmla="val 50000"/>
            </a:avLst>
          </a:prstGeom>
          <a:solidFill>
            <a:srgbClr val="2F8A5B"/>
          </a:solidFill>
          <a:ln/>
        </p:spPr>
      </p:sp>
      <p:sp>
        <p:nvSpPr>
          <p:cNvPr id="9" name="Text 7"/>
          <p:cNvSpPr txBox="1"/>
          <p:nvPr/>
        </p:nvSpPr>
        <p:spPr>
          <a:xfrm>
            <a:off x="777240" y="3630168"/>
            <a:ext cx="32918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TO REACH LEVEL 4</a:t>
            </a:r>
            <a:endParaRPr lang="en-US" sz="1050" dirty="0"/>
          </a:p>
        </p:txBody>
      </p:sp>
      <p:sp>
        <p:nvSpPr>
          <p:cNvPr id="10" name="Text 8"/>
          <p:cNvSpPr txBox="1"/>
          <p:nvPr/>
        </p:nvSpPr>
        <p:spPr>
          <a:xfrm>
            <a:off x="777240" y="4069080"/>
            <a:ext cx="4983480" cy="192024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Use the numbers (25% rise; the 20% threshold)</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Argue both inelastic AND elastic for Oasis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Apply case detail (commuter vs supermarket)</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Judge AND say what it depends on (costs, competitors)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Note revenue ≠ profit (packaging costs rose)</a:t>
            </a:r>
            <a:endParaRPr lang="en-US" sz="1200" dirty="0"/>
          </a:p>
        </p:txBody>
      </p:sp>
      <p:sp>
        <p:nvSpPr>
          <p:cNvPr id="11" name="Shape 9"/>
          <p:cNvSpPr/>
          <p:nvPr/>
        </p:nvSpPr>
        <p:spPr>
          <a:xfrm>
            <a:off x="6199632" y="3474720"/>
            <a:ext cx="5440680" cy="2697480"/>
          </a:xfrm>
          <a:prstGeom prst="roundRect">
            <a:avLst>
              <a:gd name="adj" fmla="val 2712"/>
            </a:avLst>
          </a:prstGeom>
          <a:solidFill>
            <a:srgbClr val="F9EAE6"/>
          </a:solidFill>
          <a:ln/>
          <a:effectLst>
            <a:outerShdw sx="100000" sy="100000" kx="0" ky="0" algn="bl" rotWithShape="0" blurRad="76200" dist="25400" dir="5400000">
              <a:srgbClr val="9AAAB0">
                <a:alpha val="28000"/>
              </a:srgbClr>
            </a:outerShdw>
          </a:effectLst>
        </p:spPr>
      </p:sp>
      <p:sp>
        <p:nvSpPr>
          <p:cNvPr id="12" name="Shape 10"/>
          <p:cNvSpPr/>
          <p:nvPr/>
        </p:nvSpPr>
        <p:spPr>
          <a:xfrm>
            <a:off x="6428232" y="3630168"/>
            <a:ext cx="3840480" cy="310896"/>
          </a:xfrm>
          <a:prstGeom prst="roundRect">
            <a:avLst>
              <a:gd name="adj" fmla="val 50000"/>
            </a:avLst>
          </a:prstGeom>
          <a:solidFill>
            <a:srgbClr val="C14B37"/>
          </a:solidFill>
          <a:ln/>
        </p:spPr>
      </p:sp>
      <p:sp>
        <p:nvSpPr>
          <p:cNvPr id="13" name="Text 11"/>
          <p:cNvSpPr txBox="1"/>
          <p:nvPr/>
        </p:nvSpPr>
        <p:spPr>
          <a:xfrm>
            <a:off x="6428232" y="3630168"/>
            <a:ext cx="384048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WHAT DROPS TO LEVEL 2–3</a:t>
            </a:r>
            <a:endParaRPr lang="en-US" sz="1050" dirty="0"/>
          </a:p>
        </p:txBody>
      </p:sp>
      <p:sp>
        <p:nvSpPr>
          <p:cNvPr id="14" name="Text 12"/>
          <p:cNvSpPr txBox="1"/>
          <p:nvPr/>
        </p:nvSpPr>
        <p:spPr>
          <a:xfrm>
            <a:off x="6428232" y="4069080"/>
            <a:ext cx="4983480" cy="192024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Defining PED with no Oasis context</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Only arguing one side</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No use of the 25% figure</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Confusing revenue with profit</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No judgement, or no 'depends on'</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822960" y="640080"/>
            <a:ext cx="10515600" cy="365760"/>
          </a:xfrm>
          <a:prstGeom prst="rect">
            <a:avLst/>
          </a:prstGeom>
          <a:noFill/>
          <a:ln/>
        </p:spPr>
        <p:txBody>
          <a:bodyPr wrap="square" lIns="0" tIns="0" rIns="0" bIns="0" rtlCol="0" anchor="ctr"/>
          <a:lstStyle/>
          <a:p>
            <a:pPr indent="0" marL="0">
              <a:buNone/>
            </a:pPr>
            <a:r>
              <a:rPr lang="en-US" sz="1300" b="1" spc="200" kern="0" dirty="0">
                <a:solidFill>
                  <a:srgbClr val="E0940F"/>
                </a:solidFill>
                <a:latin typeface="Calibri" pitchFamily="34" charset="0"/>
                <a:ea typeface="Calibri" pitchFamily="34" charset="-122"/>
                <a:cs typeface="Calibri" pitchFamily="34" charset="-120"/>
              </a:rPr>
              <a:t>PUTTING IT TOGETHER</a:t>
            </a:r>
            <a:endParaRPr lang="en-US" sz="1300" dirty="0"/>
          </a:p>
        </p:txBody>
      </p:sp>
      <p:sp>
        <p:nvSpPr>
          <p:cNvPr id="3" name="Text 1"/>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Answering elasticity questions</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822960" y="1828800"/>
          <a:ext cx="10543032" cy="914400"/>
        </p:xfrm>
        <a:graphic>
          <a:graphicData uri="http://schemas.openxmlformats.org/drawingml/2006/table">
            <a:tbl>
              <a:tblPr/>
              <a:tblGrid>
                <a:gridCol w="1188720"/>
                <a:gridCol w="2651760"/>
                <a:gridCol w="6702552"/>
              </a:tblGrid>
              <a:tr h="457200">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Marks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Command</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What to do</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r>
              <a:tr h="621792">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Define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PED / YED: responsiveness of demand to a change in price / income.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713232">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Calculate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Show every step; % from the original value; keep the sign; classify.</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74980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6</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Analyse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Two factors (SPLAT for PED), each applied, each with a chain. No judgement.</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74980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8 / 10</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Discuss / Assess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Both sides, applied, + a supported judgement (4Ws).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bl>
          </a:graphicData>
        </a:graphic>
      </p:graphicFrame>
      <p:sp>
        <p:nvSpPr>
          <p:cNvPr id="5" name="Text 2"/>
          <p:cNvSpPr txBox="1"/>
          <p:nvPr/>
        </p:nvSpPr>
        <p:spPr>
          <a:xfrm>
            <a:off x="822960" y="5715000"/>
            <a:ext cx="10515600" cy="457200"/>
          </a:xfrm>
          <a:prstGeom prst="rect">
            <a:avLst/>
          </a:prstGeom>
          <a:noFill/>
          <a:ln/>
        </p:spPr>
        <p:txBody>
          <a:bodyPr wrap="square" lIns="0" tIns="0" rIns="0" bIns="0" rtlCol="0" anchor="ctr"/>
          <a:lstStyle/>
          <a:p>
            <a:pPr indent="0" marL="0">
              <a:buNone/>
            </a:pPr>
            <a:r>
              <a:rPr lang="en-US" sz="1300" i="1" dirty="0">
                <a:solidFill>
                  <a:srgbClr val="9FBCC0"/>
                </a:solidFill>
                <a:latin typeface="Calibri" pitchFamily="34" charset="0"/>
                <a:ea typeface="Calibri" pitchFamily="34" charset="-122"/>
                <a:cs typeface="Calibri" pitchFamily="34" charset="-120"/>
              </a:rPr>
              <a:t>Golden rules: PED — inelastic means raise price to grow revenue; elastic means cut it. YED — read the sign (normal vs inferior), then the size (necessity vs luxury).</a:t>
            </a:r>
            <a:endParaRPr lang="en-US" sz="1300" dirty="0"/>
          </a:p>
        </p:txBody>
      </p:sp>
      <p:sp>
        <p:nvSpPr>
          <p:cNvPr id="6" name="Text 3"/>
          <p:cNvSpPr txBox="1"/>
          <p:nvPr/>
        </p:nvSpPr>
        <p:spPr>
          <a:xfrm>
            <a:off x="822960" y="6172200"/>
            <a:ext cx="10515600" cy="320040"/>
          </a:xfrm>
          <a:prstGeom prst="rect">
            <a:avLst/>
          </a:prstGeom>
          <a:noFill/>
          <a:ln/>
        </p:spPr>
        <p:txBody>
          <a:bodyPr wrap="square" lIns="0" tIns="0" rIns="0" bIns="0" rtlCol="0" anchor="ctr"/>
          <a:lstStyle/>
          <a:p>
            <a:pPr indent="0" marL="0">
              <a:buNone/>
            </a:pPr>
            <a:r>
              <a:rPr lang="en-US" sz="1250" b="1" dirty="0">
                <a:solidFill>
                  <a:srgbClr val="7FC4CB"/>
                </a:solidFill>
                <a:latin typeface="Calibri" pitchFamily="34" charset="0"/>
                <a:ea typeface="Calibri" pitchFamily="34" charset="-122"/>
                <a:cs typeface="Calibri" pitchFamily="34" charset="-120"/>
              </a:rPr>
              <a:t>This completes Topic 1.3.2 ‘The Market’: demand, supply, equilibrium, PED and YED.</a:t>
            </a:r>
            <a:endParaRPr lang="en-US" sz="1250" dirty="0"/>
          </a:p>
        </p:txBody>
      </p:sp>
    </p:spTree>
  </p:cSld>
  <p:clrMapOvr>
    <a:masterClrMapping/>
  </p:clrMapOvr>
</p:sld>
</file>

<file path=ppt/theme/theme1.xml><?xml version="1.0" encoding="utf-8"?>
<a:theme xmlns:a="http://schemas.openxmlformats.org/drawingml/2006/main" name="IAL Marketing">
  <a:themeElements>
    <a:clrScheme name="IAL Marketing">
      <a:dk1>
        <a:srgbClr val="1F2A33"/>
      </a:dk1>
      <a:lt1>
        <a:srgbClr val="FFFFFF"/>
      </a:lt1>
      <a:dk2>
        <a:srgbClr val="0E3A43"/>
      </a:dk2>
      <a:lt2>
        <a:srgbClr val="EAF3F4"/>
      </a:lt2>
      <a:accent1>
        <a:srgbClr val="0E7C86"/>
      </a:accent1>
      <a:accent2>
        <a:srgbClr val="E0940F"/>
      </a:accent2>
      <a:accent3>
        <a:srgbClr val="2F8A5B"/>
      </a:accent3>
      <a:accent4>
        <a:srgbClr val="C14B37"/>
      </a:accent4>
      <a:accent5>
        <a:srgbClr val="5B6B73"/>
      </a:accent5>
      <a:accent6>
        <a:srgbClr val="6B4FA0"/>
      </a:accent6>
      <a:hlink>
        <a:srgbClr val="0E7C86"/>
      </a:hlink>
      <a:folHlink>
        <a:srgbClr val="0B5E66"/>
      </a:folHlink>
    </a:clrScheme>
    <a:fontScheme name="IAL Market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GEMS Metropole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Mr. Akram</dc:creator>
  <cp:lastModifiedBy>Mr. Akram</cp:lastModifiedBy>
  <cp:revision>1</cp:revision>
  <dcterms:created xsi:type="dcterms:W3CDTF">2026-10-20T05:08:46Z</dcterms:created>
  <dcterms:modified xsi:type="dcterms:W3CDTF">2026-10-20T05:08:46Z</dcterms:modified>
</cp:coreProperties>
</file>