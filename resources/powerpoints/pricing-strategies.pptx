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The six strategies" id="{a262b9ca-bfd0-f239-e0ee-429ab9b3af47}">
          <p14:sldIdLst>
            <p14:sldId id="259"/>
            <p14:sldId id="260"/>
            <p14:sldId id="261"/>
            <p14:sldId id="262"/>
            <p14:sldId id="263"/>
            <p14:sldId id="264"/>
            <p14:sldId id="265"/>
            <p14:sldId id="266"/>
            <p14:sldId id="267"/>
            <p14:sldId id="268"/>
          </p14:sldIdLst>
        </p14:section>
        <p14:section name="B · Choosing the strategy" id="{26c47525-d3b2-ca7d-2c54-7e87eab6e4ed}">
          <p14:sldIdLst>
            <p14:sldId id="269"/>
            <p14:sldId id="270"/>
            <p14:sldId id="271"/>
            <p14:sldId id="272"/>
          </p14:sldIdLst>
        </p14:section>
        <p14:section name="C · Social trends" id="{2250bbb8-81cc-2ccf-6923-f7f4f97ab7f4}">
          <p14:sldIdLst>
            <p14:sldId id="273"/>
            <p14:sldId id="274"/>
            <p14:sldId id="275"/>
          </p14:sldIdLst>
        </p14:section>
        <p14:section name="D · A-grade exam skills" id="{67a7b0ca-c664-df69-2f7c-a8e2b72f8315}">
          <p14:sldIdLst>
            <p14:sldId id="276"/>
            <p14:sldId id="277"/>
            <p14:sldId id="278"/>
            <p14:sldId id="279"/>
          </p14:sldIdLst>
        </p14:section>
        <p14:section name="Default-1" id="{6f97f4b3-8db2-78cb-f050-78867c97cbb2}">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pricing strategies (spec 1.3.3 point 4), pitched for A-grade students. Same format as the earlier decks: each strategy gets a definition, advantages, disadvantages and a real example, plus the factors that decide the choice, social trends, and exam practice (Express Value 10 &amp; 20 mark). Express Value is an illustrative case from the exam folder - treat its figures as case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where all the earlier topics meet: a strong brand (point 3) and few USPs/much differentiation (point 2) let a firm charge more; PED and the product life cycle (point 1) shape the choice. Examiners reward students who justify the chosen strategy with the case context rather than defining strategies in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4 of five in topic 1.3.3. The A-grade move is to connect the pricing choice to brand strength, PED, differentiation and the PLC stage - the exact factors in part (b) - rather than treating price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the spec names. Starter idea from your deck: match six scenarios to the strategy (that check appears later). Flag the overlaps students confuse: skimming vs penetration (high-then-low vs low-then-high); predatory vs competitive vs penetration (all involve low prices but for different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Cost-plus is the quantitative one - make sure students can calculate it. Steps: find fixed cost per unit (total FC / forecast units), add variable cost per unit for total unit cost, then apply the mark-up. Watch the common error: a 50% mark-up means x1.5, not +50 pence. Assumes 50,000 units so FC/unit = 0.60 (state the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cold-call check (answers from your matching activity). The reasoning matters more than the label: perfume = high-then-low = skimming; .99 = psychological; below a rival to enter = penetration; below cost to kill rivals = predatory; in line with a rival = competitive; mark-up on cost = cost-plus.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1.3.3(4)(b). These six factors ARE the evaluation toolkit for any pricing question - each is a reason a particular strategy fits (or doesn't). The A-grade answer never says a strategy is 'best' in the abstract; it says it depends on these factors for THIS business and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to turn the six factors into a choice. The strongest answers weigh two or more factors against each other (e.g. a strong brand points to premium, but fierce competition pulls towards competitive pricing) and judge which dominates for the specific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 names online sales and price comparison sites; the modern extensions (dynamic, personalised, subscription) are from your 2025 deck and give A-grade students richer material. Evaluation angle: transparency helps customers but erodes firms' pricing power, so firms increasingly compete on brand, service and convenience, not just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to this question is the word CONTINUE: a strong answer concedes price was the main reason for past success but argues it may not remain so, because price is copyable and the limited range caps growth. That forward-looking, conditional judgement is the Level 4 discriminator.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PECAN paragraphs using the case figures. Note the forward-looking framing in paragraph 3 ('may not last', 'easy to copy', 'capping growth') - this answers the 'will it CONTINUE' part directly, which weaker answers miss by only describing past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commits (price was the main reason) while judging the future conditionally (won't stay the main reason; depends on adding other advantages). That nuanced, forward-looking judgement - tied to the case - is what separates Level 4 from a one-sided Level 2-3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A-grade students should leave able to define and calculate each pricing strategy, explain the six factors that decide the choice, discuss social-trend effects on pricing, and structure 8/10/20-mark answers with applied chains and a conditional judgement. More practice: Toyota fixed pricing [10], Cebu cost-plus [10], Tesla Model X most appropriate strategy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987552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1.3.3 (4) Pricing strategies</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2588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83080"/>
            <a:ext cx="10515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Pricing Strategies</a:t>
            </a:r>
            <a:endParaRPr lang="en-US" sz="5000" dirty="0"/>
          </a:p>
        </p:txBody>
      </p:sp>
      <p:sp>
        <p:nvSpPr>
          <p:cNvPr id="4" name="Text 2"/>
          <p:cNvSpPr txBox="1"/>
          <p:nvPr/>
        </p:nvSpPr>
        <p:spPr>
          <a:xfrm>
            <a:off x="822960" y="2788920"/>
            <a:ext cx="10424160" cy="457200"/>
          </a:xfrm>
          <a:prstGeom prst="rect">
            <a:avLst/>
          </a:prstGeom>
          <a:noFill/>
          <a:ln/>
        </p:spPr>
        <p:txBody>
          <a:bodyPr wrap="square" lIns="0" tIns="0" rIns="0" bIns="0" rtlCol="0" anchor="ctr"/>
          <a:lstStyle/>
          <a:p>
            <a:pPr indent="0" marL="0">
              <a:buNone/>
            </a:pPr>
            <a:r>
              <a:rPr lang="en-US" sz="1600" i="1" dirty="0">
                <a:solidFill>
                  <a:srgbClr val="D7E6E8"/>
                </a:solidFill>
                <a:latin typeface="Calibri" pitchFamily="34" charset="0"/>
                <a:ea typeface="Calibri" pitchFamily="34" charset="-122"/>
                <a:cs typeface="Calibri" pitchFamily="34" charset="-120"/>
              </a:rPr>
              <a:t>Spec 1.3.3 (4)  —  a tutoring guide: what each strategy is, real businesses, and A-grade exam practice</a:t>
            </a:r>
            <a:endParaRPr lang="en-US" sz="1600" dirty="0"/>
          </a:p>
        </p:txBody>
      </p:sp>
      <p:sp>
        <p:nvSpPr>
          <p:cNvPr id="5" name="Shape 3"/>
          <p:cNvSpPr/>
          <p:nvPr/>
        </p:nvSpPr>
        <p:spPr>
          <a:xfrm>
            <a:off x="822960" y="3886200"/>
            <a:ext cx="2509114"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886200"/>
            <a:ext cx="250911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Six pricing strategies</a:t>
            </a:r>
            <a:endParaRPr lang="en-US" sz="1250" dirty="0"/>
          </a:p>
        </p:txBody>
      </p:sp>
      <p:sp>
        <p:nvSpPr>
          <p:cNvPr id="7" name="Shape 5"/>
          <p:cNvSpPr/>
          <p:nvPr/>
        </p:nvSpPr>
        <p:spPr>
          <a:xfrm>
            <a:off x="3514954" y="3886200"/>
            <a:ext cx="2406701"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514954" y="3886200"/>
            <a:ext cx="240670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Choosing the strategy</a:t>
            </a:r>
            <a:endParaRPr lang="en-US" sz="1250" dirty="0"/>
          </a:p>
        </p:txBody>
      </p:sp>
      <p:sp>
        <p:nvSpPr>
          <p:cNvPr id="9" name="Shape 7"/>
          <p:cNvSpPr/>
          <p:nvPr/>
        </p:nvSpPr>
        <p:spPr>
          <a:xfrm>
            <a:off x="6104534" y="3886200"/>
            <a:ext cx="1587398"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6104534" y="3886200"/>
            <a:ext cx="158739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Social trends</a:t>
            </a:r>
            <a:endParaRPr lang="en-US" sz="1250" dirty="0"/>
          </a:p>
        </p:txBody>
      </p:sp>
      <p:sp>
        <p:nvSpPr>
          <p:cNvPr id="11" name="Shape 9"/>
          <p:cNvSpPr/>
          <p:nvPr/>
        </p:nvSpPr>
        <p:spPr>
          <a:xfrm>
            <a:off x="7874813" y="3886200"/>
            <a:ext cx="2201875"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7874813" y="3886200"/>
            <a:ext cx="2201875"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Case: Express Value</a:t>
            </a:r>
            <a:endParaRPr lang="en-US" sz="1250" dirty="0"/>
          </a:p>
        </p:txBody>
      </p:sp>
      <p:sp>
        <p:nvSpPr>
          <p:cNvPr id="13" name="Text 11"/>
          <p:cNvSpPr txBox="1"/>
          <p:nvPr/>
        </p:nvSpPr>
        <p:spPr>
          <a:xfrm>
            <a:off x="822960" y="603504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Express Value · Tesla · Toyota · Cebu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this lesson covers</a:t>
            </a:r>
            <a:endParaRPr lang="en-US" sz="28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73936"/>
            <a:ext cx="493776" cy="493776"/>
          </a:xfrm>
          <a:prstGeom prst="roundRect">
            <a:avLst>
              <a:gd name="adj" fmla="val 18519"/>
            </a:avLst>
          </a:prstGeom>
          <a:solidFill>
            <a:srgbClr val="0E7C86"/>
          </a:solidFill>
          <a:ln/>
        </p:spPr>
      </p:sp>
      <p:sp>
        <p:nvSpPr>
          <p:cNvPr id="6" name="Text 4"/>
          <p:cNvSpPr txBox="1"/>
          <p:nvPr/>
        </p:nvSpPr>
        <p:spPr>
          <a:xfrm>
            <a:off x="731520" y="17739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66344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The six pricing strategies</a:t>
            </a:r>
            <a:endParaRPr lang="en-US" sz="1500" dirty="0"/>
          </a:p>
        </p:txBody>
      </p:sp>
      <p:sp>
        <p:nvSpPr>
          <p:cNvPr id="8" name="Text 6"/>
          <p:cNvSpPr txBox="1"/>
          <p:nvPr/>
        </p:nvSpPr>
        <p:spPr>
          <a:xfrm>
            <a:off x="6172200" y="1700784"/>
            <a:ext cx="53492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Cost-plus, skimming, penetration, predatory, competitive, psychological</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31520" y="2798064"/>
            <a:ext cx="493776" cy="493776"/>
          </a:xfrm>
          <a:prstGeom prst="roundRect">
            <a:avLst>
              <a:gd name="adj" fmla="val 18519"/>
            </a:avLst>
          </a:prstGeom>
          <a:solidFill>
            <a:srgbClr val="0E7C86"/>
          </a:solidFill>
          <a:ln/>
        </p:spPr>
      </p:sp>
      <p:sp>
        <p:nvSpPr>
          <p:cNvPr id="11" name="Text 9"/>
          <p:cNvSpPr txBox="1"/>
          <p:nvPr/>
        </p:nvSpPr>
        <p:spPr>
          <a:xfrm>
            <a:off x="731520" y="2798064"/>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66344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Choosing the strategy</a:t>
            </a:r>
            <a:endParaRPr lang="en-US" sz="1500" dirty="0"/>
          </a:p>
        </p:txBody>
      </p:sp>
      <p:sp>
        <p:nvSpPr>
          <p:cNvPr id="13" name="Text 11"/>
          <p:cNvSpPr txBox="1"/>
          <p:nvPr/>
        </p:nvSpPr>
        <p:spPr>
          <a:xfrm>
            <a:off x="6172200" y="2724912"/>
            <a:ext cx="53492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six factors: USPs, PED, competition, brand, PLC stage, costs &amp; profit</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822192"/>
            <a:ext cx="493776" cy="493776"/>
          </a:xfrm>
          <a:prstGeom prst="roundRect">
            <a:avLst>
              <a:gd name="adj" fmla="val 18519"/>
            </a:avLst>
          </a:prstGeom>
          <a:solidFill>
            <a:srgbClr val="0E7C86"/>
          </a:solidFill>
          <a:ln/>
        </p:spPr>
      </p:sp>
      <p:sp>
        <p:nvSpPr>
          <p:cNvPr id="16" name="Text 14"/>
          <p:cNvSpPr txBox="1"/>
          <p:nvPr/>
        </p:nvSpPr>
        <p:spPr>
          <a:xfrm>
            <a:off x="731520" y="38221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66344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Changes for social trends</a:t>
            </a:r>
            <a:endParaRPr lang="en-US" sz="1500" dirty="0"/>
          </a:p>
        </p:txBody>
      </p:sp>
      <p:sp>
        <p:nvSpPr>
          <p:cNvPr id="18" name="Text 16"/>
          <p:cNvSpPr txBox="1"/>
          <p:nvPr/>
        </p:nvSpPr>
        <p:spPr>
          <a:xfrm>
            <a:off x="6172200" y="3749040"/>
            <a:ext cx="53492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Online sales, price comparison sites, and modern dynamic pricing</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31520" y="4846320"/>
            <a:ext cx="493776" cy="493776"/>
          </a:xfrm>
          <a:prstGeom prst="roundRect">
            <a:avLst>
              <a:gd name="adj" fmla="val 18519"/>
            </a:avLst>
          </a:prstGeom>
          <a:solidFill>
            <a:srgbClr val="0E7C86"/>
          </a:solidFill>
          <a:ln/>
        </p:spPr>
      </p:sp>
      <p:sp>
        <p:nvSpPr>
          <p:cNvPr id="21" name="Text 19"/>
          <p:cNvSpPr txBox="1"/>
          <p:nvPr/>
        </p:nvSpPr>
        <p:spPr>
          <a:xfrm>
            <a:off x="731520" y="484632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66344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172200" y="4773168"/>
            <a:ext cx="53492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Express Value case, with structure for 10 and 20-mark answers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Where pricing strategies sit in the specification</a:t>
            </a:r>
            <a:endParaRPr lang="en-US" sz="28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1.3.3  Marketing mix and strategy</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Marketing objectives &amp; strategy</a:t>
            </a:r>
            <a:endParaRPr lang="en-US" sz="1300" dirty="0"/>
          </a:p>
        </p:txBody>
      </p:sp>
      <p:sp>
        <p:nvSpPr>
          <p:cNvPr id="10" name="Text 8"/>
          <p:cNvSpPr txBox="1"/>
          <p:nvPr/>
        </p:nvSpPr>
        <p:spPr>
          <a:xfrm>
            <a:off x="1508760" y="2304288"/>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market share, PLC, Boston Matrix, marketing mix, market types, loyalty</a:t>
            </a:r>
            <a:endParaRPr lang="en-US" sz="105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Product / service design</a:t>
            </a:r>
            <a:endParaRPr lang="en-US" sz="1300" dirty="0"/>
          </a:p>
        </p:txBody>
      </p:sp>
      <p:sp>
        <p:nvSpPr>
          <p:cNvPr id="15" name="Text 13"/>
          <p:cNvSpPr txBox="1"/>
          <p:nvPr/>
        </p:nvSpPr>
        <p:spPr>
          <a:xfrm>
            <a:off x="1508760" y="3163824"/>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the design mix: function, aesthetics, cost; social trends</a:t>
            </a:r>
            <a:endParaRPr lang="en-US" sz="1050" dirty="0"/>
          </a:p>
        </p:txBody>
      </p:sp>
      <p:sp>
        <p:nvSpPr>
          <p:cNvPr id="16" name="Shape 14"/>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7" name="Shape 15"/>
          <p:cNvSpPr/>
          <p:nvPr/>
        </p:nvSpPr>
        <p:spPr>
          <a:xfrm>
            <a:off x="914400" y="3803904"/>
            <a:ext cx="457200" cy="457200"/>
          </a:xfrm>
          <a:prstGeom prst="roundRect">
            <a:avLst>
              <a:gd name="adj" fmla="val 20000"/>
            </a:avLst>
          </a:prstGeom>
          <a:solidFill>
            <a:srgbClr val="0E7C86"/>
          </a:solidFill>
          <a:ln/>
        </p:spPr>
      </p:sp>
      <p:sp>
        <p:nvSpPr>
          <p:cNvPr id="18" name="Text 16"/>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508760" y="3730752"/>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Promotion &amp; branding</a:t>
            </a:r>
            <a:endParaRPr lang="en-US" sz="1300" dirty="0"/>
          </a:p>
        </p:txBody>
      </p:sp>
      <p:sp>
        <p:nvSpPr>
          <p:cNvPr id="20" name="Text 18"/>
          <p:cNvSpPr txBox="1"/>
          <p:nvPr/>
        </p:nvSpPr>
        <p:spPr>
          <a:xfrm>
            <a:off x="1508760" y="4023360"/>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promotion &amp; branding; benefits of branding; building a brand</a:t>
            </a:r>
            <a:endParaRPr lang="en-US" sz="1050" dirty="0"/>
          </a:p>
        </p:txBody>
      </p:sp>
      <p:sp>
        <p:nvSpPr>
          <p:cNvPr id="21" name="Shape 19"/>
          <p:cNvSpPr/>
          <p:nvPr/>
        </p:nvSpPr>
        <p:spPr>
          <a:xfrm>
            <a:off x="749808" y="4480560"/>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22" name="Shape 20"/>
          <p:cNvSpPr/>
          <p:nvPr/>
        </p:nvSpPr>
        <p:spPr>
          <a:xfrm>
            <a:off x="749808" y="4480560"/>
            <a:ext cx="91440" cy="841248"/>
          </a:xfrm>
          <a:prstGeom prst="roundRect">
            <a:avLst/>
          </a:prstGeom>
          <a:solidFill>
            <a:srgbClr val="E0940F"/>
          </a:solidFill>
          <a:ln/>
        </p:spPr>
      </p:sp>
      <p:sp>
        <p:nvSpPr>
          <p:cNvPr id="23" name="Shape 21"/>
          <p:cNvSpPr/>
          <p:nvPr/>
        </p:nvSpPr>
        <p:spPr>
          <a:xfrm>
            <a:off x="914400" y="4663440"/>
            <a:ext cx="457200" cy="457200"/>
          </a:xfrm>
          <a:prstGeom prst="roundRect">
            <a:avLst>
              <a:gd name="adj" fmla="val 20000"/>
            </a:avLst>
          </a:prstGeom>
          <a:solidFill>
            <a:srgbClr val="E0940F"/>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Pricing strategies   ← this lesson</a:t>
            </a:r>
            <a:endParaRPr lang="en-US" sz="1300" dirty="0"/>
          </a:p>
        </p:txBody>
      </p:sp>
      <p:sp>
        <p:nvSpPr>
          <p:cNvPr id="26" name="Text 24"/>
          <p:cNvSpPr txBox="1"/>
          <p:nvPr/>
        </p:nvSpPr>
        <p:spPr>
          <a:xfrm>
            <a:off x="1508760" y="4882896"/>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six strategies; the factors that decide the choice; social trends in pricing</a:t>
            </a:r>
            <a:endParaRPr lang="en-US" sz="105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Distribution</a:t>
            </a:r>
            <a:endParaRPr lang="en-US" sz="1300" dirty="0"/>
          </a:p>
        </p:txBody>
      </p:sp>
      <p:sp>
        <p:nvSpPr>
          <p:cNvPr id="31" name="Text 29"/>
          <p:cNvSpPr txBox="1"/>
          <p:nvPr/>
        </p:nvSpPr>
        <p:spPr>
          <a:xfrm>
            <a:off x="1508760" y="5742432"/>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channels from producer to consumer</a:t>
            </a:r>
            <a:endParaRPr lang="en-US" sz="105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Price is the ‘Price’ element of the marketing mix (point 1d)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strong brand reduces PED, so the firm can charge more (point 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USPs / differentiation from the design mix justify a premium (point 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right strategy shifts across the product life cycle (point 1b)</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Price must still cover costs — links to break-even &amp; profit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The six pricing strategies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cost-plus, skimming, penetration, predatory, competitive &amp; psychological  ·  what each is, with advantages, disadvantages and real examples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PRICING STRATEGIES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six strategies at a glance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48840"/>
                <a:gridCol w="4553712"/>
                <a:gridCol w="438912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Strategy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Typical use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65836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Cost-plus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Add a % mark-up on top of the unit cost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When costs are known and a safe margin is needed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Price skimming</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Set a high price at launch, then lower it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New, innovative products with a USP (tech)</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Penetration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Set a low price to enter and build share, then raise it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Entering a competitive market; new apps/services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Predatory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Set a very low price to force rivals out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Dominant firms blocking entrants (often illegal)</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Competitive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Price in line with rivals; compete on non-price factors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Crowded markets with similar products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58368">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Psychological</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£1.99 not £2.00, or a high price to signal quality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Retail (charm pricing) and premium brands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97880"/>
            <a:ext cx="11091672" cy="32004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The next slides take each strategy in turn — definition, advantages, disadvantages and a real example.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STRATEGY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Cost-plus pricing — with the calculation</a:t>
            </a:r>
            <a:endParaRPr lang="en-US" sz="28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add a percentage mark-up on top of the unit cost.  Selling price = total unit cost × (1 + mark-up %).</a:t>
            </a:r>
            <a:endParaRPr lang="en-US" sz="1350" dirty="0"/>
          </a:p>
        </p:txBody>
      </p:sp>
      <p:sp>
        <p:nvSpPr>
          <p:cNvPr id="6" name="Shape 4"/>
          <p:cNvSpPr/>
          <p:nvPr/>
        </p:nvSpPr>
        <p:spPr>
          <a:xfrm>
            <a:off x="548640" y="2286000"/>
            <a:ext cx="5486400" cy="3886200"/>
          </a:xfrm>
          <a:prstGeom prst="roundRect">
            <a:avLst>
              <a:gd name="adj" fmla="val 1882"/>
            </a:avLst>
          </a:prstGeom>
          <a:solidFill>
            <a:srgbClr val="0E3A43"/>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2423160"/>
            <a:ext cx="5029200" cy="274320"/>
          </a:xfrm>
          <a:prstGeom prst="rect">
            <a:avLst/>
          </a:prstGeom>
          <a:noFill/>
          <a:ln/>
        </p:spPr>
        <p:txBody>
          <a:bodyPr wrap="square" lIns="0" tIns="0" rIns="0" bIns="0" rtlCol="0" anchor="ctr"/>
          <a:lstStyle/>
          <a:p>
            <a:pPr indent="0" marL="0">
              <a:buNone/>
            </a:pPr>
            <a:r>
              <a:rPr lang="en-US" sz="1150" b="1" spc="50" kern="0" dirty="0">
                <a:solidFill>
                  <a:srgbClr val="7FC4CB"/>
                </a:solidFill>
                <a:latin typeface="Calibri" pitchFamily="34" charset="0"/>
                <a:ea typeface="Calibri" pitchFamily="34" charset="-122"/>
                <a:cs typeface="Calibri" pitchFamily="34" charset="-120"/>
              </a:rPr>
              <a:t>WORKED EXAMPLE — Sam's fidget spinners</a:t>
            </a:r>
            <a:endParaRPr lang="en-US" sz="1150" dirty="0"/>
          </a:p>
        </p:txBody>
      </p:sp>
      <p:sp>
        <p:nvSpPr>
          <p:cNvPr id="8" name="Text 6"/>
          <p:cNvSpPr txBox="1"/>
          <p:nvPr/>
        </p:nvSpPr>
        <p:spPr>
          <a:xfrm>
            <a:off x="868680" y="2834640"/>
            <a:ext cx="3566160" cy="457200"/>
          </a:xfrm>
          <a:prstGeom prst="rect">
            <a:avLst/>
          </a:prstGeom>
          <a:noFill/>
          <a:ln/>
        </p:spPr>
        <p:txBody>
          <a:bodyPr wrap="square" lIns="0" tIns="0" rIns="0" bIns="0" rtlCol="0" anchor="ctr"/>
          <a:lstStyle/>
          <a:p>
            <a:pPr indent="0" marL="0">
              <a:buNone/>
            </a:pPr>
            <a:r>
              <a:rPr lang="en-US" sz="1300" dirty="0">
                <a:solidFill>
                  <a:srgbClr val="E8F2F3"/>
                </a:solidFill>
                <a:latin typeface="Calibri" pitchFamily="34" charset="0"/>
                <a:ea typeface="Calibri" pitchFamily="34" charset="-122"/>
                <a:cs typeface="Calibri" pitchFamily="34" charset="-120"/>
              </a:rPr>
              <a:t>Fixed costs £30,000 ÷ 50,000 units</a:t>
            </a:r>
            <a:endParaRPr lang="en-US" sz="1300" dirty="0"/>
          </a:p>
        </p:txBody>
      </p:sp>
      <p:sp>
        <p:nvSpPr>
          <p:cNvPr id="9" name="Text 7"/>
          <p:cNvSpPr txBox="1"/>
          <p:nvPr/>
        </p:nvSpPr>
        <p:spPr>
          <a:xfrm>
            <a:off x="4343400" y="2834640"/>
            <a:ext cx="155448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£0.60 per unit</a:t>
            </a:r>
            <a:endParaRPr lang="en-US" sz="1400" dirty="0"/>
          </a:p>
        </p:txBody>
      </p:sp>
      <p:sp>
        <p:nvSpPr>
          <p:cNvPr id="10" name="Shape 8"/>
          <p:cNvSpPr/>
          <p:nvPr/>
        </p:nvSpPr>
        <p:spPr>
          <a:xfrm>
            <a:off x="868680" y="3310128"/>
            <a:ext cx="5029200" cy="0"/>
          </a:xfrm>
          <a:prstGeom prst="line">
            <a:avLst/>
          </a:prstGeom>
          <a:noFill/>
          <a:ln w="12700">
            <a:solidFill>
              <a:srgbClr val="25535E"/>
            </a:solidFill>
            <a:prstDash val="solid"/>
          </a:ln>
        </p:spPr>
      </p:sp>
      <p:sp>
        <p:nvSpPr>
          <p:cNvPr id="11" name="Text 9"/>
          <p:cNvSpPr txBox="1"/>
          <p:nvPr/>
        </p:nvSpPr>
        <p:spPr>
          <a:xfrm>
            <a:off x="868680" y="3401568"/>
            <a:ext cx="3566160" cy="457200"/>
          </a:xfrm>
          <a:prstGeom prst="rect">
            <a:avLst/>
          </a:prstGeom>
          <a:noFill/>
          <a:ln/>
        </p:spPr>
        <p:txBody>
          <a:bodyPr wrap="square" lIns="0" tIns="0" rIns="0" bIns="0" rtlCol="0" anchor="ctr"/>
          <a:lstStyle/>
          <a:p>
            <a:pPr indent="0" marL="0">
              <a:buNone/>
            </a:pPr>
            <a:r>
              <a:rPr lang="en-US" sz="1300" dirty="0">
                <a:solidFill>
                  <a:srgbClr val="E8F2F3"/>
                </a:solidFill>
                <a:latin typeface="Calibri" pitchFamily="34" charset="0"/>
                <a:ea typeface="Calibri" pitchFamily="34" charset="-122"/>
                <a:cs typeface="Calibri" pitchFamily="34" charset="-120"/>
              </a:rPr>
              <a:t>+ Variable cost per unit</a:t>
            </a:r>
            <a:endParaRPr lang="en-US" sz="1300" dirty="0"/>
          </a:p>
        </p:txBody>
      </p:sp>
      <p:sp>
        <p:nvSpPr>
          <p:cNvPr id="12" name="Text 10"/>
          <p:cNvSpPr txBox="1"/>
          <p:nvPr/>
        </p:nvSpPr>
        <p:spPr>
          <a:xfrm>
            <a:off x="4343400" y="3401568"/>
            <a:ext cx="155448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£3.00</a:t>
            </a:r>
            <a:endParaRPr lang="en-US" sz="1400" dirty="0"/>
          </a:p>
        </p:txBody>
      </p:sp>
      <p:sp>
        <p:nvSpPr>
          <p:cNvPr id="13" name="Shape 11"/>
          <p:cNvSpPr/>
          <p:nvPr/>
        </p:nvSpPr>
        <p:spPr>
          <a:xfrm>
            <a:off x="868680" y="3877056"/>
            <a:ext cx="5029200" cy="0"/>
          </a:xfrm>
          <a:prstGeom prst="line">
            <a:avLst/>
          </a:prstGeom>
          <a:noFill/>
          <a:ln w="12700">
            <a:solidFill>
              <a:srgbClr val="25535E"/>
            </a:solidFill>
            <a:prstDash val="solid"/>
          </a:ln>
        </p:spPr>
      </p:sp>
      <p:sp>
        <p:nvSpPr>
          <p:cNvPr id="14" name="Text 12"/>
          <p:cNvSpPr txBox="1"/>
          <p:nvPr/>
        </p:nvSpPr>
        <p:spPr>
          <a:xfrm>
            <a:off x="868680" y="3968496"/>
            <a:ext cx="3566160" cy="457200"/>
          </a:xfrm>
          <a:prstGeom prst="rect">
            <a:avLst/>
          </a:prstGeom>
          <a:noFill/>
          <a:ln/>
        </p:spPr>
        <p:txBody>
          <a:bodyPr wrap="square" lIns="0" tIns="0" rIns="0" bIns="0" rtlCol="0" anchor="ctr"/>
          <a:lstStyle/>
          <a:p>
            <a:pPr indent="0" marL="0">
              <a:buNone/>
            </a:pPr>
            <a:r>
              <a:rPr lang="en-US" sz="1300" dirty="0">
                <a:solidFill>
                  <a:srgbClr val="E8F2F3"/>
                </a:solidFill>
                <a:latin typeface="Calibri" pitchFamily="34" charset="0"/>
                <a:ea typeface="Calibri" pitchFamily="34" charset="-122"/>
                <a:cs typeface="Calibri" pitchFamily="34" charset="-120"/>
              </a:rPr>
              <a:t>= Total unit cost</a:t>
            </a:r>
            <a:endParaRPr lang="en-US" sz="1300" dirty="0"/>
          </a:p>
        </p:txBody>
      </p:sp>
      <p:sp>
        <p:nvSpPr>
          <p:cNvPr id="15" name="Text 13"/>
          <p:cNvSpPr txBox="1"/>
          <p:nvPr/>
        </p:nvSpPr>
        <p:spPr>
          <a:xfrm>
            <a:off x="4343400" y="3968496"/>
            <a:ext cx="155448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£3.60</a:t>
            </a:r>
            <a:endParaRPr lang="en-US" sz="1400" dirty="0"/>
          </a:p>
        </p:txBody>
      </p:sp>
      <p:sp>
        <p:nvSpPr>
          <p:cNvPr id="16" name="Shape 14"/>
          <p:cNvSpPr/>
          <p:nvPr/>
        </p:nvSpPr>
        <p:spPr>
          <a:xfrm>
            <a:off x="868680" y="4443984"/>
            <a:ext cx="5029200" cy="0"/>
          </a:xfrm>
          <a:prstGeom prst="line">
            <a:avLst/>
          </a:prstGeom>
          <a:noFill/>
          <a:ln w="12700">
            <a:solidFill>
              <a:srgbClr val="25535E"/>
            </a:solidFill>
            <a:prstDash val="solid"/>
          </a:ln>
        </p:spPr>
      </p:sp>
      <p:sp>
        <p:nvSpPr>
          <p:cNvPr id="17" name="Text 15"/>
          <p:cNvSpPr txBox="1"/>
          <p:nvPr/>
        </p:nvSpPr>
        <p:spPr>
          <a:xfrm>
            <a:off x="868680" y="4535424"/>
            <a:ext cx="3566160" cy="457200"/>
          </a:xfrm>
          <a:prstGeom prst="rect">
            <a:avLst/>
          </a:prstGeom>
          <a:noFill/>
          <a:ln/>
        </p:spPr>
        <p:txBody>
          <a:bodyPr wrap="square" lIns="0" tIns="0" rIns="0" bIns="0" rtlCol="0" anchor="ctr"/>
          <a:lstStyle/>
          <a:p>
            <a:pPr indent="0" marL="0">
              <a:buNone/>
            </a:pPr>
            <a:r>
              <a:rPr lang="en-US" sz="1300" dirty="0">
                <a:solidFill>
                  <a:srgbClr val="E8F2F3"/>
                </a:solidFill>
                <a:latin typeface="Calibri" pitchFamily="34" charset="0"/>
                <a:ea typeface="Calibri" pitchFamily="34" charset="-122"/>
                <a:cs typeface="Calibri" pitchFamily="34" charset="-120"/>
              </a:rPr>
              <a:t>× mark-up of 50%  (× 1.5)</a:t>
            </a:r>
            <a:endParaRPr lang="en-US" sz="1300" dirty="0"/>
          </a:p>
        </p:txBody>
      </p:sp>
      <p:sp>
        <p:nvSpPr>
          <p:cNvPr id="18" name="Text 16"/>
          <p:cNvSpPr txBox="1"/>
          <p:nvPr/>
        </p:nvSpPr>
        <p:spPr>
          <a:xfrm>
            <a:off x="4343400" y="4535424"/>
            <a:ext cx="155448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868680" y="5010912"/>
            <a:ext cx="5029200" cy="0"/>
          </a:xfrm>
          <a:prstGeom prst="line">
            <a:avLst/>
          </a:prstGeom>
          <a:noFill/>
          <a:ln w="12700">
            <a:solidFill>
              <a:srgbClr val="25535E"/>
            </a:solidFill>
            <a:prstDash val="solid"/>
          </a:ln>
        </p:spPr>
      </p:sp>
      <p:sp>
        <p:nvSpPr>
          <p:cNvPr id="20" name="Text 18"/>
          <p:cNvSpPr txBox="1"/>
          <p:nvPr/>
        </p:nvSpPr>
        <p:spPr>
          <a:xfrm>
            <a:off x="868680" y="5102352"/>
            <a:ext cx="3566160" cy="457200"/>
          </a:xfrm>
          <a:prstGeom prst="rect">
            <a:avLst/>
          </a:prstGeom>
          <a:noFill/>
          <a:ln/>
        </p:spPr>
        <p:txBody>
          <a:bodyPr wrap="square" lIns="0" tIns="0" rIns="0" bIns="0" rtlCol="0" anchor="ctr"/>
          <a:lstStyle/>
          <a:p>
            <a:pPr indent="0" marL="0">
              <a:buNone/>
            </a:pPr>
            <a:r>
              <a:rPr lang="en-US" sz="1300" b="1" dirty="0">
                <a:solidFill>
                  <a:srgbClr val="E0940F"/>
                </a:solidFill>
                <a:latin typeface="Calibri" pitchFamily="34" charset="0"/>
                <a:ea typeface="Calibri" pitchFamily="34" charset="-122"/>
                <a:cs typeface="Calibri" pitchFamily="34" charset="-120"/>
              </a:rPr>
              <a:t>= Selling price</a:t>
            </a:r>
            <a:endParaRPr lang="en-US" sz="1300" dirty="0"/>
          </a:p>
        </p:txBody>
      </p:sp>
      <p:sp>
        <p:nvSpPr>
          <p:cNvPr id="21" name="Text 19"/>
          <p:cNvSpPr txBox="1"/>
          <p:nvPr/>
        </p:nvSpPr>
        <p:spPr>
          <a:xfrm>
            <a:off x="4343400" y="5102352"/>
            <a:ext cx="1554480" cy="457200"/>
          </a:xfrm>
          <a:prstGeom prst="rect">
            <a:avLst/>
          </a:prstGeom>
          <a:noFill/>
          <a:ln/>
        </p:spPr>
        <p:txBody>
          <a:bodyPr wrap="square" lIns="0" tIns="0" rIns="0" bIns="0" rtlCol="0" anchor="ctr"/>
          <a:lstStyle/>
          <a:p>
            <a:pPr algn="r" indent="0" marL="0">
              <a:buNone/>
            </a:pPr>
            <a:r>
              <a:rPr lang="en-US" sz="1400" b="1" dirty="0">
                <a:solidFill>
                  <a:srgbClr val="E0940F"/>
                </a:solidFill>
                <a:latin typeface="Calibri" pitchFamily="34" charset="0"/>
                <a:ea typeface="Calibri" pitchFamily="34" charset="-122"/>
                <a:cs typeface="Calibri" pitchFamily="34" charset="-120"/>
              </a:rPr>
              <a:t>= £5.40</a:t>
            </a:r>
            <a:endParaRPr lang="en-US" sz="1400" dirty="0"/>
          </a:p>
        </p:txBody>
      </p:sp>
      <p:sp>
        <p:nvSpPr>
          <p:cNvPr id="22" name="Shape 20"/>
          <p:cNvSpPr/>
          <p:nvPr/>
        </p:nvSpPr>
        <p:spPr>
          <a:xfrm>
            <a:off x="6199632" y="2286000"/>
            <a:ext cx="5440680" cy="1417320"/>
          </a:xfrm>
          <a:prstGeom prst="roundRect">
            <a:avLst>
              <a:gd name="adj" fmla="val 5161"/>
            </a:avLst>
          </a:prstGeom>
          <a:solidFill>
            <a:srgbClr val="E8F3EC"/>
          </a:solidFill>
          <a:ln/>
          <a:effectLst>
            <a:outerShdw sx="100000" sy="100000" kx="0" ky="0" algn="bl" rotWithShape="0" blurRad="76200" dist="25400" dir="5400000">
              <a:srgbClr val="9AAAB0">
                <a:alpha val="28000"/>
              </a:srgbClr>
            </a:outerShdw>
          </a:effectLst>
        </p:spPr>
      </p:sp>
      <p:sp>
        <p:nvSpPr>
          <p:cNvPr id="23" name="Shape 21"/>
          <p:cNvSpPr/>
          <p:nvPr/>
        </p:nvSpPr>
        <p:spPr>
          <a:xfrm>
            <a:off x="6428232" y="2423160"/>
            <a:ext cx="2103120" cy="310896"/>
          </a:xfrm>
          <a:prstGeom prst="roundRect">
            <a:avLst>
              <a:gd name="adj" fmla="val 50000"/>
            </a:avLst>
          </a:prstGeom>
          <a:solidFill>
            <a:srgbClr val="2F8A5B"/>
          </a:solidFill>
          <a:ln/>
        </p:spPr>
      </p:sp>
      <p:sp>
        <p:nvSpPr>
          <p:cNvPr id="24" name="Text 22"/>
          <p:cNvSpPr txBox="1"/>
          <p:nvPr/>
        </p:nvSpPr>
        <p:spPr>
          <a:xfrm>
            <a:off x="6428232" y="2423160"/>
            <a:ext cx="210312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25" name="Text 23"/>
          <p:cNvSpPr txBox="1"/>
          <p:nvPr/>
        </p:nvSpPr>
        <p:spPr>
          <a:xfrm>
            <a:off x="6428232" y="2834640"/>
            <a:ext cx="4983480" cy="777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Simple; guarantees a margin over cost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Useful when unit costs are known</a:t>
            </a:r>
            <a:endParaRPr lang="en-US" sz="1250" dirty="0"/>
          </a:p>
        </p:txBody>
      </p:sp>
      <p:sp>
        <p:nvSpPr>
          <p:cNvPr id="26" name="Shape 24"/>
          <p:cNvSpPr/>
          <p:nvPr/>
        </p:nvSpPr>
        <p:spPr>
          <a:xfrm>
            <a:off x="6199632" y="3840480"/>
            <a:ext cx="5440680" cy="1417320"/>
          </a:xfrm>
          <a:prstGeom prst="roundRect">
            <a:avLst>
              <a:gd name="adj" fmla="val 5161"/>
            </a:avLst>
          </a:prstGeom>
          <a:solidFill>
            <a:srgbClr val="F9EAE6"/>
          </a:solidFill>
          <a:ln/>
          <a:effectLst>
            <a:outerShdw sx="100000" sy="100000" kx="0" ky="0" algn="bl" rotWithShape="0" blurRad="76200" dist="25400" dir="5400000">
              <a:srgbClr val="9AAAB0">
                <a:alpha val="28000"/>
              </a:srgbClr>
            </a:outerShdw>
          </a:effectLst>
        </p:spPr>
      </p:sp>
      <p:sp>
        <p:nvSpPr>
          <p:cNvPr id="27" name="Shape 25"/>
          <p:cNvSpPr/>
          <p:nvPr/>
        </p:nvSpPr>
        <p:spPr>
          <a:xfrm>
            <a:off x="6428232" y="3977640"/>
            <a:ext cx="2468880" cy="310896"/>
          </a:xfrm>
          <a:prstGeom prst="roundRect">
            <a:avLst>
              <a:gd name="adj" fmla="val 50000"/>
            </a:avLst>
          </a:prstGeom>
          <a:solidFill>
            <a:srgbClr val="C14B37"/>
          </a:solidFill>
          <a:ln/>
        </p:spPr>
      </p:sp>
      <p:sp>
        <p:nvSpPr>
          <p:cNvPr id="28" name="Text 26"/>
          <p:cNvSpPr txBox="1"/>
          <p:nvPr/>
        </p:nvSpPr>
        <p:spPr>
          <a:xfrm>
            <a:off x="6428232" y="3977640"/>
            <a:ext cx="24688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29" name="Text 27"/>
          <p:cNvSpPr txBox="1"/>
          <p:nvPr/>
        </p:nvSpPr>
        <p:spPr>
          <a:xfrm>
            <a:off x="6428232" y="4389120"/>
            <a:ext cx="4983480" cy="777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Ignores competitors and what buyers will pay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pressure to control costs</a:t>
            </a:r>
            <a:endParaRPr lang="en-US" sz="1250" dirty="0"/>
          </a:p>
        </p:txBody>
      </p:sp>
      <p:sp>
        <p:nvSpPr>
          <p:cNvPr id="30" name="Shape 28"/>
          <p:cNvSpPr/>
          <p:nvPr/>
        </p:nvSpPr>
        <p:spPr>
          <a:xfrm>
            <a:off x="6199632" y="5394960"/>
            <a:ext cx="5440680" cy="777240"/>
          </a:xfrm>
          <a:prstGeom prst="roundRect">
            <a:avLst>
              <a:gd name="adj" fmla="val 9412"/>
            </a:avLst>
          </a:prstGeom>
          <a:solidFill>
            <a:srgbClr val="FBF0D8"/>
          </a:solidFill>
          <a:ln/>
          <a:effectLst>
            <a:outerShdw sx="100000" sy="100000" kx="0" ky="0" algn="bl" rotWithShape="0" blurRad="76200" dist="25400" dir="5400000">
              <a:srgbClr val="9AAAB0">
                <a:alpha val="28000"/>
              </a:srgbClr>
            </a:outerShdw>
          </a:effectLst>
        </p:spPr>
      </p:sp>
      <p:sp>
        <p:nvSpPr>
          <p:cNvPr id="31" name="Text 29"/>
          <p:cNvSpPr txBox="1"/>
          <p:nvPr/>
        </p:nvSpPr>
        <p:spPr>
          <a:xfrm>
            <a:off x="6428232" y="5477256"/>
            <a:ext cx="5029200" cy="621792"/>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Example:  </a:t>
            </a:r>
            <a:pPr indent="0" marL="0">
              <a:buNone/>
            </a:pPr>
            <a:r>
              <a:rPr lang="en-US" sz="1200" dirty="0">
                <a:solidFill>
                  <a:srgbClr val="1F2A33"/>
                </a:solidFill>
                <a:latin typeface="Calibri" pitchFamily="34" charset="0"/>
                <a:ea typeface="Calibri" pitchFamily="34" charset="-122"/>
                <a:cs typeface="Calibri" pitchFamily="34" charset="-120"/>
              </a:rPr>
              <a:t>many manufacturers and retailers; budget airline Cebu Pacific builds fares up from a low cost base.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STRATEGY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Price skimming</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Skimming = set a high price at launch (for a new, innovative product), then lower it over time as competition enters and the product becomes mainstream.</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Maximises revenue from early adopters willing to pay more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Recovers high R&amp;D / development costs quickly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Signals quality, novelty and exclusivity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Price can be lowered later to reach new segments</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High price limits early sales volume and market share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Attracts competitors who undercut you</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Only works with a genuine USP and price-inelastic early buyers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Risks a poor reputation if the later price cut annoys early buyers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New consoles &amp; smartphones</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 new games console (e.g. PlayStation 5) or flagship smartphone launches at a high price aimed at keen early adopters, then falls over the following years as rivals appear and the technology spreads. The early high price helps recover huge development costs.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STRATEGY 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Penetration pricing</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Penetration = set a deliberately low price to enter a market and build share quickly, then raise the price later once customers are won.</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Wins market share and trial fast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Discourages or delays competitors early on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Builds a customer base that can be ‘locked in’ (the hook)</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Higher volume can bring economies of scale</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Low margins at first — needs deep pockets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Customers may resist the later price rise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trigger a price war with rivals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low price can signal low quality</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Streaming &amp; ‘hook &amp; bait’</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New streaming services and apps launch cheap or free to build users fast, then raise prices. The classic ‘hook &amp; bait’ version: sell razor handles or printers cheaply, then profit from the blades or ink the customer must keep buying.</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STRATEGY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Predatory pricing</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Predatory pricing (undercutting) = set a very low price, often below cost, to drive competitors out of the market or block new entrants.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weaken or remove rivals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Deters new firms from entering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build market dominance in the long run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Short-term pain for long-term control</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Illegal in many countries under competition law</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Loss-making and hard to sustain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Regulators may investigate and fine the firm</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Rivals with deep pockets can survive the price war</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Dominant firms in oligopolies</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In concentrated markets, a dominant firm may slash prices below cost when a new rival appears, so the newcomer cannot make a profit and exits — after which prices rise again. Because it harms competition, predatory pricing is unlawful where it can be proven.</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STRATEGY 5</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Competitive pricing</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Competitive pricing = set prices in line with rivals and compete instead on non-price factors such as quality, service, range or brand.</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Avoids damaging price wars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safe default in crowded, similar markets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Shifts competition to areas the firm can control</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Easy for customers to accept (no price surprise)</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Little freedom — the market sets the price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Margins are capped by competitors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Doesn't exploit a strong brand or USP</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Reacting to rivals can mean following, not leading</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Consoles &amp; smartphones</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Sony prices the PlayStation 5 close to the Xbox Series X, so the two compete on games, services and brand rather than price. Similar mid-range phones (e.g. a Sony Xperia and an HTC) sit at near-identical prices for the same reason.</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STRATEGY 6</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Psychological pricing</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Psychological pricing = set prices to influence perception — charm pricing (£1.99 rather than £2.00) to feel cheaper, or a deliberately high price to signal quality and prestige.</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Charm pricing makes a price feel lower → more sales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High ‘prestige’ prices signal quality and exclusivity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Nudges impulse purchases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Easy to apply across a range</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Customers increasingly see through ‘.99’ pricing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Gains can be small and short-lived</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High-price signalling fails if quality doesn't match</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look manipulative if overused</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Carrefour &amp; Express Value</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Carrefour prices bread at AED 1.99 not 2.00; the discounter Express Value uses 49p vegetable packs and 29p chocolate bars so prices feel low. At the other end, luxury brands price high precisely to signal prestige.</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CHECK</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Which pricing strategy is it?</a:t>
            </a:r>
            <a:endParaRPr lang="en-US" sz="2800" dirty="0"/>
          </a:p>
        </p:txBody>
      </p:sp>
      <p:sp>
        <p:nvSpPr>
          <p:cNvPr id="4" name="Shape 2"/>
          <p:cNvSpPr/>
          <p:nvPr/>
        </p:nvSpPr>
        <p:spPr>
          <a:xfrm>
            <a:off x="548640" y="1463040"/>
            <a:ext cx="11091672" cy="713232"/>
          </a:xfrm>
          <a:prstGeom prst="roundRect">
            <a:avLst>
              <a:gd name="adj" fmla="val 1025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7863840" cy="713232"/>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A new perfume launches at a very high price, reduced after three months</a:t>
            </a:r>
            <a:endParaRPr lang="en-US" sz="1300" dirty="0"/>
          </a:p>
        </p:txBody>
      </p:sp>
      <p:sp>
        <p:nvSpPr>
          <p:cNvPr id="6" name="Shape 4"/>
          <p:cNvSpPr/>
          <p:nvPr/>
        </p:nvSpPr>
        <p:spPr>
          <a:xfrm>
            <a:off x="8778240" y="1636776"/>
            <a:ext cx="2651760" cy="365760"/>
          </a:xfrm>
          <a:prstGeom prst="roundRect">
            <a:avLst>
              <a:gd name="adj" fmla="val 50000"/>
            </a:avLst>
          </a:prstGeom>
          <a:solidFill>
            <a:srgbClr val="0E7C86"/>
          </a:solidFill>
          <a:ln/>
        </p:spPr>
      </p:sp>
      <p:sp>
        <p:nvSpPr>
          <p:cNvPr id="7" name="Text 5"/>
          <p:cNvSpPr txBox="1"/>
          <p:nvPr/>
        </p:nvSpPr>
        <p:spPr>
          <a:xfrm>
            <a:off x="8778240" y="1636776"/>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Price skimming</a:t>
            </a:r>
            <a:endParaRPr lang="en-US" sz="1200" dirty="0"/>
          </a:p>
        </p:txBody>
      </p:sp>
      <p:sp>
        <p:nvSpPr>
          <p:cNvPr id="8" name="Shape 6"/>
          <p:cNvSpPr/>
          <p:nvPr/>
        </p:nvSpPr>
        <p:spPr>
          <a:xfrm>
            <a:off x="548640" y="2267712"/>
            <a:ext cx="11091672" cy="713232"/>
          </a:xfrm>
          <a:prstGeom prst="roundRect">
            <a:avLst>
              <a:gd name="adj" fmla="val 1025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9" name="Text 7"/>
          <p:cNvSpPr txBox="1"/>
          <p:nvPr/>
        </p:nvSpPr>
        <p:spPr>
          <a:xfrm>
            <a:off x="777240" y="2267712"/>
            <a:ext cx="7863840" cy="713232"/>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Carrefour prices a loaf at AED 1.99 instead of AED 2.00</a:t>
            </a:r>
            <a:endParaRPr lang="en-US" sz="1300" dirty="0"/>
          </a:p>
        </p:txBody>
      </p:sp>
      <p:sp>
        <p:nvSpPr>
          <p:cNvPr id="10" name="Shape 8"/>
          <p:cNvSpPr/>
          <p:nvPr/>
        </p:nvSpPr>
        <p:spPr>
          <a:xfrm>
            <a:off x="8778240" y="2441448"/>
            <a:ext cx="2651760" cy="365760"/>
          </a:xfrm>
          <a:prstGeom prst="roundRect">
            <a:avLst>
              <a:gd name="adj" fmla="val 50000"/>
            </a:avLst>
          </a:prstGeom>
          <a:solidFill>
            <a:srgbClr val="E0940F"/>
          </a:solidFill>
          <a:ln/>
        </p:spPr>
      </p:sp>
      <p:sp>
        <p:nvSpPr>
          <p:cNvPr id="11" name="Text 9"/>
          <p:cNvSpPr txBox="1"/>
          <p:nvPr/>
        </p:nvSpPr>
        <p:spPr>
          <a:xfrm>
            <a:off x="8778240" y="2441448"/>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Psychological</a:t>
            </a:r>
            <a:endParaRPr lang="en-US" sz="1200" dirty="0"/>
          </a:p>
        </p:txBody>
      </p:sp>
      <p:sp>
        <p:nvSpPr>
          <p:cNvPr id="12" name="Shape 10"/>
          <p:cNvSpPr/>
          <p:nvPr/>
        </p:nvSpPr>
        <p:spPr>
          <a:xfrm>
            <a:off x="548640" y="3072384"/>
            <a:ext cx="11091672" cy="713232"/>
          </a:xfrm>
          <a:prstGeom prst="roundRect">
            <a:avLst>
              <a:gd name="adj" fmla="val 1025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Text 11"/>
          <p:cNvSpPr txBox="1"/>
          <p:nvPr/>
        </p:nvSpPr>
        <p:spPr>
          <a:xfrm>
            <a:off x="777240" y="3072384"/>
            <a:ext cx="7863840" cy="713232"/>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A new burger shop sets prices below McDonald's to attract customers</a:t>
            </a:r>
            <a:endParaRPr lang="en-US" sz="1300" dirty="0"/>
          </a:p>
        </p:txBody>
      </p:sp>
      <p:sp>
        <p:nvSpPr>
          <p:cNvPr id="14" name="Shape 12"/>
          <p:cNvSpPr/>
          <p:nvPr/>
        </p:nvSpPr>
        <p:spPr>
          <a:xfrm>
            <a:off x="8778240" y="3246120"/>
            <a:ext cx="2651760" cy="365760"/>
          </a:xfrm>
          <a:prstGeom prst="roundRect">
            <a:avLst>
              <a:gd name="adj" fmla="val 50000"/>
            </a:avLst>
          </a:prstGeom>
          <a:solidFill>
            <a:srgbClr val="2F8A5B"/>
          </a:solidFill>
          <a:ln/>
        </p:spPr>
      </p:sp>
      <p:sp>
        <p:nvSpPr>
          <p:cNvPr id="15" name="Text 13"/>
          <p:cNvSpPr txBox="1"/>
          <p:nvPr/>
        </p:nvSpPr>
        <p:spPr>
          <a:xfrm>
            <a:off x="8778240" y="3246120"/>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Penetration</a:t>
            </a:r>
            <a:endParaRPr lang="en-US" sz="1200" dirty="0"/>
          </a:p>
        </p:txBody>
      </p:sp>
      <p:sp>
        <p:nvSpPr>
          <p:cNvPr id="16" name="Shape 14"/>
          <p:cNvSpPr/>
          <p:nvPr/>
        </p:nvSpPr>
        <p:spPr>
          <a:xfrm>
            <a:off x="548640" y="3877056"/>
            <a:ext cx="11091672" cy="713232"/>
          </a:xfrm>
          <a:prstGeom prst="roundRect">
            <a:avLst>
              <a:gd name="adj" fmla="val 1025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Text 15"/>
          <p:cNvSpPr txBox="1"/>
          <p:nvPr/>
        </p:nvSpPr>
        <p:spPr>
          <a:xfrm>
            <a:off x="777240" y="3877056"/>
            <a:ext cx="7863840" cy="713232"/>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A start-up phone firm prices so low rivals struggle to make a profit</a:t>
            </a:r>
            <a:endParaRPr lang="en-US" sz="1300" dirty="0"/>
          </a:p>
        </p:txBody>
      </p:sp>
      <p:sp>
        <p:nvSpPr>
          <p:cNvPr id="18" name="Shape 16"/>
          <p:cNvSpPr/>
          <p:nvPr/>
        </p:nvSpPr>
        <p:spPr>
          <a:xfrm>
            <a:off x="8778240" y="4050792"/>
            <a:ext cx="2651760" cy="365760"/>
          </a:xfrm>
          <a:prstGeom prst="roundRect">
            <a:avLst>
              <a:gd name="adj" fmla="val 50000"/>
            </a:avLst>
          </a:prstGeom>
          <a:solidFill>
            <a:srgbClr val="C14B37"/>
          </a:solidFill>
          <a:ln/>
        </p:spPr>
      </p:sp>
      <p:sp>
        <p:nvSpPr>
          <p:cNvPr id="19" name="Text 17"/>
          <p:cNvSpPr txBox="1"/>
          <p:nvPr/>
        </p:nvSpPr>
        <p:spPr>
          <a:xfrm>
            <a:off x="8778240" y="4050792"/>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Predatory</a:t>
            </a:r>
            <a:endParaRPr lang="en-US" sz="1200" dirty="0"/>
          </a:p>
        </p:txBody>
      </p:sp>
      <p:sp>
        <p:nvSpPr>
          <p:cNvPr id="20" name="Shape 18"/>
          <p:cNvSpPr/>
          <p:nvPr/>
        </p:nvSpPr>
        <p:spPr>
          <a:xfrm>
            <a:off x="548640" y="4681728"/>
            <a:ext cx="11091672" cy="713232"/>
          </a:xfrm>
          <a:prstGeom prst="roundRect">
            <a:avLst>
              <a:gd name="adj" fmla="val 1025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1" name="Text 19"/>
          <p:cNvSpPr txBox="1"/>
          <p:nvPr/>
        </p:nvSpPr>
        <p:spPr>
          <a:xfrm>
            <a:off x="777240" y="4681728"/>
            <a:ext cx="7863840" cy="713232"/>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Sony prices the PS5 close to the Xbox Series X</a:t>
            </a:r>
            <a:endParaRPr lang="en-US" sz="1300" dirty="0"/>
          </a:p>
        </p:txBody>
      </p:sp>
      <p:sp>
        <p:nvSpPr>
          <p:cNvPr id="22" name="Shape 20"/>
          <p:cNvSpPr/>
          <p:nvPr/>
        </p:nvSpPr>
        <p:spPr>
          <a:xfrm>
            <a:off x="8778240" y="4855464"/>
            <a:ext cx="2651760" cy="365760"/>
          </a:xfrm>
          <a:prstGeom prst="roundRect">
            <a:avLst>
              <a:gd name="adj" fmla="val 50000"/>
            </a:avLst>
          </a:prstGeom>
          <a:solidFill>
            <a:srgbClr val="0B5E66"/>
          </a:solidFill>
          <a:ln/>
        </p:spPr>
      </p:sp>
      <p:sp>
        <p:nvSpPr>
          <p:cNvPr id="23" name="Text 21"/>
          <p:cNvSpPr txBox="1"/>
          <p:nvPr/>
        </p:nvSpPr>
        <p:spPr>
          <a:xfrm>
            <a:off x="8778240" y="485546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Competitive</a:t>
            </a:r>
            <a:endParaRPr lang="en-US" sz="1200" dirty="0"/>
          </a:p>
        </p:txBody>
      </p:sp>
      <p:sp>
        <p:nvSpPr>
          <p:cNvPr id="24" name="Shape 22"/>
          <p:cNvSpPr/>
          <p:nvPr/>
        </p:nvSpPr>
        <p:spPr>
          <a:xfrm>
            <a:off x="548640" y="5486400"/>
            <a:ext cx="11091672" cy="713232"/>
          </a:xfrm>
          <a:prstGeom prst="roundRect">
            <a:avLst>
              <a:gd name="adj" fmla="val 1025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Text 23"/>
          <p:cNvSpPr txBox="1"/>
          <p:nvPr/>
        </p:nvSpPr>
        <p:spPr>
          <a:xfrm>
            <a:off x="777240" y="5486400"/>
            <a:ext cx="7863840" cy="713232"/>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A jeweller adds a 40% mark-up to production costs</a:t>
            </a:r>
            <a:endParaRPr lang="en-US" sz="1300" dirty="0"/>
          </a:p>
        </p:txBody>
      </p:sp>
      <p:sp>
        <p:nvSpPr>
          <p:cNvPr id="26" name="Shape 24"/>
          <p:cNvSpPr/>
          <p:nvPr/>
        </p:nvSpPr>
        <p:spPr>
          <a:xfrm>
            <a:off x="8778240" y="5660136"/>
            <a:ext cx="2651760" cy="365760"/>
          </a:xfrm>
          <a:prstGeom prst="roundRect">
            <a:avLst>
              <a:gd name="adj" fmla="val 50000"/>
            </a:avLst>
          </a:prstGeom>
          <a:solidFill>
            <a:srgbClr val="6B4FA0"/>
          </a:solidFill>
          <a:ln/>
        </p:spPr>
      </p:sp>
      <p:sp>
        <p:nvSpPr>
          <p:cNvPr id="27" name="Text 25"/>
          <p:cNvSpPr txBox="1"/>
          <p:nvPr/>
        </p:nvSpPr>
        <p:spPr>
          <a:xfrm>
            <a:off x="8778240" y="5660136"/>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Cost-plus</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pricing strategies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‘penetration pricing’.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Analyse one benefit to a new streaming service of using penetration pricing.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meaning (1) + the ‘low to enter, raise later’ detail or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one benefit, applied to the firm, with a developed chain.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judgement needed at 6 marks.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 6-mark answer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POINT (K): a benefit of penetration (fast market share / trial).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(A): a new streaming service sets a low monthly price to win subscribers from established rivals.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 (An): “This means… more sign-ups → a large user base → it can later raise prices or cross-sell, spreading fixed content costs.”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the define, contrast with skimming (high-then-low) to show you can tell them apart.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Choosing the right strategy</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six factors that decide the best pricing strategy: USPs, PED, competition, brand, life-cycle stage, and costs &amp; profit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FACTORS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decides the most appropriate strategy?</a:t>
            </a:r>
            <a:endParaRPr lang="en-US" sz="2800" dirty="0"/>
          </a:p>
        </p:txBody>
      </p:sp>
      <p:sp>
        <p:nvSpPr>
          <p:cNvPr id="4" name="Shape 2"/>
          <p:cNvSpPr/>
          <p:nvPr/>
        </p:nvSpPr>
        <p:spPr>
          <a:xfrm>
            <a:off x="548640" y="146304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463040"/>
            <a:ext cx="3575304" cy="91440"/>
          </a:xfrm>
          <a:prstGeom prst="roundRect">
            <a:avLst/>
          </a:prstGeom>
          <a:solidFill>
            <a:srgbClr val="0E7C86"/>
          </a:solidFill>
          <a:ln/>
        </p:spPr>
      </p:sp>
      <p:sp>
        <p:nvSpPr>
          <p:cNvPr id="6" name="Text 4"/>
          <p:cNvSpPr txBox="1"/>
          <p:nvPr/>
        </p:nvSpPr>
        <p:spPr>
          <a:xfrm>
            <a:off x="749808" y="1700784"/>
            <a:ext cx="3172968" cy="68580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USPs / differentiation</a:t>
            </a:r>
            <a:endParaRPr lang="en-US" sz="1500" dirty="0"/>
          </a:p>
        </p:txBody>
      </p:sp>
      <p:sp>
        <p:nvSpPr>
          <p:cNvPr id="7" name="Text 5"/>
          <p:cNvSpPr txBox="1"/>
          <p:nvPr/>
        </p:nvSpPr>
        <p:spPr>
          <a:xfrm>
            <a:off x="749808" y="237744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More USPs → can charge a premium (skimming/psychological); few → competitive/penetration</a:t>
            </a:r>
            <a:endParaRPr lang="en-US" sz="1250" dirty="0"/>
          </a:p>
        </p:txBody>
      </p:sp>
      <p:sp>
        <p:nvSpPr>
          <p:cNvPr id="8" name="Shape 6"/>
          <p:cNvSpPr/>
          <p:nvPr/>
        </p:nvSpPr>
        <p:spPr>
          <a:xfrm>
            <a:off x="4306824" y="146304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9" name="Shape 7"/>
          <p:cNvSpPr/>
          <p:nvPr/>
        </p:nvSpPr>
        <p:spPr>
          <a:xfrm>
            <a:off x="4306824" y="1463040"/>
            <a:ext cx="3575304" cy="91440"/>
          </a:xfrm>
          <a:prstGeom prst="roundRect">
            <a:avLst/>
          </a:prstGeom>
          <a:solidFill>
            <a:srgbClr val="E0940F"/>
          </a:solidFill>
          <a:ln/>
        </p:spPr>
      </p:sp>
      <p:sp>
        <p:nvSpPr>
          <p:cNvPr id="10" name="Text 8"/>
          <p:cNvSpPr txBox="1"/>
          <p:nvPr/>
        </p:nvSpPr>
        <p:spPr>
          <a:xfrm>
            <a:off x="4507992" y="1700784"/>
            <a:ext cx="3172968" cy="685800"/>
          </a:xfrm>
          <a:prstGeom prst="rect">
            <a:avLst/>
          </a:prstGeom>
          <a:noFill/>
          <a:ln/>
        </p:spPr>
        <p:txBody>
          <a:bodyPr wrap="square" lIns="0" tIns="0" rIns="0" bIns="0" rtlCol="0" anchor="t"/>
          <a:lstStyle/>
          <a:p>
            <a:pPr indent="0" marL="0">
              <a:buNone/>
            </a:pPr>
            <a:r>
              <a:rPr lang="en-US" sz="1500" b="1" dirty="0">
                <a:solidFill>
                  <a:srgbClr val="E0940F"/>
                </a:solidFill>
                <a:latin typeface="Calibri" pitchFamily="34" charset="0"/>
                <a:ea typeface="Calibri" pitchFamily="34" charset="-122"/>
                <a:cs typeface="Calibri" pitchFamily="34" charset="-120"/>
              </a:rPr>
              <a:t>Price elasticity of demand</a:t>
            </a:r>
            <a:endParaRPr lang="en-US" sz="1500" dirty="0"/>
          </a:p>
        </p:txBody>
      </p:sp>
      <p:sp>
        <p:nvSpPr>
          <p:cNvPr id="11" name="Text 9"/>
          <p:cNvSpPr txBox="1"/>
          <p:nvPr/>
        </p:nvSpPr>
        <p:spPr>
          <a:xfrm>
            <a:off x="4507992" y="237744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Inelastic (strong brand/USP) → raise price; elastic → keep price low &amp; competitive</a:t>
            </a:r>
            <a:endParaRPr lang="en-US" sz="1250" dirty="0"/>
          </a:p>
        </p:txBody>
      </p:sp>
      <p:sp>
        <p:nvSpPr>
          <p:cNvPr id="12" name="Shape 10"/>
          <p:cNvSpPr/>
          <p:nvPr/>
        </p:nvSpPr>
        <p:spPr>
          <a:xfrm>
            <a:off x="8065008" y="146304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8065008" y="1463040"/>
            <a:ext cx="3575304" cy="91440"/>
          </a:xfrm>
          <a:prstGeom prst="roundRect">
            <a:avLst/>
          </a:prstGeom>
          <a:solidFill>
            <a:srgbClr val="2F8A5B"/>
          </a:solidFill>
          <a:ln/>
        </p:spPr>
      </p:sp>
      <p:sp>
        <p:nvSpPr>
          <p:cNvPr id="14" name="Text 12"/>
          <p:cNvSpPr txBox="1"/>
          <p:nvPr/>
        </p:nvSpPr>
        <p:spPr>
          <a:xfrm>
            <a:off x="8266176" y="1700784"/>
            <a:ext cx="3172968" cy="685800"/>
          </a:xfrm>
          <a:prstGeom prst="rect">
            <a:avLst/>
          </a:prstGeom>
          <a:noFill/>
          <a:ln/>
        </p:spPr>
        <p:txBody>
          <a:bodyPr wrap="square" lIns="0" tIns="0" rIns="0" bIns="0" rtlCol="0" anchor="t"/>
          <a:lstStyle/>
          <a:p>
            <a:pPr indent="0" marL="0">
              <a:buNone/>
            </a:pPr>
            <a:r>
              <a:rPr lang="en-US" sz="1500" b="1" dirty="0">
                <a:solidFill>
                  <a:srgbClr val="2F8A5B"/>
                </a:solidFill>
                <a:latin typeface="Calibri" pitchFamily="34" charset="0"/>
                <a:ea typeface="Calibri" pitchFamily="34" charset="-122"/>
                <a:cs typeface="Calibri" pitchFamily="34" charset="-120"/>
              </a:rPr>
              <a:t>Level of competition</a:t>
            </a:r>
            <a:endParaRPr lang="en-US" sz="1500" dirty="0"/>
          </a:p>
        </p:txBody>
      </p:sp>
      <p:sp>
        <p:nvSpPr>
          <p:cNvPr id="15" name="Text 13"/>
          <p:cNvSpPr txBox="1"/>
          <p:nvPr/>
        </p:nvSpPr>
        <p:spPr>
          <a:xfrm>
            <a:off x="8266176" y="237744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Crowded market → competitive/penetration/predatory; little competition → skimming/premium</a:t>
            </a:r>
            <a:endParaRPr lang="en-US" sz="1250" dirty="0"/>
          </a:p>
        </p:txBody>
      </p:sp>
      <p:sp>
        <p:nvSpPr>
          <p:cNvPr id="16" name="Shape 14"/>
          <p:cNvSpPr/>
          <p:nvPr/>
        </p:nvSpPr>
        <p:spPr>
          <a:xfrm>
            <a:off x="548640" y="388620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3886200"/>
            <a:ext cx="3575304" cy="91440"/>
          </a:xfrm>
          <a:prstGeom prst="roundRect">
            <a:avLst/>
          </a:prstGeom>
          <a:solidFill>
            <a:srgbClr val="C14B37"/>
          </a:solidFill>
          <a:ln/>
        </p:spPr>
      </p:sp>
      <p:sp>
        <p:nvSpPr>
          <p:cNvPr id="18" name="Text 16"/>
          <p:cNvSpPr txBox="1"/>
          <p:nvPr/>
        </p:nvSpPr>
        <p:spPr>
          <a:xfrm>
            <a:off x="749808" y="4123944"/>
            <a:ext cx="3172968" cy="685800"/>
          </a:xfrm>
          <a:prstGeom prst="rect">
            <a:avLst/>
          </a:prstGeom>
          <a:noFill/>
          <a:ln/>
        </p:spPr>
        <p:txBody>
          <a:bodyPr wrap="square" lIns="0" tIns="0" rIns="0" bIns="0" rtlCol="0" anchor="t"/>
          <a:lstStyle/>
          <a:p>
            <a:pPr indent="0" marL="0">
              <a:buNone/>
            </a:pPr>
            <a:r>
              <a:rPr lang="en-US" sz="1500" b="1" dirty="0">
                <a:solidFill>
                  <a:srgbClr val="C14B37"/>
                </a:solidFill>
                <a:latin typeface="Calibri" pitchFamily="34" charset="0"/>
                <a:ea typeface="Calibri" pitchFamily="34" charset="-122"/>
                <a:cs typeface="Calibri" pitchFamily="34" charset="-120"/>
              </a:rPr>
              <a:t>Strength of brand</a:t>
            </a:r>
            <a:endParaRPr lang="en-US" sz="1500" dirty="0"/>
          </a:p>
        </p:txBody>
      </p:sp>
      <p:sp>
        <p:nvSpPr>
          <p:cNvPr id="19" name="Text 17"/>
          <p:cNvSpPr txBox="1"/>
          <p:nvPr/>
        </p:nvSpPr>
        <p:spPr>
          <a:xfrm>
            <a:off x="749808" y="480060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Strong brand → premium &amp; psychological; weak brand → competitive/penetration</a:t>
            </a:r>
            <a:endParaRPr lang="en-US" sz="1250" dirty="0"/>
          </a:p>
        </p:txBody>
      </p:sp>
      <p:sp>
        <p:nvSpPr>
          <p:cNvPr id="20" name="Shape 18"/>
          <p:cNvSpPr/>
          <p:nvPr/>
        </p:nvSpPr>
        <p:spPr>
          <a:xfrm>
            <a:off x="4306824" y="388620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1" name="Shape 19"/>
          <p:cNvSpPr/>
          <p:nvPr/>
        </p:nvSpPr>
        <p:spPr>
          <a:xfrm>
            <a:off x="4306824" y="3886200"/>
            <a:ext cx="3575304" cy="91440"/>
          </a:xfrm>
          <a:prstGeom prst="roundRect">
            <a:avLst/>
          </a:prstGeom>
          <a:solidFill>
            <a:srgbClr val="0B5E66"/>
          </a:solidFill>
          <a:ln/>
        </p:spPr>
      </p:sp>
      <p:sp>
        <p:nvSpPr>
          <p:cNvPr id="22" name="Text 20"/>
          <p:cNvSpPr txBox="1"/>
          <p:nvPr/>
        </p:nvSpPr>
        <p:spPr>
          <a:xfrm>
            <a:off x="4507992" y="4123944"/>
            <a:ext cx="3172968" cy="685800"/>
          </a:xfrm>
          <a:prstGeom prst="rect">
            <a:avLst/>
          </a:prstGeom>
          <a:noFill/>
          <a:ln/>
        </p:spPr>
        <p:txBody>
          <a:bodyPr wrap="square" lIns="0" tIns="0" rIns="0" bIns="0" rtlCol="0" anchor="t"/>
          <a:lstStyle/>
          <a:p>
            <a:pPr indent="0" marL="0">
              <a:buNone/>
            </a:pPr>
            <a:r>
              <a:rPr lang="en-US" sz="1500" b="1" dirty="0">
                <a:solidFill>
                  <a:srgbClr val="0B5E66"/>
                </a:solidFill>
                <a:latin typeface="Calibri" pitchFamily="34" charset="0"/>
                <a:ea typeface="Calibri" pitchFamily="34" charset="-122"/>
                <a:cs typeface="Calibri" pitchFamily="34" charset="-120"/>
              </a:rPr>
              <a:t>Stage in the life cycle</a:t>
            </a:r>
            <a:endParaRPr lang="en-US" sz="1500" dirty="0"/>
          </a:p>
        </p:txBody>
      </p:sp>
      <p:sp>
        <p:nvSpPr>
          <p:cNvPr id="23" name="Text 21"/>
          <p:cNvSpPr txBox="1"/>
          <p:nvPr/>
        </p:nvSpPr>
        <p:spPr>
          <a:xfrm>
            <a:off x="4507992" y="480060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Launch → skimming or penetration; maturity → competitive; decline → discount</a:t>
            </a:r>
            <a:endParaRPr lang="en-US" sz="1250" dirty="0"/>
          </a:p>
        </p:txBody>
      </p:sp>
      <p:sp>
        <p:nvSpPr>
          <p:cNvPr id="24" name="Shape 22"/>
          <p:cNvSpPr/>
          <p:nvPr/>
        </p:nvSpPr>
        <p:spPr>
          <a:xfrm>
            <a:off x="8065008" y="3886200"/>
            <a:ext cx="3575304"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8065008" y="3886200"/>
            <a:ext cx="3575304" cy="91440"/>
          </a:xfrm>
          <a:prstGeom prst="roundRect">
            <a:avLst/>
          </a:prstGeom>
          <a:solidFill>
            <a:srgbClr val="5B6B73"/>
          </a:solidFill>
          <a:ln/>
        </p:spPr>
      </p:sp>
      <p:sp>
        <p:nvSpPr>
          <p:cNvPr id="26" name="Text 24"/>
          <p:cNvSpPr txBox="1"/>
          <p:nvPr/>
        </p:nvSpPr>
        <p:spPr>
          <a:xfrm>
            <a:off x="8266176" y="4123944"/>
            <a:ext cx="3172968" cy="685800"/>
          </a:xfrm>
          <a:prstGeom prst="rect">
            <a:avLst/>
          </a:prstGeom>
          <a:noFill/>
          <a:ln/>
        </p:spPr>
        <p:txBody>
          <a:bodyPr wrap="square" lIns="0" tIns="0" rIns="0" bIns="0" rtlCol="0" anchor="t"/>
          <a:lstStyle/>
          <a:p>
            <a:pPr indent="0" marL="0">
              <a:buNone/>
            </a:pPr>
            <a:r>
              <a:rPr lang="en-US" sz="1500" b="1" dirty="0">
                <a:solidFill>
                  <a:srgbClr val="5B6B73"/>
                </a:solidFill>
                <a:latin typeface="Calibri" pitchFamily="34" charset="0"/>
                <a:ea typeface="Calibri" pitchFamily="34" charset="-122"/>
                <a:cs typeface="Calibri" pitchFamily="34" charset="-120"/>
              </a:rPr>
              <a:t>Costs &amp; need for profit</a:t>
            </a:r>
            <a:endParaRPr lang="en-US" sz="1500" dirty="0"/>
          </a:p>
        </p:txBody>
      </p:sp>
      <p:sp>
        <p:nvSpPr>
          <p:cNvPr id="27" name="Text 25"/>
          <p:cNvSpPr txBox="1"/>
          <p:nvPr/>
        </p:nvSpPr>
        <p:spPr>
          <a:xfrm>
            <a:off x="8266176" y="480060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Price must cover costs — cost-plus protects margin; a low cost base enables penetration</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APPLYING THE FACTORS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Reading the situation → choosing the strategy</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4023360"/>
                <a:gridCol w="2560320"/>
                <a:gridCol w="4507992"/>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Situation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Points towards…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82296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Innovative product, few rivals, inelastic early demand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Skimming</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 USP and keen early adopters let it charge high, then fall</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New entrant chasing share in a busy market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Penetration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 low price wins trial and share before rivals react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Strong brand, loyal customers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Premium / psychological</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Low PED means a price rise costs few sales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Many near-identical products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Competitive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Little pricing freedom; compete on service, quality, brand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2296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Low-cost base, price-sensitive shoppers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Penetration / low-price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 genuine cost advantage sustains low prices (e.g. discounters)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0644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824728"/>
            <a:ext cx="10698480" cy="420624"/>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PLC link:  </a:t>
            </a:r>
            <a:pPr indent="0" marL="0">
              <a:buNone/>
            </a:pPr>
            <a:r>
              <a:rPr lang="en-US" sz="1250" dirty="0">
                <a:solidFill>
                  <a:srgbClr val="1F2A33"/>
                </a:solidFill>
                <a:latin typeface="Calibri" pitchFamily="34" charset="0"/>
                <a:ea typeface="Calibri" pitchFamily="34" charset="-122"/>
                <a:cs typeface="Calibri" pitchFamily="34" charset="-120"/>
              </a:rPr>
              <a:t>the right strategy changes as the product ages — skim or penetrate at launch, price competitively at maturity, discount in decline.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Express Value (10 marks)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Assess the benefits of the pricing strategy being adopted by Express Value in the UK market.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the benefits of its low-price strategy against limits,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Express Value uses low prices + psychological pricing (49p veg, 29p chocolate), funded by a low-cost model.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figures throughout; Level 4 (8–10) is balanced with a clear judgement.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(benefit): low prices won share fast — 3.1% → 4.8%, turnover +35.7% to £5.27bn, forced Tesco/ASDA profit warnings.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(benefit): a low-cost model (own brands, limited range, no ad agency) sustains the low prices and high margins (pre-tax profit +65.2%).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Limit: still far behind Tesco (28.7%) &amp; ASDA (18.6%); limited range caps a full weekly shop.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the strategy is highly beneficial for growth, but its value depends on rivals' response and widening the range.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Changes in pricing for social trends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online sales &amp; dynamic pricing  ·  price comparison sites  ·  how technology has made pricing more transparent and flexible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SOCIAL TRENDS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How social trends are changing pricing</a:t>
            </a:r>
            <a:endParaRPr lang="en-US" sz="28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Why it matters:  </a:t>
            </a:r>
            <a:pPr indent="0" marL="0">
              <a:buNone/>
            </a:pPr>
            <a:r>
              <a:rPr lang="en-US" sz="1300" dirty="0">
                <a:solidFill>
                  <a:srgbClr val="1F2A33"/>
                </a:solidFill>
                <a:latin typeface="Calibri" pitchFamily="34" charset="0"/>
                <a:ea typeface="Calibri" pitchFamily="34" charset="-122"/>
                <a:cs typeface="Calibri" pitchFamily="34" charset="-120"/>
              </a:rPr>
              <a:t>technology has made prices more visible and more flexible. The spec names two trends — online sales and price comparison sites.</a:t>
            </a:r>
            <a:endParaRPr lang="en-US" sz="1300" dirty="0"/>
          </a:p>
        </p:txBody>
      </p:sp>
      <p:sp>
        <p:nvSpPr>
          <p:cNvPr id="6" name="Shape 4"/>
          <p:cNvSpPr/>
          <p:nvPr/>
        </p:nvSpPr>
        <p:spPr>
          <a:xfrm>
            <a:off x="548640" y="2240280"/>
            <a:ext cx="5440680" cy="2468880"/>
          </a:xfrm>
          <a:prstGeom prst="roundRect">
            <a:avLst>
              <a:gd name="adj" fmla="val 29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40280"/>
            <a:ext cx="91440" cy="2468880"/>
          </a:xfrm>
          <a:prstGeom prst="roundRect">
            <a:avLst/>
          </a:prstGeom>
          <a:solidFill>
            <a:srgbClr val="0E7C86"/>
          </a:solidFill>
          <a:ln/>
        </p:spPr>
      </p:sp>
      <p:sp>
        <p:nvSpPr>
          <p:cNvPr id="8" name="Text 6"/>
          <p:cNvSpPr txBox="1"/>
          <p:nvPr/>
        </p:nvSpPr>
        <p:spPr>
          <a:xfrm>
            <a:off x="777240" y="2377440"/>
            <a:ext cx="4937760" cy="36576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Online sales</a:t>
            </a:r>
            <a:endParaRPr lang="en-US" sz="1600" dirty="0"/>
          </a:p>
        </p:txBody>
      </p:sp>
      <p:sp>
        <p:nvSpPr>
          <p:cNvPr id="9" name="Text 7"/>
          <p:cNvSpPr txBox="1"/>
          <p:nvPr/>
        </p:nvSpPr>
        <p:spPr>
          <a:xfrm>
            <a:off x="777240" y="2788920"/>
            <a:ext cx="5029200" cy="10972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Online retailers have lower overheads (no store rent), so they can price lower. ‘Showrooming’ — viewing in store, buying cheaper online — pushes firms to dynamic pricing that updates constantly against rivals.</a:t>
            </a:r>
            <a:endParaRPr lang="en-US" sz="1250" dirty="0"/>
          </a:p>
        </p:txBody>
      </p:sp>
      <p:sp>
        <p:nvSpPr>
          <p:cNvPr id="10" name="Text 8"/>
          <p:cNvSpPr txBox="1"/>
          <p:nvPr/>
        </p:nvSpPr>
        <p:spPr>
          <a:xfrm>
            <a:off x="777240" y="3931920"/>
            <a:ext cx="5029200" cy="685800"/>
          </a:xfrm>
          <a:prstGeom prst="rect">
            <a:avLst/>
          </a:prstGeom>
          <a:noFill/>
          <a:ln/>
        </p:spPr>
        <p:txBody>
          <a:bodyPr wrap="square" lIns="0" tIns="0" rIns="0" bIns="0" rtlCol="0" anchor="t"/>
          <a:lstStyle/>
          <a:p>
            <a:pPr indent="0" marL="0">
              <a:buNone/>
            </a:pPr>
            <a:r>
              <a:rPr lang="en-US" sz="1150" b="1" dirty="0">
                <a:solidFill>
                  <a:srgbClr val="2F8A5B"/>
                </a:solidFill>
                <a:latin typeface="Calibri" pitchFamily="34" charset="0"/>
                <a:ea typeface="Calibri" pitchFamily="34" charset="-122"/>
                <a:cs typeface="Calibri" pitchFamily="34" charset="-120"/>
              </a:rPr>
              <a:t>✓  </a:t>
            </a:r>
            <a:pPr indent="0" marL="0">
              <a:buNone/>
            </a:pPr>
            <a:r>
              <a:rPr lang="en-US" sz="1150" dirty="0">
                <a:solidFill>
                  <a:srgbClr val="5B6B73"/>
                </a:solidFill>
                <a:latin typeface="Calibri" pitchFamily="34" charset="0"/>
                <a:ea typeface="Calibri" pitchFamily="34" charset="-122"/>
                <a:cs typeface="Calibri" pitchFamily="34" charset="-120"/>
              </a:rPr>
              <a:t>Lower prices, wider reach, flexible pricing.   </a:t>
            </a:r>
            <a:pPr indent="0" marL="0">
              <a:buNone/>
            </a:pPr>
            <a:r>
              <a:rPr lang="en-US" sz="1150" b="1" dirty="0">
                <a:solidFill>
                  <a:srgbClr val="C14B37"/>
                </a:solidFill>
                <a:latin typeface="Calibri" pitchFamily="34" charset="0"/>
                <a:ea typeface="Calibri" pitchFamily="34" charset="-122"/>
                <a:cs typeface="Calibri" pitchFamily="34" charset="-120"/>
              </a:rPr>
              <a:t>✗  </a:t>
            </a:r>
            <a:pPr indent="0" marL="0">
              <a:buNone/>
            </a:pPr>
            <a:r>
              <a:rPr lang="en-US" sz="1150" dirty="0">
                <a:solidFill>
                  <a:srgbClr val="5B6B73"/>
                </a:solidFill>
                <a:latin typeface="Calibri" pitchFamily="34" charset="0"/>
                <a:ea typeface="Calibri" pitchFamily="34" charset="-122"/>
                <a:cs typeface="Calibri" pitchFamily="34" charset="-120"/>
              </a:rPr>
              <a:t>Price transparency can trigger price wars and thin margins.</a:t>
            </a:r>
            <a:endParaRPr lang="en-US" sz="1150" dirty="0"/>
          </a:p>
        </p:txBody>
      </p:sp>
      <p:sp>
        <p:nvSpPr>
          <p:cNvPr id="11" name="Shape 9"/>
          <p:cNvSpPr/>
          <p:nvPr/>
        </p:nvSpPr>
        <p:spPr>
          <a:xfrm>
            <a:off x="6199632" y="2240280"/>
            <a:ext cx="5440680" cy="2468880"/>
          </a:xfrm>
          <a:prstGeom prst="roundRect">
            <a:avLst>
              <a:gd name="adj" fmla="val 29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6199632" y="2240280"/>
            <a:ext cx="91440" cy="2468880"/>
          </a:xfrm>
          <a:prstGeom prst="roundRect">
            <a:avLst/>
          </a:prstGeom>
          <a:solidFill>
            <a:srgbClr val="E0940F"/>
          </a:solidFill>
          <a:ln/>
        </p:spPr>
      </p:sp>
      <p:sp>
        <p:nvSpPr>
          <p:cNvPr id="13" name="Text 11"/>
          <p:cNvSpPr txBox="1"/>
          <p:nvPr/>
        </p:nvSpPr>
        <p:spPr>
          <a:xfrm>
            <a:off x="6428232" y="2377440"/>
            <a:ext cx="4937760" cy="365760"/>
          </a:xfrm>
          <a:prstGeom prst="rect">
            <a:avLst/>
          </a:prstGeom>
          <a:noFill/>
          <a:ln/>
        </p:spPr>
        <p:txBody>
          <a:bodyPr wrap="square" lIns="0" tIns="0" rIns="0" bIns="0" rtlCol="0" anchor="ctr"/>
          <a:lstStyle/>
          <a:p>
            <a:pPr indent="0" marL="0">
              <a:buNone/>
            </a:pPr>
            <a:r>
              <a:rPr lang="en-US" sz="1600" b="1" dirty="0">
                <a:solidFill>
                  <a:srgbClr val="8A5A06"/>
                </a:solidFill>
                <a:latin typeface="Calibri" pitchFamily="34" charset="0"/>
                <a:ea typeface="Calibri" pitchFamily="34" charset="-122"/>
                <a:cs typeface="Calibri" pitchFamily="34" charset="-120"/>
              </a:rPr>
              <a:t>Price comparison sites</a:t>
            </a:r>
            <a:endParaRPr lang="en-US" sz="1600" dirty="0"/>
          </a:p>
        </p:txBody>
      </p:sp>
      <p:sp>
        <p:nvSpPr>
          <p:cNvPr id="14" name="Text 12"/>
          <p:cNvSpPr txBox="1"/>
          <p:nvPr/>
        </p:nvSpPr>
        <p:spPr>
          <a:xfrm>
            <a:off x="6428232" y="2788920"/>
            <a:ext cx="5029200" cy="10972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Sites such as Trivago, Kayak, Uswitch and Yallacompare let customers compare prices instantly. This forces firms to price competitively — or differentiate so they are not judged on price alone.</a:t>
            </a:r>
            <a:endParaRPr lang="en-US" sz="1250" dirty="0"/>
          </a:p>
        </p:txBody>
      </p:sp>
      <p:sp>
        <p:nvSpPr>
          <p:cNvPr id="15" name="Text 13"/>
          <p:cNvSpPr txBox="1"/>
          <p:nvPr/>
        </p:nvSpPr>
        <p:spPr>
          <a:xfrm>
            <a:off x="6428232" y="3931920"/>
            <a:ext cx="5029200" cy="685800"/>
          </a:xfrm>
          <a:prstGeom prst="rect">
            <a:avLst/>
          </a:prstGeom>
          <a:noFill/>
          <a:ln/>
        </p:spPr>
        <p:txBody>
          <a:bodyPr wrap="square" lIns="0" tIns="0" rIns="0" bIns="0" rtlCol="0" anchor="t"/>
          <a:lstStyle/>
          <a:p>
            <a:pPr indent="0" marL="0">
              <a:buNone/>
            </a:pPr>
            <a:r>
              <a:rPr lang="en-US" sz="1150" b="1" dirty="0">
                <a:solidFill>
                  <a:srgbClr val="2F8A5B"/>
                </a:solidFill>
                <a:latin typeface="Calibri" pitchFamily="34" charset="0"/>
                <a:ea typeface="Calibri" pitchFamily="34" charset="-122"/>
                <a:cs typeface="Calibri" pitchFamily="34" charset="-120"/>
              </a:rPr>
              <a:t>✓  </a:t>
            </a:r>
            <a:pPr indent="0" marL="0">
              <a:buNone/>
            </a:pPr>
            <a:r>
              <a:rPr lang="en-US" sz="1150" dirty="0">
                <a:solidFill>
                  <a:srgbClr val="5B6B73"/>
                </a:solidFill>
                <a:latin typeface="Calibri" pitchFamily="34" charset="0"/>
                <a:ea typeface="Calibri" pitchFamily="34" charset="-122"/>
                <a:cs typeface="Calibri" pitchFamily="34" charset="-120"/>
              </a:rPr>
              <a:t>Free exposure; customers find the best deal.   </a:t>
            </a:r>
            <a:pPr indent="0" marL="0">
              <a:buNone/>
            </a:pPr>
            <a:r>
              <a:rPr lang="en-US" sz="1150" b="1" dirty="0">
                <a:solidFill>
                  <a:srgbClr val="C14B37"/>
                </a:solidFill>
                <a:latin typeface="Calibri" pitchFamily="34" charset="0"/>
                <a:ea typeface="Calibri" pitchFamily="34" charset="-122"/>
                <a:cs typeface="Calibri" pitchFamily="34" charset="-120"/>
              </a:rPr>
              <a:t>✗  </a:t>
            </a:r>
            <a:pPr indent="0" marL="0">
              <a:buNone/>
            </a:pPr>
            <a:r>
              <a:rPr lang="en-US" sz="1150" dirty="0">
                <a:solidFill>
                  <a:srgbClr val="5B6B73"/>
                </a:solidFill>
                <a:latin typeface="Calibri" pitchFamily="34" charset="0"/>
                <a:ea typeface="Calibri" pitchFamily="34" charset="-122"/>
                <a:cs typeface="Calibri" pitchFamily="34" charset="-120"/>
              </a:rPr>
              <a:t>Commoditises products and squeezes margins (a race to the bottom).</a:t>
            </a:r>
            <a:endParaRPr lang="en-US" sz="1150" dirty="0"/>
          </a:p>
        </p:txBody>
      </p:sp>
      <p:sp>
        <p:nvSpPr>
          <p:cNvPr id="16" name="Shape 14"/>
          <p:cNvSpPr/>
          <p:nvPr/>
        </p:nvSpPr>
        <p:spPr>
          <a:xfrm>
            <a:off x="548640" y="4846320"/>
            <a:ext cx="11091672" cy="1325880"/>
          </a:xfrm>
          <a:prstGeom prst="roundRect">
            <a:avLst>
              <a:gd name="adj" fmla="val 5517"/>
            </a:avLst>
          </a:prstGeom>
          <a:solidFill>
            <a:srgbClr val="FBF0D8"/>
          </a:solidFill>
          <a:ln/>
          <a:effectLst>
            <a:outerShdw sx="100000" sy="100000" kx="0" ky="0" algn="bl" rotWithShape="0" blurRad="76200" dist="25400" dir="5400000">
              <a:srgbClr val="9AAAB0">
                <a:alpha val="28000"/>
              </a:srgbClr>
            </a:outerShdw>
          </a:effectLst>
        </p:spPr>
      </p:sp>
      <p:sp>
        <p:nvSpPr>
          <p:cNvPr id="17" name="Shape 15"/>
          <p:cNvSpPr/>
          <p:nvPr/>
        </p:nvSpPr>
        <p:spPr>
          <a:xfrm>
            <a:off x="548640" y="4846320"/>
            <a:ext cx="109728" cy="1325880"/>
          </a:xfrm>
          <a:prstGeom prst="roundRect">
            <a:avLst/>
          </a:prstGeom>
          <a:solidFill>
            <a:srgbClr val="E0940F"/>
          </a:solidFill>
          <a:ln/>
        </p:spPr>
      </p:sp>
      <p:sp>
        <p:nvSpPr>
          <p:cNvPr id="18" name="Text 16"/>
          <p:cNvSpPr txBox="1"/>
          <p:nvPr/>
        </p:nvSpPr>
        <p:spPr>
          <a:xfrm>
            <a:off x="777240" y="4956048"/>
            <a:ext cx="10607040" cy="274320"/>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MODERN EXTENSIONS (A-grade)</a:t>
            </a:r>
            <a:endParaRPr lang="en-US" sz="1150" dirty="0"/>
          </a:p>
        </p:txBody>
      </p:sp>
      <p:sp>
        <p:nvSpPr>
          <p:cNvPr id="19" name="Text 17"/>
          <p:cNvSpPr txBox="1"/>
          <p:nvPr/>
        </p:nvSpPr>
        <p:spPr>
          <a:xfrm>
            <a:off x="777240" y="5248656"/>
            <a:ext cx="10698480" cy="822960"/>
          </a:xfrm>
          <a:prstGeom prst="rect">
            <a:avLst/>
          </a:prstGeom>
          <a:noFill/>
          <a:ln/>
        </p:spPr>
        <p:txBody>
          <a:bodyPr wrap="square" lIns="0" tIns="0" rIns="0" bIns="0" rtlCol="0" anchor="t"/>
          <a:lstStyle/>
          <a:p>
            <a:pPr indent="0" marL="0">
              <a:buNone/>
            </a:pPr>
            <a:r>
              <a:rPr lang="en-US" sz="1200" b="1" dirty="0">
                <a:solidFill>
                  <a:srgbClr val="1F2A33"/>
                </a:solidFill>
                <a:latin typeface="Calibri" pitchFamily="34" charset="0"/>
                <a:ea typeface="Calibri" pitchFamily="34" charset="-122"/>
                <a:cs typeface="Calibri" pitchFamily="34" charset="-120"/>
              </a:rPr>
              <a:t>Dynamic pricing </a:t>
            </a:r>
            <a:pPr indent="0" marL="0">
              <a:buNone/>
            </a:pPr>
            <a:r>
              <a:rPr lang="en-US" sz="1200" dirty="0">
                <a:solidFill>
                  <a:srgbClr val="5B6B73"/>
                </a:solidFill>
                <a:latin typeface="Calibri" pitchFamily="34" charset="0"/>
                <a:ea typeface="Calibri" pitchFamily="34" charset="-122"/>
                <a:cs typeface="Calibri" pitchFamily="34" charset="-120"/>
              </a:rPr>
              <a:t>— flexible prices by demand (Uber surge; Amazon changes prices ~every 10 min).   </a:t>
            </a:r>
            <a:pPr indent="0" marL="0">
              <a:buNone/>
            </a:pPr>
            <a:r>
              <a:rPr lang="en-US" sz="1200" b="1" dirty="0">
                <a:solidFill>
                  <a:srgbClr val="1F2A33"/>
                </a:solidFill>
                <a:latin typeface="Calibri" pitchFamily="34" charset="0"/>
                <a:ea typeface="Calibri" pitchFamily="34" charset="-122"/>
                <a:cs typeface="Calibri" pitchFamily="34" charset="-120"/>
              </a:rPr>
              <a:t>Personalised pricing </a:t>
            </a:r>
            <a:pPr indent="0" marL="0">
              <a:buNone/>
            </a:pPr>
            <a:r>
              <a:rPr lang="en-US" sz="1200" dirty="0">
                <a:solidFill>
                  <a:srgbClr val="5B6B73"/>
                </a:solidFill>
                <a:latin typeface="Calibri" pitchFamily="34" charset="0"/>
                <a:ea typeface="Calibri" pitchFamily="34" charset="-122"/>
                <a:cs typeface="Calibri" pitchFamily="34" charset="-120"/>
              </a:rPr>
              <a:t>— individual prices from browsing/purchase data.   </a:t>
            </a:r>
            <a:pPr indent="0" marL="0">
              <a:buNone/>
            </a:pPr>
            <a:r>
              <a:rPr lang="en-US" sz="1200" b="1" dirty="0">
                <a:solidFill>
                  <a:srgbClr val="1F2A33"/>
                </a:solidFill>
                <a:latin typeface="Calibri" pitchFamily="34" charset="0"/>
                <a:ea typeface="Calibri" pitchFamily="34" charset="-122"/>
                <a:cs typeface="Calibri" pitchFamily="34" charset="-120"/>
              </a:rPr>
              <a:t>Subscription pricing </a:t>
            </a:r>
            <a:pPr indent="0" marL="0">
              <a:buNone/>
            </a:pPr>
            <a:r>
              <a:rPr lang="en-US" sz="1200" dirty="0">
                <a:solidFill>
                  <a:srgbClr val="5B6B73"/>
                </a:solidFill>
                <a:latin typeface="Calibri" pitchFamily="34" charset="0"/>
                <a:ea typeface="Calibri" pitchFamily="34" charset="-122"/>
                <a:cs typeface="Calibri" pitchFamily="34" charset="-120"/>
              </a:rPr>
              <a:t>— a recurring fee (Amazon Prime, streaming).</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social trends in pricing</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Assess the benefits of using dynamic pricing for a company like Amazon.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[8]</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Discuss/Assess: one developed benefit + one developed limitation (‘However’), applied to Amazon.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Dynamic pricing = prices that change automatically with demand and competitors' prices.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Keep it applied to Amazon throughout.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prices update ~every 10 minutes → Amazon always matches or beats rivals → wins price-sensitive shoppers and maximises revenue at peak demand.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constantly changing prices can feel unfair → risks customer trust and bad PR; needs costly data/algorithms.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Judgement: dynamic pricing is valuable for a data-rich giant like Amazon, but depends on keeping customers' trust.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A-grade exam skills</a:t>
            </a:r>
            <a:endParaRPr lang="en-US" sz="33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Express Value 20-mark  ·  decode and plan with 5×5  ·  a model answer and how to reach the top band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20-mark: decode it, then plan with 5×5</a:t>
            </a:r>
            <a:endParaRPr lang="en-US" sz="2800" dirty="0"/>
          </a:p>
        </p:txBody>
      </p:sp>
      <p:sp>
        <p:nvSpPr>
          <p:cNvPr id="4" name="Shape 2"/>
          <p:cNvSpPr/>
          <p:nvPr/>
        </p:nvSpPr>
        <p:spPr>
          <a:xfrm>
            <a:off x="548640" y="1371600"/>
            <a:ext cx="11091672" cy="1188720"/>
          </a:xfrm>
          <a:prstGeom prst="roundRect">
            <a:avLst>
              <a:gd name="adj" fmla="val 6154"/>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Evaluate whether the pricing strategy chosen by Express Value will continue to be the main reason for success in the UK. Justify your answer.  </a:t>
            </a:r>
            <a:pPr indent="0" marL="0">
              <a:buNone/>
            </a:pPr>
            <a:r>
              <a:rPr lang="en-US" sz="1350" b="1" dirty="0">
                <a:solidFill>
                  <a:srgbClr val="E0940F"/>
                </a:solidFill>
                <a:latin typeface="Calibri" pitchFamily="34" charset="0"/>
                <a:ea typeface="Calibri" pitchFamily="34" charset="-122"/>
                <a:cs typeface="Calibri" pitchFamily="34" charset="-120"/>
              </a:rPr>
              <a:t>[20]</a:t>
            </a:r>
            <a:endParaRPr lang="en-US" sz="1350" dirty="0"/>
          </a:p>
        </p:txBody>
      </p:sp>
      <p:sp>
        <p:nvSpPr>
          <p:cNvPr id="7" name="Shape 5"/>
          <p:cNvSpPr/>
          <p:nvPr/>
        </p:nvSpPr>
        <p:spPr>
          <a:xfrm>
            <a:off x="548640" y="2697480"/>
            <a:ext cx="5029200" cy="3502152"/>
          </a:xfrm>
          <a:prstGeom prst="roundRect">
            <a:avLst>
              <a:gd name="adj" fmla="val 2089"/>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80720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3172968"/>
            <a:ext cx="4617720" cy="292608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‘Will CONTINUE to be the MAIN reason’ — judge the future, not just the past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sides,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Use the case figures and the six pricing factors as evidence</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well-contextualised, competing arguments,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Timing ~30 min: 5 plan, ~20 write, 3–5 conclude</a:t>
            </a:r>
            <a:endParaRPr lang="en-US" sz="1180" dirty="0"/>
          </a:p>
        </p:txBody>
      </p:sp>
      <p:sp>
        <p:nvSpPr>
          <p:cNvPr id="10" name="Shape 8"/>
          <p:cNvSpPr/>
          <p:nvPr/>
        </p:nvSpPr>
        <p:spPr>
          <a:xfrm>
            <a:off x="5788152" y="2697480"/>
            <a:ext cx="5852160" cy="3502152"/>
          </a:xfrm>
          <a:prstGeom prst="roundRect">
            <a:avLst>
              <a:gd name="adj" fmla="val 2089"/>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80720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PECAN, 5 paragraphs</a:t>
            </a:r>
            <a:endParaRPr lang="en-US" sz="1300" dirty="0"/>
          </a:p>
        </p:txBody>
      </p:sp>
      <p:sp>
        <p:nvSpPr>
          <p:cNvPr id="12" name="Text 10"/>
          <p:cNvSpPr txBox="1"/>
          <p:nvPr/>
        </p:nvSpPr>
        <p:spPr>
          <a:xfrm>
            <a:off x="5989320" y="3172968"/>
            <a:ext cx="5440680" cy="292608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¶1 Low price drove the growth — share 3.1% → 4.8%, turnover +35.7%</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¶2 A low-cost model makes the low prices sustainable (own brands, no ad agency)</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¶3 However, price can be copied — big rivals can price-match with deeper pockets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¶4 However, limited range caps growth — analysts say it needs other advantages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¶5 Conclusion (4Ws): which, why, why it matters, what it depends on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 model 20-mark answer (Express Value) — the body</a:t>
            </a:r>
            <a:endParaRPr lang="en-US" sz="28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Price drove success (for).  </a:t>
            </a:r>
            <a:pPr indent="0" marL="0">
              <a:buNone/>
            </a:pPr>
            <a:r>
              <a:rPr lang="en-US" sz="1180" dirty="0">
                <a:solidFill>
                  <a:srgbClr val="1F2A33"/>
                </a:solidFill>
                <a:latin typeface="Calibri" pitchFamily="34" charset="0"/>
                <a:ea typeface="Calibri" pitchFamily="34" charset="-122"/>
                <a:cs typeface="Calibri" pitchFamily="34" charset="-120"/>
              </a:rPr>
              <a:t>The low-price strategy has clearly been the main reason for Express Value's success so far. Prices such as 49p vegetables attract value-seeking shoppers, and this drove market share from 3.1% to 4.8% and turnover up 35.7% to £5.27bn, even forcing Tesco and ASDA into profit warnings. This means price has directly won customers and sales from established rivals.</a:t>
            </a:r>
            <a:endParaRPr lang="en-US" sz="1180" dirty="0"/>
          </a:p>
        </p:txBody>
      </p:sp>
      <p:sp>
        <p:nvSpPr>
          <p:cNvPr id="6" name="Shape 4"/>
          <p:cNvSpPr/>
          <p:nvPr/>
        </p:nvSpPr>
        <p:spPr>
          <a:xfrm>
            <a:off x="548640" y="3017520"/>
            <a:ext cx="11091672" cy="1572768"/>
          </a:xfrm>
          <a:prstGeom prst="roundRect">
            <a:avLst>
              <a:gd name="adj" fmla="val 4651"/>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It is sustainable (for).  </a:t>
            </a:r>
            <a:pPr indent="0" marL="0">
              <a:buNone/>
            </a:pPr>
            <a:r>
              <a:rPr lang="en-US" sz="1180" dirty="0">
                <a:solidFill>
                  <a:srgbClr val="1F2A33"/>
                </a:solidFill>
                <a:latin typeface="Calibri" pitchFamily="34" charset="0"/>
                <a:ea typeface="Calibri" pitchFamily="34" charset="-122"/>
                <a:cs typeface="Calibri" pitchFamily="34" charset="-120"/>
              </a:rPr>
              <a:t>The low prices are backed by a genuine low-cost model — own-brand products, a limited range, small stores and no advertising agency. This means Express Value can keep prices low and still grow pre-tax profit (up 65.2% to £260.9m), a cost advantage that rivals with large store estates find hard to copy. So price is not a gimmick; it rests on real cost control.</a:t>
            </a:r>
            <a:endParaRPr lang="en-US" sz="1180" dirty="0"/>
          </a:p>
        </p:txBody>
      </p:sp>
      <p:sp>
        <p:nvSpPr>
          <p:cNvPr id="8" name="Shape 6"/>
          <p:cNvSpPr/>
          <p:nvPr/>
        </p:nvSpPr>
        <p:spPr>
          <a:xfrm>
            <a:off x="548640" y="4663440"/>
            <a:ext cx="11091672" cy="1517904"/>
          </a:xfrm>
          <a:prstGeom prst="roundRect">
            <a:avLst>
              <a:gd name="adj" fmla="val 4819"/>
            </a:avLst>
          </a:prstGeom>
          <a:solidFill>
            <a:srgbClr val="F9EAE6"/>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But price alone may not last (however).  </a:t>
            </a:r>
            <a:pPr indent="0" marL="0">
              <a:buNone/>
            </a:pPr>
            <a:r>
              <a:rPr lang="en-US" sz="1180" dirty="0">
                <a:solidFill>
                  <a:srgbClr val="1F2A33"/>
                </a:solidFill>
                <a:latin typeface="Calibri" pitchFamily="34" charset="0"/>
                <a:ea typeface="Calibri" pitchFamily="34" charset="-122"/>
                <a:cs typeface="Calibri" pitchFamily="34" charset="-120"/>
              </a:rPr>
              <a:t>However, price is easy to copy: Tesco (28.7% share) and ASDA (18.6%) have deeper pockets and can price-match. Express Value's limited range also means customers cannot do a full weekly shop, capping growth — which is why analysts argue it needs other sources of competitive advantage. Relying on price alone leaves it exposed.</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conclusion — and how to reach the top band</a:t>
            </a:r>
            <a:endParaRPr lang="en-US" sz="2800" dirty="0"/>
          </a:p>
        </p:txBody>
      </p:sp>
      <p:sp>
        <p:nvSpPr>
          <p:cNvPr id="4" name="Shape 2"/>
          <p:cNvSpPr/>
          <p:nvPr/>
        </p:nvSpPr>
        <p:spPr>
          <a:xfrm>
            <a:off x="548640" y="1371600"/>
            <a:ext cx="11091672" cy="1920240"/>
          </a:xfrm>
          <a:prstGeom prst="roundRect">
            <a:avLst>
              <a:gd name="adj" fmla="val 3810"/>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463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the low-price strategy has been the main reason for Express Value's success, but it is unlikely to remain THE main reason long-term. This is because price is copyable and the limited range caps how far it can grow, so continued success will depend on adding other advantages — wider range, service or brand — alongside low prices. Its low-cost model gives it longer than most to rely on price, but in the long run the strategy that won share will not, by itself, be enough to keep winning it.</a:t>
            </a:r>
            <a:endParaRPr lang="en-US" sz="1250" dirty="0"/>
          </a:p>
        </p:txBody>
      </p:sp>
      <p:sp>
        <p:nvSpPr>
          <p:cNvPr id="7" name="Shape 5"/>
          <p:cNvSpPr/>
          <p:nvPr/>
        </p:nvSpPr>
        <p:spPr>
          <a:xfrm>
            <a:off x="548640" y="3474720"/>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630168"/>
            <a:ext cx="3291840" cy="310896"/>
          </a:xfrm>
          <a:prstGeom prst="roundRect">
            <a:avLst>
              <a:gd name="adj" fmla="val 50000"/>
            </a:avLst>
          </a:prstGeom>
          <a:solidFill>
            <a:srgbClr val="2F8A5B"/>
          </a:solidFill>
          <a:ln/>
        </p:spPr>
      </p:sp>
      <p:sp>
        <p:nvSpPr>
          <p:cNvPr id="9" name="Text 7"/>
          <p:cNvSpPr txBox="1"/>
          <p:nvPr/>
        </p:nvSpPr>
        <p:spPr>
          <a:xfrm>
            <a:off x="777240" y="363016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Answer the exact question (‘will it CONTINUE?’)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Argue both sides with case figures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Use the six pricing factors as reasons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 2+ step chains with connectives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Judge AND say what it depends on</a:t>
            </a:r>
            <a:endParaRPr lang="en-US" sz="1200" dirty="0"/>
          </a:p>
        </p:txBody>
      </p:sp>
      <p:sp>
        <p:nvSpPr>
          <p:cNvPr id="11" name="Shape 9"/>
          <p:cNvSpPr/>
          <p:nvPr/>
        </p:nvSpPr>
        <p:spPr>
          <a:xfrm>
            <a:off x="6199632" y="3474720"/>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630168"/>
            <a:ext cx="3840480" cy="310896"/>
          </a:xfrm>
          <a:prstGeom prst="roundRect">
            <a:avLst>
              <a:gd name="adj" fmla="val 50000"/>
            </a:avLst>
          </a:prstGeom>
          <a:solidFill>
            <a:srgbClr val="C14B37"/>
          </a:solidFill>
          <a:ln/>
        </p:spPr>
      </p:sp>
      <p:sp>
        <p:nvSpPr>
          <p:cNvPr id="13" name="Text 11"/>
          <p:cNvSpPr txBox="1"/>
          <p:nvPr/>
        </p:nvSpPr>
        <p:spPr>
          <a:xfrm>
            <a:off x="6428232" y="363016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Describing each pricing strategy with no case use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arguing one side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Chains that stop at 'prices are low'</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Ignoring the ‘continue / long-term’ focus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judgement, or no 'depends on'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pricing-strategy questions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377440"/>
                <a:gridCol w="697687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56692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 strategy as an example.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1323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 Calculate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evidence + consequence; for cost-plus, show the mark-up working.</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One or 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PECAN: weigh the strategy against the factors, then an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989320"/>
            <a:ext cx="10515600" cy="457200"/>
          </a:xfrm>
          <a:prstGeom prst="rect">
            <a:avLst/>
          </a:prstGeom>
          <a:noFill/>
          <a:ln/>
        </p:spPr>
        <p:txBody>
          <a:bodyPr wrap="square" lIns="0" tIns="0" rIns="0" bIns="0" rtlCol="0" anchor="ctr"/>
          <a:lstStyle/>
          <a:p>
            <a:pPr indent="0" marL="0">
              <a:buNone/>
            </a:pPr>
            <a:r>
              <a:rPr lang="en-US" sz="1300" i="1" dirty="0">
                <a:solidFill>
                  <a:srgbClr val="9FBCC0"/>
                </a:solidFill>
                <a:latin typeface="Calibri" pitchFamily="34" charset="0"/>
                <a:ea typeface="Calibri" pitchFamily="34" charset="-122"/>
                <a:cs typeface="Calibri" pitchFamily="34" charset="-120"/>
              </a:rPr>
              <a:t>Golden rule for pricing answers: no strategy is ‘best’ on its own — the right choice depends on the brand, PED, competition, costs and the life-cycle stage.</a:t>
            </a:r>
            <a:endParaRPr lang="en-US" sz="130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2026-10-20T02:36:46Z</dcterms:created>
  <dcterms:modified xsi:type="dcterms:W3CDTF">2026-10-20T02:36:46Z</dcterms:modified>
</cp:coreProperties>
</file>