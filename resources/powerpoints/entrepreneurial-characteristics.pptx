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 · Characteristics &amp; skills" id="{2a4bd4f6-6ece-3e36-4cae-74de218e452e}">
          <p14:sldIdLst>
            <p14:sldId id="259"/>
            <p14:sldId id="260"/>
            <p14:sldId id="261"/>
            <p14:sldId id="262"/>
          </p14:sldIdLst>
        </p14:section>
        <p14:section name="B · Motives" id="{fbecd248-4f45-38d1-8872-e1fe4af7dbaa}">
          <p14:sldIdLst>
            <p14:sldId id="263"/>
            <p14:sldId id="264"/>
            <p14:sldId id="265"/>
          </p14:sldIdLst>
        </p14:section>
        <p14:section name="C · A-grade exam skills" id="{9bc7b77d-033f-f63a-e5ad-1b56a67ab6a8}">
          <p14:sldIdLst>
            <p14:sldId id="266"/>
            <p14:sldId id="267"/>
            <p14:sldId id="268"/>
            <p14:sldId id="269"/>
          </p14:sldIdLst>
        </p14:section>
        <p14:section name="Default-1" id="{67d3a24e-2d55-e13a-80d1-e7d5752e966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Tutoring deck on Entrepreneurial motives &amp; characteristics (spec 1.3.5 part 2 of 4), pitched for A-grade students. Covers ALL of spec 1.3.5(2): (a) characteristics &amp; skills required; (b) reasons people set up businesses - financial motives (profit maximisation, profit satisficing) and non-financial motives (ethical stance, social entrepreneurship, independence, home working). Exam practice on the Cebu Home case (Maria Rogers) and the Sophie Kim [6] characteristics question. NOTE: the student calls this '1.5'; in the spec it is 1.3.5. Parts 1 (role) done; parts 3-4 (business objectives; business choices)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spec 1.3.5(2) is covered: 2a characteristics &amp; skills; 2b financial motives (profit max / profit satisficing) and non-financial motives (ethical stance, social entrepreneurship, independence, home working). The thread: WHO an entrepreneur is and WHY they start up both shape how the business behaves. Exam practice uses Cebu Home (ethical/niche) and Sophie Kim (characteristics [6]).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of four. It explains WHO succeeds (characteristics &amp; skills) and WHY people start up (motives), which flows directly into Business objectives (part 3). The 'analyse two entrepreneurial characteristics' [6] is a very common exam question - Sophie Kim is our worked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2a. The simple student rule: CHARACTERISTICS = who they are (traits you're born with or develop over time); SKILLS = what they can do (learned abilities). Musk: characteristic = innovative/risk-taking; skill = technical problem-solving &amp; strategic leadership. The exam twist: 'are skills or characteristics more important?' - argue both and that it depends on the business stage. OneNote: students write both definitions with an example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2a - characteristics (who they are). Six to know: creativity, resilience, risk-taking, leadership, vision, confidence. Tie to real figures (Musk = resilience/risk-taking; any founder = vision). These are the qualities that drive someone to start and persist. In a [6] 'analyse two characteristics', students pick two, define, apply to the case, and chain the consequence. OneNote: students list the six with a real example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2a - skills (what they can do, and can be learned). Five to know: decision-making, communication, problem-solving, time management, financial literacy. Unlike characteristics, these improve with training &amp; experience - which links back to the 'entrepreneurial capacity' barrier (it can be learned). In answers, pair a skill with a consequence for the business. OneNote: students list the five with how each helps a start-up.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2b - financial motives. The key contrast students must nail: profit MAXIMISATION (the most profit possible - widest gap between total revenue and total cost) vs profit SATISFICING (enough profit to be satisfied, then other goals matter more). Many small/owner-run firms satisfice because the owner values balance, ethics or independence. This directly feeds Business objectives (part 3). OneNote: students write both definitions + which suits a small lifestyle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2b - non-financial motives, exactly the four the spec lists: ethical stance, social entrepreneurship, independence, home working. Distinguish ethical stance (moral values guide HOW the business runs) from social entrepreneurship (the business EXISTS to solve a social/environmental problem). The Cebu Home preview sets up the exam case - Maria's ethical stance (sustainable mahogany, CITES, no child labour, fair wages). OneNote: students note the four motives + the Cebu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cases set up the exam practice. CEBU HOME (Maria Rogers) - a luxury niche ethical furniture business from the real WBS11 source - drives the motives/ethics/niche questions. SOPHIE KIM (ex-banking/consultancy, grocery-delivery app, billion-dollar business) - from the June 2024 paper - drives the 'analyse two entrepreneurial characteristics' [6]. OneNote: students annotate both cases, highlighting Maria's ethical actions and Sophie's characteristics.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the REAL June 2024 mark scheme (Q2c). The [6] 'analyse two characteristics' = K2 + A2 + An2. Two short developed points, each: name the characteristic (K), apply to Sophie (App), chain a consequence (An). Model uses the MS exemplars: HARDWORKING (banking/consultancy career → determination/work ethic) and CREATIVITY (grocery-delivery app → differentiation → billion-dollar business). No judgement. Students write their own two, then peer-mark against K/App/An.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[6] 'analyse' builds on Cebu Home (same K2/A2/An2 structure, two developed points, no judgement). ADVANTAGES of ethical focus: differentiation/USP (premium niche buyers) and reputation/brand (CITES, no child labour → loyalty) - with the cost counter noted. DRAWBACKS of niche: limited customer base (small market, restricted hours → caps growth) and vulnerability (narrow segment + imported mahogany → supply/demand shocks). Students write one of each in OneNote, apply Cebu facts, then self-check.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 - completes spec 1.3.5(2) in full: characteristics &amp; skills (2a) and financial &amp; non-financial motives (2b). Students should be able to distinguish characteristics from skills, list both, explain profit maximisation vs satisficing and the four non-financial motives, and build the [6] 'analyse two characteristics' answer (Sophie Kim) plus the Cebu ethical/niche [6]s. Next: Business objectives (part 3) and Business choices (part 4) - when those materials are supplied.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IAL Business  ·  Unit 1  ·  Spec 1.3.5 Entrepreneurs &amp; leaders  (Motives &amp; characteristics)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 ·  INTERNATIONAL A LEVEL BUSINESS  ·  UNIT 1 (WBS11)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Entrepreneurial Characteristics &amp; Motives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1.3.5 Entrepreneurs &amp; leaders (part 2 of 4)  —  the characteristics &amp; skills that make entrepreneurs succeed, and why people set up businesses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2834640" cy="420624"/>
          </a:xfrm>
          <a:prstGeom prst="roundRect">
            <a:avLst>
              <a:gd name="adj" fmla="val 50000"/>
            </a:avLst>
          </a:prstGeom>
          <a:solidFill>
            <a:srgbClr val="0B2E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65760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vs skills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0" y="3657600"/>
            <a:ext cx="2015338" cy="420624"/>
          </a:xfrm>
          <a:prstGeom prst="roundRect">
            <a:avLst>
              <a:gd name="adj" fmla="val 50000"/>
            </a:avLst>
          </a:prstGeom>
          <a:solidFill>
            <a:srgbClr val="0B2E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0" y="3657600"/>
            <a:ext cx="20153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motives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8698" y="3657600"/>
            <a:ext cx="2424989" cy="420624"/>
          </a:xfrm>
          <a:prstGeom prst="roundRect">
            <a:avLst>
              <a:gd name="adj" fmla="val 50000"/>
            </a:avLst>
          </a:prstGeom>
          <a:solidFill>
            <a:srgbClr val="0B2E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8698" y="3657600"/>
            <a:ext cx="24249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Non-financial motives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46566" y="3657600"/>
            <a:ext cx="3141878" cy="420624"/>
          </a:xfrm>
          <a:prstGeom prst="roundRect">
            <a:avLst>
              <a:gd name="adj" fmla="val 50000"/>
            </a:avLst>
          </a:prstGeom>
          <a:solidFill>
            <a:srgbClr val="0B2E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46566" y="3657600"/>
            <a:ext cx="3141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Cebu Home · Sophie Kim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Akram  ·  GEMS Metropole School  ·  Cases: Cebu Home (Maria Rogers) · Sophie Kim · Elon Musk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lesson covers — spec 1.3.5(2)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EAF3F4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75564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vs skills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755648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entrepreneurs ARE vs what they can DO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698480" y="1883664"/>
            <a:ext cx="841248" cy="347472"/>
          </a:xfrm>
          <a:prstGeom prst="roundRect">
            <a:avLst>
              <a:gd name="adj" fmla="val 26316"/>
            </a:avLst>
          </a:prstGeom>
          <a:solidFill>
            <a:srgbClr val="FBF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698480" y="188366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94436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389888" y="287121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motives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871216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maximisation vs profit satisficing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698480" y="2999232"/>
            <a:ext cx="841248" cy="347472"/>
          </a:xfrm>
          <a:prstGeom prst="roundRect">
            <a:avLst>
              <a:gd name="adj" fmla="val 26316"/>
            </a:avLst>
          </a:prstGeom>
          <a:solidFill>
            <a:srgbClr val="FBF0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698480" y="2999232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785616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05993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1389888" y="398678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Non-financial motives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986784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stance, social entrepreneurship, independence, home working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698480" y="4114800"/>
            <a:ext cx="841248" cy="347472"/>
          </a:xfrm>
          <a:prstGeom prst="roundRect">
            <a:avLst>
              <a:gd name="adj" fmla="val 26316"/>
            </a:avLst>
          </a:prstGeom>
          <a:solidFill>
            <a:srgbClr val="FBF0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698480" y="411480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901184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517550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7C8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175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1389888" y="510235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A-grade exam skills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510235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Cebu Home &amp; Sophie Kim — the [6] characteristics build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698480" y="5230368"/>
            <a:ext cx="841248" cy="347472"/>
          </a:xfrm>
          <a:prstGeom prst="roundRect">
            <a:avLst>
              <a:gd name="adj" fmla="val 26316"/>
            </a:avLst>
          </a:prstGeom>
          <a:solidFill>
            <a:srgbClr val="FBF0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98480" y="523036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sits in 1.3.5 Entrepreneurs &amp; leaders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67512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1.3.5  Entrepreneurs &amp; leaders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" y="1956816"/>
            <a:ext cx="6272784" cy="987552"/>
          </a:xfrm>
          <a:prstGeom prst="roundRect">
            <a:avLst>
              <a:gd name="adj" fmla="val 7407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128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13969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an entrepreneur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50545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running, intrapreneurship, barriers, risk — done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749808" y="3054096"/>
            <a:ext cx="6272784" cy="987552"/>
          </a:xfrm>
          <a:prstGeom prst="roundRect">
            <a:avLst>
              <a:gd name="adj" fmla="val 7407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3054096"/>
            <a:ext cx="91440" cy="987552"/>
          </a:xfrm>
          <a:prstGeom prst="roundRect">
            <a:avLst/>
          </a:prstGeom>
          <a:solidFill>
            <a:srgbClr val="E0940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3101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0940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23697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Entrepreneurial motives &amp; characteristics   ← this lesson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60273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&amp; skills; financial &amp; non-financial motives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49808" y="4151376"/>
            <a:ext cx="6272784" cy="987552"/>
          </a:xfrm>
          <a:prstGeom prst="roundRect">
            <a:avLst>
              <a:gd name="adj" fmla="val 7407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4074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33425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70001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survival, profit max, sales max, market share, social… — next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749808" y="5248656"/>
            <a:ext cx="6272784" cy="987552"/>
          </a:xfrm>
          <a:prstGeom prst="roundRect">
            <a:avLst>
              <a:gd name="adj" fmla="val 7407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55046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543153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choices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79729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 &amp; trade-offs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7360920" y="1371600"/>
            <a:ext cx="4279392" cy="4800600"/>
          </a:xfrm>
          <a:prstGeom prst="roundRect">
            <a:avLst>
              <a:gd name="adj" fmla="val 1709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571232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links across the course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571232" y="1965960"/>
            <a:ext cx="3886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&amp; skills explain WHY some start-ups succeed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Motives shape the objectives a firm sets (part 3)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Non-financial motives link to ethics &amp; social enterprise (Unit 3)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frequent [6] ‘analyse two characteristics’ question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max vs satisficing underpins objectives &amp; decision-making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737360" cy="173736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2487168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&amp; skills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3703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part:  </a:t>
            </a:r>
            <a:pPr indent="0" marL="0">
              <a:buNone/>
            </a:pPr>
            <a:r>
              <a:rPr lang="en-US" sz="13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who they ARE and what they can DO  ·  the key characteristics and the key skills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THE DIFFERENCE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vs skills — who they are / what they 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8F3EC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27632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2F8A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66544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 — natural qualities or traits a person brings to business.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 example:  </a:t>
            </a:r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&amp; risk-taking — he keeps pushing boundaries with SpaceX &amp; Tesla.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146304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627632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16276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2066544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can do — abilities that are learned and improved with practice.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28346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 example:  </a:t>
            </a:r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problem-solving &amp; strategic leadership — he builds teams and turns ideas into products.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91672" cy="2194560"/>
          </a:xfrm>
          <a:prstGeom prst="roundRect">
            <a:avLst>
              <a:gd name="adj" fmla="val 3333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4114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difference matters in the exam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4805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= who they ARE (creativity, resilience).   Skills = what they can DO (decision-making, communication).
</a:t>
            </a:r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popular evaluation asks whether skills OR characteristics matter more. Strong answers argue both — characteristics give the drive to start and persist, but without skills (finance, communication, decision-making) the business can't be run well. The best mix depends on the stage and type of business.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CHARACTERISTICS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characteristics (who they are)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7530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575304" cy="91440"/>
          </a:xfrm>
          <a:prstGeom prst="round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550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30552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original ideas &amp; solutions to problems.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417320"/>
            <a:ext cx="357530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06824" y="1417320"/>
            <a:ext cx="3575304" cy="91440"/>
          </a:xfrm>
          <a:prstGeom prst="roundRect">
            <a:avLst/>
          </a:prstGeom>
          <a:solidFill>
            <a:srgbClr val="E094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9704" y="16550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2130552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determined through setbacks &amp; failure (Musk).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417320"/>
            <a:ext cx="357530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417320"/>
            <a:ext cx="3575304" cy="91440"/>
          </a:xfrm>
          <a:prstGeom prst="roundRect">
            <a:avLst/>
          </a:prstGeom>
          <a:solidFill>
            <a:srgbClr val="2F8A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47888" y="16550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Risk-taking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130552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calculated decisions despite uncertain outcomes.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57530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94760"/>
            <a:ext cx="3575304" cy="91440"/>
          </a:xfrm>
          <a:prstGeom prst="roundRect">
            <a:avLst/>
          </a:prstGeom>
          <a:solidFill>
            <a:srgbClr val="6B4F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03250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507992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&amp; guiding others toward a shared goal.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06824" y="3794760"/>
            <a:ext cx="357530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06824" y="3794760"/>
            <a:ext cx="3575304" cy="91440"/>
          </a:xfrm>
          <a:prstGeom prst="roundRect">
            <a:avLst/>
          </a:prstGeom>
          <a:solidFill>
            <a:srgbClr val="C14B3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89704" y="403250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89704" y="4507992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opportunities others miss; setting clear goals.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65008" y="3794760"/>
            <a:ext cx="3575304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3794760"/>
            <a:ext cx="3575304" cy="91440"/>
          </a:xfrm>
          <a:prstGeom prst="roundRect">
            <a:avLst/>
          </a:prstGeom>
          <a:solidFill>
            <a:srgbClr val="0B5E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47888" y="403250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47888" y="4507992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Believing in their idea &amp; their ability to succeed.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SKILLS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skills (what they can do)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7530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575304" cy="91440"/>
          </a:xfrm>
          <a:prstGeom prst="round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9222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67712"/>
            <a:ext cx="3209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data &amp; choosing the best course of action.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554480"/>
            <a:ext cx="357530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06824" y="1554480"/>
            <a:ext cx="3575304" cy="91440"/>
          </a:xfrm>
          <a:prstGeom prst="roundRect">
            <a:avLst/>
          </a:prstGeom>
          <a:solidFill>
            <a:srgbClr val="E094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9704" y="179222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2267712"/>
            <a:ext cx="3209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ideas clearly to investors, customers &amp; staff.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554480"/>
            <a:ext cx="357530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554480"/>
            <a:ext cx="3575304" cy="91440"/>
          </a:xfrm>
          <a:prstGeom prst="roundRect">
            <a:avLst/>
          </a:prstGeom>
          <a:solidFill>
            <a:srgbClr val="2F8A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47888" y="179222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267712"/>
            <a:ext cx="3209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Overcoming challenges &amp; adapting to change.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23160" y="4023360"/>
            <a:ext cx="357530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4023360"/>
            <a:ext cx="3575304" cy="91440"/>
          </a:xfrm>
          <a:prstGeom prst="roundRect">
            <a:avLst/>
          </a:prstGeom>
          <a:solidFill>
            <a:srgbClr val="6B4F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06040" y="426110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4736592"/>
            <a:ext cx="3209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Prioritising tasks in a fast-paced environment.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0488" y="4023360"/>
            <a:ext cx="357530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0488" y="4023360"/>
            <a:ext cx="3575304" cy="91440"/>
          </a:xfrm>
          <a:prstGeom prst="roundRect">
            <a:avLst/>
          </a:prstGeom>
          <a:solidFill>
            <a:srgbClr val="C14B3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73368" y="426110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73368" y="4736592"/>
            <a:ext cx="3209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costs, margins &amp; investment needs.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737360" cy="173736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2487168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people set up businesses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3703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part:  </a:t>
            </a:r>
            <a:pPr indent="0" marL="0">
              <a:buNone/>
            </a:pPr>
            <a:r>
              <a:rPr lang="en-US" sz="13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motives — profit maximisation vs profit satisficing  ·  non-financial motives — ethics, social enterprise, independence, home working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FINANCIAL MOTIVES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motives: two different profit goals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27632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MAXIMISATION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6654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GREATEST possible profit — producing where the gap between total revenue and total cost is widest.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assumption of why firms exist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efficiency &amp; reinvestment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may risk reputation, staff or long-term loyalty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146304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627632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094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16276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SATISFICING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206654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ENOUGH profit to be satisfied — then prioritising other goals over squeezing out every last pound.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297180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small/owner-run firms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values work-life balance, ethics or control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‘Good enough’ profit, not maximum profit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E8F3EC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4873752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distinction:  </a:t>
            </a:r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MAXIMISATION = as much profit as possible; profit SATISFICING = enough profit to be content, then other priorities take over. Many entrepreneurs satisfice — they want a comfortable living plus independence or ethics, not relentless growth. Knowing which a firm pursues explains the objectives it sets (part 3) and the choices it makes.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NON-FINANCIAL MOTIVES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Non-financial motives: why else people start 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79192" cy="283464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679192" cy="91440"/>
          </a:xfrm>
          <a:prstGeom prst="round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92224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stance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67712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business in line with strong moral values — fair trade, sustainability, no child labour.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1554480"/>
            <a:ext cx="2679192" cy="283464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9272" y="1554480"/>
            <a:ext cx="2679192" cy="91440"/>
          </a:xfrm>
          <a:prstGeom prst="roundRect">
            <a:avLst/>
          </a:prstGeom>
          <a:solidFill>
            <a:srgbClr val="E094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02152" y="1792224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entrepreneurship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267712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mainly to solve a social or environmental problem; profit is a means, not the goal.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9904" y="1554480"/>
            <a:ext cx="2679192" cy="283464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1554480"/>
            <a:ext cx="2679192" cy="91440"/>
          </a:xfrm>
          <a:prstGeom prst="roundRect">
            <a:avLst/>
          </a:prstGeom>
          <a:solidFill>
            <a:srgbClr val="2F8A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72784" y="1792224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2267712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your own boss — control over decisions, direction and how you spend your time.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1554480"/>
            <a:ext cx="2679192" cy="283464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60536" y="1554480"/>
            <a:ext cx="2679192" cy="91440"/>
          </a:xfrm>
          <a:prstGeom prst="roundRect">
            <a:avLst/>
          </a:prstGeom>
          <a:solidFill>
            <a:srgbClr val="6B4F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43416" y="1792224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working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043416" y="2267712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business from home — flexibility, lower costs and work-life balance.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470001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 Cebu Home (preview of the exam case)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02920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Rogers' furniture business, Cebu Home, is driven by a strong ETHICAL stance — sustainable mahogany from certified forests, recycling where possible, packaging only on request, CITES compliance, and a guarantee of no child labour with fair wages. Her family and social values shape every design and supply decision — a clear non-financial motive, not just profit.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737360" cy="173736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2487168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A-grade exam skills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3703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part:  </a:t>
            </a:r>
            <a:pPr indent="0" marL="0">
              <a:buNone/>
            </a:pPr>
            <a:r>
              <a:rPr lang="en-US" sz="13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Cebu Home case  ·  the Sophie Kim [6] ‘analyse two characteristics’  ·  the Cebu ethical &amp; niche [6]s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THE CASES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cases: Cebu Home &amp; Sophie Kim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77840" cy="4800600"/>
          </a:xfrm>
          <a:prstGeom prst="roundRect">
            <a:avLst>
              <a:gd name="adj" fmla="val 1524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17904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179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CEBU HOME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38528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Rogers established Cebu Home to bring ‘original, beautiful &amp; unique’ furniture to homes in Islington, London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luxury NICHE business — sold through boutiques near Sadler's Wells, open only 3–7pm Mon–Fri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high-quality mahogany furniture from Cebu in the Philippines; classic &amp; contemporary, unusual materials (walnut, mahogany, pearl)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ETHICAL stance: sustainable forests, recycling, CITES compliance, no child labour, fair wages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entrepreneurial characteristics &amp; family values drive her success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91072" y="1371600"/>
            <a:ext cx="5349240" cy="4800600"/>
          </a:xfrm>
          <a:prstGeom prst="roundRect">
            <a:avLst>
              <a:gd name="adj" fmla="val 1524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9672" y="1517904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E094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15179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KIM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1938528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a successful career in banking &amp; consultancy before starting up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app for the delivery of groceries to people early in the morning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it into a billion-dollar business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case for ‘analyse TWO entrepreneurial characteristics’ [6]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19672" y="452628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02552" y="4626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cases?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02552" y="491947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Cebu Home → motives, ethics &amp; niche marketing.   Sophie Kim → entrepreneurial characteristics. Together they cover both halves of this topic.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THE [6]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6-mark build: ‘analyse two characteristics’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0E3A43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two entrepreneurial characteristics shown by Sophie Kim that may have helped the business to succeed.  </a:t>
            </a:r>
            <a:pPr indent="0" marL="0">
              <a:buNone/>
            </a:pPr>
            <a:r>
              <a:rPr lang="en-US" sz="130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297680" cy="3840480"/>
          </a:xfrm>
          <a:prstGeom prst="roundRect">
            <a:avLst>
              <a:gd name="adj" fmla="val 1905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24414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scheme (K2 · A2 · An2)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889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knowledge: define / name two characteristics</a:t>
            </a:r>
            <a:endParaRPr lang="en-US" sz="118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application: use Sophie Kim's context</a:t>
            </a:r>
            <a:endParaRPr lang="en-US" sz="118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analysis: a consequence for the business</a:t>
            </a:r>
            <a:endParaRPr lang="en-US" sz="118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judgement needed</a:t>
            </a:r>
            <a:endParaRPr lang="en-US" sz="118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5577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developed points beat one long one.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0" y="2331720"/>
            <a:ext cx="6611112" cy="3840480"/>
          </a:xfrm>
          <a:prstGeom prst="roundRect">
            <a:avLst>
              <a:gd name="adj" fmla="val 1905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30368" y="24414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2834640"/>
            <a:ext cx="6217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Hardworking </a:t>
            </a:r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(K) — Sophie had a demanding career in banking and consultancy before starting up </a:t>
            </a:r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(App)</a:t>
            </a:r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gave her the determination and work ethic to build a new business </a:t>
            </a:r>
            <a:pPr indent="0" marL="0">
              <a:buNone/>
            </a:pPr>
            <a:r>
              <a:rPr lang="en-US" sz="125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(An).
</a:t>
            </a:r>
            <a:pPr indent="0" marL="0">
              <a:buNone/>
            </a:pPr>
            <a:r>
              <a:rPr lang="en-US" sz="125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</a:t>
            </a:r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(K) — she developed an app to deliver groceries early in the morning </a:t>
            </a:r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(App)</a:t>
            </a:r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differentiated her business from competitors and helped her create a billion-dollar company </a:t>
            </a:r>
            <a:pPr indent="0" marL="0">
              <a:buNone/>
            </a:pPr>
            <a:r>
              <a:rPr lang="en-US" sz="125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CEBU [6]S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[6]s: ethical focus &amp; niche market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13832" cy="4800600"/>
          </a:xfrm>
          <a:prstGeom prst="roundRect">
            <a:avLst>
              <a:gd name="adj" fmla="val 1524"/>
            </a:avLst>
          </a:prstGeom>
          <a:solidFill>
            <a:srgbClr val="E8F3EC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17904"/>
            <a:ext cx="4846320" cy="310896"/>
          </a:xfrm>
          <a:prstGeom prst="roundRect">
            <a:avLst>
              <a:gd name="adj" fmla="val 50000"/>
            </a:avLst>
          </a:prstGeom>
          <a:solidFill>
            <a:srgbClr val="2F8A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5179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TWO ADVANTAGES OF A STRONG ETHICAL FOCUS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9568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—  plan two developed points: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8600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&amp; USP: sustainable, ethically-made furniture → appeals to conscientious, higher-income niche buyers → justifies premium prices &amp; builds loyalty</a:t>
            </a:r>
            <a:endParaRPr lang="en-US" sz="118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&amp; brand: CITES compliance, no child labour, fair wages → strong brand image &amp; positive word-of-mouth → repeat custom and resilience to criticism</a:t>
            </a:r>
            <a:endParaRPr lang="en-US" sz="118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(Counter to weave in: ethical sourcing can raise costs)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5513832" cy="4800600"/>
          </a:xfrm>
          <a:prstGeom prst="roundRect">
            <a:avLst>
              <a:gd name="adj" fmla="val 1524"/>
            </a:avLst>
          </a:prstGeom>
          <a:solidFill>
            <a:srgbClr val="F9EAE6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27648" y="1517904"/>
            <a:ext cx="4846320" cy="310896"/>
          </a:xfrm>
          <a:prstGeom prst="roundRect">
            <a:avLst>
              <a:gd name="adj" fmla="val 50000"/>
            </a:avLst>
          </a:prstGeom>
          <a:solidFill>
            <a:srgbClr val="C14B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27648" y="15179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TWO DRAWBACKS OF TARGETING A NICHE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19568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—  plan two developed points: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228600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customer base: a small, specialist market (luxury furniture, open only 3–7pm) → fewer potential buyers → caps sales volume &amp; growth</a:t>
            </a:r>
            <a:endParaRPr lang="en-US" sz="118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Vulnerability: reliance on a narrow segment &amp; imported mahogany → a downturn in luxury spending or a supply shock hits hard → unstable revenue</a:t>
            </a:r>
            <a:endParaRPr lang="en-US" sz="118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(Counter to weave in: niche allows premium prices &amp; less direct competition)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motives &amp; characteristics questions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4303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6702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3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4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3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4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3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40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/ State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+ an example (profit satisficing, ethical stance…).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+ application + a developed 2-step chain.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(2 pts)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applied points, each with a consequence (K2·A2·An2). No judgement.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fully-developed, applied points with longer chains.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sides, applied, + a supported ‘it depends’ judgement.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idea: characteristics give the drive, skills make it work, and motives explain WHY — together they shape every objective and choice the business makes.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1.3.5: Business objectives (part 3), then Business choices (part 4).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L Entrepreneurs">
  <a:themeElements>
    <a:clrScheme name="IAL Entrepreneurs">
      <a:dk1>
        <a:srgbClr val="1F2A33"/>
      </a:dk1>
      <a:lt1>
        <a:srgbClr val="FFFFFF"/>
      </a:lt1>
      <a:dk2>
        <a:srgbClr val="0E3A43"/>
      </a:dk2>
      <a:lt2>
        <a:srgbClr val="EAF3F4"/>
      </a:lt2>
      <a:accent1>
        <a:srgbClr val="0E7C86"/>
      </a:accent1>
      <a:accent2>
        <a:srgbClr val="E0940F"/>
      </a:accent2>
      <a:accent3>
        <a:srgbClr val="2F8A5B"/>
      </a:accent3>
      <a:accent4>
        <a:srgbClr val="C14B37"/>
      </a:accent4>
      <a:accent5>
        <a:srgbClr val="5B6B73"/>
      </a:accent5>
      <a:accent6>
        <a:srgbClr val="6B4FA0"/>
      </a:accent6>
      <a:hlink>
        <a:srgbClr val="0E7C86"/>
      </a:hlink>
      <a:folHlink>
        <a:srgbClr val="0B5E66"/>
      </a:folHlink>
    </a:clrScheme>
    <a:fontScheme name="IAL Entrepreneu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GEMS Metropole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Mr. Akram</dc:creator>
  <cp:lastModifiedBy>Mr. Akram</cp:lastModifiedBy>
  <cp:revision>1</cp:revision>
  <dcterms:created xsi:type="dcterms:W3CDTF">2026-10-21T02:41:05Z</dcterms:created>
  <dcterms:modified xsi:type="dcterms:W3CDTF">2026-10-21T02:41:05Z</dcterms:modified>
</cp:coreProperties>
</file>