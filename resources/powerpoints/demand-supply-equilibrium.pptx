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 · Demand" id="{94783534-f548-4391-f864-b35fa227a21a}">
          <p14:sldIdLst>
            <p14:sldId id="259"/>
            <p14:sldId id="260"/>
            <p14:sldId id="261"/>
            <p14:sldId id="262"/>
            <p14:sldId id="263"/>
          </p14:sldIdLst>
        </p14:section>
        <p14:section name="B · Supply" id="{34f25013-5061-3584-e6ec-66748194429c}">
          <p14:sldIdLst>
            <p14:sldId id="264"/>
            <p14:sldId id="265"/>
            <p14:sldId id="266"/>
            <p14:sldId id="267"/>
          </p14:sldIdLst>
        </p14:section>
        <p14:section name="C · Markets &amp; equilibrium" id="{ab041323-791e-7c26-7a98-2014442071bd}">
          <p14:sldIdLst>
            <p14:sldId id="268"/>
            <p14:sldId id="269"/>
            <p14:sldId id="270"/>
            <p14:sldId id="271"/>
            <p14:sldId id="272"/>
          </p14:sldIdLst>
        </p14:section>
        <p14:section name="D · Exam skills: diagrams" id="{67198add-896b-d8ed-7b71-007a7f328c2c}">
          <p14:sldIdLst>
            <p14:sldId id="273"/>
            <p14:sldId id="274"/>
            <p14:sldId id="275"/>
          </p14:sldIdLst>
        </p14:section>
        <p14:section name="Default-1" id="{19dcbcfb-5c33-825c-218c-df5618ce4e67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Tutoring deck on demand, supply and market equilibrium (spec 1.3.2 'The Market', points 1-3), pitched for A-grade students. Same house style as the 1.3.3 decks. This deck covers demand, supply and equilibrium with full diagrams; PED and YED (points 4-5) follow in a second deck. Cases: Oasis Water and City Bikes. NOTE: the student calls this '1.2'; in the spec it is 1.3.2.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market model that underpins everything in Unit 1 - price, revenue, elasticity and strategy all build on it. The single most-tested skill is reading a diagram: a non-price factor SHIFTS a curve, and the new equilibrium tells you what happens to price and quantity. PED &amp; YED come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covers points 1-3; the next covers PED (4) and YED (5). Students should see the market model as the foundation - price is not set in a vacuum, it emerges from demand meeting supply, and every business decision nudges one of those curves.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curve and stress 'willing and able'. The downward slope = the law of demand. Teaser for the next slide: own-price change = movement along; any other factor = a shift of the whole curve. Axes always Price (vertical) and Quantity (horizontal).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exam distinction. Own-price change = movement along the same curve (extension when price falls, contraction when it rises). Any other factor (the PASIFIC factors) = a shift of the whole curve: right = more demanded at every price; left = less. Students lose marks by 'shifting' the curve when only the price changed, or drawing a movement when a non-price factor applies.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PASIFIC is the memory aid for the spec's non-price demand factors: Population/demographics, Advertising/marketing, Substitutes &amp; complements, Income, Fashion/tastes, Interest rates, Climate/seasonality (plus external shocks). For each, students must state the DIRECTION of the shift and apply it. Note income works oppositely for inferior goods (covered under YED next deck).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Supply slopes UP: higher selling price -&gt; more profit per unit -&gt; firms offer more. As with demand, a change in the good's own price is a movement along (extension/contraction); a non-price factor (PINTS) shifts the whole curve. Common confusion: 'price' = selling price, not production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PINTS is the memory aid for the spec's non-price supply factors: Production costs, Indirect taxes, New technology, Trade/external shocks, Subsidies. The unifying rule: cost up = left, cost down = right. Indirect taxes act like an extra cost (left); subsidies act like a cost reduction (right). Always state the direction and apply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Equilibrium = market clearing. At P* the quantity consumers want to buy equals the quantity firms want to sell. This is the anchor for everything that follows: a shift in D or S creates a temporary surplus or shortage, and price adjusts until a new equilibrium is reached.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Disequilibrium is temporary. Above P*, excess supply (surplus) forces price down; below P*, excess demand (shortage) forces price up. The market self-corrects back to E. Real examples: unsold seasonal stock discounted (surplus); concert tickets selling out / resale prices soaring (shortage).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supply fixed, a rightward demand shift raises both price and quantity; a leftward shift lowers both. The chain to verbalise: D shifts right -&gt; at the old price there is now excess demand (shortage) -&gt; price rises -&gt; supply extends until a new equilibrium E2 at a higher P and Q. Reverse for a left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demand fixed, a rightward supply shift (lower costs) lowers price and raises quantity; a leftward shift (higher costs/tax/shock) raises price and lowers quantity. Verbalise: S right -&gt; excess supply at old price -&gt; price falls -&gt; demand extends to new equilibrium at lower P, higher 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method out loud: identify which curve the factor affects (demand or supply), decide the direction (PASIFIC/PINTS and the cost-up/cost-down rule), shift that ONE curve, leave the other, then read off the new price and quantity. The four marks are: axes + original curves; correct shift; correct direction &amp; labels; new equilibrium with the P/Q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six of the eleven scenarios from your construct-practice sheet; the rest (technology -&gt; smartphones, advertising -&gt; sports shoes, rising bakery costs -&gt; bread, lower interest rates -&gt; new homes, matcha goes viral) make good extra homework. For each, students draw the full diagram and state the P and Q change. Insist on one-curve-only shifts - the commonest error is shifting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Students should leave able to draw demand and supply curves, explain the law of each, distinguish a movement from a shift, list the PASIFIC/PINTS factors with directions, find equilibrium, explain surpluses and shortages, and construct a shift diagram reading off the new P and Q. PED and YED build directly on this in the next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37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IAL Business  ·  Unit 1  ·  Spec 1.3.2 The Market  (demand, supply &amp; equilibrium)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 ·  INTERNATIONAL A LEVEL BUSINESS  ·  UNIT 1 (WBS11)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Demand, Supply &amp; Equilibrium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1.3.2 The Market (points 1–3)  —  a tutoring guide: the diagrams, the factors, and A-grade exam practice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1894637" cy="420624"/>
          </a:xfrm>
          <a:prstGeom prst="roundRect">
            <a:avLst>
              <a:gd name="adj" fmla="val 50000"/>
            </a:avLst>
          </a:prstGeom>
          <a:solidFill>
            <a:srgbClr val="0B2E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189463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(PASIFIC)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00477" y="3794760"/>
            <a:ext cx="1689811" cy="420624"/>
          </a:xfrm>
          <a:prstGeom prst="roundRect">
            <a:avLst>
              <a:gd name="adj" fmla="val 50000"/>
            </a:avLst>
          </a:prstGeom>
          <a:solidFill>
            <a:srgbClr val="0B2E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00477" y="3794760"/>
            <a:ext cx="16898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(PINTS)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73168" y="3794760"/>
            <a:ext cx="1382573" cy="420624"/>
          </a:xfrm>
          <a:prstGeom prst="roundRect">
            <a:avLst>
              <a:gd name="adj" fmla="val 50000"/>
            </a:avLst>
          </a:prstGeom>
          <a:solidFill>
            <a:srgbClr val="0B2E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3794760"/>
            <a:ext cx="138257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38621" y="3794760"/>
            <a:ext cx="1997050" cy="420624"/>
          </a:xfrm>
          <a:prstGeom prst="roundRect">
            <a:avLst>
              <a:gd name="adj" fmla="val 50000"/>
            </a:avLst>
          </a:prstGeom>
          <a:solidFill>
            <a:srgbClr val="0B2E35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8621" y="3794760"/>
            <a:ext cx="19970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D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&amp; diagrams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Akram  ·  GEMS Metropole School  ·  Cases: Oasis Water · City Bikes  ·  PED &amp; YED to follow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lesson covers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AF3F4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73936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73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07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1700784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curve, the law of demand, movement vs shift, and the factors (PASIFIC)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798064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7980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7249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2724912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supply curve, the law of supply, and the factors that shift it (PINTS)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822192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0E7C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8221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749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&amp; equilibrium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374904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demand and supply set price &amp; quantity; surpluses, shortages and shifts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26864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846320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0E7C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8463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7731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skills: diagrams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477316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and interpreting supply &amp; demand diagrams (4-mark questions)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sits in the specification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67512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1.3.2  The market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" y="1901952"/>
            <a:ext cx="6272784" cy="841248"/>
          </a:xfrm>
          <a:prstGeom prst="roundRect">
            <a:avLst>
              <a:gd name="adj" fmla="val 8696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01952"/>
            <a:ext cx="91440" cy="841248"/>
          </a:xfrm>
          <a:prstGeom prst="roundRect">
            <a:avLst/>
          </a:prstGeom>
          <a:solidFill>
            <a:srgbClr val="E0940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084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094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1168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  ← this lesson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31343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that change demand (PASIFIC)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2761488"/>
            <a:ext cx="6272784" cy="841248"/>
          </a:xfrm>
          <a:prstGeom prst="roundRect">
            <a:avLst>
              <a:gd name="adj" fmla="val 8696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2761488"/>
            <a:ext cx="91440" cy="841248"/>
          </a:xfrm>
          <a:prstGeom prst="roundRect">
            <a:avLst/>
          </a:prstGeom>
          <a:solidFill>
            <a:srgbClr val="E0940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944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0940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287121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  ← this lesson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17296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that change supply (PINTS)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9808" y="3621024"/>
            <a:ext cx="6272784" cy="841248"/>
          </a:xfrm>
          <a:prstGeom prst="roundRect">
            <a:avLst>
              <a:gd name="adj" fmla="val 8696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3621024"/>
            <a:ext cx="91440" cy="841248"/>
          </a:xfrm>
          <a:prstGeom prst="roundRect">
            <a:avLst/>
          </a:prstGeom>
          <a:solidFill>
            <a:srgbClr val="E0940F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38039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094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73075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  ← this lesson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032504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of demand &amp; supply; drawing &amp; interpreting diagrams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9808" y="4480560"/>
            <a:ext cx="6272784" cy="841248"/>
          </a:xfrm>
          <a:prstGeom prst="roundRect">
            <a:avLst>
              <a:gd name="adj" fmla="val 8696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46634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59028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 of demand (PED)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89204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calculation, interpretation, factors, revenue — next deck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9808" y="5340096"/>
            <a:ext cx="6272784" cy="841248"/>
          </a:xfrm>
          <a:prstGeom prst="roundRect">
            <a:avLst>
              <a:gd name="adj" fmla="val 8696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55229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0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544982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elasticity of demand (YED)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75157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&amp; inferior goods, interpretation — next deck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60920" y="1371600"/>
            <a:ext cx="4279392" cy="4800600"/>
          </a:xfrm>
          <a:prstGeom prst="roundRect">
            <a:avLst>
              <a:gd name="adj" fmla="val 1709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571232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links across the course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571232" y="1965960"/>
            <a:ext cx="3886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 price is where pricing strategy starts (1.3.3)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brand / few substitutes makes demand price-inelastic (PED)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changes drive demand for normal vs inferior goods (YED)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in supply explain cost and competition pressures on firms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model underpins revenue, costs and profit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737360" cy="173736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2487168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3703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part:  </a:t>
            </a:r>
            <a:pPr indent="0" marL="0">
              <a:buNone/>
            </a:pPr>
            <a:r>
              <a:rPr lang="en-US" sz="135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demand is and the law of demand  ·  the demand curve  ·  movement along vs a shift  ·  the factors that shift demand (PASIFIC)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DEMAND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demand? The demand curve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0" cy="329184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5486400"/>
            <a:ext cx="4206240" cy="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5559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542032"/>
            <a:ext cx="3063240" cy="2578608"/>
          </a:xfrm>
          <a:prstGeom prst="line">
            <a:avLst/>
          </a:prstGeom>
          <a:noFill/>
          <a:ln w="3683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5047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651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4892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5605272" cy="4754880"/>
          </a:xfrm>
          <a:prstGeom prst="roundRect">
            <a:avLst>
              <a:gd name="adj" fmla="val 1538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6364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1051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= the quantity of a good or service that consumers are willing and able to buy at a given price, in a given period of time.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of demand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10896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quantity demanded move in opposite directions (an inverse relationship)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price → more affordable → more is demanded, so the curve slopes down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‘Willing AND able’ matters — desire must be backed by the ability to pay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5212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 </a:t>
            </a:r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in the good's OWN price moves you ALONG the curve — it does not shift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DEMAND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Movement along vs a shift of the curve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0" cy="301752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5394960"/>
            <a:ext cx="3840480" cy="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5468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2606040"/>
            <a:ext cx="3200400" cy="2514600"/>
          </a:xfrm>
          <a:prstGeom prst="line">
            <a:avLst/>
          </a:prstGeom>
          <a:noFill/>
          <a:ln w="3683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5029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56232" y="2999232"/>
            <a:ext cx="128016" cy="128016"/>
          </a:xfrm>
          <a:prstGeom prst="ellipse">
            <a:avLst/>
          </a:prstGeom>
          <a:solidFill>
            <a:srgbClr val="0E3A43"/>
          </a:solidFill>
          <a:ln/>
        </p:spPr>
      </p:sp>
      <p:sp>
        <p:nvSpPr>
          <p:cNvPr id="11" name="Shape 9"/>
          <p:cNvSpPr/>
          <p:nvPr/>
        </p:nvSpPr>
        <p:spPr>
          <a:xfrm>
            <a:off x="3502152" y="4416552"/>
            <a:ext cx="128016" cy="128016"/>
          </a:xfrm>
          <a:prstGeom prst="ellipse">
            <a:avLst/>
          </a:prstGeom>
          <a:solidFill>
            <a:srgbClr val="0E3A4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993392" y="2834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696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a change in the good's OWN price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along  (extension / contraction)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2377440"/>
            <a:ext cx="0" cy="301752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5394960"/>
            <a:ext cx="3840480" cy="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2084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5468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0" y="2606040"/>
            <a:ext cx="2560320" cy="2514600"/>
          </a:xfrm>
          <a:prstGeom prst="line">
            <a:avLst/>
          </a:prstGeom>
          <a:noFill/>
          <a:ln w="33020">
            <a:solidFill>
              <a:srgbClr val="5B6B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2606040"/>
            <a:ext cx="2560320" cy="2514600"/>
          </a:xfrm>
          <a:prstGeom prst="line">
            <a:avLst/>
          </a:prstGeom>
          <a:noFill/>
          <a:ln w="36830">
            <a:solidFill>
              <a:srgbClr val="2F8A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2640" y="4937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378440" y="5029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1040" y="3657600"/>
            <a:ext cx="640080" cy="274320"/>
          </a:xfrm>
          <a:prstGeom prst="rightArrow">
            <a:avLst/>
          </a:prstGeom>
          <a:solidFill>
            <a:srgbClr val="2F8A5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5696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a NON-price factor (PASIFIC)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of the whole curve  (D1 → D2)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DEMAND FACTORS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Factors that shift demand — PASIFIC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2646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these shifts the whole demand curve:  </a:t>
            </a:r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(more demanded at every price) or left (less).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4068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21579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12140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/ demographics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38658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people, or more of the target group → right</a:t>
            </a:r>
            <a:endParaRPr lang="en-US" sz="103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651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98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Dubai's growing population → demand for rental apartments right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199632" y="2029968"/>
            <a:ext cx="544068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45936" y="21579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0940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45936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12140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Advertising, marketing &amp; branding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238658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promotion raises awareness/desire → right</a:t>
            </a:r>
            <a:endParaRPr lang="en-US" sz="103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2651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98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Water's summer campaign → demand right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48640" y="3072384"/>
            <a:ext cx="544068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" y="320040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F8A5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944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31638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Substitutes &amp; complements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34290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of a substitute rises → right; of a complement rises → left</a:t>
            </a:r>
            <a:endParaRPr lang="en-US" sz="103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69417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98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price up → demand for coffee right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199632" y="3072384"/>
            <a:ext cx="544068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45936" y="320040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C14B3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45936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1638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34290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good: income up → right; inferior good: income up → left</a:t>
            </a:r>
            <a:endParaRPr lang="en-US" sz="1030" dirty="0"/>
          </a:p>
        </p:txBody>
      </p:sp>
      <p:sp>
        <p:nvSpPr>
          <p:cNvPr id="29" name="Text 27"/>
          <p:cNvSpPr txBox="1"/>
          <p:nvPr/>
        </p:nvSpPr>
        <p:spPr>
          <a:xfrm>
            <a:off x="6382512" y="369417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98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incomes → demand for performance bikes right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544068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4944" y="42428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B5E6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4944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1207008" y="42062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Fashion, tastes &amp; preferences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207008" y="447141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fashionable → right; falls out of favour → left</a:t>
            </a:r>
            <a:endParaRPr lang="en-US" sz="103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473659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98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goes viral on social media → demand right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199632" y="4114800"/>
            <a:ext cx="544068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45936" y="42428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6B4FA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45936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42062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0" y="447141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rates → cheaper borrowing → right (big purchases)</a:t>
            </a:r>
            <a:endParaRPr lang="en-US" sz="1030" dirty="0"/>
          </a:p>
        </p:txBody>
      </p:sp>
      <p:sp>
        <p:nvSpPr>
          <p:cNvPr id="41" name="Text 39"/>
          <p:cNvSpPr txBox="1"/>
          <p:nvPr/>
        </p:nvSpPr>
        <p:spPr>
          <a:xfrm>
            <a:off x="6382512" y="473659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98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mortgage rates → demand for new homes right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48640" y="5157216"/>
            <a:ext cx="544068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94944" y="528523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9A5A2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94944" y="5285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1207008" y="524865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/ seasonality (&amp; shocks)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1207008" y="55138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or events change needs → right or left</a:t>
            </a:r>
            <a:endParaRPr lang="en-US" sz="1030" dirty="0"/>
          </a:p>
        </p:txBody>
      </p:sp>
      <p:sp>
        <p:nvSpPr>
          <p:cNvPr id="47" name="Text 45"/>
          <p:cNvSpPr txBox="1"/>
          <p:nvPr/>
        </p:nvSpPr>
        <p:spPr>
          <a:xfrm>
            <a:off x="731520" y="57790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98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Dubai summer → demand for bottled water right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EXAM PRACTICE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practice: demand (Oasis Water)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874520"/>
          </a:xfrm>
          <a:prstGeom prst="roundRect">
            <a:avLst>
              <a:gd name="adj" fmla="val 3902"/>
            </a:avLst>
          </a:prstGeom>
          <a:solidFill>
            <a:srgbClr val="0E3A43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QUESTIONS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92224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term ‘demand’.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one reason why demand for Oasis Water may increase during the summer.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two factors, other than its selling price, that are likely to affect demand for Oasis Water.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64992"/>
            <a:ext cx="5029200" cy="2834640"/>
          </a:xfrm>
          <a:prstGeom prst="roundRect">
            <a:avLst>
              <a:gd name="adj" fmla="val 2581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34747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question is testing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840480"/>
            <a:ext cx="4617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2-mark Define: quantity willing &amp; able to buy (1) + at a given price / period (1).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4-mark Explain (K1 A2 An1): one reason, two pieces of Oasis evidence, one consequence.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6-mark Analyse (K2 A2 An2): two separate non-price factors, each applied, each with a chain.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88152" y="3364992"/>
            <a:ext cx="5852160" cy="2834640"/>
          </a:xfrm>
          <a:prstGeom prst="roundRect">
            <a:avLst>
              <a:gd name="adj" fmla="val 2581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89320" y="34747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the 6-mark answer (twice)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3840480"/>
            <a:ext cx="5440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(K): name a factor — e.g. seasonality, or advertising.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(A): Dubai's hot summer / Oasis's ‘carry water’ campaign / stores near metro stations.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(An): “This means more people buy at each price → demand shifts right.”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sales rose 80,000 → 104,000 at the same AED 2 price — a shift, not a movement.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737360" cy="173736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2487168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3703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part:  </a:t>
            </a:r>
            <a:pPr indent="0" marL="0">
              <a:buNone/>
            </a:pPr>
            <a:r>
              <a:rPr lang="en-US" sz="135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supply is and the law of supply  ·  the supply curve  ·  the factors that shift supply (PINTS)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SUPPLY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supply? The supply curve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0" cy="329184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5486400"/>
            <a:ext cx="4206240" cy="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5559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flipV="1">
            <a:off x="1783080" y="2542032"/>
            <a:ext cx="3063240" cy="2578608"/>
          </a:xfrm>
          <a:prstGeom prst="line">
            <a:avLst/>
          </a:prstGeom>
          <a:noFill/>
          <a:ln w="36830">
            <a:solidFill>
              <a:srgbClr val="C14B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2468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51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5605272" cy="4754880"/>
          </a:xfrm>
          <a:prstGeom prst="roundRect">
            <a:avLst>
              <a:gd name="adj" fmla="val 1538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63640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1051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= the quantity of a good or service that producers are willing and able to offer for sale at a given price, in a given period of time.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of supply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10896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quantity supplied move in the same direction (a positive relationship)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higher price makes supplying more profitable, so firms expand output — the curve slopes up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rise = an extension of supply; a price fall = a contraction (movement along)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5212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 </a:t>
            </a:r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‘price’ here means the expected SELLING price, not the cost of making the good.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SUPPLY FACTORS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Factors that shift supply — PINTS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2646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these shifts the whole supply curve:  </a:t>
            </a:r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(more supplied at every price, lower cost) or left (less, higher cost).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54406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677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14B3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21284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14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rise (materials, wages) → left; costs fall → right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9077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Flour, electricity &amp; wages rise → supply of bread left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9632" y="2084832"/>
            <a:ext cx="54406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64224" y="22677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0940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64224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931152" y="221284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taxes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31152" y="2514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 on the good raises the cost of supplying → left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29077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tax on high-sugar drinks → supply left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56432"/>
            <a:ext cx="54406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36393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8444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technology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8862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Better, cheaper, faster production → right</a:t>
            </a:r>
            <a:endParaRPr lang="en-US" sz="108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2793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assembly → supply of smartphones right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99632" y="3456432"/>
            <a:ext cx="54406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64224" y="36393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5E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64224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931152" y="358444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&amp; external shocks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38862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war or disruption → usually left</a:t>
            </a:r>
            <a:endParaRPr lang="en-US" sz="1080" dirty="0"/>
          </a:p>
        </p:txBody>
      </p:sp>
      <p:sp>
        <p:nvSpPr>
          <p:cNvPr id="29" name="Text 27"/>
          <p:cNvSpPr txBox="1"/>
          <p:nvPr/>
        </p:nvSpPr>
        <p:spPr>
          <a:xfrm>
            <a:off x="6382512" y="42793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weather hits the cocoa harvest → supply left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828032"/>
            <a:ext cx="54406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7E1E4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3232" y="50109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8A5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3232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280160" y="495604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Subsidies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280160" y="52578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payment lowers cost → right</a:t>
            </a:r>
            <a:endParaRPr lang="en-US" sz="108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5650992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per solar panel → supply of panels right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99632" y="4718304"/>
            <a:ext cx="5440680" cy="1261872"/>
          </a:xfrm>
          <a:prstGeom prst="roundRect">
            <a:avLst>
              <a:gd name="adj" fmla="val 5797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40080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direction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515721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RAISES the cost of supplying (costs, taxes, shocks) shifts supply LEFT; anything that LOWERS it (technology, subsidies) shifts it RIGHT.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EXAM PRACTICE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practice: supply (City Bikes)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874520"/>
          </a:xfrm>
          <a:prstGeom prst="roundRect">
            <a:avLst>
              <a:gd name="adj" fmla="val 3902"/>
            </a:avLst>
          </a:prstGeom>
          <a:solidFill>
            <a:srgbClr val="0E3A43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QUESTIONS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92224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term ‘supply’.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two factors that are likely to affect the supply of bicycles at City Bikes. 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64992"/>
            <a:ext cx="5029200" cy="2834640"/>
          </a:xfrm>
          <a:prstGeom prst="roundRect">
            <a:avLst>
              <a:gd name="adj" fmla="val 2581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34747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question is testing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840480"/>
            <a:ext cx="4617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2-mark Define: quantity producers are willing &amp; able to offer (1) + at a given price / period (1).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6-mark Analyse (K2 A2 An2): two separate supply factors, each applied to City Bikes, each developed.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extract: rising cost of imported gears &amp; brakes; new assembly equipment.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88152" y="3364992"/>
            <a:ext cx="5852160" cy="2834640"/>
          </a:xfrm>
          <a:prstGeom prst="roundRect">
            <a:avLst>
              <a:gd name="adj" fmla="val 2581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89320" y="34747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the 6-mark answer (twice)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3840480"/>
            <a:ext cx="5440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(K): a factor — e.g. higher production costs, or new technology.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(A): City Bikes pays more for imported gears &amp; brakes; new equipment raises capacity 60 → 90/week.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(An): costs up → “willing to offer fewer bikes at each price → supply left”; new tech → “more at each price → supply right.”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shift direction explicitly — that earns the analysis mark.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737360" cy="173736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2487168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Markets &amp; equilibrium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3703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part:  </a:t>
            </a:r>
            <a:pPr indent="0" marL="0">
              <a:buNone/>
            </a:pPr>
            <a:r>
              <a:rPr lang="en-US" sz="135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demand and supply set the market price &amp; quantity  ·  surpluses &amp; shortages  ·  how a shift in demand or supply changes the equilibrium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EQUILIBRIUM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equilibrium: where demand meets supply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0" cy="329184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5486400"/>
            <a:ext cx="4206240" cy="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5559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542032"/>
            <a:ext cx="3063240" cy="2578608"/>
          </a:xfrm>
          <a:prstGeom prst="line">
            <a:avLst/>
          </a:prstGeom>
          <a:noFill/>
          <a:ln w="3683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5047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V="1">
            <a:off x="1783080" y="2542032"/>
            <a:ext cx="3063240" cy="2578608"/>
          </a:xfrm>
          <a:prstGeom prst="line">
            <a:avLst/>
          </a:prstGeom>
          <a:noFill/>
          <a:ln w="36830">
            <a:solidFill>
              <a:srgbClr val="C14B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2468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50692" y="3767328"/>
            <a:ext cx="128016" cy="128016"/>
          </a:xfrm>
          <a:prstGeom prst="ellipse">
            <a:avLst/>
          </a:prstGeom>
          <a:solidFill>
            <a:srgbClr val="0E3A4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4428" y="3630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3831336"/>
            <a:ext cx="1943100" cy="0"/>
          </a:xfrm>
          <a:prstGeom prst="line">
            <a:avLst/>
          </a:prstGeom>
          <a:noFill/>
          <a:ln w="15875">
            <a:solidFill>
              <a:srgbClr val="5B6B73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 flipV="1">
            <a:off x="3314700" y="3831336"/>
            <a:ext cx="0" cy="1655064"/>
          </a:xfrm>
          <a:prstGeom prst="line">
            <a:avLst/>
          </a:prstGeom>
          <a:noFill/>
          <a:ln w="15875">
            <a:solidFill>
              <a:srgbClr val="5B6B73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68680" y="3721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P*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204972" y="5541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5605272" cy="4754880"/>
          </a:xfrm>
          <a:prstGeom prst="roundRect">
            <a:avLst>
              <a:gd name="adj" fmla="val 1538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263640" y="1536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equilibrium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1920240"/>
            <a:ext cx="5074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 is where demand = supply — point 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sets the market-clearing price P* and quantity Q*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P*, everything produced is bought: no surplus, no shortage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‘pulled’ towards E whenever price is above or below it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4297680"/>
            <a:ext cx="5074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not set by a firm alone — it emerges from the interaction of demand and supply. Move either curve and both P* and Q* change.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DISEQUILIBRIUM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Surpluses &amp; shortages — how price adjusts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0" cy="329184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5486400"/>
            <a:ext cx="4206240" cy="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5559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542032"/>
            <a:ext cx="3063240" cy="2578608"/>
          </a:xfrm>
          <a:prstGeom prst="line">
            <a:avLst/>
          </a:prstGeom>
          <a:noFill/>
          <a:ln w="34925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5047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flipV="1">
            <a:off x="1783080" y="2542032"/>
            <a:ext cx="3063240" cy="2578608"/>
          </a:xfrm>
          <a:prstGeom prst="line">
            <a:avLst/>
          </a:prstGeom>
          <a:noFill/>
          <a:ln w="34925">
            <a:solidFill>
              <a:srgbClr val="C14B3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2468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50692" y="3767328"/>
            <a:ext cx="128016" cy="128016"/>
          </a:xfrm>
          <a:prstGeom prst="ellipse">
            <a:avLst/>
          </a:prstGeom>
          <a:solidFill>
            <a:srgbClr val="0E3A43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3154680"/>
            <a:ext cx="2721656" cy="0"/>
          </a:xfrm>
          <a:prstGeom prst="line">
            <a:avLst/>
          </a:prstGeom>
          <a:noFill/>
          <a:ln w="13970">
            <a:solidFill>
              <a:srgbClr val="5B6B7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502995" y="3154680"/>
            <a:ext cx="1590261" cy="0"/>
          </a:xfrm>
          <a:prstGeom prst="line">
            <a:avLst/>
          </a:prstGeom>
          <a:noFill/>
          <a:ln w="44450">
            <a:solidFill>
              <a:srgbClr val="2F8A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044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411555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371600" y="4526280"/>
            <a:ext cx="2743146" cy="0"/>
          </a:xfrm>
          <a:prstGeom prst="line">
            <a:avLst/>
          </a:prstGeom>
          <a:noFill/>
          <a:ln w="13970">
            <a:solidFill>
              <a:srgbClr val="5B6B7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481505" y="4526280"/>
            <a:ext cx="1633241" cy="0"/>
          </a:xfrm>
          <a:prstGeom prst="line">
            <a:avLst/>
          </a:prstGeom>
          <a:noFill/>
          <a:ln w="44450">
            <a:solidFill>
              <a:srgbClr val="C14B3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416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390065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35040" y="1417320"/>
            <a:ext cx="5605272" cy="2286000"/>
          </a:xfrm>
          <a:prstGeom prst="roundRect">
            <a:avLst>
              <a:gd name="adj" fmla="val 3200"/>
            </a:avLst>
          </a:prstGeom>
          <a:solidFill>
            <a:srgbClr val="E8F3EC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63640" y="1536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too HIGH (P1)  →  surplus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92024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exceeds demand (excess supply)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 stock builds up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cut the price → demand extends, supply contracts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falls back towards P*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3886200"/>
            <a:ext cx="5605272" cy="2286000"/>
          </a:xfrm>
          <a:prstGeom prst="roundRect">
            <a:avLst>
              <a:gd name="adj" fmla="val 3200"/>
            </a:avLst>
          </a:prstGeom>
          <a:solidFill>
            <a:srgbClr val="F9EAE6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263640" y="40050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too LOW (P2)  →  shortage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438912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exceeds supply (excess demand)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/ products sell out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raise the price → demand contracts, supply extends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rises back towards P*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A SHIFT IN DEMAND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shift in demand changes the equilibrium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0" cy="329184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5486400"/>
            <a:ext cx="4206240" cy="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5559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flipV="1">
            <a:off x="1783080" y="2542032"/>
            <a:ext cx="3063240" cy="2578608"/>
          </a:xfrm>
          <a:prstGeom prst="line">
            <a:avLst/>
          </a:prstGeom>
          <a:noFill/>
          <a:ln w="34925">
            <a:solidFill>
              <a:srgbClr val="C14B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2468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783080" y="2542032"/>
            <a:ext cx="3063240" cy="2578608"/>
          </a:xfrm>
          <a:prstGeom prst="line">
            <a:avLst/>
          </a:prstGeom>
          <a:noFill/>
          <a:ln w="30480">
            <a:solidFill>
              <a:srgbClr val="5B6B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5157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77440" y="2542032"/>
            <a:ext cx="3063240" cy="2578608"/>
          </a:xfrm>
          <a:prstGeom prst="line">
            <a:avLst/>
          </a:prstGeom>
          <a:noFill/>
          <a:ln w="36830">
            <a:solidFill>
              <a:srgbClr val="2F8A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68112" y="5065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50692" y="3767328"/>
            <a:ext cx="128016" cy="128016"/>
          </a:xfrm>
          <a:prstGeom prst="ellipse">
            <a:avLst/>
          </a:prstGeom>
          <a:solidFill>
            <a:srgbClr val="5B6B7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57500" y="3813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47872" y="3520440"/>
            <a:ext cx="128016" cy="128016"/>
          </a:xfrm>
          <a:prstGeom prst="ellipse">
            <a:avLst/>
          </a:prstGeom>
          <a:solidFill>
            <a:srgbClr val="0E3A4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703320" y="3364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3063240"/>
            <a:ext cx="594360" cy="237744"/>
          </a:xfrm>
          <a:prstGeom prst="rightArrow">
            <a:avLst/>
          </a:prstGeom>
          <a:solidFill>
            <a:srgbClr val="2F8A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1417320"/>
            <a:ext cx="5605272" cy="2240280"/>
          </a:xfrm>
          <a:prstGeom prst="roundRect">
            <a:avLst>
              <a:gd name="adj" fmla="val 3265"/>
            </a:avLst>
          </a:prstGeom>
          <a:solidFill>
            <a:srgbClr val="E8F3EC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63640" y="1536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RIGHT (D1 → D2)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1920240"/>
            <a:ext cx="5074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PASIFIC factor (higher income, a good ad, it becomes fashionable).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RISES and quantity RISES (E1 → E2).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3840480"/>
            <a:ext cx="5605272" cy="2331720"/>
          </a:xfrm>
          <a:prstGeom prst="roundRect">
            <a:avLst>
              <a:gd name="adj" fmla="val 3137"/>
            </a:avLst>
          </a:prstGeom>
          <a:solidFill>
            <a:srgbClr val="F9EAE6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263640" y="39593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LEFT (D1 → D0)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343400"/>
            <a:ext cx="5074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PASIFIC factor the other way (lower income, poor reviews, out of fashion).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FALLS and quantity FALLS.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A SHIFT IN SUPPLY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shift in supply changes the equilibrium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0" cy="329184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5486400"/>
            <a:ext cx="4206240" cy="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5559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542032"/>
            <a:ext cx="3063240" cy="2578608"/>
          </a:xfrm>
          <a:prstGeom prst="line">
            <a:avLst/>
          </a:prstGeom>
          <a:noFill/>
          <a:ln w="34925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5047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flipV="1">
            <a:off x="1783080" y="2542032"/>
            <a:ext cx="3063240" cy="2578608"/>
          </a:xfrm>
          <a:prstGeom prst="line">
            <a:avLst/>
          </a:prstGeom>
          <a:noFill/>
          <a:ln w="30480">
            <a:solidFill>
              <a:srgbClr val="5B6B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2560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flipV="1">
            <a:off x="2377440" y="2542032"/>
            <a:ext cx="3063240" cy="2578608"/>
          </a:xfrm>
          <a:prstGeom prst="line">
            <a:avLst/>
          </a:prstGeom>
          <a:noFill/>
          <a:ln w="36830">
            <a:solidFill>
              <a:srgbClr val="2F8A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68112" y="2487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50692" y="3767328"/>
            <a:ext cx="128016" cy="128016"/>
          </a:xfrm>
          <a:prstGeom prst="ellipse">
            <a:avLst/>
          </a:prstGeom>
          <a:solidFill>
            <a:srgbClr val="5B6B7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57500" y="3630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47872" y="4014216"/>
            <a:ext cx="128016" cy="128016"/>
          </a:xfrm>
          <a:prstGeom prst="ellipse">
            <a:avLst/>
          </a:prstGeom>
          <a:solidFill>
            <a:srgbClr val="0E3A4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70332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4526280"/>
            <a:ext cx="594360" cy="237744"/>
          </a:xfrm>
          <a:prstGeom prst="rightArrow">
            <a:avLst/>
          </a:prstGeom>
          <a:solidFill>
            <a:srgbClr val="2F8A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1417320"/>
            <a:ext cx="5605272" cy="2240280"/>
          </a:xfrm>
          <a:prstGeom prst="roundRect">
            <a:avLst>
              <a:gd name="adj" fmla="val 3265"/>
            </a:avLst>
          </a:prstGeom>
          <a:solidFill>
            <a:srgbClr val="E8F3EC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63640" y="1536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RIGHT (S1 → S2)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1920240"/>
            <a:ext cx="5074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PINTS factor that lowers cost (new technology, a subsidy).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FALLS and quantity RISES (E1 → E2).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3840480"/>
            <a:ext cx="5605272" cy="2331720"/>
          </a:xfrm>
          <a:prstGeom prst="roundRect">
            <a:avLst>
              <a:gd name="adj" fmla="val 3137"/>
            </a:avLst>
          </a:prstGeom>
          <a:solidFill>
            <a:srgbClr val="F9EAE6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263640" y="39593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4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LEFT (S1 → S0)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343400"/>
            <a:ext cx="5074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PINTS factor that raises cost (higher input costs, an indirect tax, a bad harvest).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RISES and quantity FALLS.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1737360" cy="173736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7000" dirty="0"/>
          </a:p>
        </p:txBody>
      </p:sp>
      <p:sp>
        <p:nvSpPr>
          <p:cNvPr id="4" name="Text 2"/>
          <p:cNvSpPr txBox="1"/>
          <p:nvPr/>
        </p:nvSpPr>
        <p:spPr>
          <a:xfrm>
            <a:off x="28803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2487168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skills: constructing diagrams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3703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part:  </a:t>
            </a:r>
            <a:pPr indent="0" marL="0">
              <a:buNone/>
            </a:pPr>
            <a:r>
              <a:rPr lang="en-US" sz="1350" dirty="0">
                <a:solidFill>
                  <a:srgbClr val="D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4-mark ‘construct a supply &amp; demand diagram’ question  ·  a worked example  ·  practice scenarios with answers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WORKED EXAMPLE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 a diagram: a subsidy for solar panels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0" cy="329184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5486400"/>
            <a:ext cx="4206240" cy="0"/>
          </a:xfrm>
          <a:prstGeom prst="line">
            <a:avLst/>
          </a:prstGeom>
          <a:noFill/>
          <a:ln w="19050">
            <a:solidFill>
              <a:srgbClr val="1F2A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5559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2542032"/>
            <a:ext cx="3063240" cy="2578608"/>
          </a:xfrm>
          <a:prstGeom prst="line">
            <a:avLst/>
          </a:prstGeom>
          <a:noFill/>
          <a:ln w="34925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5047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flipV="1">
            <a:off x="1783080" y="2542032"/>
            <a:ext cx="3063240" cy="2578608"/>
          </a:xfrm>
          <a:prstGeom prst="line">
            <a:avLst/>
          </a:prstGeom>
          <a:noFill/>
          <a:ln w="30480">
            <a:solidFill>
              <a:srgbClr val="5B6B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2560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flipV="1">
            <a:off x="2377440" y="2542032"/>
            <a:ext cx="3063240" cy="2578608"/>
          </a:xfrm>
          <a:prstGeom prst="line">
            <a:avLst/>
          </a:prstGeom>
          <a:noFill/>
          <a:ln w="36830">
            <a:solidFill>
              <a:srgbClr val="2F8A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68112" y="2487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50692" y="3767328"/>
            <a:ext cx="128016" cy="128016"/>
          </a:xfrm>
          <a:prstGeom prst="ellipse">
            <a:avLst/>
          </a:prstGeom>
          <a:solidFill>
            <a:srgbClr val="5B6B7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57500" y="3630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47872" y="4014216"/>
            <a:ext cx="128016" cy="128016"/>
          </a:xfrm>
          <a:prstGeom prst="ellipse">
            <a:avLst/>
          </a:prstGeom>
          <a:solidFill>
            <a:srgbClr val="0E3A4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70332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5605272" cy="2331720"/>
          </a:xfrm>
          <a:prstGeom prst="roundRect">
            <a:avLst>
              <a:gd name="adj" fmla="val 3137"/>
            </a:avLst>
          </a:prstGeom>
          <a:solidFill>
            <a:srgbClr val="EAF3F4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263640" y="1536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1920240"/>
            <a:ext cx="5074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subsidy lowers producers' costs — a SUPPLY factor (PINTS: S)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SUPPLY curve shifts RIGHT (S1 → S2); demand is unchanged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equilibrium E2: price FALLS, quantity RISES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35040" y="3931920"/>
            <a:ext cx="5605272" cy="2240280"/>
          </a:xfrm>
          <a:prstGeom prst="roundRect">
            <a:avLst>
              <a:gd name="adj" fmla="val 3265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63640" y="40507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4-mark checklist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370832"/>
            <a:ext cx="5074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labelled Price and Quantity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 and S drawn, with E1 (P1, Q1)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curve shifted the correct way (S right), labelled S2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equilibrium E2 marked, with the P and Q change shown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EXAM PRACTICE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3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Construct-a-diagram practice (4 marks each)</a:t>
            </a:r>
            <a:endParaRPr lang="en-US" sz="2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6336792"/>
                <a:gridCol w="237744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 &amp; shift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A4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Dubai's population keeps growing (rental apartments)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→ right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subsidy for solar-panel producers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→ right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of tea rises (coffee is a substitute)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→ right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weather damages the West African cocoa harvest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→ left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indirect tax on high-sugar soft drinks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→ left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incomes fall (restaurant meals, a normal good)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→ left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FBF0D8"/>
          </a:solidFill>
          <a:ln/>
          <a:effectLst>
            <a:outerShdw sx="100000" sy="100000" kx="0" ky="0" algn="bl" rotWithShape="0" blurRad="76200" dist="25400" dir="5400000">
              <a:srgbClr val="9AAAB0">
                <a:alpha val="2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5779008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</a:t>
            </a:r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ONE curve only (the one the factor affects), leave the other, then read off the new price and quantity from E2.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37376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9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market questions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4303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651760"/>
                <a:gridCol w="6702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3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4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3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4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3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40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of demand/supply: willing &amp; able, at a price, in a period.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/ Construct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one reason with evidence + a chain; OR draw a correct, fully-labelled diagram.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factors (PASIFIC / PINTS), each applied, each with a shift chain. No judgement.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 / Assess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sides, applied, + a supported judgement (mostly PED/YED — next deck).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 for the market: own-price change = move ALONG the curve; any other factor = SHIFT it. Shift one curve, find the new equilibrium, read off price and quantity.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C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Price elasticity of demand (PED) &amp; Income elasticity of demand (YED).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L Marketing">
  <a:themeElements>
    <a:clrScheme name="IAL Marketing">
      <a:dk1>
        <a:srgbClr val="1F2A33"/>
      </a:dk1>
      <a:lt1>
        <a:srgbClr val="FFFFFF"/>
      </a:lt1>
      <a:dk2>
        <a:srgbClr val="0E3A43"/>
      </a:dk2>
      <a:lt2>
        <a:srgbClr val="EAF3F4"/>
      </a:lt2>
      <a:accent1>
        <a:srgbClr val="0E7C86"/>
      </a:accent1>
      <a:accent2>
        <a:srgbClr val="E0940F"/>
      </a:accent2>
      <a:accent3>
        <a:srgbClr val="2F8A5B"/>
      </a:accent3>
      <a:accent4>
        <a:srgbClr val="C14B37"/>
      </a:accent4>
      <a:accent5>
        <a:srgbClr val="5B6B73"/>
      </a:accent5>
      <a:accent6>
        <a:srgbClr val="6B4FA0"/>
      </a:accent6>
      <a:hlink>
        <a:srgbClr val="0E7C86"/>
      </a:hlink>
      <a:folHlink>
        <a:srgbClr val="0B5E66"/>
      </a:folHlink>
    </a:clrScheme>
    <a:fontScheme name="IAL Market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GEMS Metropole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Mr. Akram</dc:creator>
  <cp:lastModifiedBy>Mr. Akram</cp:lastModifiedBy>
  <cp:revision>1</cp:revision>
  <dcterms:created xsi:type="dcterms:W3CDTF">2026-10-20T04:54:08Z</dcterms:created>
  <dcterms:modified xsi:type="dcterms:W3CDTF">2026-10-20T04:54:08Z</dcterms:modified>
</cp:coreProperties>
</file>