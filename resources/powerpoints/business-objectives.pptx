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How objectives work" id="{bfd09bb5-4209-2494-dba0-0d3cadc39295}">
          <p14:sldIdLst>
            <p14:sldId id="259"/>
            <p14:sldId id="260"/>
            <p14:sldId id="261"/>
            <p14:sldId id="262"/>
          </p14:sldIdLst>
        </p14:section>
        <p14:section name="B · Survival &amp; profit" id="{be4e8ddf-7c76-7939-950c-20d77f307255}">
          <p14:sldIdLst>
            <p14:sldId id="263"/>
            <p14:sldId id="264"/>
            <p14:sldId id="265"/>
            <p14:sldId id="266"/>
          </p14:sldIdLst>
        </p14:section>
        <p14:section name="D · A-grade exam skills" id="{993729d9-61fd-8b41-9a75-4fb60f43338e}">
          <p14:sldIdLst>
            <p14:sldId id="267"/>
            <p14:sldId id="268"/>
            <p14:sldId id="269"/>
            <p14:sldId id="270"/>
          </p14:sldIdLst>
        </p14:section>
        <p14:section name="Default-1" id="{c2a7ebc2-d661-47c1-45d2-5f17f3e526ff}">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Business objectives (spec 1.3.5 part 3 of 4), pitched for A-grade students. Covers ALL of spec 1.3.5(3): (a) survival; (b) profit maximisation; (c) other objectives - sales maximisation, market share, cost efficiency, employee welfare, customer satisfaction, social objectives. Plus the supporting framework: SMART, functions of objectives, mission → corporate → functional hierarchy, strategic vs tactical. Exam practice: Body Shop [8] (conflicting objectives) and Detox Clothes [8]/[4]. NOTE: the student calls this '1.5'; in the spec it is 1.3.5. Part 4 (business choices) is the final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spec 1.3.5(3) is covered: survival (3a), profit maximisation (3b), and the six other objectives (3c). Part A sets up the supporting framework (SMART, functions, the mission→corporate→functional hierarchy, strategic vs tactical) that the exam expects students to use. Exam practice: Body Shop [8] and Detox Clothes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of four. Objectives flow directly from motives (part 2) and drive the business choices in part 4. They also change over time - survival first, then profit/growth, then wider goals - and shift as markets change (LEGO is our example). Only Business choices (part 4) remains to complete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support. Define an objective, then SMART (Specific, Measurable, Achievable, Relevant, Time-bound). Use the worked example to show several SMART features at once: 'Increase sales of the new drink by 15% by the end of 2025.' Weak objectives ('do better') can't be tracked or motivate. OneNote: students write a SMART objective for a café and label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support. Left: the five functions of objectives (direction, measure, motivate, coordinate, decisions). Right: the hierarchy - MISSION (why we exist) → CORPORATE (whole org, long-term) → FUNCTIONAL (department, operational). Functional objectives are the 'servant' of the 'master' corporate objectives, which serve the mission. Tesla example runs top to bottom. OneNote: students draw the hierarchy with one example at each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support. Strategic objectives = long-term, Board-set, high-risk, big-resource, hard to change (the 'what'). Tactical = short-term, middle-management, low-risk, easily changed (the 'how'). Example pairing: strategic 'become EV market leader in 5 years' → tactical 'raise Model Y output 15% this quarter'. OneNote: students sort a list of objectives into strategic vs tactical.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3a-3b. SURVIVAL (reaching break-even, building a base - typical in year one or a downturn, may use penetration pricing) and PROFIT MAXIMISATION (greatest possible profit - funds growth, rewards owners, attracts investors, but survival/cash flow come first short-term). Key exam idea: objectives CHANGE over the lifecycle - survival → growth/profit → wider goals. OneNote: students note both + which suits a first-year start-up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3c - the six 'other' objectives, exactly as listed: sales maximisation (as much as possible without a loss - car dealerships, salaries linked to sales), market share (% of market - supermarkets, investor signal), cost efficiency (lean/subcontracting - transport &amp; construction), employee welfare (insurance/canteen/training → loyalty &amp; image), customer satisfaction (services → repeat sales &amp; word-of-mouth), social objectives (CSR - Body Shop USP). OneNote: students define each with a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application. Objectives DIFFER (by size, age, market, ownership, the economy) and CHANGE over time. LEGO shows the arc: survival/quality from 1932 → growth &amp; innovation (new lines, apps, the 2014 Movie) → a 2018 sales drop as kids went digital → objectives adapt again (bridge physical &amp; digital). Figures from the LEGO extract (c.2017-18) - label as such. Extension question on the LEGO sheet: 'Assess why the needs of a market may change [10]' - a good homework link to the dynamic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cases for the exam practice. BODY SHOP - ethical/social objectives ('enrich, not exploit', cruelty-free) vs rising pressure to maximise profit and expand = CONFLICTING objectives. DETOX CLOTHES (Dee Smith, 2013, designer womenswear, high-income West London, John Lewis link, wants to grow) - for the importance-of-objectives [8] and the growth [4]. OneNote: students annotate both, marking each stated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'Assess' = both sides + a brief supported judgement (unlike 'Analyse' [8], which needs none - a useful distinction to teach). Plan: conflicts (ethical sourcing raises costs → lower profit; expanding for profit may force cheaper sourcing → undermines the social mission &amp; brand) BUT the ethical USP also drives sales/loyalty, so objectives can align. Judgement: conflict is real where profit &amp; ethics trade off, but a strong ethical brand can reconcile them - depends how far expansion dilutes the mission. Students write it in OneNote, then peer-mark.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Detox builds. [8] 'Discuss importance of corporate objectives' = both sides + judgement: important (direction for growth, coordinates marketing/finance/John Lewis, motivates staff &amp; reassures investors) BUT must stay flexible in a fast-changing fashion market; judgement - important for guiding growth but review as the market shifts. [4] 'why pursue growth' = K+App+chain: growth = bigger business (K); instant hit + John Lewis deal (App); reach more affluent customers → more sales &amp; stronger brand (chain). Students write both in OneNote.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spec 1.3.5(3): survival (3a), profit maximisation (3b), and the six other objectives (3c), with the SMART/hierarchy/strategic-tactical framework. Students should define &amp; apply all objectives, use SMART, explain the hierarchy &amp; strategic vs tactical, and handle the [8] conflict and importance questions. Note the command-word point: Analyse [8] = no judgement; Discuss/Assess [8] = judgement. Final deck: Business choices (part 4) - opportunity cost &amp; trade-offs - completes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1.3.5 Entrepreneurs &amp; leaders  (Business objectives)</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Business Objectives</a:t>
            </a:r>
            <a:endParaRPr lang="en-US" sz="4400" dirty="0"/>
          </a:p>
        </p:txBody>
      </p:sp>
      <p:sp>
        <p:nvSpPr>
          <p:cNvPr id="4" name="Text 2"/>
          <p:cNvSpPr txBox="1"/>
          <p:nvPr/>
        </p:nvSpPr>
        <p:spPr>
          <a:xfrm>
            <a:off x="822960" y="2697480"/>
            <a:ext cx="1078992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1.3.5 Entrepreneurs &amp; leaders (part 3 of 4)  —  what objectives are, the objectives a business sets, and why they differ &amp; change</a:t>
            </a:r>
            <a:endParaRPr lang="en-US" sz="1500" dirty="0"/>
          </a:p>
        </p:txBody>
      </p:sp>
      <p:sp>
        <p:nvSpPr>
          <p:cNvPr id="5" name="Shape 3"/>
          <p:cNvSpPr/>
          <p:nvPr/>
        </p:nvSpPr>
        <p:spPr>
          <a:xfrm>
            <a:off x="822960" y="3749040"/>
            <a:ext cx="2424989"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49040"/>
            <a:ext cx="2424989"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SMART &amp; the hierarchy</a:t>
            </a:r>
            <a:endParaRPr lang="en-US" sz="1250" dirty="0"/>
          </a:p>
        </p:txBody>
      </p:sp>
      <p:sp>
        <p:nvSpPr>
          <p:cNvPr id="7" name="Shape 5"/>
          <p:cNvSpPr/>
          <p:nvPr/>
        </p:nvSpPr>
        <p:spPr>
          <a:xfrm>
            <a:off x="3430829" y="3749040"/>
            <a:ext cx="2424989"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3430829" y="3749040"/>
            <a:ext cx="2424989"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Survival &amp; profit max</a:t>
            </a:r>
            <a:endParaRPr lang="en-US" sz="1250" dirty="0"/>
          </a:p>
        </p:txBody>
      </p:sp>
      <p:sp>
        <p:nvSpPr>
          <p:cNvPr id="9" name="Shape 7"/>
          <p:cNvSpPr/>
          <p:nvPr/>
        </p:nvSpPr>
        <p:spPr>
          <a:xfrm>
            <a:off x="6038698" y="3749040"/>
            <a:ext cx="2322576"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6038698" y="3749040"/>
            <a:ext cx="232257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Six other objectives</a:t>
            </a:r>
            <a:endParaRPr lang="en-US" sz="1250" dirty="0"/>
          </a:p>
        </p:txBody>
      </p:sp>
      <p:sp>
        <p:nvSpPr>
          <p:cNvPr id="11" name="Shape 9"/>
          <p:cNvSpPr/>
          <p:nvPr/>
        </p:nvSpPr>
        <p:spPr>
          <a:xfrm>
            <a:off x="8544154" y="3749040"/>
            <a:ext cx="2629814"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544154" y="3749040"/>
            <a:ext cx="262981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Exam: Body Shop · Detox</a:t>
            </a:r>
            <a:endParaRPr lang="en-US" sz="1250" dirty="0"/>
          </a:p>
        </p:txBody>
      </p:sp>
      <p:sp>
        <p:nvSpPr>
          <p:cNvPr id="13" name="Text 11"/>
          <p:cNvSpPr txBox="1"/>
          <p:nvPr/>
        </p:nvSpPr>
        <p:spPr>
          <a:xfrm>
            <a:off x="822960" y="5989320"/>
            <a:ext cx="1078992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The Body Shop · Detox Clothes · LEGO · Tesla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 — spec 1.3.5(3)</a:t>
            </a:r>
            <a:endParaRPr lang="en-US" sz="2600" dirty="0"/>
          </a:p>
        </p:txBody>
      </p:sp>
      <p:sp>
        <p:nvSpPr>
          <p:cNvPr id="4" name="Shape 2"/>
          <p:cNvSpPr/>
          <p:nvPr/>
        </p:nvSpPr>
        <p:spPr>
          <a:xfrm>
            <a:off x="548640" y="1554480"/>
            <a:ext cx="11091672" cy="1005840"/>
          </a:xfrm>
          <a:prstGeom prst="roundRect">
            <a:avLst>
              <a:gd name="adj" fmla="val 7273"/>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828800"/>
            <a:ext cx="475488" cy="475488"/>
          </a:xfrm>
          <a:prstGeom prst="roundRect">
            <a:avLst>
              <a:gd name="adj" fmla="val 19231"/>
            </a:avLst>
          </a:prstGeom>
          <a:solidFill>
            <a:srgbClr val="0E7C86"/>
          </a:solidFill>
          <a:ln/>
        </p:spPr>
      </p:sp>
      <p:sp>
        <p:nvSpPr>
          <p:cNvPr id="6" name="Text 4"/>
          <p:cNvSpPr txBox="1"/>
          <p:nvPr/>
        </p:nvSpPr>
        <p:spPr>
          <a:xfrm>
            <a:off x="731520" y="182880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A</a:t>
            </a:r>
            <a:endParaRPr lang="en-US" sz="2100" dirty="0"/>
          </a:p>
        </p:txBody>
      </p:sp>
      <p:sp>
        <p:nvSpPr>
          <p:cNvPr id="7" name="Text 5"/>
          <p:cNvSpPr txBox="1"/>
          <p:nvPr/>
        </p:nvSpPr>
        <p:spPr>
          <a:xfrm>
            <a:off x="1389888" y="1755648"/>
            <a:ext cx="420624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What objectives are &amp; how they work</a:t>
            </a:r>
            <a:endParaRPr lang="en-US" sz="1450" dirty="0"/>
          </a:p>
        </p:txBody>
      </p:sp>
      <p:sp>
        <p:nvSpPr>
          <p:cNvPr id="8" name="Text 6"/>
          <p:cNvSpPr txBox="1"/>
          <p:nvPr/>
        </p:nvSpPr>
        <p:spPr>
          <a:xfrm>
            <a:off x="5669280" y="1755648"/>
            <a:ext cx="4983480" cy="603504"/>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SMART, functions, the hierarchy, strategic vs tactical</a:t>
            </a:r>
            <a:endParaRPr lang="en-US" sz="1100" dirty="0"/>
          </a:p>
        </p:txBody>
      </p:sp>
      <p:sp>
        <p:nvSpPr>
          <p:cNvPr id="9" name="Shape 7"/>
          <p:cNvSpPr/>
          <p:nvPr/>
        </p:nvSpPr>
        <p:spPr>
          <a:xfrm>
            <a:off x="10698480" y="1883664"/>
            <a:ext cx="841248" cy="347472"/>
          </a:xfrm>
          <a:prstGeom prst="roundRect">
            <a:avLst>
              <a:gd name="adj" fmla="val 26316"/>
            </a:avLst>
          </a:prstGeom>
          <a:solidFill>
            <a:srgbClr val="FBF0D8"/>
          </a:solidFill>
          <a:ln/>
        </p:spPr>
      </p:sp>
      <p:sp>
        <p:nvSpPr>
          <p:cNvPr id="10" name="Text 8"/>
          <p:cNvSpPr txBox="1"/>
          <p:nvPr/>
        </p:nvSpPr>
        <p:spPr>
          <a:xfrm>
            <a:off x="10698480" y="1883664"/>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support</a:t>
            </a:r>
            <a:endParaRPr lang="en-US" sz="850" dirty="0"/>
          </a:p>
        </p:txBody>
      </p:sp>
      <p:sp>
        <p:nvSpPr>
          <p:cNvPr id="11" name="Shape 9"/>
          <p:cNvSpPr/>
          <p:nvPr/>
        </p:nvSpPr>
        <p:spPr>
          <a:xfrm>
            <a:off x="548640" y="2670048"/>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731520" y="2944368"/>
            <a:ext cx="475488" cy="475488"/>
          </a:xfrm>
          <a:prstGeom prst="roundRect">
            <a:avLst>
              <a:gd name="adj" fmla="val 19231"/>
            </a:avLst>
          </a:prstGeom>
          <a:solidFill>
            <a:srgbClr val="0E7C86"/>
          </a:solidFill>
          <a:ln/>
        </p:spPr>
      </p:sp>
      <p:sp>
        <p:nvSpPr>
          <p:cNvPr id="13" name="Text 11"/>
          <p:cNvSpPr txBox="1"/>
          <p:nvPr/>
        </p:nvSpPr>
        <p:spPr>
          <a:xfrm>
            <a:off x="731520" y="2944368"/>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B</a:t>
            </a:r>
            <a:endParaRPr lang="en-US" sz="2100" dirty="0"/>
          </a:p>
        </p:txBody>
      </p:sp>
      <p:sp>
        <p:nvSpPr>
          <p:cNvPr id="14" name="Text 12"/>
          <p:cNvSpPr txBox="1"/>
          <p:nvPr/>
        </p:nvSpPr>
        <p:spPr>
          <a:xfrm>
            <a:off x="1389888" y="2871216"/>
            <a:ext cx="420624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Survival &amp; profit maximisation</a:t>
            </a:r>
            <a:endParaRPr lang="en-US" sz="1450" dirty="0"/>
          </a:p>
        </p:txBody>
      </p:sp>
      <p:sp>
        <p:nvSpPr>
          <p:cNvPr id="15" name="Text 13"/>
          <p:cNvSpPr txBox="1"/>
          <p:nvPr/>
        </p:nvSpPr>
        <p:spPr>
          <a:xfrm>
            <a:off x="5669280" y="2871216"/>
            <a:ext cx="4983480" cy="603504"/>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The two core objectives, and when each matters</a:t>
            </a:r>
            <a:endParaRPr lang="en-US" sz="1100" dirty="0"/>
          </a:p>
        </p:txBody>
      </p:sp>
      <p:sp>
        <p:nvSpPr>
          <p:cNvPr id="16" name="Shape 14"/>
          <p:cNvSpPr/>
          <p:nvPr/>
        </p:nvSpPr>
        <p:spPr>
          <a:xfrm>
            <a:off x="10698480" y="2999232"/>
            <a:ext cx="841248" cy="347472"/>
          </a:xfrm>
          <a:prstGeom prst="roundRect">
            <a:avLst>
              <a:gd name="adj" fmla="val 26316"/>
            </a:avLst>
          </a:prstGeom>
          <a:solidFill>
            <a:srgbClr val="FBF0D8"/>
          </a:solidFill>
          <a:ln/>
        </p:spPr>
      </p:sp>
      <p:sp>
        <p:nvSpPr>
          <p:cNvPr id="17" name="Text 15"/>
          <p:cNvSpPr txBox="1"/>
          <p:nvPr/>
        </p:nvSpPr>
        <p:spPr>
          <a:xfrm>
            <a:off x="10698480" y="2999232"/>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3a–3b</a:t>
            </a:r>
            <a:endParaRPr lang="en-US" sz="850" dirty="0"/>
          </a:p>
        </p:txBody>
      </p:sp>
      <p:sp>
        <p:nvSpPr>
          <p:cNvPr id="18" name="Shape 16"/>
          <p:cNvSpPr/>
          <p:nvPr/>
        </p:nvSpPr>
        <p:spPr>
          <a:xfrm>
            <a:off x="548640" y="3785616"/>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31520" y="4059936"/>
            <a:ext cx="475488" cy="475488"/>
          </a:xfrm>
          <a:prstGeom prst="roundRect">
            <a:avLst>
              <a:gd name="adj" fmla="val 19231"/>
            </a:avLst>
          </a:prstGeom>
          <a:solidFill>
            <a:srgbClr val="0E7C86"/>
          </a:solidFill>
          <a:ln/>
        </p:spPr>
      </p:sp>
      <p:sp>
        <p:nvSpPr>
          <p:cNvPr id="20" name="Text 18"/>
          <p:cNvSpPr txBox="1"/>
          <p:nvPr/>
        </p:nvSpPr>
        <p:spPr>
          <a:xfrm>
            <a:off x="731520" y="4059936"/>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C</a:t>
            </a:r>
            <a:endParaRPr lang="en-US" sz="2100" dirty="0"/>
          </a:p>
        </p:txBody>
      </p:sp>
      <p:sp>
        <p:nvSpPr>
          <p:cNvPr id="21" name="Text 19"/>
          <p:cNvSpPr txBox="1"/>
          <p:nvPr/>
        </p:nvSpPr>
        <p:spPr>
          <a:xfrm>
            <a:off x="1389888" y="3986784"/>
            <a:ext cx="420624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six other objectives</a:t>
            </a:r>
            <a:endParaRPr lang="en-US" sz="1450" dirty="0"/>
          </a:p>
        </p:txBody>
      </p:sp>
      <p:sp>
        <p:nvSpPr>
          <p:cNvPr id="22" name="Text 20"/>
          <p:cNvSpPr txBox="1"/>
          <p:nvPr/>
        </p:nvSpPr>
        <p:spPr>
          <a:xfrm>
            <a:off x="5669280" y="3986784"/>
            <a:ext cx="4983480" cy="603504"/>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Sales max, market share, cost efficiency, welfare, satisfaction, social</a:t>
            </a:r>
            <a:endParaRPr lang="en-US" sz="1100" dirty="0"/>
          </a:p>
        </p:txBody>
      </p:sp>
      <p:sp>
        <p:nvSpPr>
          <p:cNvPr id="23" name="Shape 21"/>
          <p:cNvSpPr/>
          <p:nvPr/>
        </p:nvSpPr>
        <p:spPr>
          <a:xfrm>
            <a:off x="10698480" y="4114800"/>
            <a:ext cx="841248" cy="347472"/>
          </a:xfrm>
          <a:prstGeom prst="roundRect">
            <a:avLst>
              <a:gd name="adj" fmla="val 26316"/>
            </a:avLst>
          </a:prstGeom>
          <a:solidFill>
            <a:srgbClr val="FBF0D8"/>
          </a:solidFill>
          <a:ln/>
        </p:spPr>
      </p:sp>
      <p:sp>
        <p:nvSpPr>
          <p:cNvPr id="24" name="Text 22"/>
          <p:cNvSpPr txBox="1"/>
          <p:nvPr/>
        </p:nvSpPr>
        <p:spPr>
          <a:xfrm>
            <a:off x="10698480" y="4114800"/>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3c</a:t>
            </a:r>
            <a:endParaRPr lang="en-US" sz="850" dirty="0"/>
          </a:p>
        </p:txBody>
      </p:sp>
      <p:sp>
        <p:nvSpPr>
          <p:cNvPr id="25" name="Shape 23"/>
          <p:cNvSpPr/>
          <p:nvPr/>
        </p:nvSpPr>
        <p:spPr>
          <a:xfrm>
            <a:off x="548640" y="490118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731520" y="5175504"/>
            <a:ext cx="475488" cy="475488"/>
          </a:xfrm>
          <a:prstGeom prst="roundRect">
            <a:avLst>
              <a:gd name="adj" fmla="val 19231"/>
            </a:avLst>
          </a:prstGeom>
          <a:solidFill>
            <a:srgbClr val="0E7C86"/>
          </a:solidFill>
          <a:ln/>
        </p:spPr>
      </p:sp>
      <p:sp>
        <p:nvSpPr>
          <p:cNvPr id="27" name="Text 25"/>
          <p:cNvSpPr txBox="1"/>
          <p:nvPr/>
        </p:nvSpPr>
        <p:spPr>
          <a:xfrm>
            <a:off x="731520" y="5175504"/>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D</a:t>
            </a:r>
            <a:endParaRPr lang="en-US" sz="2100" dirty="0"/>
          </a:p>
        </p:txBody>
      </p:sp>
      <p:sp>
        <p:nvSpPr>
          <p:cNvPr id="28" name="Text 26"/>
          <p:cNvSpPr txBox="1"/>
          <p:nvPr/>
        </p:nvSpPr>
        <p:spPr>
          <a:xfrm>
            <a:off x="1389888" y="5102352"/>
            <a:ext cx="420624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A-grade exam skills</a:t>
            </a:r>
            <a:endParaRPr lang="en-US" sz="1450" dirty="0"/>
          </a:p>
        </p:txBody>
      </p:sp>
      <p:sp>
        <p:nvSpPr>
          <p:cNvPr id="29" name="Text 27"/>
          <p:cNvSpPr txBox="1"/>
          <p:nvPr/>
        </p:nvSpPr>
        <p:spPr>
          <a:xfrm>
            <a:off x="5669280" y="5102352"/>
            <a:ext cx="4983480" cy="603504"/>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Body Shop [8] conflict · Detox Clothes [8] &amp; [4]</a:t>
            </a:r>
            <a:endParaRPr lang="en-US" sz="1100" dirty="0"/>
          </a:p>
        </p:txBody>
      </p:sp>
      <p:sp>
        <p:nvSpPr>
          <p:cNvPr id="30" name="Shape 28"/>
          <p:cNvSpPr/>
          <p:nvPr/>
        </p:nvSpPr>
        <p:spPr>
          <a:xfrm>
            <a:off x="10698480" y="5230368"/>
            <a:ext cx="841248" cy="347472"/>
          </a:xfrm>
          <a:prstGeom prst="roundRect">
            <a:avLst>
              <a:gd name="adj" fmla="val 26316"/>
            </a:avLst>
          </a:prstGeom>
          <a:solidFill>
            <a:srgbClr val="FBF0D8"/>
          </a:solidFill>
          <a:ln/>
        </p:spPr>
      </p:sp>
      <p:sp>
        <p:nvSpPr>
          <p:cNvPr id="31" name="Text 29"/>
          <p:cNvSpPr txBox="1"/>
          <p:nvPr/>
        </p:nvSpPr>
        <p:spPr>
          <a:xfrm>
            <a:off x="10698480" y="5230368"/>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a:t>
            </a:r>
            <a:endParaRPr lang="en-US" sz="8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1.3.5 Entrepreneurs &amp; leaders</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1.3.5  Entrepreneurs &amp; leaders</a:t>
            </a:r>
            <a:endParaRPr lang="en-US" sz="1350" dirty="0"/>
          </a:p>
        </p:txBody>
      </p:sp>
      <p:sp>
        <p:nvSpPr>
          <p:cNvPr id="6" name="Shape 4"/>
          <p:cNvSpPr/>
          <p:nvPr/>
        </p:nvSpPr>
        <p:spPr>
          <a:xfrm>
            <a:off x="749808" y="195681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212848"/>
            <a:ext cx="457200" cy="457200"/>
          </a:xfrm>
          <a:prstGeom prst="roundRect">
            <a:avLst>
              <a:gd name="adj" fmla="val 20000"/>
            </a:avLst>
          </a:prstGeom>
          <a:solidFill>
            <a:srgbClr val="0E7C86"/>
          </a:solidFill>
          <a:ln/>
        </p:spPr>
      </p:sp>
      <p:sp>
        <p:nvSpPr>
          <p:cNvPr id="8" name="Text 6"/>
          <p:cNvSpPr txBox="1"/>
          <p:nvPr/>
        </p:nvSpPr>
        <p:spPr>
          <a:xfrm>
            <a:off x="914400" y="221284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13969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Role of an entrepreneur</a:t>
            </a:r>
            <a:endParaRPr lang="en-US" sz="1250" dirty="0"/>
          </a:p>
        </p:txBody>
      </p:sp>
      <p:sp>
        <p:nvSpPr>
          <p:cNvPr id="10" name="Text 8"/>
          <p:cNvSpPr txBox="1"/>
          <p:nvPr/>
        </p:nvSpPr>
        <p:spPr>
          <a:xfrm>
            <a:off x="1508760" y="250545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creating, running, intrapreneurship, barriers, risk — done</a:t>
            </a:r>
            <a:endParaRPr lang="en-US" sz="1030" dirty="0"/>
          </a:p>
        </p:txBody>
      </p:sp>
      <p:sp>
        <p:nvSpPr>
          <p:cNvPr id="11" name="Shape 9"/>
          <p:cNvSpPr/>
          <p:nvPr/>
        </p:nvSpPr>
        <p:spPr>
          <a:xfrm>
            <a:off x="749808" y="305409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3310128"/>
            <a:ext cx="457200" cy="457200"/>
          </a:xfrm>
          <a:prstGeom prst="roundRect">
            <a:avLst>
              <a:gd name="adj" fmla="val 20000"/>
            </a:avLst>
          </a:prstGeom>
          <a:solidFill>
            <a:srgbClr val="0E7C86"/>
          </a:solidFill>
          <a:ln/>
        </p:spPr>
      </p:sp>
      <p:sp>
        <p:nvSpPr>
          <p:cNvPr id="13" name="Text 11"/>
          <p:cNvSpPr txBox="1"/>
          <p:nvPr/>
        </p:nvSpPr>
        <p:spPr>
          <a:xfrm>
            <a:off x="914400" y="33101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323697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Entrepreneurial motives &amp; characteristics</a:t>
            </a:r>
            <a:endParaRPr lang="en-US" sz="1250" dirty="0"/>
          </a:p>
        </p:txBody>
      </p:sp>
      <p:sp>
        <p:nvSpPr>
          <p:cNvPr id="15" name="Text 13"/>
          <p:cNvSpPr txBox="1"/>
          <p:nvPr/>
        </p:nvSpPr>
        <p:spPr>
          <a:xfrm>
            <a:off x="1508760" y="360273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characteristics &amp; skills; financial &amp; non-financial motives — done</a:t>
            </a:r>
            <a:endParaRPr lang="en-US" sz="1030" dirty="0"/>
          </a:p>
        </p:txBody>
      </p:sp>
      <p:sp>
        <p:nvSpPr>
          <p:cNvPr id="16" name="Shape 14"/>
          <p:cNvSpPr/>
          <p:nvPr/>
        </p:nvSpPr>
        <p:spPr>
          <a:xfrm>
            <a:off x="749808" y="4151376"/>
            <a:ext cx="6272784" cy="987552"/>
          </a:xfrm>
          <a:prstGeom prst="roundRect">
            <a:avLst>
              <a:gd name="adj" fmla="val 7407"/>
            </a:avLst>
          </a:prstGeom>
          <a:solidFill>
            <a:srgbClr val="FBF0D8"/>
          </a:solidFill>
          <a:ln/>
          <a:effectLst>
            <a:outerShdw sx="100000" sy="100000" kx="0" ky="0" algn="bl" rotWithShape="0" blurRad="76200" dist="25400" dir="5400000">
              <a:srgbClr val="9AAAB0">
                <a:alpha val="28000"/>
              </a:srgbClr>
            </a:outerShdw>
          </a:effectLst>
        </p:spPr>
      </p:sp>
      <p:sp>
        <p:nvSpPr>
          <p:cNvPr id="17" name="Shape 15"/>
          <p:cNvSpPr/>
          <p:nvPr/>
        </p:nvSpPr>
        <p:spPr>
          <a:xfrm>
            <a:off x="749808" y="4151376"/>
            <a:ext cx="91440" cy="987552"/>
          </a:xfrm>
          <a:prstGeom prst="roundRect">
            <a:avLst/>
          </a:prstGeom>
          <a:solidFill>
            <a:srgbClr val="E0940F"/>
          </a:solidFill>
          <a:ln/>
        </p:spPr>
      </p:sp>
      <p:sp>
        <p:nvSpPr>
          <p:cNvPr id="18" name="Shape 16"/>
          <p:cNvSpPr/>
          <p:nvPr/>
        </p:nvSpPr>
        <p:spPr>
          <a:xfrm>
            <a:off x="914400" y="4407408"/>
            <a:ext cx="457200" cy="457200"/>
          </a:xfrm>
          <a:prstGeom prst="roundRect">
            <a:avLst>
              <a:gd name="adj" fmla="val 20000"/>
            </a:avLst>
          </a:prstGeom>
          <a:solidFill>
            <a:srgbClr val="E0940F"/>
          </a:solidFill>
          <a:ln/>
        </p:spPr>
      </p:sp>
      <p:sp>
        <p:nvSpPr>
          <p:cNvPr id="19" name="Text 17"/>
          <p:cNvSpPr txBox="1"/>
          <p:nvPr/>
        </p:nvSpPr>
        <p:spPr>
          <a:xfrm>
            <a:off x="914400" y="440740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0" name="Text 18"/>
          <p:cNvSpPr txBox="1"/>
          <p:nvPr/>
        </p:nvSpPr>
        <p:spPr>
          <a:xfrm>
            <a:off x="1508760" y="433425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Business objectives   ← this lesson</a:t>
            </a:r>
            <a:endParaRPr lang="en-US" sz="1250" dirty="0"/>
          </a:p>
        </p:txBody>
      </p:sp>
      <p:sp>
        <p:nvSpPr>
          <p:cNvPr id="21" name="Text 19"/>
          <p:cNvSpPr txBox="1"/>
          <p:nvPr/>
        </p:nvSpPr>
        <p:spPr>
          <a:xfrm>
            <a:off x="1508760" y="470001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survival, profit max, and the six other objectives</a:t>
            </a:r>
            <a:endParaRPr lang="en-US" sz="1030" dirty="0"/>
          </a:p>
        </p:txBody>
      </p:sp>
      <p:sp>
        <p:nvSpPr>
          <p:cNvPr id="22" name="Shape 20"/>
          <p:cNvSpPr/>
          <p:nvPr/>
        </p:nvSpPr>
        <p:spPr>
          <a:xfrm>
            <a:off x="749808" y="524865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23" name="Shape 21"/>
          <p:cNvSpPr/>
          <p:nvPr/>
        </p:nvSpPr>
        <p:spPr>
          <a:xfrm>
            <a:off x="914400" y="5504688"/>
            <a:ext cx="457200" cy="457200"/>
          </a:xfrm>
          <a:prstGeom prst="roundRect">
            <a:avLst>
              <a:gd name="adj" fmla="val 20000"/>
            </a:avLst>
          </a:prstGeom>
          <a:solidFill>
            <a:srgbClr val="0E7C86"/>
          </a:solidFill>
          <a:ln/>
        </p:spPr>
      </p:sp>
      <p:sp>
        <p:nvSpPr>
          <p:cNvPr id="24" name="Text 22"/>
          <p:cNvSpPr txBox="1"/>
          <p:nvPr/>
        </p:nvSpPr>
        <p:spPr>
          <a:xfrm>
            <a:off x="914400" y="55046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543153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Business choices</a:t>
            </a:r>
            <a:endParaRPr lang="en-US" sz="1250" dirty="0"/>
          </a:p>
        </p:txBody>
      </p:sp>
      <p:sp>
        <p:nvSpPr>
          <p:cNvPr id="26" name="Text 24"/>
          <p:cNvSpPr txBox="1"/>
          <p:nvPr/>
        </p:nvSpPr>
        <p:spPr>
          <a:xfrm>
            <a:off x="1508760" y="579729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opportunity cost &amp; trade-offs — final part, next</a:t>
            </a:r>
            <a:endParaRPr lang="en-US" sz="1030" dirty="0"/>
          </a:p>
        </p:txBody>
      </p:sp>
      <p:sp>
        <p:nvSpPr>
          <p:cNvPr id="27" name="Shape 25"/>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28" name="Text 26"/>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29" name="Text 27"/>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Motives (part 2) shape the objectives a firm sets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Profit max vs satisficing feeds straight into these objectives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Objectives drive the business choices in part 4</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Social objectives link to ethics &amp; CSR (Unit 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Objectives change over the business lifecycle &amp; as markets shift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What objectives are &amp; how they work</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SMART objectives  ·  what objectives do for a business  ·  the mission → corporate → functional hierarchy  ·  strategic vs tactical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DEFINED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Objectives &amp; what makes them SMART</a:t>
            </a:r>
            <a:endParaRPr lang="en-US" sz="2600" dirty="0"/>
          </a:p>
        </p:txBody>
      </p:sp>
      <p:sp>
        <p:nvSpPr>
          <p:cNvPr id="4" name="Shape 2"/>
          <p:cNvSpPr/>
          <p:nvPr/>
        </p:nvSpPr>
        <p:spPr>
          <a:xfrm>
            <a:off x="548640" y="1371600"/>
            <a:ext cx="11091672" cy="822960"/>
          </a:xfrm>
          <a:prstGeom prst="roundRect">
            <a:avLst>
              <a:gd name="adj" fmla="val 8889"/>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621792"/>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Business objective:  </a:t>
            </a:r>
            <a:pPr indent="0" marL="0">
              <a:buNone/>
            </a:pPr>
            <a:r>
              <a:rPr lang="en-US" sz="1350" dirty="0">
                <a:solidFill>
                  <a:srgbClr val="1F2A33"/>
                </a:solidFill>
                <a:latin typeface="Calibri" pitchFamily="34" charset="0"/>
                <a:ea typeface="Calibri" pitchFamily="34" charset="-122"/>
                <a:cs typeface="Calibri" pitchFamily="34" charset="-120"/>
              </a:rPr>
              <a:t>a specific, measurable target a business sets to help achieve its overall aim or mission. Objectives guide decisions, set a benchmark for performance, and align every department.</a:t>
            </a:r>
            <a:endParaRPr lang="en-US" sz="1350" dirty="0"/>
          </a:p>
        </p:txBody>
      </p:sp>
      <p:sp>
        <p:nvSpPr>
          <p:cNvPr id="6" name="Shape 4"/>
          <p:cNvSpPr/>
          <p:nvPr/>
        </p:nvSpPr>
        <p:spPr>
          <a:xfrm>
            <a:off x="548640" y="2377440"/>
            <a:ext cx="2130552" cy="3108960"/>
          </a:xfrm>
          <a:prstGeom prst="roundRect">
            <a:avLst>
              <a:gd name="adj" fmla="val 34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377440"/>
            <a:ext cx="2130552" cy="91440"/>
          </a:xfrm>
          <a:prstGeom prst="roundRect">
            <a:avLst/>
          </a:prstGeom>
          <a:solidFill>
            <a:srgbClr val="0E7C86"/>
          </a:solidFill>
          <a:ln/>
        </p:spPr>
      </p:sp>
      <p:sp>
        <p:nvSpPr>
          <p:cNvPr id="8" name="Shape 6"/>
          <p:cNvSpPr/>
          <p:nvPr/>
        </p:nvSpPr>
        <p:spPr>
          <a:xfrm>
            <a:off x="1248156" y="2606040"/>
            <a:ext cx="731520" cy="731520"/>
          </a:xfrm>
          <a:prstGeom prst="roundRect">
            <a:avLst>
              <a:gd name="adj" fmla="val 12500"/>
            </a:avLst>
          </a:prstGeom>
          <a:solidFill>
            <a:srgbClr val="0E7C86"/>
          </a:solidFill>
          <a:ln/>
        </p:spPr>
      </p:sp>
      <p:sp>
        <p:nvSpPr>
          <p:cNvPr id="9" name="Text 7"/>
          <p:cNvSpPr txBox="1"/>
          <p:nvPr/>
        </p:nvSpPr>
        <p:spPr>
          <a:xfrm>
            <a:off x="1248156" y="260604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S</a:t>
            </a:r>
            <a:endParaRPr lang="en-US" sz="3200" dirty="0"/>
          </a:p>
        </p:txBody>
      </p:sp>
      <p:sp>
        <p:nvSpPr>
          <p:cNvPr id="10" name="Text 8"/>
          <p:cNvSpPr txBox="1"/>
          <p:nvPr/>
        </p:nvSpPr>
        <p:spPr>
          <a:xfrm>
            <a:off x="640080" y="3474720"/>
            <a:ext cx="1947672" cy="365760"/>
          </a:xfrm>
          <a:prstGeom prst="rect">
            <a:avLst/>
          </a:prstGeom>
          <a:noFill/>
          <a:ln/>
        </p:spPr>
        <p:txBody>
          <a:bodyPr wrap="square" lIns="0" tIns="0" rIns="0" bIns="0" rtlCol="0" anchor="ctr"/>
          <a:lstStyle/>
          <a:p>
            <a:pPr algn="ctr" indent="0" marL="0">
              <a:buNone/>
            </a:pPr>
            <a:r>
              <a:rPr lang="en-US" sz="1400" b="1" dirty="0">
                <a:solidFill>
                  <a:srgbClr val="0E7C86"/>
                </a:solidFill>
                <a:latin typeface="Calibri" pitchFamily="34" charset="0"/>
                <a:ea typeface="Calibri" pitchFamily="34" charset="-122"/>
                <a:cs typeface="Calibri" pitchFamily="34" charset="-120"/>
              </a:rPr>
              <a:t>Specific</a:t>
            </a:r>
            <a:endParaRPr lang="en-US" sz="1400" dirty="0"/>
          </a:p>
        </p:txBody>
      </p:sp>
      <p:sp>
        <p:nvSpPr>
          <p:cNvPr id="11" name="Text 9"/>
          <p:cNvSpPr txBox="1"/>
          <p:nvPr/>
        </p:nvSpPr>
        <p:spPr>
          <a:xfrm>
            <a:off x="685800" y="3886200"/>
            <a:ext cx="1856232" cy="1371600"/>
          </a:xfrm>
          <a:prstGeom prst="rect">
            <a:avLst/>
          </a:prstGeom>
          <a:noFill/>
          <a:ln/>
        </p:spPr>
        <p:txBody>
          <a:bodyPr wrap="square" lIns="0" tIns="0" rIns="0" bIns="0" rtlCol="0" anchor="t"/>
          <a:lstStyle/>
          <a:p>
            <a:pPr algn="ctr" indent="0" marL="0">
              <a:buNone/>
            </a:pPr>
            <a:r>
              <a:rPr lang="en-US" sz="1150" dirty="0">
                <a:solidFill>
                  <a:srgbClr val="1F2A33"/>
                </a:solidFill>
                <a:latin typeface="Calibri" pitchFamily="34" charset="0"/>
                <a:ea typeface="Calibri" pitchFamily="34" charset="-122"/>
                <a:cs typeface="Calibri" pitchFamily="34" charset="-120"/>
              </a:rPr>
              <a:t>Clear &amp; easy to understand</a:t>
            </a:r>
            <a:endParaRPr lang="en-US" sz="1150" dirty="0"/>
          </a:p>
        </p:txBody>
      </p:sp>
      <p:sp>
        <p:nvSpPr>
          <p:cNvPr id="12" name="Shape 10"/>
          <p:cNvSpPr/>
          <p:nvPr/>
        </p:nvSpPr>
        <p:spPr>
          <a:xfrm>
            <a:off x="2788920" y="2377440"/>
            <a:ext cx="2130552" cy="3108960"/>
          </a:xfrm>
          <a:prstGeom prst="roundRect">
            <a:avLst>
              <a:gd name="adj" fmla="val 34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2788920" y="2377440"/>
            <a:ext cx="2130552" cy="91440"/>
          </a:xfrm>
          <a:prstGeom prst="roundRect">
            <a:avLst/>
          </a:prstGeom>
          <a:solidFill>
            <a:srgbClr val="E0940F"/>
          </a:solidFill>
          <a:ln/>
        </p:spPr>
      </p:sp>
      <p:sp>
        <p:nvSpPr>
          <p:cNvPr id="14" name="Shape 12"/>
          <p:cNvSpPr/>
          <p:nvPr/>
        </p:nvSpPr>
        <p:spPr>
          <a:xfrm>
            <a:off x="3488436" y="2606040"/>
            <a:ext cx="731520" cy="731520"/>
          </a:xfrm>
          <a:prstGeom prst="roundRect">
            <a:avLst>
              <a:gd name="adj" fmla="val 12500"/>
            </a:avLst>
          </a:prstGeom>
          <a:solidFill>
            <a:srgbClr val="E0940F"/>
          </a:solidFill>
          <a:ln/>
        </p:spPr>
      </p:sp>
      <p:sp>
        <p:nvSpPr>
          <p:cNvPr id="15" name="Text 13"/>
          <p:cNvSpPr txBox="1"/>
          <p:nvPr/>
        </p:nvSpPr>
        <p:spPr>
          <a:xfrm>
            <a:off x="3488436" y="260604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M</a:t>
            </a:r>
            <a:endParaRPr lang="en-US" sz="3200" dirty="0"/>
          </a:p>
        </p:txBody>
      </p:sp>
      <p:sp>
        <p:nvSpPr>
          <p:cNvPr id="16" name="Text 14"/>
          <p:cNvSpPr txBox="1"/>
          <p:nvPr/>
        </p:nvSpPr>
        <p:spPr>
          <a:xfrm>
            <a:off x="2880360" y="3474720"/>
            <a:ext cx="1947672" cy="365760"/>
          </a:xfrm>
          <a:prstGeom prst="rect">
            <a:avLst/>
          </a:prstGeom>
          <a:noFill/>
          <a:ln/>
        </p:spPr>
        <p:txBody>
          <a:bodyPr wrap="square" lIns="0" tIns="0" rIns="0" bIns="0" rtlCol="0" anchor="ctr"/>
          <a:lstStyle/>
          <a:p>
            <a:pPr algn="ctr" indent="0" marL="0">
              <a:buNone/>
            </a:pPr>
            <a:r>
              <a:rPr lang="en-US" sz="1400" b="1" dirty="0">
                <a:solidFill>
                  <a:srgbClr val="E0940F"/>
                </a:solidFill>
                <a:latin typeface="Calibri" pitchFamily="34" charset="0"/>
                <a:ea typeface="Calibri" pitchFamily="34" charset="-122"/>
                <a:cs typeface="Calibri" pitchFamily="34" charset="-120"/>
              </a:rPr>
              <a:t>Measurable</a:t>
            </a:r>
            <a:endParaRPr lang="en-US" sz="1400" dirty="0"/>
          </a:p>
        </p:txBody>
      </p:sp>
      <p:sp>
        <p:nvSpPr>
          <p:cNvPr id="17" name="Text 15"/>
          <p:cNvSpPr txBox="1"/>
          <p:nvPr/>
        </p:nvSpPr>
        <p:spPr>
          <a:xfrm>
            <a:off x="2926080" y="3886200"/>
            <a:ext cx="1856232" cy="1371600"/>
          </a:xfrm>
          <a:prstGeom prst="rect">
            <a:avLst/>
          </a:prstGeom>
          <a:noFill/>
          <a:ln/>
        </p:spPr>
        <p:txBody>
          <a:bodyPr wrap="square" lIns="0" tIns="0" rIns="0" bIns="0" rtlCol="0" anchor="t"/>
          <a:lstStyle/>
          <a:p>
            <a:pPr algn="ctr" indent="0" marL="0">
              <a:buNone/>
            </a:pPr>
            <a:r>
              <a:rPr lang="en-US" sz="1150" dirty="0">
                <a:solidFill>
                  <a:srgbClr val="1F2A33"/>
                </a:solidFill>
                <a:latin typeface="Calibri" pitchFamily="34" charset="0"/>
                <a:ea typeface="Calibri" pitchFamily="34" charset="-122"/>
                <a:cs typeface="Calibri" pitchFamily="34" charset="-120"/>
              </a:rPr>
              <a:t>You can check it's achieved (e.g. by 15%)</a:t>
            </a:r>
            <a:endParaRPr lang="en-US" sz="1150" dirty="0"/>
          </a:p>
        </p:txBody>
      </p:sp>
      <p:sp>
        <p:nvSpPr>
          <p:cNvPr id="18" name="Shape 16"/>
          <p:cNvSpPr/>
          <p:nvPr/>
        </p:nvSpPr>
        <p:spPr>
          <a:xfrm>
            <a:off x="5029200" y="2377440"/>
            <a:ext cx="2130552" cy="3108960"/>
          </a:xfrm>
          <a:prstGeom prst="roundRect">
            <a:avLst>
              <a:gd name="adj" fmla="val 34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5029200" y="2377440"/>
            <a:ext cx="2130552" cy="91440"/>
          </a:xfrm>
          <a:prstGeom prst="roundRect">
            <a:avLst/>
          </a:prstGeom>
          <a:solidFill>
            <a:srgbClr val="2F8A5B"/>
          </a:solidFill>
          <a:ln/>
        </p:spPr>
      </p:sp>
      <p:sp>
        <p:nvSpPr>
          <p:cNvPr id="20" name="Shape 18"/>
          <p:cNvSpPr/>
          <p:nvPr/>
        </p:nvSpPr>
        <p:spPr>
          <a:xfrm>
            <a:off x="5728716" y="2606040"/>
            <a:ext cx="731520" cy="731520"/>
          </a:xfrm>
          <a:prstGeom prst="roundRect">
            <a:avLst>
              <a:gd name="adj" fmla="val 12500"/>
            </a:avLst>
          </a:prstGeom>
          <a:solidFill>
            <a:srgbClr val="2F8A5B"/>
          </a:solidFill>
          <a:ln/>
        </p:spPr>
      </p:sp>
      <p:sp>
        <p:nvSpPr>
          <p:cNvPr id="21" name="Text 19"/>
          <p:cNvSpPr txBox="1"/>
          <p:nvPr/>
        </p:nvSpPr>
        <p:spPr>
          <a:xfrm>
            <a:off x="5728716" y="260604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a:t>
            </a:r>
            <a:endParaRPr lang="en-US" sz="3200" dirty="0"/>
          </a:p>
        </p:txBody>
      </p:sp>
      <p:sp>
        <p:nvSpPr>
          <p:cNvPr id="22" name="Text 20"/>
          <p:cNvSpPr txBox="1"/>
          <p:nvPr/>
        </p:nvSpPr>
        <p:spPr>
          <a:xfrm>
            <a:off x="5120640" y="3474720"/>
            <a:ext cx="1947672" cy="365760"/>
          </a:xfrm>
          <a:prstGeom prst="rect">
            <a:avLst/>
          </a:prstGeom>
          <a:noFill/>
          <a:ln/>
        </p:spPr>
        <p:txBody>
          <a:bodyPr wrap="square" lIns="0" tIns="0" rIns="0" bIns="0" rtlCol="0" anchor="ctr"/>
          <a:lstStyle/>
          <a:p>
            <a:pPr algn="ctr" indent="0" marL="0">
              <a:buNone/>
            </a:pPr>
            <a:r>
              <a:rPr lang="en-US" sz="1400" b="1" dirty="0">
                <a:solidFill>
                  <a:srgbClr val="2F8A5B"/>
                </a:solidFill>
                <a:latin typeface="Calibri" pitchFamily="34" charset="0"/>
                <a:ea typeface="Calibri" pitchFamily="34" charset="-122"/>
                <a:cs typeface="Calibri" pitchFamily="34" charset="-120"/>
              </a:rPr>
              <a:t>Achievable</a:t>
            </a:r>
            <a:endParaRPr lang="en-US" sz="1400" dirty="0"/>
          </a:p>
        </p:txBody>
      </p:sp>
      <p:sp>
        <p:nvSpPr>
          <p:cNvPr id="23" name="Text 21"/>
          <p:cNvSpPr txBox="1"/>
          <p:nvPr/>
        </p:nvSpPr>
        <p:spPr>
          <a:xfrm>
            <a:off x="5166360" y="3886200"/>
            <a:ext cx="1856232" cy="1371600"/>
          </a:xfrm>
          <a:prstGeom prst="rect">
            <a:avLst/>
          </a:prstGeom>
          <a:noFill/>
          <a:ln/>
        </p:spPr>
        <p:txBody>
          <a:bodyPr wrap="square" lIns="0" tIns="0" rIns="0" bIns="0" rtlCol="0" anchor="t"/>
          <a:lstStyle/>
          <a:p>
            <a:pPr algn="ctr" indent="0" marL="0">
              <a:buNone/>
            </a:pPr>
            <a:r>
              <a:rPr lang="en-US" sz="1150" dirty="0">
                <a:solidFill>
                  <a:srgbClr val="1F2A33"/>
                </a:solidFill>
                <a:latin typeface="Calibri" pitchFamily="34" charset="0"/>
                <a:ea typeface="Calibri" pitchFamily="34" charset="-122"/>
                <a:cs typeface="Calibri" pitchFamily="34" charset="-120"/>
              </a:rPr>
              <a:t>Realistic for the business's resources</a:t>
            </a:r>
            <a:endParaRPr lang="en-US" sz="1150" dirty="0"/>
          </a:p>
        </p:txBody>
      </p:sp>
      <p:sp>
        <p:nvSpPr>
          <p:cNvPr id="24" name="Shape 22"/>
          <p:cNvSpPr/>
          <p:nvPr/>
        </p:nvSpPr>
        <p:spPr>
          <a:xfrm>
            <a:off x="7269480" y="2377440"/>
            <a:ext cx="2130552" cy="3108960"/>
          </a:xfrm>
          <a:prstGeom prst="roundRect">
            <a:avLst>
              <a:gd name="adj" fmla="val 34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7269480" y="2377440"/>
            <a:ext cx="2130552" cy="91440"/>
          </a:xfrm>
          <a:prstGeom prst="roundRect">
            <a:avLst/>
          </a:prstGeom>
          <a:solidFill>
            <a:srgbClr val="C14B37"/>
          </a:solidFill>
          <a:ln/>
        </p:spPr>
      </p:sp>
      <p:sp>
        <p:nvSpPr>
          <p:cNvPr id="26" name="Shape 24"/>
          <p:cNvSpPr/>
          <p:nvPr/>
        </p:nvSpPr>
        <p:spPr>
          <a:xfrm>
            <a:off x="7968996" y="2606040"/>
            <a:ext cx="731520" cy="731520"/>
          </a:xfrm>
          <a:prstGeom prst="roundRect">
            <a:avLst>
              <a:gd name="adj" fmla="val 12500"/>
            </a:avLst>
          </a:prstGeom>
          <a:solidFill>
            <a:srgbClr val="C14B37"/>
          </a:solidFill>
          <a:ln/>
        </p:spPr>
      </p:sp>
      <p:sp>
        <p:nvSpPr>
          <p:cNvPr id="27" name="Text 25"/>
          <p:cNvSpPr txBox="1"/>
          <p:nvPr/>
        </p:nvSpPr>
        <p:spPr>
          <a:xfrm>
            <a:off x="7968996" y="260604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R</a:t>
            </a:r>
            <a:endParaRPr lang="en-US" sz="3200" dirty="0"/>
          </a:p>
        </p:txBody>
      </p:sp>
      <p:sp>
        <p:nvSpPr>
          <p:cNvPr id="28" name="Text 26"/>
          <p:cNvSpPr txBox="1"/>
          <p:nvPr/>
        </p:nvSpPr>
        <p:spPr>
          <a:xfrm>
            <a:off x="7360920" y="3474720"/>
            <a:ext cx="1947672" cy="365760"/>
          </a:xfrm>
          <a:prstGeom prst="rect">
            <a:avLst/>
          </a:prstGeom>
          <a:noFill/>
          <a:ln/>
        </p:spPr>
        <p:txBody>
          <a:bodyPr wrap="square" lIns="0" tIns="0" rIns="0" bIns="0" rtlCol="0" anchor="ctr"/>
          <a:lstStyle/>
          <a:p>
            <a:pPr algn="ctr" indent="0" marL="0">
              <a:buNone/>
            </a:pPr>
            <a:r>
              <a:rPr lang="en-US" sz="1400" b="1" dirty="0">
                <a:solidFill>
                  <a:srgbClr val="C14B37"/>
                </a:solidFill>
                <a:latin typeface="Calibri" pitchFamily="34" charset="0"/>
                <a:ea typeface="Calibri" pitchFamily="34" charset="-122"/>
                <a:cs typeface="Calibri" pitchFamily="34" charset="-120"/>
              </a:rPr>
              <a:t>Relevant</a:t>
            </a:r>
            <a:endParaRPr lang="en-US" sz="1400" dirty="0"/>
          </a:p>
        </p:txBody>
      </p:sp>
      <p:sp>
        <p:nvSpPr>
          <p:cNvPr id="29" name="Text 27"/>
          <p:cNvSpPr txBox="1"/>
          <p:nvPr/>
        </p:nvSpPr>
        <p:spPr>
          <a:xfrm>
            <a:off x="7406640" y="3886200"/>
            <a:ext cx="1856232" cy="1371600"/>
          </a:xfrm>
          <a:prstGeom prst="rect">
            <a:avLst/>
          </a:prstGeom>
          <a:noFill/>
          <a:ln/>
        </p:spPr>
        <p:txBody>
          <a:bodyPr wrap="square" lIns="0" tIns="0" rIns="0" bIns="0" rtlCol="0" anchor="t"/>
          <a:lstStyle/>
          <a:p>
            <a:pPr algn="ctr" indent="0" marL="0">
              <a:buNone/>
            </a:pPr>
            <a:r>
              <a:rPr lang="en-US" sz="1150" dirty="0">
                <a:solidFill>
                  <a:srgbClr val="1F2A33"/>
                </a:solidFill>
                <a:latin typeface="Calibri" pitchFamily="34" charset="0"/>
                <a:ea typeface="Calibri" pitchFamily="34" charset="-122"/>
                <a:cs typeface="Calibri" pitchFamily="34" charset="-120"/>
              </a:rPr>
              <a:t>Linked to the company's wider goals</a:t>
            </a:r>
            <a:endParaRPr lang="en-US" sz="1150" dirty="0"/>
          </a:p>
        </p:txBody>
      </p:sp>
      <p:sp>
        <p:nvSpPr>
          <p:cNvPr id="30" name="Shape 28"/>
          <p:cNvSpPr/>
          <p:nvPr/>
        </p:nvSpPr>
        <p:spPr>
          <a:xfrm>
            <a:off x="9509760" y="2377440"/>
            <a:ext cx="2130552" cy="3108960"/>
          </a:xfrm>
          <a:prstGeom prst="roundRect">
            <a:avLst>
              <a:gd name="adj" fmla="val 34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1" name="Shape 29"/>
          <p:cNvSpPr/>
          <p:nvPr/>
        </p:nvSpPr>
        <p:spPr>
          <a:xfrm>
            <a:off x="9509760" y="2377440"/>
            <a:ext cx="2130552" cy="91440"/>
          </a:xfrm>
          <a:prstGeom prst="roundRect">
            <a:avLst/>
          </a:prstGeom>
          <a:solidFill>
            <a:srgbClr val="6B4FA0"/>
          </a:solidFill>
          <a:ln/>
        </p:spPr>
      </p:sp>
      <p:sp>
        <p:nvSpPr>
          <p:cNvPr id="32" name="Shape 30"/>
          <p:cNvSpPr/>
          <p:nvPr/>
        </p:nvSpPr>
        <p:spPr>
          <a:xfrm>
            <a:off x="10209276" y="2606040"/>
            <a:ext cx="731520" cy="731520"/>
          </a:xfrm>
          <a:prstGeom prst="roundRect">
            <a:avLst>
              <a:gd name="adj" fmla="val 12500"/>
            </a:avLst>
          </a:prstGeom>
          <a:solidFill>
            <a:srgbClr val="6B4FA0"/>
          </a:solidFill>
          <a:ln/>
        </p:spPr>
      </p:sp>
      <p:sp>
        <p:nvSpPr>
          <p:cNvPr id="33" name="Text 31"/>
          <p:cNvSpPr txBox="1"/>
          <p:nvPr/>
        </p:nvSpPr>
        <p:spPr>
          <a:xfrm>
            <a:off x="10209276" y="2606040"/>
            <a:ext cx="731520" cy="7315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a:t>
            </a:r>
            <a:endParaRPr lang="en-US" sz="3200" dirty="0"/>
          </a:p>
        </p:txBody>
      </p:sp>
      <p:sp>
        <p:nvSpPr>
          <p:cNvPr id="34" name="Text 32"/>
          <p:cNvSpPr txBox="1"/>
          <p:nvPr/>
        </p:nvSpPr>
        <p:spPr>
          <a:xfrm>
            <a:off x="9601200" y="3474720"/>
            <a:ext cx="1947672" cy="365760"/>
          </a:xfrm>
          <a:prstGeom prst="rect">
            <a:avLst/>
          </a:prstGeom>
          <a:noFill/>
          <a:ln/>
        </p:spPr>
        <p:txBody>
          <a:bodyPr wrap="square" lIns="0" tIns="0" rIns="0" bIns="0" rtlCol="0" anchor="ctr"/>
          <a:lstStyle/>
          <a:p>
            <a:pPr algn="ctr" indent="0" marL="0">
              <a:buNone/>
            </a:pPr>
            <a:r>
              <a:rPr lang="en-US" sz="1400" b="1" dirty="0">
                <a:solidFill>
                  <a:srgbClr val="6B4FA0"/>
                </a:solidFill>
                <a:latin typeface="Calibri" pitchFamily="34" charset="0"/>
                <a:ea typeface="Calibri" pitchFamily="34" charset="-122"/>
                <a:cs typeface="Calibri" pitchFamily="34" charset="-120"/>
              </a:rPr>
              <a:t>Time-bound</a:t>
            </a:r>
            <a:endParaRPr lang="en-US" sz="1400" dirty="0"/>
          </a:p>
        </p:txBody>
      </p:sp>
      <p:sp>
        <p:nvSpPr>
          <p:cNvPr id="35" name="Text 33"/>
          <p:cNvSpPr txBox="1"/>
          <p:nvPr/>
        </p:nvSpPr>
        <p:spPr>
          <a:xfrm>
            <a:off x="9646920" y="3886200"/>
            <a:ext cx="1856232" cy="1371600"/>
          </a:xfrm>
          <a:prstGeom prst="rect">
            <a:avLst/>
          </a:prstGeom>
          <a:noFill/>
          <a:ln/>
        </p:spPr>
        <p:txBody>
          <a:bodyPr wrap="square" lIns="0" tIns="0" rIns="0" bIns="0" rtlCol="0" anchor="t"/>
          <a:lstStyle/>
          <a:p>
            <a:pPr algn="ctr" indent="0" marL="0">
              <a:buNone/>
            </a:pPr>
            <a:r>
              <a:rPr lang="en-US" sz="1150" dirty="0">
                <a:solidFill>
                  <a:srgbClr val="1F2A33"/>
                </a:solidFill>
                <a:latin typeface="Calibri" pitchFamily="34" charset="0"/>
                <a:ea typeface="Calibri" pitchFamily="34" charset="-122"/>
                <a:cs typeface="Calibri" pitchFamily="34" charset="-120"/>
              </a:rPr>
              <a:t>Has a clear deadline (e.g. by end 2025)</a:t>
            </a:r>
            <a:endParaRPr lang="en-US" sz="1150" dirty="0"/>
          </a:p>
        </p:txBody>
      </p:sp>
      <p:sp>
        <p:nvSpPr>
          <p:cNvPr id="36" name="Text 34"/>
          <p:cNvSpPr txBox="1"/>
          <p:nvPr/>
        </p:nvSpPr>
        <p:spPr>
          <a:xfrm>
            <a:off x="548640" y="5715000"/>
            <a:ext cx="10972800" cy="36576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Example: ‘Increase sales of the new drink by 15% by the end of 2025.’ — Specific, Measurable, Time-bound all in one.</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FUNCTIONS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objectives do — and the hierarchy</a:t>
            </a:r>
            <a:endParaRPr lang="en-US" sz="2600" dirty="0"/>
          </a:p>
        </p:txBody>
      </p:sp>
      <p:sp>
        <p:nvSpPr>
          <p:cNvPr id="4" name="Shape 2"/>
          <p:cNvSpPr/>
          <p:nvPr/>
        </p:nvSpPr>
        <p:spPr>
          <a:xfrm>
            <a:off x="548640" y="1463040"/>
            <a:ext cx="5440680" cy="4709160"/>
          </a:xfrm>
          <a:prstGeom prst="roundRect">
            <a:avLst>
              <a:gd name="adj" fmla="val 1553"/>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3840480" cy="310896"/>
          </a:xfrm>
          <a:prstGeom prst="roundRect">
            <a:avLst>
              <a:gd name="adj" fmla="val 50000"/>
            </a:avLst>
          </a:prstGeom>
          <a:solidFill>
            <a:srgbClr val="2F8A5B"/>
          </a:solidFill>
          <a:ln/>
        </p:spPr>
      </p:sp>
      <p:sp>
        <p:nvSpPr>
          <p:cNvPr id="6" name="Text 4"/>
          <p:cNvSpPr txBox="1"/>
          <p:nvPr/>
        </p:nvSpPr>
        <p:spPr>
          <a:xfrm>
            <a:off x="777240" y="1627632"/>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OBJECTIVES DO</a:t>
            </a:r>
            <a:endParaRPr lang="en-US" sz="1050" dirty="0"/>
          </a:p>
        </p:txBody>
      </p:sp>
      <p:sp>
        <p:nvSpPr>
          <p:cNvPr id="7" name="Text 5"/>
          <p:cNvSpPr txBox="1"/>
          <p:nvPr/>
        </p:nvSpPr>
        <p:spPr>
          <a:xfrm>
            <a:off x="777240" y="2121408"/>
            <a:ext cx="4983480" cy="3840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Give direction — everyone knows the aim</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Measure success — progress is tracked</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Motivate staff — a clear purpose &amp; ownership</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Coordinate — all departments pull together</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Support decisions — managers choose the best strategy</a:t>
            </a:r>
            <a:endParaRPr lang="en-US" sz="1300" dirty="0"/>
          </a:p>
        </p:txBody>
      </p:sp>
      <p:sp>
        <p:nvSpPr>
          <p:cNvPr id="8" name="Shape 6"/>
          <p:cNvSpPr/>
          <p:nvPr/>
        </p:nvSpPr>
        <p:spPr>
          <a:xfrm>
            <a:off x="6199632" y="1463040"/>
            <a:ext cx="5440680" cy="4709160"/>
          </a:xfrm>
          <a:prstGeom prst="roundRect">
            <a:avLst>
              <a:gd name="adj" fmla="val 1553"/>
            </a:avLst>
          </a:prstGeom>
          <a:solidFill>
            <a:srgbClr val="EAF3F4"/>
          </a:solidFill>
          <a:ln/>
          <a:effectLst>
            <a:outerShdw sx="100000" sy="100000" kx="0" ky="0" algn="bl" rotWithShape="0" blurRad="76200" dist="25400" dir="5400000">
              <a:srgbClr val="9AAAB0">
                <a:alpha val="28000"/>
              </a:srgbClr>
            </a:outerShdw>
          </a:effectLst>
        </p:spPr>
      </p:sp>
      <p:sp>
        <p:nvSpPr>
          <p:cNvPr id="9" name="Shape 7"/>
          <p:cNvSpPr/>
          <p:nvPr/>
        </p:nvSpPr>
        <p:spPr>
          <a:xfrm>
            <a:off x="6428232" y="1627632"/>
            <a:ext cx="4206240" cy="310896"/>
          </a:xfrm>
          <a:prstGeom prst="roundRect">
            <a:avLst>
              <a:gd name="adj" fmla="val 50000"/>
            </a:avLst>
          </a:prstGeom>
          <a:solidFill>
            <a:srgbClr val="0E7C86"/>
          </a:solidFill>
          <a:ln/>
        </p:spPr>
      </p:sp>
      <p:sp>
        <p:nvSpPr>
          <p:cNvPr id="10" name="Text 8"/>
          <p:cNvSpPr txBox="1"/>
          <p:nvPr/>
        </p:nvSpPr>
        <p:spPr>
          <a:xfrm>
            <a:off x="6428232" y="1627632"/>
            <a:ext cx="4206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THE OBJECTIVES HIERARCHY</a:t>
            </a:r>
            <a:endParaRPr lang="en-US" sz="1050" dirty="0"/>
          </a:p>
        </p:txBody>
      </p:sp>
      <p:sp>
        <p:nvSpPr>
          <p:cNvPr id="11" name="Shape 9"/>
          <p:cNvSpPr/>
          <p:nvPr/>
        </p:nvSpPr>
        <p:spPr>
          <a:xfrm>
            <a:off x="6537960" y="2194560"/>
            <a:ext cx="4754880" cy="713232"/>
          </a:xfrm>
          <a:prstGeom prst="roundRect">
            <a:avLst>
              <a:gd name="adj" fmla="val 7692"/>
            </a:avLst>
          </a:prstGeom>
          <a:solidFill>
            <a:srgbClr val="0E3A43"/>
          </a:solidFill>
          <a:ln/>
        </p:spPr>
      </p:sp>
      <p:sp>
        <p:nvSpPr>
          <p:cNvPr id="12" name="Text 10"/>
          <p:cNvSpPr txBox="1"/>
          <p:nvPr/>
        </p:nvSpPr>
        <p:spPr>
          <a:xfrm>
            <a:off x="6675120" y="2286000"/>
            <a:ext cx="1828800" cy="5303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MISSION</a:t>
            </a:r>
            <a:endParaRPr lang="en-US" sz="1300" dirty="0"/>
          </a:p>
        </p:txBody>
      </p:sp>
      <p:sp>
        <p:nvSpPr>
          <p:cNvPr id="13" name="Text 11"/>
          <p:cNvSpPr txBox="1"/>
          <p:nvPr/>
        </p:nvSpPr>
        <p:spPr>
          <a:xfrm>
            <a:off x="8321040" y="2286000"/>
            <a:ext cx="292608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Why the business exists (its core purpose)</a:t>
            </a:r>
            <a:endParaRPr lang="en-US" sz="1050" dirty="0"/>
          </a:p>
        </p:txBody>
      </p:sp>
      <p:sp>
        <p:nvSpPr>
          <p:cNvPr id="14" name="Shape 12"/>
          <p:cNvSpPr/>
          <p:nvPr/>
        </p:nvSpPr>
        <p:spPr>
          <a:xfrm>
            <a:off x="8915400" y="2907792"/>
            <a:ext cx="0" cy="155448"/>
          </a:xfrm>
          <a:prstGeom prst="line">
            <a:avLst/>
          </a:prstGeom>
          <a:noFill/>
          <a:ln w="19050">
            <a:solidFill>
              <a:srgbClr val="5B6B73"/>
            </a:solidFill>
            <a:prstDash val="solid"/>
          </a:ln>
        </p:spPr>
      </p:sp>
      <p:sp>
        <p:nvSpPr>
          <p:cNvPr id="15" name="Shape 13"/>
          <p:cNvSpPr/>
          <p:nvPr/>
        </p:nvSpPr>
        <p:spPr>
          <a:xfrm>
            <a:off x="6537960" y="3063240"/>
            <a:ext cx="4754880" cy="713232"/>
          </a:xfrm>
          <a:prstGeom prst="roundRect">
            <a:avLst>
              <a:gd name="adj" fmla="val 7692"/>
            </a:avLst>
          </a:prstGeom>
          <a:solidFill>
            <a:srgbClr val="0E7C86"/>
          </a:solidFill>
          <a:ln/>
        </p:spPr>
      </p:sp>
      <p:sp>
        <p:nvSpPr>
          <p:cNvPr id="16" name="Text 14"/>
          <p:cNvSpPr txBox="1"/>
          <p:nvPr/>
        </p:nvSpPr>
        <p:spPr>
          <a:xfrm>
            <a:off x="6675120" y="3154680"/>
            <a:ext cx="1828800" cy="5303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CORPORATE</a:t>
            </a:r>
            <a:endParaRPr lang="en-US" sz="1300" dirty="0"/>
          </a:p>
        </p:txBody>
      </p:sp>
      <p:sp>
        <p:nvSpPr>
          <p:cNvPr id="17" name="Text 15"/>
          <p:cNvSpPr txBox="1"/>
          <p:nvPr/>
        </p:nvSpPr>
        <p:spPr>
          <a:xfrm>
            <a:off x="8321040" y="3154680"/>
            <a:ext cx="2926080" cy="53035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Whole-organisation, long-term goals</a:t>
            </a:r>
            <a:endParaRPr lang="en-US" sz="1050" dirty="0"/>
          </a:p>
        </p:txBody>
      </p:sp>
      <p:sp>
        <p:nvSpPr>
          <p:cNvPr id="18" name="Shape 16"/>
          <p:cNvSpPr/>
          <p:nvPr/>
        </p:nvSpPr>
        <p:spPr>
          <a:xfrm>
            <a:off x="8915400" y="3776472"/>
            <a:ext cx="0" cy="155448"/>
          </a:xfrm>
          <a:prstGeom prst="line">
            <a:avLst/>
          </a:prstGeom>
          <a:noFill/>
          <a:ln w="19050">
            <a:solidFill>
              <a:srgbClr val="5B6B73"/>
            </a:solidFill>
            <a:prstDash val="solid"/>
          </a:ln>
        </p:spPr>
      </p:sp>
      <p:sp>
        <p:nvSpPr>
          <p:cNvPr id="19" name="Shape 17"/>
          <p:cNvSpPr/>
          <p:nvPr/>
        </p:nvSpPr>
        <p:spPr>
          <a:xfrm>
            <a:off x="6537960" y="3931920"/>
            <a:ext cx="4754880" cy="713232"/>
          </a:xfrm>
          <a:prstGeom prst="roundRect">
            <a:avLst>
              <a:gd name="adj" fmla="val 7692"/>
            </a:avLst>
          </a:prstGeom>
          <a:solidFill>
            <a:srgbClr val="8FB9BD"/>
          </a:solidFill>
          <a:ln/>
        </p:spPr>
      </p:sp>
      <p:sp>
        <p:nvSpPr>
          <p:cNvPr id="20" name="Text 18"/>
          <p:cNvSpPr txBox="1"/>
          <p:nvPr/>
        </p:nvSpPr>
        <p:spPr>
          <a:xfrm>
            <a:off x="6675120" y="4023360"/>
            <a:ext cx="1828800" cy="530352"/>
          </a:xfrm>
          <a:prstGeom prst="rect">
            <a:avLst/>
          </a:prstGeom>
          <a:noFill/>
          <a:ln/>
        </p:spPr>
        <p:txBody>
          <a:bodyPr wrap="square" lIns="0" tIns="0" rIns="0" bIns="0" rtlCol="0" anchor="ctr"/>
          <a:lstStyle/>
          <a:p>
            <a:pPr indent="0" marL="0">
              <a:buNone/>
            </a:pPr>
            <a:r>
              <a:rPr lang="en-US" sz="1300" b="1" dirty="0">
                <a:solidFill>
                  <a:srgbClr val="0E3A43"/>
                </a:solidFill>
                <a:latin typeface="Calibri" pitchFamily="34" charset="0"/>
                <a:ea typeface="Calibri" pitchFamily="34" charset="-122"/>
                <a:cs typeface="Calibri" pitchFamily="34" charset="-120"/>
              </a:rPr>
              <a:t>FUNCTIONAL</a:t>
            </a:r>
            <a:endParaRPr lang="en-US" sz="1300" dirty="0"/>
          </a:p>
        </p:txBody>
      </p:sp>
      <p:sp>
        <p:nvSpPr>
          <p:cNvPr id="21" name="Text 19"/>
          <p:cNvSpPr txBox="1"/>
          <p:nvPr/>
        </p:nvSpPr>
        <p:spPr>
          <a:xfrm>
            <a:off x="8321040" y="4023360"/>
            <a:ext cx="2926080" cy="530352"/>
          </a:xfrm>
          <a:prstGeom prst="rect">
            <a:avLst/>
          </a:prstGeom>
          <a:noFill/>
          <a:ln/>
        </p:spPr>
        <p:txBody>
          <a:bodyPr wrap="square" lIns="0" tIns="0" rIns="0" bIns="0" rtlCol="0" anchor="ctr"/>
          <a:lstStyle/>
          <a:p>
            <a:pPr indent="0" marL="0">
              <a:buNone/>
            </a:pPr>
            <a:r>
              <a:rPr lang="en-US" sz="1050" dirty="0">
                <a:solidFill>
                  <a:srgbClr val="0E3A43"/>
                </a:solidFill>
                <a:latin typeface="Calibri" pitchFamily="34" charset="0"/>
                <a:ea typeface="Calibri" pitchFamily="34" charset="-122"/>
                <a:cs typeface="Calibri" pitchFamily="34" charset="-120"/>
              </a:rPr>
              <a:t>Department goals that serve the above</a:t>
            </a:r>
            <a:endParaRPr lang="en-US" sz="1050" dirty="0"/>
          </a:p>
        </p:txBody>
      </p:sp>
      <p:sp>
        <p:nvSpPr>
          <p:cNvPr id="22" name="Text 20"/>
          <p:cNvSpPr txBox="1"/>
          <p:nvPr/>
        </p:nvSpPr>
        <p:spPr>
          <a:xfrm>
            <a:off x="6428232" y="4937760"/>
            <a:ext cx="5029200" cy="1188720"/>
          </a:xfrm>
          <a:prstGeom prst="rect">
            <a:avLst/>
          </a:prstGeom>
          <a:noFill/>
          <a:ln/>
        </p:spPr>
        <p:txBody>
          <a:bodyPr wrap="square" lIns="0" tIns="0" rIns="0" bIns="0" rtlCol="0" anchor="t"/>
          <a:lstStyle/>
          <a:p>
            <a:pPr indent="0" marL="0">
              <a:buNone/>
            </a:pPr>
            <a:r>
              <a:rPr lang="en-US" sz="1100" b="1" dirty="0">
                <a:solidFill>
                  <a:srgbClr val="0B5E66"/>
                </a:solidFill>
                <a:latin typeface="Calibri" pitchFamily="34" charset="0"/>
                <a:ea typeface="Calibri" pitchFamily="34" charset="-122"/>
                <a:cs typeface="Calibri" pitchFamily="34" charset="-120"/>
              </a:rPr>
              <a:t>Master → servant:  </a:t>
            </a:r>
            <a:pPr indent="0" marL="0">
              <a:buNone/>
            </a:pPr>
            <a:r>
              <a:rPr lang="en-US" sz="1100" dirty="0">
                <a:solidFill>
                  <a:srgbClr val="1F2A33"/>
                </a:solidFill>
                <a:latin typeface="Calibri" pitchFamily="34" charset="0"/>
                <a:ea typeface="Calibri" pitchFamily="34" charset="-122"/>
                <a:cs typeface="Calibri" pitchFamily="34" charset="-120"/>
              </a:rPr>
              <a:t>functional objectives exist to SERVE the corporate objectives, which serve the mission. e.g. Tesla's mission ‘accelerate the world's transition to sustainable energy’ → corporate: grow EV market share → functional: raise Model Y output 15%.</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STRATEGIC VS TACTICAL</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Strategic vs tactical objectives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86000"/>
                <a:gridCol w="4398264"/>
                <a:gridCol w="4407408"/>
              </a:tblGrid>
              <a:tr h="411480">
                <a:tc>
                  <a:txBody>
                    <a:bodyPr/>
                    <a:lstStyle/>
                    <a:p>
                      <a:pPr algn="l"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Strategic</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Tactical</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7C86"/>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Time frame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Long-term</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Short-term</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Set by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The Board / senior management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Line / middle management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Higher risk &amp; uncertainty</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Relatively low-risk</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Resources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Significant investment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Limited resources</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Hard to change short-term</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Easy to change, low cost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F2A33"/>
                          </a:solidFill>
                          <a:latin typeface="Calibri" pitchFamily="34" charset="0"/>
                          <a:ea typeface="Calibri" pitchFamily="34" charset="-122"/>
                          <a:cs typeface="Calibri" pitchFamily="34" charset="-120"/>
                        </a:rPr>
                        <a:t>In a word</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‘What we want to achieve’</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3"/>
                          </a:solidFill>
                          <a:latin typeface="Calibri" pitchFamily="34" charset="0"/>
                          <a:ea typeface="Calibri" pitchFamily="34" charset="-122"/>
                          <a:cs typeface="Calibri" pitchFamily="34" charset="-120"/>
                        </a:rPr>
                        <a:t>‘How we'll achieve it’</a:t>
                      </a:r>
                      <a:endParaRPr lang="en-US" sz="125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32120"/>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623560"/>
            <a:ext cx="10698480" cy="475488"/>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Exam tip:  </a:t>
            </a:r>
            <a:pPr indent="0" marL="0">
              <a:buNone/>
            </a:pPr>
            <a:r>
              <a:rPr lang="en-US" sz="1250" dirty="0">
                <a:solidFill>
                  <a:srgbClr val="1F2A33"/>
                </a:solidFill>
                <a:latin typeface="Calibri" pitchFamily="34" charset="0"/>
                <a:ea typeface="Calibri" pitchFamily="34" charset="-122"/>
                <a:cs typeface="Calibri" pitchFamily="34" charset="-120"/>
              </a:rPr>
              <a:t>strategic = long-term vision (‘become the EV market leader in 5 years’); tactical = the short-term steps that deliver it (‘raise Model Y output 15% this quarter’). Both must be SMART.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Survival &amp; profit maximisation</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two core objectives  ·  why survival comes first for a start-up, and why profit maximisation drives growth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A–B · CORE OBJECTIVES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Survival &amp; profit maximisation</a:t>
            </a:r>
            <a:endParaRPr lang="en-US" sz="2600" dirty="0"/>
          </a:p>
        </p:txBody>
      </p:sp>
      <p:sp>
        <p:nvSpPr>
          <p:cNvPr id="4" name="Shape 2"/>
          <p:cNvSpPr/>
          <p:nvPr/>
        </p:nvSpPr>
        <p:spPr>
          <a:xfrm>
            <a:off x="548640" y="1463040"/>
            <a:ext cx="5440680" cy="3200400"/>
          </a:xfrm>
          <a:prstGeom prst="roundRect">
            <a:avLst>
              <a:gd name="adj" fmla="val 2286"/>
            </a:avLst>
          </a:prstGeom>
          <a:solidFill>
            <a:srgbClr val="E8F3EC"/>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2194560" cy="310896"/>
          </a:xfrm>
          <a:prstGeom prst="roundRect">
            <a:avLst>
              <a:gd name="adj" fmla="val 50000"/>
            </a:avLst>
          </a:prstGeom>
          <a:solidFill>
            <a:srgbClr val="2F8A5B"/>
          </a:solidFill>
          <a:ln/>
        </p:spPr>
      </p:sp>
      <p:sp>
        <p:nvSpPr>
          <p:cNvPr id="6" name="Text 4"/>
          <p:cNvSpPr txBox="1"/>
          <p:nvPr/>
        </p:nvSpPr>
        <p:spPr>
          <a:xfrm>
            <a:off x="777240" y="1627632"/>
            <a:ext cx="21945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SURVIVAL (3A)</a:t>
            </a:r>
            <a:endParaRPr lang="en-US" sz="1050" dirty="0"/>
          </a:p>
        </p:txBody>
      </p:sp>
      <p:sp>
        <p:nvSpPr>
          <p:cNvPr id="7" name="Text 5"/>
          <p:cNvSpPr txBox="1"/>
          <p:nvPr/>
        </p:nvSpPr>
        <p:spPr>
          <a:xfrm>
            <a:off x="777240" y="2066544"/>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Staying in business — reaching a sustainable level of sales to cover costs and break even.</a:t>
            </a:r>
            <a:endParaRPr lang="en-US" sz="1300" dirty="0"/>
          </a:p>
        </p:txBody>
      </p:sp>
      <p:sp>
        <p:nvSpPr>
          <p:cNvPr id="8" name="Text 6"/>
          <p:cNvSpPr txBox="1"/>
          <p:nvPr/>
        </p:nvSpPr>
        <p:spPr>
          <a:xfrm>
            <a:off x="777240"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Typical in the first year / a downturn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a customer base &amp; establish the brand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May use penetration pricing to get started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Little profit at first — stability matters more</a:t>
            </a:r>
            <a:endParaRPr lang="en-US" sz="1200" dirty="0"/>
          </a:p>
        </p:txBody>
      </p:sp>
      <p:sp>
        <p:nvSpPr>
          <p:cNvPr id="9" name="Shape 7"/>
          <p:cNvSpPr/>
          <p:nvPr/>
        </p:nvSpPr>
        <p:spPr>
          <a:xfrm>
            <a:off x="6199632" y="1463040"/>
            <a:ext cx="5440680" cy="3200400"/>
          </a:xfrm>
          <a:prstGeom prst="roundRect">
            <a:avLst>
              <a:gd name="adj" fmla="val 2286"/>
            </a:avLst>
          </a:prstGeom>
          <a:solidFill>
            <a:srgbClr val="FBF0D8"/>
          </a:solidFill>
          <a:ln/>
          <a:effectLst>
            <a:outerShdw sx="100000" sy="100000" kx="0" ky="0" algn="bl" rotWithShape="0" blurRad="76200" dist="25400" dir="5400000">
              <a:srgbClr val="9AAAB0">
                <a:alpha val="28000"/>
              </a:srgbClr>
            </a:outerShdw>
          </a:effectLst>
        </p:spPr>
      </p:sp>
      <p:sp>
        <p:nvSpPr>
          <p:cNvPr id="10" name="Shape 8"/>
          <p:cNvSpPr/>
          <p:nvPr/>
        </p:nvSpPr>
        <p:spPr>
          <a:xfrm>
            <a:off x="6428232" y="1627632"/>
            <a:ext cx="3657600" cy="310896"/>
          </a:xfrm>
          <a:prstGeom prst="roundRect">
            <a:avLst>
              <a:gd name="adj" fmla="val 50000"/>
            </a:avLst>
          </a:prstGeom>
          <a:solidFill>
            <a:srgbClr val="E0940F"/>
          </a:solidFill>
          <a:ln/>
        </p:spPr>
      </p:sp>
      <p:sp>
        <p:nvSpPr>
          <p:cNvPr id="11" name="Text 9"/>
          <p:cNvSpPr txBox="1"/>
          <p:nvPr/>
        </p:nvSpPr>
        <p:spPr>
          <a:xfrm>
            <a:off x="6428232" y="1627632"/>
            <a:ext cx="36576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PROFIT MAXIMISATION (3B)</a:t>
            </a:r>
            <a:endParaRPr lang="en-US" sz="1050" dirty="0"/>
          </a:p>
        </p:txBody>
      </p:sp>
      <p:sp>
        <p:nvSpPr>
          <p:cNvPr id="12" name="Text 10"/>
          <p:cNvSpPr txBox="1"/>
          <p:nvPr/>
        </p:nvSpPr>
        <p:spPr>
          <a:xfrm>
            <a:off x="6428232" y="2066544"/>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Making the greatest possible profit — the widest gap between total revenue and total cost.</a:t>
            </a:r>
            <a:endParaRPr lang="en-US" sz="1300" dirty="0"/>
          </a:p>
        </p:txBody>
      </p:sp>
      <p:sp>
        <p:nvSpPr>
          <p:cNvPr id="13" name="Text 11"/>
          <p:cNvSpPr txBox="1"/>
          <p:nvPr/>
        </p:nvSpPr>
        <p:spPr>
          <a:xfrm>
            <a:off x="6428232"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The aim of most established businesses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Profit funds expansion &amp; new equipment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Rewards owners &amp; attracts investors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But in the short term, cash flow &amp; survival come first</a:t>
            </a:r>
            <a:endParaRPr lang="en-US" sz="1200" dirty="0"/>
          </a:p>
        </p:txBody>
      </p:sp>
      <p:sp>
        <p:nvSpPr>
          <p:cNvPr id="14" name="Shape 12"/>
          <p:cNvSpPr/>
          <p:nvPr/>
        </p:nvSpPr>
        <p:spPr>
          <a:xfrm>
            <a:off x="548640" y="4846320"/>
            <a:ext cx="11091672" cy="1325880"/>
          </a:xfrm>
          <a:prstGeom prst="roundRect">
            <a:avLst>
              <a:gd name="adj" fmla="val 5517"/>
            </a:avLst>
          </a:prstGeom>
          <a:solidFill>
            <a:srgbClr val="0E3A43"/>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956048"/>
            <a:ext cx="10698480" cy="109728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Objectives change with the lifecycle:  </a:t>
            </a:r>
            <a:pPr indent="0" marL="0">
              <a:buNone/>
            </a:pPr>
            <a:r>
              <a:rPr lang="en-US" sz="1250" dirty="0">
                <a:solidFill>
                  <a:srgbClr val="FFFFFF"/>
                </a:solidFill>
                <a:latin typeface="Calibri" pitchFamily="34" charset="0"/>
                <a:ea typeface="Calibri" pitchFamily="34" charset="-122"/>
                <a:cs typeface="Calibri" pitchFamily="34" charset="-120"/>
              </a:rPr>
              <a:t>a new firm prioritises SURVIVAL, then shifts to GROWTH and PROFIT MAXIMISATION as it establishes itself, and may later pursue wider goals (market share, social objectives). The right objective depends on the age, size and situation of the business.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OTHER OBJECTIVES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six other objectives a business may set</a:t>
            </a:r>
            <a:endParaRPr lang="en-US" sz="2600" dirty="0"/>
          </a:p>
        </p:txBody>
      </p:sp>
      <p:sp>
        <p:nvSpPr>
          <p:cNvPr id="4" name="Shape 2"/>
          <p:cNvSpPr/>
          <p:nvPr/>
        </p:nvSpPr>
        <p:spPr>
          <a:xfrm>
            <a:off x="548640" y="137160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371600"/>
            <a:ext cx="3575304" cy="91440"/>
          </a:xfrm>
          <a:prstGeom prst="roundRect">
            <a:avLst/>
          </a:prstGeom>
          <a:solidFill>
            <a:srgbClr val="0E7C86"/>
          </a:solidFill>
          <a:ln/>
        </p:spPr>
      </p:sp>
      <p:sp>
        <p:nvSpPr>
          <p:cNvPr id="6" name="Text 4"/>
          <p:cNvSpPr txBox="1"/>
          <p:nvPr/>
        </p:nvSpPr>
        <p:spPr>
          <a:xfrm>
            <a:off x="731520" y="1591056"/>
            <a:ext cx="3209544"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Sales maximisation</a:t>
            </a:r>
            <a:endParaRPr lang="en-US" sz="1300" dirty="0"/>
          </a:p>
        </p:txBody>
      </p:sp>
      <p:sp>
        <p:nvSpPr>
          <p:cNvPr id="7" name="Text 5"/>
          <p:cNvSpPr txBox="1"/>
          <p:nvPr/>
        </p:nvSpPr>
        <p:spPr>
          <a:xfrm>
            <a:off x="731520" y="204825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Selling as much as possible without making a loss. Pay &amp; investment often linked to sales (car dealerships).</a:t>
            </a:r>
            <a:endParaRPr lang="en-US" sz="1100" dirty="0"/>
          </a:p>
        </p:txBody>
      </p:sp>
      <p:sp>
        <p:nvSpPr>
          <p:cNvPr id="8" name="Shape 6"/>
          <p:cNvSpPr/>
          <p:nvPr/>
        </p:nvSpPr>
        <p:spPr>
          <a:xfrm>
            <a:off x="4306824" y="137160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9" name="Shape 7"/>
          <p:cNvSpPr/>
          <p:nvPr/>
        </p:nvSpPr>
        <p:spPr>
          <a:xfrm>
            <a:off x="4306824" y="1371600"/>
            <a:ext cx="3575304" cy="91440"/>
          </a:xfrm>
          <a:prstGeom prst="roundRect">
            <a:avLst/>
          </a:prstGeom>
          <a:solidFill>
            <a:srgbClr val="E0940F"/>
          </a:solidFill>
          <a:ln/>
        </p:spPr>
      </p:sp>
      <p:sp>
        <p:nvSpPr>
          <p:cNvPr id="10" name="Text 8"/>
          <p:cNvSpPr txBox="1"/>
          <p:nvPr/>
        </p:nvSpPr>
        <p:spPr>
          <a:xfrm>
            <a:off x="4489704" y="1591056"/>
            <a:ext cx="3209544" cy="457200"/>
          </a:xfrm>
          <a:prstGeom prst="rect">
            <a:avLst/>
          </a:prstGeom>
          <a:noFill/>
          <a:ln/>
        </p:spPr>
        <p:txBody>
          <a:bodyPr wrap="square" lIns="0" tIns="0" rIns="0" bIns="0" rtlCol="0" anchor="t"/>
          <a:lstStyle/>
          <a:p>
            <a:pPr indent="0" marL="0">
              <a:buNone/>
            </a:pPr>
            <a:r>
              <a:rPr lang="en-US" sz="1300" b="1" dirty="0">
                <a:solidFill>
                  <a:srgbClr val="E0940F"/>
                </a:solidFill>
                <a:latin typeface="Calibri" pitchFamily="34" charset="0"/>
                <a:ea typeface="Calibri" pitchFamily="34" charset="-122"/>
                <a:cs typeface="Calibri" pitchFamily="34" charset="-120"/>
              </a:rPr>
              <a:t>Market share</a:t>
            </a:r>
            <a:endParaRPr lang="en-US" sz="1300" dirty="0"/>
          </a:p>
        </p:txBody>
      </p:sp>
      <p:sp>
        <p:nvSpPr>
          <p:cNvPr id="11" name="Text 9"/>
          <p:cNvSpPr txBox="1"/>
          <p:nvPr/>
        </p:nvSpPr>
        <p:spPr>
          <a:xfrm>
            <a:off x="4489704" y="204825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The % of a market a firm holds. Key in competitive markets (supermarkets); a signal to investors.</a:t>
            </a:r>
            <a:endParaRPr lang="en-US" sz="1100" dirty="0"/>
          </a:p>
        </p:txBody>
      </p:sp>
      <p:sp>
        <p:nvSpPr>
          <p:cNvPr id="12" name="Shape 10"/>
          <p:cNvSpPr/>
          <p:nvPr/>
        </p:nvSpPr>
        <p:spPr>
          <a:xfrm>
            <a:off x="8065008" y="137160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3" name="Shape 11"/>
          <p:cNvSpPr/>
          <p:nvPr/>
        </p:nvSpPr>
        <p:spPr>
          <a:xfrm>
            <a:off x="8065008" y="1371600"/>
            <a:ext cx="3575304" cy="91440"/>
          </a:xfrm>
          <a:prstGeom prst="roundRect">
            <a:avLst/>
          </a:prstGeom>
          <a:solidFill>
            <a:srgbClr val="2F8A5B"/>
          </a:solidFill>
          <a:ln/>
        </p:spPr>
      </p:sp>
      <p:sp>
        <p:nvSpPr>
          <p:cNvPr id="14" name="Text 12"/>
          <p:cNvSpPr txBox="1"/>
          <p:nvPr/>
        </p:nvSpPr>
        <p:spPr>
          <a:xfrm>
            <a:off x="8247888" y="1591056"/>
            <a:ext cx="3209544" cy="457200"/>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Cost efficiency</a:t>
            </a:r>
            <a:endParaRPr lang="en-US" sz="1300" dirty="0"/>
          </a:p>
        </p:txBody>
      </p:sp>
      <p:sp>
        <p:nvSpPr>
          <p:cNvPr id="15" name="Text 13"/>
          <p:cNvSpPr txBox="1"/>
          <p:nvPr/>
        </p:nvSpPr>
        <p:spPr>
          <a:xfrm>
            <a:off x="8247888" y="204825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Spending as little as possible for the same output. Common in transport &amp; construction (lean, subcontracting).</a:t>
            </a:r>
            <a:endParaRPr lang="en-US" sz="1100" dirty="0"/>
          </a:p>
        </p:txBody>
      </p:sp>
      <p:sp>
        <p:nvSpPr>
          <p:cNvPr id="16" name="Shape 14"/>
          <p:cNvSpPr/>
          <p:nvPr/>
        </p:nvSpPr>
        <p:spPr>
          <a:xfrm>
            <a:off x="548640" y="374904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548640" y="3749040"/>
            <a:ext cx="3575304" cy="91440"/>
          </a:xfrm>
          <a:prstGeom prst="roundRect">
            <a:avLst/>
          </a:prstGeom>
          <a:solidFill>
            <a:srgbClr val="6B4FA0"/>
          </a:solidFill>
          <a:ln/>
        </p:spPr>
      </p:sp>
      <p:sp>
        <p:nvSpPr>
          <p:cNvPr id="18" name="Text 16"/>
          <p:cNvSpPr txBox="1"/>
          <p:nvPr/>
        </p:nvSpPr>
        <p:spPr>
          <a:xfrm>
            <a:off x="731520" y="3968496"/>
            <a:ext cx="3209544" cy="457200"/>
          </a:xfrm>
          <a:prstGeom prst="rect">
            <a:avLst/>
          </a:prstGeom>
          <a:noFill/>
          <a:ln/>
        </p:spPr>
        <p:txBody>
          <a:bodyPr wrap="square" lIns="0" tIns="0" rIns="0" bIns="0" rtlCol="0" anchor="t"/>
          <a:lstStyle/>
          <a:p>
            <a:pPr indent="0" marL="0">
              <a:buNone/>
            </a:pPr>
            <a:r>
              <a:rPr lang="en-US" sz="1300" b="1" dirty="0">
                <a:solidFill>
                  <a:srgbClr val="6B4FA0"/>
                </a:solidFill>
                <a:latin typeface="Calibri" pitchFamily="34" charset="0"/>
                <a:ea typeface="Calibri" pitchFamily="34" charset="-122"/>
                <a:cs typeface="Calibri" pitchFamily="34" charset="-120"/>
              </a:rPr>
              <a:t>Employee welfare</a:t>
            </a:r>
            <a:endParaRPr lang="en-US" sz="1300" dirty="0"/>
          </a:p>
        </p:txBody>
      </p:sp>
      <p:sp>
        <p:nvSpPr>
          <p:cNvPr id="19" name="Text 17"/>
          <p:cNvSpPr txBox="1"/>
          <p:nvPr/>
        </p:nvSpPr>
        <p:spPr>
          <a:xfrm>
            <a:off x="731520" y="442569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Looking after staff (insurance, canteen, training) → loyalty, morale, productivity &amp; a good employer image.</a:t>
            </a:r>
            <a:endParaRPr lang="en-US" sz="1100" dirty="0"/>
          </a:p>
        </p:txBody>
      </p:sp>
      <p:sp>
        <p:nvSpPr>
          <p:cNvPr id="20" name="Shape 18"/>
          <p:cNvSpPr/>
          <p:nvPr/>
        </p:nvSpPr>
        <p:spPr>
          <a:xfrm>
            <a:off x="4306824" y="374904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1" name="Shape 19"/>
          <p:cNvSpPr/>
          <p:nvPr/>
        </p:nvSpPr>
        <p:spPr>
          <a:xfrm>
            <a:off x="4306824" y="3749040"/>
            <a:ext cx="3575304" cy="91440"/>
          </a:xfrm>
          <a:prstGeom prst="roundRect">
            <a:avLst/>
          </a:prstGeom>
          <a:solidFill>
            <a:srgbClr val="C14B37"/>
          </a:solidFill>
          <a:ln/>
        </p:spPr>
      </p:sp>
      <p:sp>
        <p:nvSpPr>
          <p:cNvPr id="22" name="Text 20"/>
          <p:cNvSpPr txBox="1"/>
          <p:nvPr/>
        </p:nvSpPr>
        <p:spPr>
          <a:xfrm>
            <a:off x="4489704" y="3968496"/>
            <a:ext cx="3209544" cy="457200"/>
          </a:xfrm>
          <a:prstGeom prst="rect">
            <a:avLst/>
          </a:prstGeom>
          <a:noFill/>
          <a:ln/>
        </p:spPr>
        <p:txBody>
          <a:bodyPr wrap="square" lIns="0" tIns="0" rIns="0" bIns="0" rtlCol="0" anchor="t"/>
          <a:lstStyle/>
          <a:p>
            <a:pPr indent="0" marL="0">
              <a:buNone/>
            </a:pPr>
            <a:r>
              <a:rPr lang="en-US" sz="1300" b="1" dirty="0">
                <a:solidFill>
                  <a:srgbClr val="C14B37"/>
                </a:solidFill>
                <a:latin typeface="Calibri" pitchFamily="34" charset="0"/>
                <a:ea typeface="Calibri" pitchFamily="34" charset="-122"/>
                <a:cs typeface="Calibri" pitchFamily="34" charset="-120"/>
              </a:rPr>
              <a:t>Customer satisfaction</a:t>
            </a:r>
            <a:endParaRPr lang="en-US" sz="1300" dirty="0"/>
          </a:p>
        </p:txBody>
      </p:sp>
      <p:sp>
        <p:nvSpPr>
          <p:cNvPr id="23" name="Text 21"/>
          <p:cNvSpPr txBox="1"/>
          <p:nvPr/>
        </p:nvSpPr>
        <p:spPr>
          <a:xfrm>
            <a:off x="4489704" y="442569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Meeting &amp; exceeding customer needs. Common in services → repeat sales, loyalty &amp; word-of-mouth.</a:t>
            </a:r>
            <a:endParaRPr lang="en-US" sz="1100" dirty="0"/>
          </a:p>
        </p:txBody>
      </p:sp>
      <p:sp>
        <p:nvSpPr>
          <p:cNvPr id="24" name="Shape 22"/>
          <p:cNvSpPr/>
          <p:nvPr/>
        </p:nvSpPr>
        <p:spPr>
          <a:xfrm>
            <a:off x="8065008" y="3749040"/>
            <a:ext cx="3575304" cy="2194560"/>
          </a:xfrm>
          <a:prstGeom prst="roundRect">
            <a:avLst>
              <a:gd name="adj" fmla="val 333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5" name="Shape 23"/>
          <p:cNvSpPr/>
          <p:nvPr/>
        </p:nvSpPr>
        <p:spPr>
          <a:xfrm>
            <a:off x="8065008" y="3749040"/>
            <a:ext cx="3575304" cy="91440"/>
          </a:xfrm>
          <a:prstGeom prst="roundRect">
            <a:avLst/>
          </a:prstGeom>
          <a:solidFill>
            <a:srgbClr val="0B5E66"/>
          </a:solidFill>
          <a:ln/>
        </p:spPr>
      </p:sp>
      <p:sp>
        <p:nvSpPr>
          <p:cNvPr id="26" name="Text 24"/>
          <p:cNvSpPr txBox="1"/>
          <p:nvPr/>
        </p:nvSpPr>
        <p:spPr>
          <a:xfrm>
            <a:off x="8247888" y="3968496"/>
            <a:ext cx="3209544" cy="457200"/>
          </a:xfrm>
          <a:prstGeom prst="rect">
            <a:avLst/>
          </a:prstGeom>
          <a:noFill/>
          <a:ln/>
        </p:spPr>
        <p:txBody>
          <a:bodyPr wrap="square" lIns="0" tIns="0" rIns="0" bIns="0" rtlCol="0" anchor="t"/>
          <a:lstStyle/>
          <a:p>
            <a:pPr indent="0" marL="0">
              <a:buNone/>
            </a:pPr>
            <a:r>
              <a:rPr lang="en-US" sz="1300" b="1" dirty="0">
                <a:solidFill>
                  <a:srgbClr val="0B5E66"/>
                </a:solidFill>
                <a:latin typeface="Calibri" pitchFamily="34" charset="0"/>
                <a:ea typeface="Calibri" pitchFamily="34" charset="-122"/>
                <a:cs typeface="Calibri" pitchFamily="34" charset="-120"/>
              </a:rPr>
              <a:t>Social objectives</a:t>
            </a:r>
            <a:endParaRPr lang="en-US" sz="1300" dirty="0"/>
          </a:p>
        </p:txBody>
      </p:sp>
      <p:sp>
        <p:nvSpPr>
          <p:cNvPr id="27" name="Text 25"/>
          <p:cNvSpPr txBox="1"/>
          <p:nvPr/>
        </p:nvSpPr>
        <p:spPr>
          <a:xfrm>
            <a:off x="8247888" y="4425696"/>
            <a:ext cx="3209544" cy="1325880"/>
          </a:xfrm>
          <a:prstGeom prst="rect">
            <a:avLst/>
          </a:prstGeom>
          <a:noFill/>
          <a:ln/>
        </p:spPr>
        <p:txBody>
          <a:bodyPr wrap="square" lIns="0" tIns="0" rIns="0" bIns="0" rtlCol="0" anchor="t"/>
          <a:lstStyle/>
          <a:p>
            <a:pPr indent="0" marL="0">
              <a:buNone/>
            </a:pPr>
            <a:r>
              <a:rPr lang="en-US" sz="1100" dirty="0">
                <a:solidFill>
                  <a:srgbClr val="1F2A33"/>
                </a:solidFill>
                <a:latin typeface="Calibri" pitchFamily="34" charset="0"/>
                <a:ea typeface="Calibri" pitchFamily="34" charset="-122"/>
                <a:cs typeface="Calibri" pitchFamily="34" charset="-120"/>
              </a:rPr>
              <a:t>Helping society / the planet (CSR) — fair wages, lower impact. Can be a USP (Body Shop) or image boost.</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WHY THEY DIFFER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Why objectives differ — and change over time</a:t>
            </a:r>
            <a:endParaRPr lang="en-US" sz="2600" dirty="0"/>
          </a:p>
        </p:txBody>
      </p:sp>
      <p:sp>
        <p:nvSpPr>
          <p:cNvPr id="4" name="Shape 2"/>
          <p:cNvSpPr/>
          <p:nvPr/>
        </p:nvSpPr>
        <p:spPr>
          <a:xfrm>
            <a:off x="548640" y="1463040"/>
            <a:ext cx="5440680" cy="4709160"/>
          </a:xfrm>
          <a:prstGeom prst="roundRect">
            <a:avLst>
              <a:gd name="adj" fmla="val 1553"/>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8191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Objectives differ by…</a:t>
            </a:r>
            <a:endParaRPr lang="en-US" sz="1400" dirty="0"/>
          </a:p>
        </p:txBody>
      </p:sp>
      <p:sp>
        <p:nvSpPr>
          <p:cNvPr id="6" name="Text 4"/>
          <p:cNvSpPr txBox="1"/>
          <p:nvPr/>
        </p:nvSpPr>
        <p:spPr>
          <a:xfrm>
            <a:off x="777240" y="1965960"/>
            <a:ext cx="498348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Size &amp; age — start-ups survive; big firms maximise profit or share</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market — competitive markets push market-share goals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Ownership — owners' motives (profit vs ethics) shape goals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economy — a downturn shifts the focus back to survival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Over the lifecycle — goals evolve as the business matures</a:t>
            </a:r>
            <a:endParaRPr lang="en-US" sz="1250" dirty="0"/>
          </a:p>
        </p:txBody>
      </p:sp>
      <p:sp>
        <p:nvSpPr>
          <p:cNvPr id="7" name="Shape 5"/>
          <p:cNvSpPr/>
          <p:nvPr/>
        </p:nvSpPr>
        <p:spPr>
          <a:xfrm>
            <a:off x="6199632" y="1463040"/>
            <a:ext cx="5440680" cy="4709160"/>
          </a:xfrm>
          <a:prstGeom prst="roundRect">
            <a:avLst>
              <a:gd name="adj" fmla="val 1553"/>
            </a:avLst>
          </a:prstGeom>
          <a:solidFill>
            <a:srgbClr val="FBF0D8"/>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581912"/>
            <a:ext cx="5029200" cy="320040"/>
          </a:xfrm>
          <a:prstGeom prst="rect">
            <a:avLst/>
          </a:prstGeom>
          <a:noFill/>
          <a:ln/>
        </p:spPr>
        <p:txBody>
          <a:bodyPr wrap="square" lIns="0" tIns="0" rIns="0" bIns="0" rtlCol="0" anchor="ctr"/>
          <a:lstStyle/>
          <a:p>
            <a:pPr indent="0" marL="0">
              <a:buNone/>
            </a:pPr>
            <a:r>
              <a:rPr lang="en-US" sz="1400" b="1" dirty="0">
                <a:solidFill>
                  <a:srgbClr val="8A5A06"/>
                </a:solidFill>
                <a:latin typeface="Calibri" pitchFamily="34" charset="0"/>
                <a:ea typeface="Calibri" pitchFamily="34" charset="-122"/>
                <a:cs typeface="Calibri" pitchFamily="34" charset="-120"/>
              </a:rPr>
              <a:t>Case — LEGO: objectives that changed</a:t>
            </a:r>
            <a:endParaRPr lang="en-US" sz="1400" dirty="0"/>
          </a:p>
        </p:txBody>
      </p:sp>
      <p:sp>
        <p:nvSpPr>
          <p:cNvPr id="9" name="Text 7"/>
          <p:cNvSpPr txBox="1"/>
          <p:nvPr/>
        </p:nvSpPr>
        <p:spPr>
          <a:xfrm>
            <a:off x="6428232" y="1965960"/>
            <a:ext cx="5029200" cy="40233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Founded 1932 (‘only the best is good enough’) — grew to the world's 3rd-largest toy maker</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Pursued growth &amp; innovation — new lines (Chima, City, Friends), apps, and the 2014 LEGO Movie ($424m+)</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2018: first sales drop in over a decade (£4.2bn→£3.86bn) as children moved to digital toys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Objectives had to adapt again — innovate &amp; bridge physical + digital play to stay relevant</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Body Shop &amp; Detox Clothes cases  ·  the [8] ‘conflicting objectives’  ·  the [8] ‘importance of objectives’ &amp; the [4] growth build</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THE CASES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cases: Body Shop &amp; Detox Clothes</a:t>
            </a:r>
            <a:endParaRPr lang="en-US" sz="2600" dirty="0"/>
          </a:p>
        </p:txBody>
      </p:sp>
      <p:sp>
        <p:nvSpPr>
          <p:cNvPr id="4" name="Shape 2"/>
          <p:cNvSpPr/>
          <p:nvPr/>
        </p:nvSpPr>
        <p:spPr>
          <a:xfrm>
            <a:off x="548640" y="1371600"/>
            <a:ext cx="5577840" cy="4800600"/>
          </a:xfrm>
          <a:prstGeom prst="roundRect">
            <a:avLst>
              <a:gd name="adj" fmla="val 1524"/>
            </a:avLst>
          </a:prstGeom>
          <a:solidFill>
            <a:srgbClr val="EAF3F4"/>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517904"/>
            <a:ext cx="2743200" cy="310896"/>
          </a:xfrm>
          <a:prstGeom prst="roundRect">
            <a:avLst>
              <a:gd name="adj" fmla="val 50000"/>
            </a:avLst>
          </a:prstGeom>
          <a:solidFill>
            <a:srgbClr val="0E7C86"/>
          </a:solidFill>
          <a:ln/>
        </p:spPr>
      </p:sp>
      <p:sp>
        <p:nvSpPr>
          <p:cNvPr id="6" name="Text 4"/>
          <p:cNvSpPr txBox="1"/>
          <p:nvPr/>
        </p:nvSpPr>
        <p:spPr>
          <a:xfrm>
            <a:off x="777240" y="1517904"/>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THE BODY SHOP</a:t>
            </a:r>
            <a:endParaRPr lang="en-US" sz="1050" dirty="0"/>
          </a:p>
        </p:txBody>
      </p:sp>
      <p:sp>
        <p:nvSpPr>
          <p:cNvPr id="7" name="Text 5"/>
          <p:cNvSpPr txBox="1"/>
          <p:nvPr/>
        </p:nvSpPr>
        <p:spPr>
          <a:xfrm>
            <a:off x="777240" y="1938528"/>
            <a:ext cx="5120640" cy="27432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Global cosmetics retailer; mission ‘enrich, not exploit’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Ethical stance — cruelty-free, fair-trade ingredients, sustainability, lower environmental impact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As beauty-market competition rises, faces pressure to improve profitability &amp; expand internationally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Balancing its ethical/social objectives with profit creates tension between stakeholders &amp; priorities</a:t>
            </a:r>
            <a:endParaRPr lang="en-US" sz="1200" dirty="0"/>
          </a:p>
        </p:txBody>
      </p:sp>
      <p:sp>
        <p:nvSpPr>
          <p:cNvPr id="8" name="Shape 6"/>
          <p:cNvSpPr/>
          <p:nvPr/>
        </p:nvSpPr>
        <p:spPr>
          <a:xfrm>
            <a:off x="6291072" y="1371600"/>
            <a:ext cx="5349240" cy="4800600"/>
          </a:xfrm>
          <a:prstGeom prst="roundRect">
            <a:avLst>
              <a:gd name="adj" fmla="val 1524"/>
            </a:avLst>
          </a:prstGeom>
          <a:solidFill>
            <a:srgbClr val="FBF0D8"/>
          </a:solidFill>
          <a:ln/>
          <a:effectLst>
            <a:outerShdw sx="100000" sy="100000" kx="0" ky="0" algn="bl" rotWithShape="0" blurRad="76200" dist="25400" dir="5400000">
              <a:srgbClr val="9AAAB0">
                <a:alpha val="28000"/>
              </a:srgbClr>
            </a:outerShdw>
          </a:effectLst>
        </p:spPr>
      </p:sp>
      <p:sp>
        <p:nvSpPr>
          <p:cNvPr id="9" name="Shape 7"/>
          <p:cNvSpPr/>
          <p:nvPr/>
        </p:nvSpPr>
        <p:spPr>
          <a:xfrm>
            <a:off x="6519672" y="1517904"/>
            <a:ext cx="2743200" cy="310896"/>
          </a:xfrm>
          <a:prstGeom prst="roundRect">
            <a:avLst>
              <a:gd name="adj" fmla="val 50000"/>
            </a:avLst>
          </a:prstGeom>
          <a:solidFill>
            <a:srgbClr val="E0940F"/>
          </a:solidFill>
          <a:ln/>
        </p:spPr>
      </p:sp>
      <p:sp>
        <p:nvSpPr>
          <p:cNvPr id="10" name="Text 8"/>
          <p:cNvSpPr txBox="1"/>
          <p:nvPr/>
        </p:nvSpPr>
        <p:spPr>
          <a:xfrm>
            <a:off x="6519672" y="1517904"/>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DETOX CLOTHES</a:t>
            </a:r>
            <a:endParaRPr lang="en-US" sz="1050" dirty="0"/>
          </a:p>
        </p:txBody>
      </p:sp>
      <p:sp>
        <p:nvSpPr>
          <p:cNvPr id="11" name="Text 9"/>
          <p:cNvSpPr txBox="1"/>
          <p:nvPr/>
        </p:nvSpPr>
        <p:spPr>
          <a:xfrm>
            <a:off x="6519672" y="1938528"/>
            <a:ext cx="4937760" cy="292608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Founded by Dee Smith (2013); designer womenswear via a West London retail outlet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Targets high-disposable-income areas (Kensington &amp; Chelsea avg £58,816 vs UK £19,432)</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An instant hit; Dee won West London Entrepreneur of the Year 2016 → positive publicity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2017: a deal to sell Detox-branded clothes in John Lewis; now wants national &amp; international growth</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THE [8]</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[8]: conflicting objectives (Body Shop)</a:t>
            </a:r>
            <a:endParaRPr lang="en-US" sz="2600" dirty="0"/>
          </a:p>
        </p:txBody>
      </p:sp>
      <p:sp>
        <p:nvSpPr>
          <p:cNvPr id="4" name="Shape 2"/>
          <p:cNvSpPr/>
          <p:nvPr/>
        </p:nvSpPr>
        <p:spPr>
          <a:xfrm>
            <a:off x="548640" y="1371600"/>
            <a:ext cx="11091672" cy="786384"/>
          </a:xfrm>
          <a:prstGeom prst="roundRect">
            <a:avLst>
              <a:gd name="adj" fmla="val 93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66928"/>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Q:  </a:t>
            </a:r>
            <a:pPr indent="0" marL="0">
              <a:buNone/>
            </a:pPr>
            <a:r>
              <a:rPr lang="en-US" sz="1300" dirty="0">
                <a:solidFill>
                  <a:srgbClr val="FFFFFF"/>
                </a:solidFill>
                <a:latin typeface="Calibri" pitchFamily="34" charset="0"/>
                <a:ea typeface="Calibri" pitchFamily="34" charset="-122"/>
                <a:cs typeface="Calibri" pitchFamily="34" charset="-120"/>
              </a:rPr>
              <a:t>Assess how having multiple objectives might create conflict for a business such as The Body Shop.  </a:t>
            </a:r>
            <a:pPr indent="0" marL="0">
              <a:buNone/>
            </a:pPr>
            <a:r>
              <a:rPr lang="en-US" sz="1300" b="1" dirty="0">
                <a:solidFill>
                  <a:srgbClr val="E0940F"/>
                </a:solidFill>
                <a:latin typeface="Calibri" pitchFamily="34" charset="0"/>
                <a:ea typeface="Calibri" pitchFamily="34" charset="-122"/>
                <a:cs typeface="Calibri" pitchFamily="34" charset="-120"/>
              </a:rPr>
              <a:t>[8]</a:t>
            </a:r>
            <a:endParaRPr lang="en-US" sz="1300" dirty="0"/>
          </a:p>
        </p:txBody>
      </p:sp>
      <p:sp>
        <p:nvSpPr>
          <p:cNvPr id="6" name="Shape 4"/>
          <p:cNvSpPr/>
          <p:nvPr/>
        </p:nvSpPr>
        <p:spPr>
          <a:xfrm>
            <a:off x="548640" y="2331720"/>
            <a:ext cx="5029200" cy="3840480"/>
          </a:xfrm>
          <a:prstGeom prst="roundRect">
            <a:avLst>
              <a:gd name="adj" fmla="val 1905"/>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49808" y="2441448"/>
            <a:ext cx="4663440" cy="310896"/>
          </a:xfrm>
          <a:prstGeom prst="rect">
            <a:avLst/>
          </a:prstGeom>
          <a:noFill/>
          <a:ln/>
        </p:spPr>
        <p:txBody>
          <a:bodyPr wrap="square" lIns="0" tIns="0" rIns="0" bIns="0" rtlCol="0" anchor="ctr"/>
          <a:lstStyle/>
          <a:p>
            <a:pPr indent="0" marL="0">
              <a:buNone/>
            </a:pPr>
            <a:r>
              <a:rPr lang="en-US" sz="1250" b="1" dirty="0">
                <a:solidFill>
                  <a:srgbClr val="0B5E66"/>
                </a:solidFill>
                <a:latin typeface="Calibri" pitchFamily="34" charset="0"/>
                <a:ea typeface="Calibri" pitchFamily="34" charset="-122"/>
                <a:cs typeface="Calibri" pitchFamily="34" charset="-120"/>
              </a:rPr>
              <a:t>Decode (Assess = both sides + judgement)</a:t>
            </a:r>
            <a:endParaRPr lang="en-US" sz="1250" dirty="0"/>
          </a:p>
        </p:txBody>
      </p:sp>
      <p:sp>
        <p:nvSpPr>
          <p:cNvPr id="8" name="Text 6"/>
          <p:cNvSpPr txBox="1"/>
          <p:nvPr/>
        </p:nvSpPr>
        <p:spPr>
          <a:xfrm>
            <a:off x="749808" y="2807208"/>
            <a:ext cx="4617720" cy="21031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‘Assess’ [8] = two sides + a brief supported judgement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Focus: how multiple objectives CONFLICT (and when they don't)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Body Shop: ethical/social vs profit &amp; expansion</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Name the stakeholders pulling different ways</a:t>
            </a:r>
            <a:endParaRPr lang="en-US" sz="1200" dirty="0"/>
          </a:p>
        </p:txBody>
      </p:sp>
      <p:sp>
        <p:nvSpPr>
          <p:cNvPr id="9" name="Text 7"/>
          <p:cNvSpPr txBox="1"/>
          <p:nvPr/>
        </p:nvSpPr>
        <p:spPr>
          <a:xfrm>
            <a:off x="749808" y="5532120"/>
            <a:ext cx="4617720" cy="548640"/>
          </a:xfrm>
          <a:prstGeom prst="rect">
            <a:avLst/>
          </a:prstGeom>
          <a:noFill/>
          <a:ln/>
        </p:spPr>
        <p:txBody>
          <a:bodyPr wrap="square" lIns="0" tIns="0" rIns="0" bIns="0" rtlCol="0" anchor="t"/>
          <a:lstStyle/>
          <a:p>
            <a:pPr indent="0" marL="0">
              <a:buNone/>
            </a:pPr>
            <a:r>
              <a:rPr lang="en-US" sz="1100" b="1" dirty="0">
                <a:solidFill>
                  <a:srgbClr val="0B5E66"/>
                </a:solidFill>
                <a:latin typeface="Calibri" pitchFamily="34" charset="0"/>
                <a:ea typeface="Calibri" pitchFamily="34" charset="-122"/>
                <a:cs typeface="Calibri" pitchFamily="34" charset="-120"/>
              </a:rPr>
              <a:t>Note:  </a:t>
            </a:r>
            <a:pPr indent="0" marL="0">
              <a:buNone/>
            </a:pPr>
            <a:r>
              <a:rPr lang="en-US" sz="1100" i="1" dirty="0">
                <a:solidFill>
                  <a:srgbClr val="5B6B73"/>
                </a:solidFill>
                <a:latin typeface="Calibri" pitchFamily="34" charset="0"/>
                <a:ea typeface="Calibri" pitchFamily="34" charset="-122"/>
                <a:cs typeface="Calibri" pitchFamily="34" charset="-120"/>
              </a:rPr>
              <a:t>an ‘Analyse’ [8] needs no judgement; ‘Assess/Discuss’ [8] does.</a:t>
            </a:r>
            <a:endParaRPr lang="en-US" sz="1100" dirty="0"/>
          </a:p>
        </p:txBody>
      </p:sp>
      <p:sp>
        <p:nvSpPr>
          <p:cNvPr id="10" name="Shape 8"/>
          <p:cNvSpPr/>
          <p:nvPr/>
        </p:nvSpPr>
        <p:spPr>
          <a:xfrm>
            <a:off x="5788152" y="2331720"/>
            <a:ext cx="5852160" cy="3840480"/>
          </a:xfrm>
          <a:prstGeom prst="roundRect">
            <a:avLst>
              <a:gd name="adj" fmla="val 190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441448"/>
            <a:ext cx="5486400" cy="310896"/>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Plan — the conflict, both ways</a:t>
            </a:r>
            <a:endParaRPr lang="en-US" sz="1250" dirty="0"/>
          </a:p>
        </p:txBody>
      </p:sp>
      <p:sp>
        <p:nvSpPr>
          <p:cNvPr id="12" name="Text 10"/>
          <p:cNvSpPr txBox="1"/>
          <p:nvPr/>
        </p:nvSpPr>
        <p:spPr>
          <a:xfrm>
            <a:off x="5989320" y="2807208"/>
            <a:ext cx="5440680" cy="320040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Conflict: ethical sourcing (fair-trade, cruelty-free) raises costs → lower profit margins → clashes with profit maximisation &amp; shareholder returns</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Conflict: expanding internationally for profit may force cheaper sourcing → undermines the ‘enrich, not exploit’ social objective &amp; brand</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However: the ethical USP also DRIVES sales &amp; loyalty → the objectives can reinforce each other, not just conflict</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Judgement: conflict is real where profit &amp; ethics trade off, but a strong ethical brand can align them — depends on how far expansion dilutes the mission</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[8] &amp;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Detox Clothes: importance of objectives [8] &amp; growth [4]</a:t>
            </a:r>
            <a:endParaRPr lang="en-US" sz="2600" dirty="0"/>
          </a:p>
        </p:txBody>
      </p:sp>
      <p:sp>
        <p:nvSpPr>
          <p:cNvPr id="4" name="Shape 2"/>
          <p:cNvSpPr/>
          <p:nvPr/>
        </p:nvSpPr>
        <p:spPr>
          <a:xfrm>
            <a:off x="548640" y="1371600"/>
            <a:ext cx="5513832" cy="4800600"/>
          </a:xfrm>
          <a:prstGeom prst="roundRect">
            <a:avLst>
              <a:gd name="adj" fmla="val 1524"/>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49808" y="1499616"/>
            <a:ext cx="5120640" cy="585216"/>
          </a:xfrm>
          <a:prstGeom prst="rect">
            <a:avLst/>
          </a:prstGeom>
          <a:noFill/>
          <a:ln/>
        </p:spPr>
        <p:txBody>
          <a:bodyPr wrap="square" lIns="0" tIns="0" rIns="0" bIns="0" rtlCol="0" anchor="t"/>
          <a:lstStyle/>
          <a:p>
            <a:pPr indent="0" marL="0">
              <a:buNone/>
            </a:pPr>
            <a:r>
              <a:rPr lang="en-US" sz="1300" b="1" dirty="0">
                <a:solidFill>
                  <a:srgbClr val="2F8A5B"/>
                </a:solidFill>
                <a:latin typeface="Calibri" pitchFamily="34" charset="0"/>
                <a:ea typeface="Calibri" pitchFamily="34" charset="-122"/>
                <a:cs typeface="Calibri" pitchFamily="34" charset="-120"/>
              </a:rPr>
              <a:t>[8]  </a:t>
            </a:r>
            <a:pPr indent="0" marL="0">
              <a:buNone/>
            </a:pPr>
            <a:r>
              <a:rPr lang="en-US" sz="1250" dirty="0">
                <a:solidFill>
                  <a:srgbClr val="1F2A33"/>
                </a:solidFill>
                <a:latin typeface="Calibri" pitchFamily="34" charset="0"/>
                <a:ea typeface="Calibri" pitchFamily="34" charset="-122"/>
                <a:cs typeface="Calibri" pitchFamily="34" charset="-120"/>
              </a:rPr>
              <a:t>Discuss the importance of setting corporate objectives to a company like Detox Clothes.</a:t>
            </a:r>
            <a:endParaRPr lang="en-US" sz="1300" dirty="0"/>
          </a:p>
        </p:txBody>
      </p:sp>
      <p:sp>
        <p:nvSpPr>
          <p:cNvPr id="6" name="Text 4"/>
          <p:cNvSpPr txBox="1"/>
          <p:nvPr/>
        </p:nvSpPr>
        <p:spPr>
          <a:xfrm>
            <a:off x="749808" y="2139696"/>
            <a:ext cx="5120640" cy="274320"/>
          </a:xfrm>
          <a:prstGeom prst="rect">
            <a:avLst/>
          </a:prstGeom>
          <a:noFill/>
          <a:ln/>
        </p:spPr>
        <p:txBody>
          <a:bodyPr wrap="square" lIns="0" tIns="0" rIns="0" bIns="0" rtlCol="0" anchor="ctr"/>
          <a:lstStyle/>
          <a:p>
            <a:pPr indent="0" marL="0">
              <a:buNone/>
            </a:pPr>
            <a:r>
              <a:rPr lang="en-US" sz="1200" b="1" dirty="0">
                <a:solidFill>
                  <a:srgbClr val="2F8A5B"/>
                </a:solidFill>
                <a:latin typeface="Calibri" pitchFamily="34" charset="0"/>
                <a:ea typeface="Calibri" pitchFamily="34" charset="-122"/>
                <a:cs typeface="Calibri" pitchFamily="34" charset="-120"/>
              </a:rPr>
              <a:t>Plan (both sides + judgement):</a:t>
            </a:r>
            <a:endParaRPr lang="en-US" sz="1200" dirty="0"/>
          </a:p>
        </p:txBody>
      </p:sp>
      <p:sp>
        <p:nvSpPr>
          <p:cNvPr id="7" name="Text 5"/>
          <p:cNvSpPr txBox="1"/>
          <p:nvPr/>
        </p:nvSpPr>
        <p:spPr>
          <a:xfrm>
            <a:off x="749808" y="2450592"/>
            <a:ext cx="5120640" cy="356616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Important: corporate objectives give direction for national/international growth → coordinate marketing, finance &amp; the John Lewis partnership toward one goal</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Important: a clear target motivates staff &amp; reassures investors as Detox scales</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However: objectives must stay flexible — a small fashion firm faces fast-changing trends; rigid goals can mislead</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Judgement: setting objectives is important for guiding growth, but they must be reviewed as the market shifts</a:t>
            </a:r>
            <a:endParaRPr lang="en-US" sz="1100" dirty="0"/>
          </a:p>
        </p:txBody>
      </p:sp>
      <p:sp>
        <p:nvSpPr>
          <p:cNvPr id="8" name="Shape 6"/>
          <p:cNvSpPr/>
          <p:nvPr/>
        </p:nvSpPr>
        <p:spPr>
          <a:xfrm>
            <a:off x="6126480" y="1371600"/>
            <a:ext cx="5513832" cy="4800600"/>
          </a:xfrm>
          <a:prstGeom prst="roundRect">
            <a:avLst>
              <a:gd name="adj" fmla="val 1524"/>
            </a:avLst>
          </a:prstGeom>
          <a:solidFill>
            <a:srgbClr val="FBF0D8"/>
          </a:solidFill>
          <a:ln/>
          <a:effectLst>
            <a:outerShdw sx="100000" sy="100000" kx="0" ky="0" algn="bl" rotWithShape="0" blurRad="76200" dist="25400" dir="5400000">
              <a:srgbClr val="9AAAB0">
                <a:alpha val="28000"/>
              </a:srgbClr>
            </a:outerShdw>
          </a:effectLst>
        </p:spPr>
      </p:sp>
      <p:sp>
        <p:nvSpPr>
          <p:cNvPr id="9" name="Text 7"/>
          <p:cNvSpPr txBox="1"/>
          <p:nvPr/>
        </p:nvSpPr>
        <p:spPr>
          <a:xfrm>
            <a:off x="6327648" y="1499616"/>
            <a:ext cx="5120640" cy="585216"/>
          </a:xfrm>
          <a:prstGeom prst="rect">
            <a:avLst/>
          </a:prstGeom>
          <a:noFill/>
          <a:ln/>
        </p:spPr>
        <p:txBody>
          <a:bodyPr wrap="square" lIns="0" tIns="0" rIns="0" bIns="0" rtlCol="0" anchor="t"/>
          <a:lstStyle/>
          <a:p>
            <a:pPr indent="0" marL="0">
              <a:buNone/>
            </a:pPr>
            <a:r>
              <a:rPr lang="en-US" sz="1300" b="1" dirty="0">
                <a:solidFill>
                  <a:srgbClr val="8A5A06"/>
                </a:solidFill>
                <a:latin typeface="Calibri" pitchFamily="34" charset="0"/>
                <a:ea typeface="Calibri" pitchFamily="34" charset="-122"/>
                <a:cs typeface="Calibri" pitchFamily="34" charset="-120"/>
              </a:rPr>
              <a:t>[4]  </a:t>
            </a:r>
            <a:pPr indent="0" marL="0">
              <a:buNone/>
            </a:pPr>
            <a:r>
              <a:rPr lang="en-US" sz="1250" dirty="0">
                <a:solidFill>
                  <a:srgbClr val="1F2A33"/>
                </a:solidFill>
                <a:latin typeface="Calibri" pitchFamily="34" charset="0"/>
                <a:ea typeface="Calibri" pitchFamily="34" charset="-122"/>
                <a:cs typeface="Calibri" pitchFamily="34" charset="-120"/>
              </a:rPr>
              <a:t>Explain why Dee Smith may have decided to pursue the objective of growth.</a:t>
            </a:r>
            <a:endParaRPr lang="en-US" sz="1300" dirty="0"/>
          </a:p>
        </p:txBody>
      </p:sp>
      <p:sp>
        <p:nvSpPr>
          <p:cNvPr id="10" name="Text 8"/>
          <p:cNvSpPr txBox="1"/>
          <p:nvPr/>
        </p:nvSpPr>
        <p:spPr>
          <a:xfrm>
            <a:off x="6327648" y="2139696"/>
            <a:ext cx="5120640" cy="274320"/>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Model (K + App + chain):</a:t>
            </a:r>
            <a:endParaRPr lang="en-US" sz="1200" dirty="0"/>
          </a:p>
        </p:txBody>
      </p:sp>
      <p:sp>
        <p:nvSpPr>
          <p:cNvPr id="11" name="Text 9"/>
          <p:cNvSpPr txBox="1"/>
          <p:nvPr/>
        </p:nvSpPr>
        <p:spPr>
          <a:xfrm>
            <a:off x="6327648" y="2450592"/>
            <a:ext cx="5120640" cy="356616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Growth means increasing the size of the business </a:t>
            </a:r>
            <a:pPr indent="0" marL="0">
              <a:buNone/>
            </a:pPr>
            <a:r>
              <a:rPr lang="en-US" sz="1200" b="1" dirty="0">
                <a:solidFill>
                  <a:srgbClr val="2F8A5B"/>
                </a:solidFill>
                <a:latin typeface="Calibri" pitchFamily="34" charset="0"/>
                <a:ea typeface="Calibri" pitchFamily="34" charset="-122"/>
                <a:cs typeface="Calibri" pitchFamily="34" charset="-120"/>
              </a:rPr>
              <a:t>(K). </a:t>
            </a:r>
            <a:pPr indent="0" marL="0">
              <a:buNone/>
            </a:pPr>
            <a:r>
              <a:rPr lang="en-US" sz="1200" dirty="0">
                <a:solidFill>
                  <a:srgbClr val="1F2A33"/>
                </a:solidFill>
                <a:latin typeface="Calibri" pitchFamily="34" charset="0"/>
                <a:ea typeface="Calibri" pitchFamily="34" charset="-122"/>
                <a:cs typeface="Calibri" pitchFamily="34" charset="-120"/>
              </a:rPr>
              <a:t>Detox was an instant hit in affluent West London and has secured a John Lewis partnership </a:t>
            </a:r>
            <a:pPr indent="0" marL="0">
              <a:buNone/>
            </a:pPr>
            <a:r>
              <a:rPr lang="en-US" sz="1200" b="1" dirty="0">
                <a:solidFill>
                  <a:srgbClr val="0E7C86"/>
                </a:solidFill>
                <a:latin typeface="Calibri" pitchFamily="34" charset="0"/>
                <a:ea typeface="Calibri" pitchFamily="34" charset="-122"/>
                <a:cs typeface="Calibri" pitchFamily="34" charset="-120"/>
              </a:rPr>
              <a:t>(App), </a:t>
            </a:r>
            <a:pPr indent="0" marL="0">
              <a:buNone/>
            </a:pPr>
            <a:r>
              <a:rPr lang="en-US" sz="1200" dirty="0">
                <a:solidFill>
                  <a:srgbClr val="1F2A33"/>
                </a:solidFill>
                <a:latin typeface="Calibri" pitchFamily="34" charset="0"/>
                <a:ea typeface="Calibri" pitchFamily="34" charset="-122"/>
                <a:cs typeface="Calibri" pitchFamily="34" charset="-120"/>
              </a:rPr>
              <a:t>so expanding nationally &amp; internationally lets Dee reach many more high-income customers, </a:t>
            </a:r>
            <a:pPr indent="0" marL="0">
              <a:buNone/>
            </a:pPr>
            <a:r>
              <a:rPr lang="en-US" sz="1200" dirty="0">
                <a:solidFill>
                  <a:srgbClr val="1F2A33"/>
                </a:solidFill>
                <a:latin typeface="Calibri" pitchFamily="34" charset="0"/>
                <a:ea typeface="Calibri" pitchFamily="34" charset="-122"/>
                <a:cs typeface="Calibri" pitchFamily="34" charset="-120"/>
              </a:rPr>
              <a:t>which raises sales and revenue and builds a stronger, more recognised brand </a:t>
            </a:r>
            <a:pPr indent="0" marL="0">
              <a:buNone/>
            </a:pPr>
            <a:r>
              <a:rPr lang="en-US" sz="1200" b="1" dirty="0">
                <a:solidFill>
                  <a:srgbClr val="E0940F"/>
                </a:solidFill>
                <a:latin typeface="Calibri" pitchFamily="34" charset="0"/>
                <a:ea typeface="Calibri" pitchFamily="34" charset="-122"/>
                <a:cs typeface="Calibri" pitchFamily="34" charset="-120"/>
              </a:rPr>
              <a:t>(2-step chain). </a:t>
            </a:r>
            <a:pPr indent="0" marL="0">
              <a:buNone/>
            </a:pPr>
            <a:r>
              <a:rPr lang="en-US" sz="1200" dirty="0">
                <a:solidFill>
                  <a:srgbClr val="1F2A33"/>
                </a:solidFill>
                <a:latin typeface="Calibri" pitchFamily="34" charset="0"/>
                <a:ea typeface="Calibri" pitchFamily="34" charset="-122"/>
                <a:cs typeface="Calibri" pitchFamily="34" charset="-120"/>
              </a:rPr>
              <a:t>Therefore growth helps secure the brand's long-term success beyond one London outlet.</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Answering business-objectives questions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3108960"/>
                <a:gridCol w="6245352"/>
              </a:tblGrid>
              <a:tr h="457200">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Marks</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What to do</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Define / State</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Meaning + an example (sales maximisation, SMART…).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Explain</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Knowledge + application + a developed 2-step chain.</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Analyse (2 pts)</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Two applied points, each with a developed chain. No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Analyse / Discuss / Assess</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Analyse = 2 developed points; Discuss/Assess = both sides +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10 / 20</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Evaluate</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Both sides, applied, + a supported ‘it depends’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idea: objectives flow from the mission, differ by business, and change over time — and a firm often juggles several at once, which can conflict.</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1.3.5: Business choices — the final part (opportunity cost &amp; trade-offs).</a:t>
            </a:r>
            <a:endParaRPr lang="en-US" sz="1250" dirty="0"/>
          </a:p>
        </p:txBody>
      </p:sp>
    </p:spTree>
  </p:cSld>
  <p:clrMapOvr>
    <a:masterClrMapping/>
  </p:clrMapOvr>
</p:sld>
</file>

<file path=ppt/theme/theme1.xml><?xml version="1.0" encoding="utf-8"?>
<a:theme xmlns:a="http://schemas.openxmlformats.org/drawingml/2006/main" name="IAL Entrepreneurs">
  <a:themeElements>
    <a:clrScheme name="IAL Entrepreneurs">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Entrepreneu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2026-10-21T03:02:42Z</dcterms:created>
  <dcterms:modified xsi:type="dcterms:W3CDTF">2026-10-21T03:02:42Z</dcterms:modified>
</cp:coreProperties>
</file>